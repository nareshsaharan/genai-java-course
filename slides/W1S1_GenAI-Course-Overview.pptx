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OPENER — spend 2-3 min here max.</a:t>
            </a:r>
            <a:br>
              <a:rPr lang="en-US"/>
            </a:br>
            <a:r>
              <a:rPr lang="en-US"/>
              <a:t>Ask the room: 'Who has used ChatGPT or Claude?' (nearly everyone). 'Who has built something with an AI API?' (fewer). 'Who wants to ship a full AI product by end of Week 4?' — that's the promise.</a:t>
            </a:r>
            <a:br>
              <a:rPr lang="en-US"/>
            </a:br>
            <a:br>
              <a:rPr lang="en-US"/>
            </a:br>
            <a:r>
              <a:rPr lang="en-US"/>
              <a:t>Announce the capstone early so every week feels like progress toward a real deliverable, not isolated theory.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Hook: these aren't hype numbers — they're signals that the software stack is changing. Engineers who can operate one layer deeper (the AI reasoning layer) will have a structural advantage.</a:t>
            </a:r>
            <a:br>
              <a:rPr lang="en-US"/>
            </a:br>
            <a:br>
              <a:rPr lang="en-US"/>
            </a:br>
            <a:r>
              <a:rPr lang="en-US"/>
              <a:t>For this audience specifically: they already know Spring Boot, which means they can ship the server. This course adds the AI brain. Together = a complete stack.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 picture moment. Walk it left to right.</a:t>
            </a:r>
            <a:br>
              <a:rPr lang="en-US"/>
            </a:br>
            <a:r>
              <a:rPr lang="en-US"/>
              <a:t>W1 = vocabulary + first API calls. W2 = deeper into Claude's power (tool use, MCP — the real differentiator). W3 = RAG and agents (the patterns that make products trustworthy). W4 = integrate everything into one shipping product.</a:t>
            </a:r>
            <a:br>
              <a:rPr lang="en-US"/>
            </a:br>
            <a:br>
              <a:rPr lang="en-US"/>
            </a:br>
            <a:r>
              <a:rPr lang="en-US"/>
              <a:t>The spine bottom (🎯 Build) is the key: there's a runnable deliverable at the end of EVERY week, not just at the capstone. That rhythm keeps motivation high.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 slide — announce the week with energy.</a:t>
            </a:r>
            <a:br>
              <a:rPr lang="en-US"/>
            </a:br>
            <a:r>
              <a:rPr lang="en-US"/>
              <a:t>W1 Goal: by Friday, students can explain what an LLM is, write a prompt that reliably produces structured output, call the Responses API from Java, and ship a voice loop (Whisper → GPT → TTS). That's more than most 'AI courses' cover in a month.</a:t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sessions packed into Week 1. Key call-outs:</a:t>
            </a:r>
            <a:br>
              <a:rPr lang="en-US"/>
            </a:br>
            <a:r>
              <a:rPr lang="en-US"/>
              <a:t>- The Assistants API is deprecated (Aug 2026 shutdown). We teach Responses + Conversations API.</a:t>
            </a:r>
            <a:br>
              <a:rPr lang="en-US"/>
            </a:br>
            <a:r>
              <a:rPr lang="en-US"/>
              <a:t>- Structured outputs (slide 3) set up the flashcard generator in the capstone — make that link explicit.</a:t>
            </a:r>
            <a:br>
              <a:rPr lang="en-US"/>
            </a:br>
            <a:r>
              <a:rPr lang="en-US"/>
              <a:t>- The voice loop in session 5 IS the Voice Task Manager classroom project in miniature. Students often don't realise they're building the project; reveal it at the end of the session for a dopamine hit.</a:t>
            </a:r>
            <a:br>
              <a:rPr lang="en-US"/>
            </a:br>
            <a:r>
              <a:rPr lang="en-US"/>
              <a:t>- Keep demos short-and-live. One typed prompt → JSON output → students try it = better than 20 min of theory.</a:t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projects are FULLY runnable by end of Week 1 — that's the commitment.</a:t>
            </a:r>
            <a:br>
              <a:rPr lang="en-US"/>
            </a:br>
            <a:br>
              <a:rPr lang="en-US"/>
            </a:br>
            <a:r>
              <a:rPr lang="en-US"/>
              <a:t>Project 1 (Voice Task Manager): Whisper does speech-to-text → GPT extracts the intent via tool call (add/delete/list) → mutate an in-memory task store → TTS confirms. The whole chain is ~80 lines of Java.</a:t>
            </a:r>
            <a:br>
              <a:rPr lang="en-US"/>
            </a:br>
            <a:br>
              <a:rPr lang="en-US"/>
            </a:br>
            <a:r>
              <a:rPr lang="en-US"/>
              <a:t>Project 2 (Travel Planner): teaches multi-turn conversations + structured outputs in one shot. The model fills a typed Java record with itinerary data — no string parsing. Link back: this structured-output pattern reappears in the flashcard generator in Week 4.</a:t>
            </a:r>
            <a:br>
              <a:rPr lang="en-US"/>
            </a:br>
            <a:br>
              <a:rPr lang="en-US"/>
            </a:br>
            <a:r>
              <a:rPr lang="en-US"/>
              <a:t>Hand out the GitHub starter repos at the start of Week 1 so students can run ahead during evening practice.</a:t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 2 is where the course differentiates from 'basic ChatGPT tutorials'.</a:t>
            </a:r>
            <a:br>
              <a:rPr lang="en-US"/>
            </a:br>
            <a:r>
              <a:rPr lang="en-US"/>
              <a:t>MCP (Model Context Protocol) is the emerging universal standard for connecting AI to data/tools. Students who understand it will be years ahead of peers who just call a REST endpoint.</a:t>
            </a:r>
            <a:endParaRPr/>
          </a:p>
        </p:txBody>
      </p:sp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 2 deep-dives:</a:t>
            </a:r>
            <a:br>
              <a:rPr lang="en-US"/>
            </a:br>
            <a:r>
              <a:rPr lang="en-US"/>
              <a:t>- Session 1 (fine-tuning decision tree) is CRUCIAL — most devs default to fine-tune when prompt engineering is the right answer. Correct this early.</a:t>
            </a:r>
            <a:br>
              <a:rPr lang="en-US"/>
            </a:br>
            <a:r>
              <a:rPr lang="en-US"/>
              <a:t>- Session 3 (Claude Code) — this is your home turf. Students who used only Claude.ai will have a huge 'aha' moment.</a:t>
            </a:r>
            <a:br>
              <a:rPr lang="en-US"/>
            </a:br>
            <a:r>
              <a:rPr lang="en-US"/>
              <a:t>- Session 5 (MCP server) is the Week 2 capstone brick. The Spring AI LMS MCP server starter is ready in the repo. Students go from blank to 'Claude Desktop can call my code' in 45 min. Pre-build the jar, have a backup.</a:t>
            </a:r>
            <a:endParaRPr/>
          </a:p>
        </p:txBody>
      </p:sp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diagram is the 'aha' for MCP. Walk left to right:</a:t>
            </a:r>
            <a:br>
              <a:rPr lang="en-US"/>
            </a:br>
            <a:r>
              <a:rPr lang="en-US"/>
              <a:t>1) The CLIENT is anything that speaks the MCP protocol — Claude Desktop, Claude Code, their own Java app.</a:t>
            </a:r>
            <a:br>
              <a:rPr lang="en-US"/>
            </a:br>
            <a:r>
              <a:rPr lang="en-US"/>
              <a:t>2) The SERVER is what they'll build: Spring Boot + Spring AI MCP starter. The @Tool annotation auto-registers their Java methods as discoverable tools.</a:t>
            </a:r>
            <a:br>
              <a:rPr lang="en-US"/>
            </a:br>
            <a:r>
              <a:rPr lang="en-US"/>
              <a:t>3) The DATA layer is whatever the server wraps: a DB, the filesystem, an API.</a:t>
            </a:r>
            <a:br>
              <a:rPr lang="en-US"/>
            </a:br>
            <a:br>
              <a:rPr lang="en-US"/>
            </a:br>
            <a:r>
              <a:rPr lang="en-US"/>
              <a:t>The punchline: write the server ONCE, and every MCP-aware app in the ecosystem can use it. The same LMS server that connects to Claude Desktop in Week 2 will provide data to the Study Buddy in Week 4.</a:t>
            </a:r>
            <a:br>
              <a:rPr lang="en-US"/>
            </a:br>
            <a:br>
              <a:rPr lang="en-US"/>
            </a:br>
            <a:r>
              <a:rPr lang="en-US"/>
              <a:t>Critical gotcha to teach: STDIO transport means stdout is the protocol channel. One stray System.out.println corrupts every message. Show this happening (and the log file fix) during the live demo.</a:t>
            </a:r>
            <a:endParaRPr/>
          </a:p>
        </p:txBody>
      </p:sp>
      <p:sp>
        <p:nvSpPr>
          <p:cNvPr id="297" name="Google Shape;2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 3 is where students stop calling someone else's AI and build the reasoning layer themselves.</a:t>
            </a:r>
            <a:br>
              <a:rPr lang="en-US"/>
            </a:br>
            <a:r>
              <a:rPr lang="en-US"/>
              <a:t>RAG (retrieval-augmented generation) is what makes AI products TRUSTWORTHY — it grounds answers in real data. Agents with tool use are what makes them CAPABLE. Local models (Ollama) make them FREE and private.</a:t>
            </a:r>
            <a:br>
              <a:rPr lang="en-US"/>
            </a:br>
            <a:br>
              <a:rPr lang="en-US"/>
            </a:br>
            <a:r>
              <a:rPr lang="en-US"/>
              <a:t>All three are building blocks of the capstone Study Buddy.</a:t>
            </a:r>
            <a:endParaRPr/>
          </a:p>
        </p:txBody>
      </p:sp>
      <p:sp>
        <p:nvSpPr>
          <p:cNvPr id="342" name="Google Shape;3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 3 notes:</a:t>
            </a:r>
            <a:br>
              <a:rPr lang="en-US"/>
            </a:br>
            <a:r>
              <a:rPr lang="en-US"/>
              <a:t>- Session 1 (embeddings): decouple retrieval from generation. Show similarity search WORKING before adding the LLM. Most bugs in RAG apps are retrieval bugs — this teaches students to debug the right layer.</a:t>
            </a:r>
            <a:br>
              <a:rPr lang="en-US"/>
            </a:br>
            <a:r>
              <a:rPr lang="en-US"/>
              <a:t>- Session 2 (RAG pipeline): the LangChain4j EmbeddingStoreIngestor + ContentRetriever is 20 lines. Show all five stages. Tune chunk size live and show quality change — most impactful demo.</a:t>
            </a:r>
            <a:br>
              <a:rPr lang="en-US"/>
            </a:br>
            <a:r>
              <a:rPr lang="en-US"/>
              <a:t>- Session 3 (agents): use the 'Anthropic: Building Effective Agents' guide as theoretical backbone. Orchestrator-worker pattern directly maps to the Study Buddy architecture.</a:t>
            </a:r>
            <a:br>
              <a:rPr lang="en-US"/>
            </a:br>
            <a:r>
              <a:rPr lang="en-US"/>
              <a:t>- Session 4 (Ollama): the killer moment — swap one bean in the RAG config and the SAME code now runs offline. Students realise 'cloud AI' is optional.</a:t>
            </a:r>
            <a:endParaRPr/>
          </a:p>
        </p:txBody>
      </p:sp>
      <p:sp>
        <p:nvSpPr>
          <p:cNvPr id="378" name="Google Shape;3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this diagram slowly — it's the most technically dense slide in Week 3.</a:t>
            </a:r>
            <a:br>
              <a:rPr lang="en-US"/>
            </a:br>
            <a:br>
              <a:rPr lang="en-US"/>
            </a:br>
            <a:r>
              <a:rPr lang="en-US"/>
              <a:t>Key teaching points:</a:t>
            </a:r>
            <a:br>
              <a:rPr lang="en-US"/>
            </a:br>
            <a:r>
              <a:rPr lang="en-US"/>
              <a:t>INGESTION is offline/batch. Retrieval is per-query. The LLM is only involved in the last 'generate' step — everything before that is pure vector math. This lets students debug each stage independently.</a:t>
            </a:r>
            <a:br>
              <a:rPr lang="en-US"/>
            </a:br>
            <a:br>
              <a:rPr lang="en-US"/>
            </a:br>
            <a:r>
              <a:rPr lang="en-US"/>
              <a:t>Chunking is the #1 quality knob. Show live: chunk at 100 tokens vs 500 tokens, watch precision change.</a:t>
            </a:r>
            <a:br>
              <a:rPr lang="en-US"/>
            </a:br>
            <a:br>
              <a:rPr lang="en-US"/>
            </a:br>
            <a:r>
              <a:rPr lang="en-US"/>
              <a:t>The bottom result chip is the promise to the capstone: the Study Buddy answers from COURSE NOTES, not from Claude's training data. That's what prevents hallucination for this use case.</a:t>
            </a:r>
            <a:endParaRPr/>
          </a:p>
        </p:txBody>
      </p:sp>
      <p:sp>
        <p:nvSpPr>
          <p:cNvPr id="416" name="Google Shape;4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payoff week. Students arrive with three working bricks (OpenAI app, MCP server, RAG service) and assemble them.</a:t>
            </a:r>
            <a:br>
              <a:rPr lang="en-US"/>
            </a:br>
            <a:r>
              <a:rPr lang="en-US"/>
              <a:t>The key message: this isn't homework — it's a portfolio piece. By Friday they can demo a working AI-powered study app.</a:t>
            </a:r>
            <a:endParaRPr/>
          </a:p>
        </p:txBody>
      </p:sp>
      <p:sp>
        <p:nvSpPr>
          <p:cNvPr id="467" name="Google Shape;4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architecture left → right, naming the week each layer came from:</a:t>
            </a:r>
            <a:br>
              <a:rPr lang="en-US"/>
            </a:br>
            <a:r>
              <a:rPr lang="en-US"/>
              <a:t>- Frontend (JS chat + flashcards + heatmap): the UI layer; students wire it to their Spring endpoints.</a:t>
            </a:r>
            <a:br>
              <a:rPr lang="en-US"/>
            </a:br>
            <a:r>
              <a:rPr lang="en-US"/>
              <a:t>- Spring Boot backend (/api/chat, /api/flashcards, /api/progress): REST controllers they write in W4.</a:t>
            </a:r>
            <a:br>
              <a:rPr lang="en-US"/>
            </a:br>
            <a:r>
              <a:rPr lang="en-US"/>
              <a:t>- AI layer: Claude (W2 SDK), LangChain4j RAG (W3), MCP server (W2), vector store (W3).</a:t>
            </a:r>
            <a:br>
              <a:rPr lang="en-US"/>
            </a:br>
            <a:br>
              <a:rPr lang="en-US"/>
            </a:br>
            <a:r>
              <a:rPr lang="en-US"/>
              <a:t>The bottom bar is the punchline: nothing in Week 4 is truly NEW. It's integration week.</a:t>
            </a:r>
            <a:br>
              <a:rPr lang="en-US"/>
            </a:br>
            <a:br>
              <a:rPr lang="en-US"/>
            </a:br>
            <a:r>
              <a:rPr lang="en-US"/>
              <a:t>Advanced students: instead of in-process RAG, expose the LMS DB as an MCP server and let Claude pull course data as tools. The Week 2 MCP starter is pre-built for exactly this.</a:t>
            </a:r>
            <a:endParaRPr/>
          </a:p>
        </p:txBody>
      </p:sp>
      <p:sp>
        <p:nvSpPr>
          <p:cNvPr id="499" name="Google Shape;4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capstone feature is intentionally a callback:</a:t>
            </a:r>
            <a:br>
              <a:rPr lang="en-US"/>
            </a:br>
            <a:r>
              <a:rPr lang="en-US"/>
              <a:t>- RAG tutor: the Week 3 EmbeddingStoreIngestor + Claude ContentRetriever. Same exact code, just deployed.</a:t>
            </a:r>
            <a:br>
              <a:rPr lang="en-US"/>
            </a:br>
            <a:r>
              <a:rPr lang="en-US"/>
              <a:t>- Flashcard generator: the FlashcardGenerator AiService with List&lt;Flashcard&gt; return type. Students who wrote the Travel Planner (W1) recognise the pattern immediately.</a:t>
            </a:r>
            <a:br>
              <a:rPr lang="en-US"/>
            </a:br>
            <a:r>
              <a:rPr lang="en-US"/>
              <a:t>- Weak-topic tracker: in-memory map → exposes via MCP server for Claude to query → advanced students wire W2 + W4.</a:t>
            </a:r>
            <a:br>
              <a:rPr lang="en-US"/>
            </a:br>
            <a:r>
              <a:rPr lang="en-US"/>
              <a:t>- Voice input: two lines for students who already built the voice loop in W1.</a:t>
            </a:r>
            <a:br>
              <a:rPr lang="en-US"/>
            </a:br>
            <a:br>
              <a:rPr lang="en-US"/>
            </a:br>
            <a:r>
              <a:rPr lang="en-US"/>
              <a:t>Assessment rubric: all four features working, vector store swapped for pgvector, and a 5-min demo. Advanced track: MCP server provides LMS data instead of in-process RAG.</a:t>
            </a:r>
            <a:endParaRPr/>
          </a:p>
        </p:txBody>
      </p:sp>
      <p:sp>
        <p:nvSpPr>
          <p:cNvPr id="551" name="Google Shape;5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Reassure students who are overwhelmed by the list: you don't learn all of this on day 1.</a:t>
            </a:r>
            <a:br>
              <a:rPr lang="en-US"/>
            </a:br>
            <a:r>
              <a:rPr lang="en-US"/>
              <a:t>The BOM (Bill of Materials) in Maven means version management is handled — add a dependency, BOM aligns the version.</a:t>
            </a:r>
            <a:br>
              <a:rPr lang="en-US"/>
            </a:br>
            <a:br>
              <a:rPr lang="en-US"/>
            </a:br>
            <a:r>
              <a:rPr lang="en-US"/>
              <a:t>Key decision rule to teach (on demand): use the official SDK when you want full control over one provider; use LangChain4j when you want provider-agnostic RAG/agent plumbing without rebuilding it.</a:t>
            </a:r>
            <a:br>
              <a:rPr lang="en-US"/>
            </a:br>
            <a:br>
              <a:rPr lang="en-US"/>
            </a:br>
            <a:r>
              <a:rPr lang="en-US"/>
              <a:t>The 'same code: cloud ↔ local' (row 5) is the single most powerful thing to demonstrate live. One bean change.</a:t>
            </a:r>
            <a:endParaRPr/>
          </a:p>
        </p:txBody>
      </p:sp>
      <p:sp>
        <p:nvSpPr>
          <p:cNvPr id="585" name="Google Shape;58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these out as COMMITMENTS, not aspirations. Students should feel: 'yes, I believe by week 4 I can do that.'</a:t>
            </a:r>
            <a:br>
              <a:rPr lang="en-US"/>
            </a:br>
            <a:br>
              <a:rPr lang="en-US"/>
            </a:br>
            <a:r>
              <a:rPr lang="en-US"/>
              <a:t>The colour coding (W1/W2/W3/W4) lets them see the progression — each week's outcome is concrete and testable.</a:t>
            </a:r>
            <a:br>
              <a:rPr lang="en-US"/>
            </a:br>
            <a:br>
              <a:rPr lang="en-US"/>
            </a:br>
            <a:r>
              <a:rPr lang="en-US"/>
              <a:t>Point out the portfolio dimension: the capstone is a DEMO-able app, not homework to be graded and discarded. They can show it to employers.</a:t>
            </a:r>
            <a:endParaRPr/>
          </a:p>
        </p:txBody>
      </p:sp>
      <p:sp>
        <p:nvSpPr>
          <p:cNvPr id="637" name="Google Shape;63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WITH ENERGY.</a:t>
            </a:r>
            <a:br>
              <a:rPr lang="en-US"/>
            </a:br>
            <a:br>
              <a:rPr lang="en-US"/>
            </a:br>
            <a:r>
              <a:rPr lang="en-US"/>
              <a:t>Hand out (or paste in Slack) the two GitHub repo links right now. Tell them to run 'mvn package' tonight so class time isn't eaten by dependency downloads.</a:t>
            </a:r>
            <a:br>
              <a:rPr lang="en-US"/>
            </a:br>
            <a:br>
              <a:rPr lang="en-US"/>
            </a:br>
            <a:r>
              <a:rPr lang="en-US"/>
              <a:t>API keys: Anthropic is free to sign up; free credits are enough for Weeks 1-2. OpenAI same. Don't let 'I couldn't get my key' be the reason a student falls behind on Day 2.</a:t>
            </a:r>
            <a:br>
              <a:rPr lang="en-US"/>
            </a:br>
            <a:br>
              <a:rPr lang="en-US"/>
            </a:br>
            <a:r>
              <a:rPr lang="en-US"/>
              <a:t>'Building Effective Agents' by Anthropic is the single best 15-min read to prime their thinking for Weeks 2-4. Assign it tonight — it makes Monday's MCP session significantly richer.</a:t>
            </a:r>
            <a:br>
              <a:rPr lang="en-US"/>
            </a:br>
            <a:br>
              <a:rPr lang="en-US"/>
            </a:br>
            <a:r>
              <a:rPr lang="en-US"/>
              <a:t>Final beat: ask 'who's most excited about the capstone?' and 'who is most nervous about Week 3 RAG?' Acknowledge the nervousness — RAG IS the hardest week — and remind them the starter repo has the whole pipeline pre-built.</a:t>
            </a:r>
            <a:br>
              <a:rPr lang="en-US"/>
            </a:br>
            <a:br>
              <a:rPr lang="en-US"/>
            </a:br>
            <a:r>
              <a:rPr lang="en-US"/>
              <a:t>See you Week 1, Day 1. 🚀</a:t>
            </a:r>
            <a:endParaRPr/>
          </a:p>
        </p:txBody>
      </p:sp>
      <p:sp>
        <p:nvSpPr>
          <p:cNvPr id="668" name="Google Shape;66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86800" y="-1097280"/>
            <a:ext cx="5303520" cy="5303520"/>
          </a:xfrm>
          <a:prstGeom prst="ellipse">
            <a:avLst/>
          </a:prstGeom>
          <a:solidFill>
            <a:srgbClr val="6366F1">
              <a:alpha val="10196"/>
            </a:srgbClr>
          </a:solidFill>
          <a:ln cap="flat" cmpd="sng" w="12700">
            <a:solidFill>
              <a:srgbClr val="6366F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75520" y="3200400"/>
            <a:ext cx="3200400" cy="3200400"/>
          </a:xfrm>
          <a:prstGeom prst="ellipse">
            <a:avLst/>
          </a:prstGeom>
          <a:solidFill>
            <a:srgbClr val="0EA5E9">
              <a:alpha val="12156"/>
            </a:srgbClr>
          </a:solidFill>
          <a:ln cap="flat" cmpd="sng" w="12700">
            <a:solidFill>
              <a:srgbClr val="0EA5E9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800" y="1325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GENERATIVE AI + CAPSTONE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58368" y="1691640"/>
            <a:ext cx="8229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We're Building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4 Weeks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00" y="384048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LLMs → Prompting → Claude &amp;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→ RAG → Agents → Local Models →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235440" y="1463040"/>
            <a:ext cx="2423160" cy="868680"/>
          </a:xfrm>
          <a:prstGeom prst="roundRect">
            <a:avLst>
              <a:gd fmla="val 9474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9418320" y="1719072"/>
            <a:ext cx="347472" cy="34747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921240" y="157276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921240" y="186537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Foundations &amp; OpenAI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235440" y="2633472"/>
            <a:ext cx="2423160" cy="868680"/>
          </a:xfrm>
          <a:prstGeom prst="roundRect">
            <a:avLst>
              <a:gd fmla="val 9474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418320" y="2889504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921240" y="27432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921240" y="303580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Claude, MCP &amp;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235440" y="3803904"/>
            <a:ext cx="2423160" cy="868680"/>
          </a:xfrm>
          <a:prstGeom prst="roundRect">
            <a:avLst>
              <a:gd fmla="val 9474" name="adj"/>
            </a:avLst>
          </a:prstGeom>
          <a:solidFill>
            <a:srgbClr val="141828"/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9418320" y="40599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921240" y="391363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921240" y="420624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RAG &amp;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9235440" y="4974336"/>
            <a:ext cx="2423160" cy="868680"/>
          </a:xfrm>
          <a:prstGeom prst="roundRect">
            <a:avLst>
              <a:gd fmla="val 9474" name="adj"/>
            </a:avLst>
          </a:prstGeom>
          <a:solidFill>
            <a:srgbClr val="141828"/>
          </a:solidFill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9418320" y="523036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9921240" y="5084064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921240" y="537667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85800" y="484632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For developers with Java / Spring Boot background  ·  No prior AI experience needed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685800" y="5029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WHY THIS COURSE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85800" y="82296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is reshaping how software is built.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85800" y="18745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By the end, you won't just USE AI tools — you'll BUILD with them at an engineering level.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2834640"/>
            <a:ext cx="3429000" cy="2423160"/>
          </a:xfrm>
          <a:prstGeom prst="roundRect">
            <a:avLst>
              <a:gd fmla="val 3396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0080" y="310896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97 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0080" y="397764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ChatGPT users in 2 months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Fastest consumer product ever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389120" y="2834640"/>
            <a:ext cx="3429000" cy="2423160"/>
          </a:xfrm>
          <a:prstGeom prst="roundRect">
            <a:avLst>
              <a:gd fmla="val 3396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389120" y="310896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10×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389120" y="397764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Productivity gain on coding 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reported by developers using LLMs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138160" y="2834640"/>
            <a:ext cx="3429000" cy="2423160"/>
          </a:xfrm>
          <a:prstGeom prst="roundRect">
            <a:avLst>
              <a:gd fmla="val 3396" name="adj"/>
            </a:avLst>
          </a:prstGeom>
          <a:solidFill>
            <a:srgbClr val="141828"/>
          </a:soli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138160" y="310896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$1 T+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38160" y="397764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Projected AI market by 2030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(Goldman Sachs, 2023)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85800" y="56235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Java/Spring developers who understand the AI layer will architect and ship products most engineers can't.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2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685800" y="47548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COURSE 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85800" y="795528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weeks. One complete AI product.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5"/>
          <p:cNvCxnSpPr/>
          <p:nvPr/>
        </p:nvCxnSpPr>
        <p:spPr>
          <a:xfrm>
            <a:off x="960120" y="3401568"/>
            <a:ext cx="10332720" cy="0"/>
          </a:xfrm>
          <a:prstGeom prst="straightConnector1">
            <a:avLst/>
          </a:prstGeom>
          <a:noFill/>
          <a:ln cap="flat" cmpd="sng" w="38100">
            <a:solidFill>
              <a:srgbClr val="1C22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5"/>
          <p:cNvSpPr/>
          <p:nvPr/>
        </p:nvSpPr>
        <p:spPr>
          <a:xfrm>
            <a:off x="1673352" y="3163824"/>
            <a:ext cx="475488" cy="47548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60120" y="1508760"/>
            <a:ext cx="1901952" cy="1508760"/>
          </a:xfrm>
          <a:prstGeom prst="roundRect">
            <a:avLst>
              <a:gd fmla="val 5455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1069848" y="164592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69848" y="193852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69848" y="228600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LLMs · Prompting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OpenAI API · Voice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/>
          <p:nvPr/>
        </p:nvCxnSpPr>
        <p:spPr>
          <a:xfrm>
            <a:off x="1911096" y="3017520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/>
          <p:nvPr/>
        </p:nvSpPr>
        <p:spPr>
          <a:xfrm>
            <a:off x="960120" y="3886200"/>
            <a:ext cx="1901952" cy="1737360"/>
          </a:xfrm>
          <a:prstGeom prst="roundRect">
            <a:avLst>
              <a:gd fmla="val 4737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069848" y="40233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🎯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069848" y="434340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 Task Manager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Travel Planner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279392" y="3163824"/>
            <a:ext cx="475488" cy="47548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566160" y="1508760"/>
            <a:ext cx="1901952" cy="1508760"/>
          </a:xfrm>
          <a:prstGeom prst="roundRect">
            <a:avLst>
              <a:gd fmla="val 5455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675888" y="164592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675888" y="193852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&amp; MCP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675888" y="228600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Anthropic SDK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Tool Use · MCP 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5"/>
          <p:cNvCxnSpPr/>
          <p:nvPr/>
        </p:nvCxnSpPr>
        <p:spPr>
          <a:xfrm>
            <a:off x="4517136" y="3017520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5"/>
          <p:cNvSpPr/>
          <p:nvPr/>
        </p:nvSpPr>
        <p:spPr>
          <a:xfrm>
            <a:off x="3566160" y="3886200"/>
            <a:ext cx="1901952" cy="1737360"/>
          </a:xfrm>
          <a:prstGeom prst="roundRect">
            <a:avLst>
              <a:gd fmla="val 4737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675888" y="40233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🎯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675888" y="434340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885432" y="3163824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172200" y="1508760"/>
            <a:ext cx="1901952" cy="1508760"/>
          </a:xfrm>
          <a:prstGeom prst="roundRect">
            <a:avLst>
              <a:gd fmla="val 5455" name="adj"/>
            </a:avLst>
          </a:prstGeom>
          <a:solidFill>
            <a:srgbClr val="141828"/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281928" y="164592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281928" y="193852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&amp; Agents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281928" y="228600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Embeddings · Vectors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Agents · Local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5"/>
          <p:cNvCxnSpPr/>
          <p:nvPr/>
        </p:nvCxnSpPr>
        <p:spPr>
          <a:xfrm>
            <a:off x="7123176" y="3017520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5"/>
          <p:cNvSpPr/>
          <p:nvPr/>
        </p:nvSpPr>
        <p:spPr>
          <a:xfrm>
            <a:off x="6172200" y="3886200"/>
            <a:ext cx="1901952" cy="1737360"/>
          </a:xfrm>
          <a:prstGeom prst="roundRect">
            <a:avLst>
              <a:gd fmla="val 4737" name="adj"/>
            </a:avLst>
          </a:prstGeom>
          <a:solidFill>
            <a:srgbClr val="141828"/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281928" y="40233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🎯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281928" y="434340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Study Buddy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491472" y="31638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778240" y="1508760"/>
            <a:ext cx="1901952" cy="1508760"/>
          </a:xfrm>
          <a:prstGeom prst="roundRect">
            <a:avLst>
              <a:gd fmla="val 5455" name="adj"/>
            </a:avLst>
          </a:prstGeom>
          <a:solidFill>
            <a:srgbClr val="141828"/>
          </a:solidFill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8887968" y="164592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887968" y="193852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887968" y="228600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Full-Stack AI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Study Buddy + Polish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9729216" y="3017520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8778240" y="3886200"/>
            <a:ext cx="1901952" cy="1737360"/>
          </a:xfrm>
          <a:prstGeom prst="roundRect">
            <a:avLst>
              <a:gd fmla="val 4737" name="adj"/>
            </a:avLst>
          </a:prstGeom>
          <a:solidFill>
            <a:srgbClr val="141828"/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8887968" y="40233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🎯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887968" y="434340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Study Buddy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5"/>
          <p:cNvCxnSpPr/>
          <p:nvPr/>
        </p:nvCxnSpPr>
        <p:spPr>
          <a:xfrm>
            <a:off x="2898648" y="3401568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5"/>
          <p:cNvCxnSpPr/>
          <p:nvPr/>
        </p:nvCxnSpPr>
        <p:spPr>
          <a:xfrm>
            <a:off x="5504688" y="3401568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EA5E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5"/>
          <p:cNvCxnSpPr/>
          <p:nvPr/>
        </p:nvCxnSpPr>
        <p:spPr>
          <a:xfrm>
            <a:off x="8110728" y="3401568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3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6858000" y="-274320"/>
            <a:ext cx="5943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6000"/>
              <a:buFont typeface="Calibri"/>
              <a:buNone/>
            </a:pPr>
            <a:r>
              <a:rPr b="1" i="0" lang="en-US" sz="260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82296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822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280160" y="8412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58368" y="132588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Foundations &amp;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85800" y="333756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Master how LLMs work, craft prompts that actually control the model,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and call the OpenAI API from Java — including voice and images.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85800" y="4572000"/>
            <a:ext cx="1869948" cy="411480"/>
          </a:xfrm>
          <a:prstGeom prst="roundRect">
            <a:avLst>
              <a:gd fmla="val 13333" name="adj"/>
            </a:avLst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85800" y="4572000"/>
            <a:ext cx="18699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720340" y="4572000"/>
            <a:ext cx="2395728" cy="411480"/>
          </a:xfrm>
          <a:prstGeom prst="roundRect">
            <a:avLst>
              <a:gd fmla="val 13333" name="adj"/>
            </a:avLst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2720340" y="4572000"/>
            <a:ext cx="2395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280660" y="4572000"/>
            <a:ext cx="2080260" cy="411480"/>
          </a:xfrm>
          <a:prstGeom prst="roundRect">
            <a:avLst>
              <a:gd fmla="val 13333" name="adj"/>
            </a:avLst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5280660" y="457200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OpenAI Java SDK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525512" y="4572000"/>
            <a:ext cx="1133856" cy="411480"/>
          </a:xfrm>
          <a:prstGeom prst="roundRect">
            <a:avLst>
              <a:gd fmla="val 13333" name="adj"/>
            </a:avLst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525512" y="4572000"/>
            <a:ext cx="1133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GPT-4o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823960" y="4572000"/>
            <a:ext cx="1239012" cy="411480"/>
          </a:xfrm>
          <a:prstGeom prst="roundRect">
            <a:avLst>
              <a:gd fmla="val 13333" name="adj"/>
            </a:avLst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823960" y="4572000"/>
            <a:ext cx="12390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Whisper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0227564" y="4572000"/>
            <a:ext cx="1133856" cy="411480"/>
          </a:xfrm>
          <a:prstGeom prst="roundRect">
            <a:avLst>
              <a:gd fmla="val 13333" name="adj"/>
            </a:avLst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0227564" y="4572000"/>
            <a:ext cx="1133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DALL·E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85800" y="5138928"/>
            <a:ext cx="818388" cy="411480"/>
          </a:xfrm>
          <a:prstGeom prst="roundRect">
            <a:avLst>
              <a:gd fmla="val 13333" name="adj"/>
            </a:avLst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85800" y="5138928"/>
            <a:ext cx="8183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TTS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668780" y="5138928"/>
            <a:ext cx="1869948" cy="411480"/>
          </a:xfrm>
          <a:prstGeom prst="roundRect">
            <a:avLst>
              <a:gd fmla="val 13333" name="adj"/>
            </a:avLst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668780" y="5138928"/>
            <a:ext cx="18699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Responses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4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548640" y="4114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71323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Foundations &amp; OpenAI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02920" y="160020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67512" y="1764792"/>
            <a:ext cx="347472" cy="34747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67512" y="1764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143000" y="1783080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How LLMs Actually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04088" y="235000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Tokens, embeddings, attention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Transformer architecture (intuition)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autoregressive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Why it hallucinates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67512" y="3218688"/>
            <a:ext cx="3200400" cy="384048"/>
          </a:xfrm>
          <a:prstGeom prst="roundRect">
            <a:avLst>
              <a:gd fmla="val 14286" name="adj"/>
            </a:avLst>
          </a:prstGeom>
          <a:solidFill>
            <a:srgbClr val="6366F1">
              <a:alpha val="1215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04088" y="3236976"/>
            <a:ext cx="3136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🎮  Tokenizer playground + strawberry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251960" y="160020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416552" y="1764792"/>
            <a:ext cx="347472" cy="34747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416552" y="1764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92040" y="1783080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453128" y="235000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Instruction clarity &amp; delimiters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Few-shot examples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Chain-of-thought reasoning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Structured / JSON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416552" y="3218688"/>
            <a:ext cx="3200400" cy="384048"/>
          </a:xfrm>
          <a:prstGeom prst="roundRect">
            <a:avLst>
              <a:gd fmla="val 14286" name="adj"/>
            </a:avLst>
          </a:prstGeom>
          <a:solidFill>
            <a:srgbClr val="6366F1">
              <a:alpha val="1215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453128" y="3236976"/>
            <a:ext cx="3136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🔨  Prompt clinic — fix bad prompts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001000" y="160020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8165592" y="1764792"/>
            <a:ext cx="347472" cy="34747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8165592" y="1764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641080" y="1783080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GPT API Deep Dive (Java)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8202168" y="235000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Official openai-java SDK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Responses API (replaces Assistants)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Streaming &amp; tool calling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Structured outputs — typed Java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8165592" y="3218688"/>
            <a:ext cx="3200400" cy="384048"/>
          </a:xfrm>
          <a:prstGeom prst="roundRect">
            <a:avLst>
              <a:gd fmla="val 14286" name="adj"/>
            </a:avLst>
          </a:prstGeom>
          <a:solidFill>
            <a:srgbClr val="6366F1">
              <a:alpha val="1215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202168" y="3236976"/>
            <a:ext cx="3136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💻  Live: streaming chat in Spring Boot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2920" y="3977640"/>
            <a:ext cx="5349240" cy="260604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67512" y="4142232"/>
            <a:ext cx="347472" cy="34747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67512" y="41422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143000" y="416052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Conversations API + Threads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704088" y="4727448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Stateful multi-turn 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Managing conversation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When to persist vs stream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Context window economics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67512" y="6053328"/>
            <a:ext cx="5029200" cy="384048"/>
          </a:xfrm>
          <a:prstGeom prst="roundRect">
            <a:avLst>
              <a:gd fmla="val 14286" name="adj"/>
            </a:avLst>
          </a:prstGeom>
          <a:solidFill>
            <a:srgbClr val="6366F1">
              <a:alpha val="1215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04088" y="6071616"/>
            <a:ext cx="4965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💬  Multi-turn Java chatbot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080760" y="3977640"/>
            <a:ext cx="5440680" cy="260604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245352" y="4142232"/>
            <a:ext cx="347472" cy="34747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245352" y="41422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720840" y="4160520"/>
            <a:ext cx="4663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DALL·E · Whisper · TTS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281928" y="4727448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Image generation via Java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Speech-to-text (Whisper)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Text-to-speech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Voice loop: speak → think → reply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245352" y="6053328"/>
            <a:ext cx="5120640" cy="384048"/>
          </a:xfrm>
          <a:prstGeom prst="roundRect">
            <a:avLst>
              <a:gd fmla="val 14286" name="adj"/>
            </a:avLst>
          </a:prstGeom>
          <a:solidFill>
            <a:srgbClr val="6366F1">
              <a:alpha val="1215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281928" y="6071616"/>
            <a:ext cx="5056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🎙️  Voice task manager mini-project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5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685800" y="5029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WEEK 1 · CLASSROOM PROJECTS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85800" y="82296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 two things before Week 2.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40080" y="1783080"/>
            <a:ext cx="5257800" cy="4069080"/>
          </a:xfrm>
          <a:prstGeom prst="roundRect">
            <a:avLst>
              <a:gd fmla="val 2022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914400" y="20116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PROJECT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14400" y="2304288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Voice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Controlled Task Manager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14400" y="34290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60120" y="37307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🎙️ Whisper STT — voice →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60120" y="41422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🧠 GPT-4o — extract task intent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60120" y="45537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🔧 Tool calling — CRUD on tasks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60120" y="49651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🔊 TTS — confirm action by voice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14400" y="5440680"/>
            <a:ext cx="2011680" cy="347472"/>
          </a:xfrm>
          <a:prstGeom prst="roundRect">
            <a:avLst>
              <a:gd fmla="val 15789" name="adj"/>
            </a:avLst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914400" y="54406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API Sessions 3–5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263640" y="1783080"/>
            <a:ext cx="5257800" cy="4069080"/>
          </a:xfrm>
          <a:prstGeom prst="roundRect">
            <a:avLst>
              <a:gd fmla="val 2022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537960" y="20116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PROJECT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537960" y="2304288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Travel Planner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537960" y="34290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583680" y="37307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📝 Prompt chain — preference gathering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583680" y="41422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🗺️ Function calling → external APIs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583680" y="45537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📅 Itinerary structure — typed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583680" y="49651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🎯 Day-by-day plan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537960" y="5440680"/>
            <a:ext cx="2011680" cy="347472"/>
          </a:xfrm>
          <a:prstGeom prst="roundRect">
            <a:avLst>
              <a:gd fmla="val 15789" name="adj"/>
            </a:avLst>
          </a:prstGeom>
          <a:solidFill>
            <a:srgbClr val="0EA5E9">
              <a:alpha val="20000"/>
            </a:srgbClr>
          </a:solidFill>
          <a:ln cap="flat" cmpd="sng" w="12700">
            <a:solidFill>
              <a:srgbClr val="0EA5E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6537960" y="54406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API Sessions 2–4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6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6858000" y="-274320"/>
            <a:ext cx="5943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6000"/>
              <a:buFont typeface="Calibri"/>
              <a:buNone/>
            </a:pPr>
            <a:r>
              <a:rPr b="1" i="0" lang="en-US" sz="26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" y="82296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457200" y="822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280160" y="8412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58368" y="1325880"/>
            <a:ext cx="8229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Claude, MCP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Tool Use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85800" y="34290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Go deeper — Claude's capabilities, the Anthropic Java SDK,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Claude Code for agentic dev, and building your own MCP server.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85800" y="4617720"/>
            <a:ext cx="1659636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685800" y="4617720"/>
            <a:ext cx="16596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2510028" y="4617720"/>
            <a:ext cx="1869948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2510028" y="4617720"/>
            <a:ext cx="18699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Anthropic SDK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544568" y="4617720"/>
            <a:ext cx="1554480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544568" y="46177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Claude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263640" y="4617720"/>
            <a:ext cx="2290572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263640" y="4617720"/>
            <a:ext cx="22905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Extended Thinking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718804" y="4617720"/>
            <a:ext cx="1659636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8718804" y="4617720"/>
            <a:ext cx="16596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0543032" y="4617720"/>
            <a:ext cx="818388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10543032" y="4617720"/>
            <a:ext cx="8183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85800" y="5184648"/>
            <a:ext cx="1344168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85800" y="5184648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Tool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2194560" y="5184648"/>
            <a:ext cx="1449324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2194560" y="5184648"/>
            <a:ext cx="14493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Spring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808476" y="5184648"/>
            <a:ext cx="1028700" cy="411480"/>
          </a:xfrm>
          <a:prstGeom prst="roundRect">
            <a:avLst>
              <a:gd fmla="val 13333" name="adj"/>
            </a:avLst>
          </a:prstGeom>
          <a:solidFill>
            <a:srgbClr val="0EA5E9">
              <a:alpha val="18039"/>
            </a:srgbClr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808476" y="5184648"/>
            <a:ext cx="1028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STDIO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A5E9">
              <a:alpha val="14901"/>
            </a:srgbClr>
          </a:solidFill>
          <a:ln cap="flat" cmpd="sng" w="12700">
            <a:solidFill>
              <a:srgbClr val="0EA5E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7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548640" y="4114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8640" y="713232"/>
            <a:ext cx="9144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D4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C2D48"/>
                </a:solidFill>
                <a:latin typeface="Calibri"/>
                <a:ea typeface="Calibri"/>
                <a:cs typeface="Calibri"/>
                <a:sym typeface="Calibri"/>
              </a:rPr>
              <a:t>Claude, MCP &amp; Tool Use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02920" y="160020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67512" y="1764792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67512" y="1764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143000" y="1783080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C2D48"/>
                </a:solidFill>
                <a:latin typeface="Calibri"/>
                <a:ea typeface="Calibri"/>
                <a:cs typeface="Calibri"/>
                <a:sym typeface="Calibri"/>
              </a:rPr>
              <a:t>Fine-tuning + API Mastery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704088" y="235000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When to fine-tune vs RAG vs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Prompt caching &amp; Batch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Rate limits, retries, cost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Provider comparison: OpenAI vs Anthropic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67512" y="3218688"/>
            <a:ext cx="3200400" cy="384048"/>
          </a:xfrm>
          <a:prstGeom prst="roundRect">
            <a:avLst>
              <a:gd fmla="val 14286" name="adj"/>
            </a:avLst>
          </a:prstGeom>
          <a:solidFill>
            <a:srgbClr val="0EA5E9">
              <a:alpha val="1215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704088" y="3236976"/>
            <a:ext cx="3136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📊  Cost calculator — prompt cache vs no cache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251960" y="160020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416552" y="1764792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4416552" y="1764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892040" y="1783080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C2D48"/>
                </a:solidFill>
                <a:latin typeface="Calibri"/>
                <a:ea typeface="Calibri"/>
                <a:cs typeface="Calibri"/>
                <a:sym typeface="Calibri"/>
              </a:rPr>
              <a:t>Claude API + Anthropic Java SDK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453128" y="235000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anthropic-java SDK (official)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Messages, tool use, streaming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Extended thinking (claude-3-7 family)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Prompt caching in practice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416552" y="3218688"/>
            <a:ext cx="3200400" cy="384048"/>
          </a:xfrm>
          <a:prstGeom prst="roundRect">
            <a:avLst>
              <a:gd fmla="val 14286" name="adj"/>
            </a:avLst>
          </a:prstGeom>
          <a:solidFill>
            <a:srgbClr val="0EA5E9">
              <a:alpha val="1215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453128" y="3236976"/>
            <a:ext cx="3136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💻  Customer-support agent in Java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8001000" y="160020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8165592" y="1764792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8165592" y="1764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641080" y="1783080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C2D48"/>
                </a:solidFill>
                <a:latin typeface="Calibri"/>
                <a:ea typeface="Calibri"/>
                <a:cs typeface="Calibri"/>
                <a:sym typeface="Calibri"/>
              </a:rPr>
              <a:t>Claude Code (Full Walkthrough)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8202168" y="235000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CLAUDE.md hierarchy &amp; slash commands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Hooks: PreToolUse / PostToolUse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Plan mode vs direct execution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Subagents &amp; multi-file projects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8165592" y="3218688"/>
            <a:ext cx="3200400" cy="384048"/>
          </a:xfrm>
          <a:prstGeom prst="roundRect">
            <a:avLst>
              <a:gd fmla="val 14286" name="adj"/>
            </a:avLst>
          </a:prstGeom>
          <a:solidFill>
            <a:srgbClr val="0EA5E9">
              <a:alpha val="1215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8202168" y="3236976"/>
            <a:ext cx="3136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⚡  Live: refactor a Spring Boot app with Claude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02920" y="3977640"/>
            <a:ext cx="5349240" cy="260604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667512" y="4142232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67512" y="41422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143000" y="416052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C2D48"/>
                </a:solidFill>
                <a:latin typeface="Calibri"/>
                <a:ea typeface="Calibri"/>
                <a:cs typeface="Calibri"/>
                <a:sym typeface="Calibri"/>
              </a:rPr>
              <a:t>Tool Use + MCP — The Concept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04088" y="4727448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Tools · Resources · Prompts primitives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JSON-RPC client–server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STDIO vs HTTP/SSE transports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M×N integration problem MCP solves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67512" y="6053328"/>
            <a:ext cx="5029200" cy="384048"/>
          </a:xfrm>
          <a:prstGeom prst="roundRect">
            <a:avLst>
              <a:gd fmla="val 14286" name="adj"/>
            </a:avLst>
          </a:prstGeom>
          <a:solidFill>
            <a:srgbClr val="0EA5E9">
              <a:alpha val="1215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704088" y="6071616"/>
            <a:ext cx="4965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🗺️  Whiteboard: MCP vs raw 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080760" y="3977640"/>
            <a:ext cx="5440680" cy="260604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6245352" y="4142232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245352" y="41422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720840" y="4160520"/>
            <a:ext cx="4663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C2D48"/>
                </a:solidFill>
                <a:latin typeface="Calibri"/>
                <a:ea typeface="Calibri"/>
                <a:cs typeface="Calibri"/>
                <a:sym typeface="Calibri"/>
              </a:rPr>
              <a:t>Build Your Own MCP Server in Java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281928" y="4727448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Spring AI MCP server starter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@Tool annotation → auto-registered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Connect to Claude Desktop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STDIO stdout trap (and why it matters)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245352" y="6053328"/>
            <a:ext cx="5120640" cy="384048"/>
          </a:xfrm>
          <a:prstGeom prst="roundRect">
            <a:avLst>
              <a:gd fmla="val 14286" name="adj"/>
            </a:avLst>
          </a:prstGeom>
          <a:solidFill>
            <a:srgbClr val="0EA5E9">
              <a:alpha val="1215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281928" y="6071616"/>
            <a:ext cx="5056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🔌  LMS MCP server → Claude Desktop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A5E9">
              <a:alpha val="14901"/>
            </a:srgbClr>
          </a:solidFill>
          <a:ln cap="flat" cmpd="sng" w="12700">
            <a:solidFill>
              <a:srgbClr val="0EA5E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8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WEEK 2 · DEEP DIVE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85800" y="77724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MCP: the universal adapter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85800" y="166420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Without MCP, every app needs a custom adapter for every tool. With MCP, write the server once — any client can use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02920" y="2606040"/>
            <a:ext cx="2331720" cy="3017520"/>
          </a:xfrm>
          <a:prstGeom prst="roundRect">
            <a:avLst>
              <a:gd fmla="val 3529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85800" y="27889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MCP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731520" y="31546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• Claude Desktop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731520" y="36118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• Claude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731520" y="40690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• Your Java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731520" y="4526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• Any AI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1"/>
          <p:cNvCxnSpPr/>
          <p:nvPr/>
        </p:nvCxnSpPr>
        <p:spPr>
          <a:xfrm>
            <a:off x="2880360" y="4114800"/>
            <a:ext cx="1508760" cy="0"/>
          </a:xfrm>
          <a:prstGeom prst="straightConnector1">
            <a:avLst/>
          </a:prstGeom>
          <a:noFill/>
          <a:ln cap="flat" cmpd="sng" w="31750">
            <a:solidFill>
              <a:srgbClr val="0EA5E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p11"/>
          <p:cNvSpPr/>
          <p:nvPr/>
        </p:nvSpPr>
        <p:spPr>
          <a:xfrm>
            <a:off x="2907792" y="420624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2B8"/>
                </a:solidFill>
                <a:latin typeface="Courier New"/>
                <a:ea typeface="Courier New"/>
                <a:cs typeface="Courier New"/>
                <a:sym typeface="Courier New"/>
              </a:rPr>
              <a:t>JSON-RPC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2B8"/>
                </a:solidFill>
                <a:latin typeface="Courier New"/>
                <a:ea typeface="Courier New"/>
                <a:cs typeface="Courier New"/>
                <a:sym typeface="Courier New"/>
              </a:rPr>
              <a:t>(STDIO / HTTP)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434840" y="2606040"/>
            <a:ext cx="3291840" cy="3017520"/>
          </a:xfrm>
          <a:prstGeom prst="roundRect">
            <a:avLst>
              <a:gd fmla="val 2727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4617720" y="27889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YOUR MCP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617720" y="31546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@Tool Methods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617720" y="3493008"/>
            <a:ext cx="2743200" cy="438912"/>
          </a:xfrm>
          <a:prstGeom prst="roundRect">
            <a:avLst>
              <a:gd fmla="val 12500" name="adj"/>
            </a:avLst>
          </a:prstGeom>
          <a:solidFill>
            <a:srgbClr val="1C2236"/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4663440" y="3511296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366F1"/>
                </a:solidFill>
                <a:latin typeface="Courier New"/>
                <a:ea typeface="Courier New"/>
                <a:cs typeface="Courier New"/>
                <a:sym typeface="Courier New"/>
              </a:rPr>
              <a:t>listCourses()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617720" y="4059936"/>
            <a:ext cx="2743200" cy="438912"/>
          </a:xfrm>
          <a:prstGeom prst="roundRect">
            <a:avLst>
              <a:gd fmla="val 12500" name="adj"/>
            </a:avLst>
          </a:prstGeom>
          <a:solidFill>
            <a:srgbClr val="1C2236"/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663440" y="4078224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366F1"/>
                </a:solidFill>
                <a:latin typeface="Courier New"/>
                <a:ea typeface="Courier New"/>
                <a:cs typeface="Courier New"/>
                <a:sym typeface="Courier New"/>
              </a:rPr>
              <a:t>getAssignments()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617720" y="4626864"/>
            <a:ext cx="2743200" cy="438912"/>
          </a:xfrm>
          <a:prstGeom prst="roundRect">
            <a:avLst>
              <a:gd fmla="val 12500" name="adj"/>
            </a:avLst>
          </a:prstGeom>
          <a:solidFill>
            <a:srgbClr val="1C2236"/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4663440" y="464515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366F1"/>
                </a:solidFill>
                <a:latin typeface="Courier New"/>
                <a:ea typeface="Courier New"/>
                <a:cs typeface="Courier New"/>
                <a:sym typeface="Courier New"/>
              </a:rPr>
              <a:t>getWeakTopics()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11"/>
          <p:cNvCxnSpPr/>
          <p:nvPr/>
        </p:nvCxnSpPr>
        <p:spPr>
          <a:xfrm>
            <a:off x="7772400" y="4114800"/>
            <a:ext cx="1508760" cy="0"/>
          </a:xfrm>
          <a:prstGeom prst="straightConnector1">
            <a:avLst/>
          </a:prstGeom>
          <a:noFill/>
          <a:ln cap="flat" cmpd="sng" w="31750">
            <a:solidFill>
              <a:srgbClr val="6366F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p11"/>
          <p:cNvSpPr/>
          <p:nvPr/>
        </p:nvSpPr>
        <p:spPr>
          <a:xfrm>
            <a:off x="7790688" y="42062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calls / reads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9326880" y="2606040"/>
            <a:ext cx="2148840" cy="749808"/>
          </a:xfrm>
          <a:prstGeom prst="roundRect">
            <a:avLst>
              <a:gd fmla="val 10976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9464040" y="28072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LMS 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9326880" y="3611880"/>
            <a:ext cx="2148840" cy="749808"/>
          </a:xfrm>
          <a:prstGeom prst="roundRect">
            <a:avLst>
              <a:gd fmla="val 10976" name="adj"/>
            </a:avLst>
          </a:prstGeom>
          <a:solidFill>
            <a:srgbClr val="141828"/>
          </a:soli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9464040" y="38130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📁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9326880" y="4617720"/>
            <a:ext cx="2148840" cy="749808"/>
          </a:xfrm>
          <a:prstGeom prst="roundRect">
            <a:avLst>
              <a:gd fmla="val 10976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9464040" y="48188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APIs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02920" y="5852160"/>
            <a:ext cx="3566160" cy="749808"/>
          </a:xfrm>
          <a:prstGeom prst="roundRect">
            <a:avLst>
              <a:gd fmla="val 10976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685800" y="5989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Write once —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920240" y="59893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Any MCP client can use your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251960" y="5852160"/>
            <a:ext cx="3566160" cy="749808"/>
          </a:xfrm>
          <a:prstGeom prst="roundRect">
            <a:avLst>
              <a:gd fmla="val 10976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4434840" y="5989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Type-safe —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669280" y="59893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@Tool turns Java methods → MCP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8001000" y="5852160"/>
            <a:ext cx="3566160" cy="749808"/>
          </a:xfrm>
          <a:prstGeom prst="roundRect">
            <a:avLst>
              <a:gd fmla="val 10976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8183880" y="5989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Live demo —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9418320" y="59893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Claude Desktop → your Spring Boot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A5E9">
              <a:alpha val="14901"/>
            </a:srgbClr>
          </a:solidFill>
          <a:ln cap="flat" cmpd="sng" w="12700">
            <a:solidFill>
              <a:srgbClr val="0EA5E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9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"/>
          <p:cNvSpPr/>
          <p:nvPr/>
        </p:nvSpPr>
        <p:spPr>
          <a:xfrm>
            <a:off x="6858000" y="-274320"/>
            <a:ext cx="5943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0"/>
              <a:buFont typeface="Calibri"/>
              <a:buNone/>
            </a:pPr>
            <a:r>
              <a:rPr b="1" i="0" lang="en-US" sz="26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57200" y="8229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457200" y="822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1280160" y="8412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658368" y="1325880"/>
            <a:ext cx="8229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RAG, Agents &amp;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Models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85800" y="34290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Build a RAG pipeline from scratch in Java, create an agent that uses tools,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and run powerful models locally with Ollama — for free.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85800" y="4617720"/>
            <a:ext cx="1659636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685800" y="4617720"/>
            <a:ext cx="16596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LangChain4j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2510028" y="4617720"/>
            <a:ext cx="1554480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2510028" y="46177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229100" y="4617720"/>
            <a:ext cx="1133856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4229100" y="4617720"/>
            <a:ext cx="1133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Chroma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5527548" y="4617720"/>
            <a:ext cx="1344168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5527548" y="4617720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pgvector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7036308" y="4617720"/>
            <a:ext cx="1133856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7036308" y="4617720"/>
            <a:ext cx="1133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8334756" y="4617720"/>
            <a:ext cx="1764792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8334756" y="4617720"/>
            <a:ext cx="1764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0264140" y="4617720"/>
            <a:ext cx="1133856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10264140" y="4617720"/>
            <a:ext cx="1133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85800" y="5184648"/>
            <a:ext cx="1028700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685800" y="5184648"/>
            <a:ext cx="1028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@Tool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1879092" y="5184648"/>
            <a:ext cx="1133856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1879092" y="5184648"/>
            <a:ext cx="1133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Ollama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177540" y="5184648"/>
            <a:ext cx="1028700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3177540" y="5184648"/>
            <a:ext cx="1028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Llama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370832" y="5184648"/>
            <a:ext cx="1239012" cy="411480"/>
          </a:xfrm>
          <a:prstGeom prst="roundRect">
            <a:avLst>
              <a:gd fmla="val 13333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4370832" y="5184648"/>
            <a:ext cx="12390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Mistral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B981">
              <a:alpha val="14901"/>
            </a:srgbClr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10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"/>
          <p:cNvSpPr/>
          <p:nvPr/>
        </p:nvSpPr>
        <p:spPr>
          <a:xfrm>
            <a:off x="548640" y="4114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48640" y="713232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E1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52E16"/>
                </a:solidFill>
                <a:latin typeface="Calibri"/>
                <a:ea typeface="Calibri"/>
                <a:cs typeface="Calibri"/>
                <a:sym typeface="Calibri"/>
              </a:rPr>
              <a:t>RAG, Agents &amp; Local Models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502920" y="1572768"/>
            <a:ext cx="5349240" cy="2304288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667512" y="17373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667512" y="1737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1188720" y="1755648"/>
            <a:ext cx="4526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E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52E16"/>
                </a:solidFill>
                <a:latin typeface="Calibri"/>
                <a:ea typeface="Calibri"/>
                <a:cs typeface="Calibri"/>
                <a:sym typeface="Calibri"/>
              </a:rPr>
              <a:t>Embeddings &amp; Vector Databases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704088" y="2322576"/>
            <a:ext cx="500176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Semantic meaning as coordinates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Cosine similarity &amp; nearest neighbours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In-memory → Chroma → pgvector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Choosing a vector store for prod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667512" y="3346704"/>
            <a:ext cx="5029200" cy="384048"/>
          </a:xfrm>
          <a:prstGeom prst="roundRect">
            <a:avLst>
              <a:gd fmla="val 14286" name="adj"/>
            </a:avLst>
          </a:prstGeom>
          <a:solidFill>
            <a:srgbClr val="10B981">
              <a:alpha val="1215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704088" y="3364992"/>
            <a:ext cx="4965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🔍  Nearest-neighbour search — live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6172200" y="1572768"/>
            <a:ext cx="5349240" cy="2304288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6336792" y="17373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6336792" y="1737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858000" y="1755648"/>
            <a:ext cx="4526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E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52E16"/>
                </a:solidFill>
                <a:latin typeface="Calibri"/>
                <a:ea typeface="Calibri"/>
                <a:cs typeface="Calibri"/>
                <a:sym typeface="Calibri"/>
              </a:rPr>
              <a:t>RAG Pipeline in Java (LangChain4j)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6373368" y="2322576"/>
            <a:ext cx="500176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Ingest: load → chunk → embed → store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Retrieve: embed query → top-k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Augment: inject chunks as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Generate: grounded, citation-ready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6336792" y="3346704"/>
            <a:ext cx="5029200" cy="384048"/>
          </a:xfrm>
          <a:prstGeom prst="roundRect">
            <a:avLst>
              <a:gd fmla="val 14286" name="adj"/>
            </a:avLst>
          </a:prstGeom>
          <a:solidFill>
            <a:srgbClr val="10B981">
              <a:alpha val="1215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6373368" y="3364992"/>
            <a:ext cx="4965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📚  RAG over course notes — live Q&amp;A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502920" y="4114800"/>
            <a:ext cx="5349240" cy="2304288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667512" y="42793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667512" y="42793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1188720" y="4297680"/>
            <a:ext cx="4526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E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52E16"/>
                </a:solidFill>
                <a:latin typeface="Calibri"/>
                <a:ea typeface="Calibri"/>
                <a:cs typeface="Calibri"/>
                <a:sym typeface="Calibri"/>
              </a:rPr>
              <a:t>AI Agents &amp; Agentic Workflows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704088" y="4864608"/>
            <a:ext cx="500176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AiServices + @Tool — LangChain4j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Orchestrator–worker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When agents vs when workflows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Error handling in multi-step loops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67512" y="5888736"/>
            <a:ext cx="5029200" cy="384048"/>
          </a:xfrm>
          <a:prstGeom prst="roundRect">
            <a:avLst>
              <a:gd fmla="val 14286" name="adj"/>
            </a:avLst>
          </a:prstGeom>
          <a:solidFill>
            <a:srgbClr val="10B981">
              <a:alpha val="1215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704088" y="5907024"/>
            <a:ext cx="4965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🤖  Research agent — searches + summarises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172200" y="4114800"/>
            <a:ext cx="5349240" cy="2304288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6336792" y="42793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6336792" y="42793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6858000" y="4297680"/>
            <a:ext cx="4526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E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52E16"/>
                </a:solidFill>
                <a:latin typeface="Calibri"/>
                <a:ea typeface="Calibri"/>
                <a:cs typeface="Calibri"/>
                <a:sym typeface="Calibri"/>
              </a:rPr>
              <a:t>Running &amp; Deploying Local Models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6373368" y="4864608"/>
            <a:ext cx="500176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Ollama — pull &amp; run GGUF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Llama 3, Mistral, Gemma, Qwen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Same LangChain4j code → swap one bean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Quantisation: Q4 vs Q8 trade-offs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6336792" y="5888736"/>
            <a:ext cx="5029200" cy="384048"/>
          </a:xfrm>
          <a:prstGeom prst="roundRect">
            <a:avLst>
              <a:gd fmla="val 14286" name="adj"/>
            </a:avLst>
          </a:prstGeom>
          <a:solidFill>
            <a:srgbClr val="10B981">
              <a:alpha val="1215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6373368" y="5907024"/>
            <a:ext cx="4965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🖥️  Local RAG with Ollama + Llama — no API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B981">
              <a:alpha val="14901"/>
            </a:srgbClr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11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WEEK 3 · DEEP DIVE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685800" y="77724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RAG Pipeline — step by step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685800" y="16459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Two phases. Run ingestion once. Run retrieval for every user question.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02920" y="2240280"/>
            <a:ext cx="5349240" cy="3246120"/>
          </a:xfrm>
          <a:prstGeom prst="roundRect">
            <a:avLst>
              <a:gd fmla="val 2535" name="adj"/>
            </a:avLst>
          </a:prstGeom>
          <a:solidFill>
            <a:srgbClr val="141828"/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731520" y="24231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① INGESTION  —  done once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713232" y="2852928"/>
            <a:ext cx="4937760" cy="493776"/>
          </a:xfrm>
          <a:prstGeom prst="roundRect">
            <a:avLst>
              <a:gd fmla="val 11111" name="adj"/>
            </a:avLst>
          </a:prstGeom>
          <a:solidFill>
            <a:srgbClr val="1C2236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841248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1280160" y="2944368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2331720" y="29626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PDFs, MD, DB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713232" y="3447288"/>
            <a:ext cx="4937760" cy="493776"/>
          </a:xfrm>
          <a:prstGeom prst="roundRect">
            <a:avLst>
              <a:gd fmla="val 11111" name="adj"/>
            </a:avLst>
          </a:prstGeom>
          <a:solidFill>
            <a:srgbClr val="1C2236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841248" y="3520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1280160" y="3538728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2331720" y="355701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Split into ~300-token pieces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713232" y="4041648"/>
            <a:ext cx="4937760" cy="493776"/>
          </a:xfrm>
          <a:prstGeom prst="roundRect">
            <a:avLst>
              <a:gd fmla="val 11111" name="adj"/>
            </a:avLst>
          </a:prstGeom>
          <a:solidFill>
            <a:srgbClr val="1C2236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841248" y="4114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1280160" y="4133088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2331720" y="415137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Each chunk → vector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713232" y="4636008"/>
            <a:ext cx="4937760" cy="493776"/>
          </a:xfrm>
          <a:prstGeom prst="roundRect">
            <a:avLst>
              <a:gd fmla="val 11111" name="adj"/>
            </a:avLst>
          </a:prstGeom>
          <a:solidFill>
            <a:srgbClr val="1C2236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841248" y="47091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1280160" y="4727448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2331720" y="474573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Vectors in DB (Chroma/pgvector)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14"/>
          <p:cNvCxnSpPr/>
          <p:nvPr/>
        </p:nvCxnSpPr>
        <p:spPr>
          <a:xfrm>
            <a:off x="5897880" y="3858768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B92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0" name="Google Shape;440;p14"/>
          <p:cNvSpPr/>
          <p:nvPr/>
        </p:nvSpPr>
        <p:spPr>
          <a:xfrm>
            <a:off x="5623560" y="3913632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6446520" y="2240280"/>
            <a:ext cx="5120640" cy="3246120"/>
          </a:xfrm>
          <a:prstGeom prst="roundRect">
            <a:avLst>
              <a:gd fmla="val 2535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6656832" y="24231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② RETRIEVE + GENERATE  —  per query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6656832" y="2852928"/>
            <a:ext cx="4754880" cy="493776"/>
          </a:xfrm>
          <a:prstGeom prst="roundRect">
            <a:avLst>
              <a:gd fmla="val 11111" name="adj"/>
            </a:avLst>
          </a:prstGeom>
          <a:solidFill>
            <a:srgbClr val="1C2236"/>
          </a:solidFill>
          <a:ln cap="flat" cmpd="sng" w="12700">
            <a:solidFill>
              <a:srgbClr val="0EA5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6784848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7223760" y="294436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Embed Query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8613648" y="296265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User question → vector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6656832" y="3447288"/>
            <a:ext cx="4754880" cy="493776"/>
          </a:xfrm>
          <a:prstGeom prst="roundRect">
            <a:avLst>
              <a:gd fmla="val 11111" name="adj"/>
            </a:avLst>
          </a:prstGeom>
          <a:solidFill>
            <a:srgbClr val="1C2236"/>
          </a:solidFill>
          <a:ln cap="flat" cmpd="sng" w="12700">
            <a:solidFill>
              <a:srgbClr val="0EA5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6784848" y="3520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7223760" y="353872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8613648" y="35570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Find top-k nearest chunks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6656832" y="4041648"/>
            <a:ext cx="4754880" cy="493776"/>
          </a:xfrm>
          <a:prstGeom prst="roundRect">
            <a:avLst>
              <a:gd fmla="val 11111" name="adj"/>
            </a:avLst>
          </a:prstGeom>
          <a:solidFill>
            <a:srgbClr val="1C2236"/>
          </a:solidFill>
          <a:ln cap="flat" cmpd="sng" w="12700">
            <a:solidFill>
              <a:srgbClr val="0EA5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6784848" y="4114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7223760" y="413308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Augment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8613648" y="415137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Inject chunks into 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6656832" y="4636008"/>
            <a:ext cx="4754880" cy="493776"/>
          </a:xfrm>
          <a:prstGeom prst="roundRect">
            <a:avLst>
              <a:gd fmla="val 11111" name="adj"/>
            </a:avLst>
          </a:prstGeom>
          <a:solidFill>
            <a:srgbClr val="1C2236"/>
          </a:solidFill>
          <a:ln cap="flat" cmpd="sng" w="12700">
            <a:solidFill>
              <a:srgbClr val="0EA5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6784848" y="47091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7223760" y="472744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8613648" y="474573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LLM answers from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502920" y="5687568"/>
            <a:ext cx="11064240" cy="749808"/>
          </a:xfrm>
          <a:prstGeom prst="roundRect">
            <a:avLst>
              <a:gd fmla="val 10976" name="adj"/>
            </a:avLst>
          </a:prstGeom>
          <a:solidFill>
            <a:srgbClr val="1C2236"/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731520" y="5806440"/>
            <a:ext cx="10652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🎯  Result: grounded, citation-ready answers from YOUR data — not the model's (possibly outdated) training memory.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B981">
              <a:alpha val="14901"/>
            </a:srgbClr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12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"/>
          <p:cNvSpPr/>
          <p:nvPr/>
        </p:nvSpPr>
        <p:spPr>
          <a:xfrm>
            <a:off x="6858000" y="-274320"/>
            <a:ext cx="5943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00"/>
              <a:buFont typeface="Calibri"/>
              <a:buNone/>
            </a:pPr>
            <a:r>
              <a:rPr b="1" i="0" lang="en-US" sz="26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457200" y="8229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457200" y="822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1280160" y="8412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658368" y="1325880"/>
            <a:ext cx="8229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685800" y="34290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Every concept from Weeks 1–3 comes together into one full-stack AI product.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5 class sessions. Ship something real.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685800" y="4617720"/>
            <a:ext cx="1659636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685800" y="4617720"/>
            <a:ext cx="16596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2510028" y="4617720"/>
            <a:ext cx="1659636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2510028" y="4617720"/>
            <a:ext cx="16596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LangChain4j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4334256" y="4617720"/>
            <a:ext cx="1133856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4334256" y="4617720"/>
            <a:ext cx="1133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5632704" y="4617720"/>
            <a:ext cx="818388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5632704" y="4617720"/>
            <a:ext cx="8183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6615684" y="4617720"/>
            <a:ext cx="818388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6615684" y="4617720"/>
            <a:ext cx="8183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7598664" y="4617720"/>
            <a:ext cx="1554480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7598664" y="46177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Flashcards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685800" y="5184648"/>
            <a:ext cx="2185416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685800" y="5184648"/>
            <a:ext cx="21854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Progress Tracker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3035808" y="5184648"/>
            <a:ext cx="1869948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3035808" y="5184648"/>
            <a:ext cx="18699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JavaScript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5070348" y="5184648"/>
            <a:ext cx="1344168" cy="411480"/>
          </a:xfrm>
          <a:prstGeom prst="roundRect">
            <a:avLst>
              <a:gd fmla="val 13333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5070348" y="5184648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pgvector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13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B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"/>
          <p:cNvSpPr/>
          <p:nvPr/>
        </p:nvSpPr>
        <p:spPr>
          <a:xfrm>
            <a:off x="548640" y="4114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548640" y="713232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140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431407"/>
                </a:solidFill>
                <a:latin typeface="Calibri"/>
                <a:ea typeface="Calibri"/>
                <a:cs typeface="Calibri"/>
                <a:sym typeface="Calibri"/>
              </a:rPr>
              <a:t>Full-Stack AI Study Buddy — Architecture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02920" y="1600200"/>
            <a:ext cx="2514600" cy="41148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640080" y="181051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(JavaScript)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658368" y="2542032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140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31407"/>
                </a:solidFill>
                <a:latin typeface="Calibri"/>
                <a:ea typeface="Calibri"/>
                <a:cs typeface="Calibri"/>
                <a:sym typeface="Calibri"/>
              </a:rPr>
              <a:t>💬 Chat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658368" y="3017520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140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31407"/>
                </a:solidFill>
                <a:latin typeface="Calibri"/>
                <a:ea typeface="Calibri"/>
                <a:cs typeface="Calibri"/>
                <a:sym typeface="Calibri"/>
              </a:rPr>
              <a:t>🃏 Flashcard viewer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658368" y="3493008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140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31407"/>
                </a:solidFill>
                <a:latin typeface="Calibri"/>
                <a:ea typeface="Calibri"/>
                <a:cs typeface="Calibri"/>
                <a:sym typeface="Calibri"/>
              </a:rPr>
              <a:t>📊 Weak-topic heatmap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658368" y="3968496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140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31407"/>
                </a:solidFill>
                <a:latin typeface="Calibri"/>
                <a:ea typeface="Calibri"/>
                <a:cs typeface="Calibri"/>
                <a:sym typeface="Calibri"/>
              </a:rPr>
              <a:t>🎙️ Voice input (W1)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16"/>
          <p:cNvCxnSpPr/>
          <p:nvPr/>
        </p:nvCxnSpPr>
        <p:spPr>
          <a:xfrm>
            <a:off x="3063240" y="365760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0" name="Google Shape;510;p16"/>
          <p:cNvSpPr/>
          <p:nvPr/>
        </p:nvSpPr>
        <p:spPr>
          <a:xfrm>
            <a:off x="3090672" y="376732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3703320" y="1600200"/>
            <a:ext cx="3977640" cy="411480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0EA5E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3840480" y="181051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SPRING BOOT 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3858768" y="2286000"/>
            <a:ext cx="3675888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0EA5E9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3977640" y="23591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ourier New"/>
                <a:ea typeface="Courier New"/>
                <a:cs typeface="Courier New"/>
                <a:sym typeface="Courier New"/>
              </a:rPr>
              <a:t>/api/chat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3977640" y="26334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Tutor (RAG + Claude)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3858768" y="3090672"/>
            <a:ext cx="3675888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0EA5E9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3977640" y="316382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ourier New"/>
                <a:ea typeface="Courier New"/>
                <a:cs typeface="Courier New"/>
                <a:sym typeface="Courier New"/>
              </a:rPr>
              <a:t>/api/flashcards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3977640" y="343814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Structured cards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3858768" y="3895344"/>
            <a:ext cx="3675888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0EA5E9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3977640" y="396849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ourier New"/>
                <a:ea typeface="Courier New"/>
                <a:cs typeface="Courier New"/>
                <a:sym typeface="Courier New"/>
              </a:rPr>
              <a:t>/api/progress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3977640" y="424281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Weak topic tracker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3840480" y="4681728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LangChain4j   ·   Anthropic SDK   ·   Spring AI MCP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16"/>
          <p:cNvCxnSpPr/>
          <p:nvPr/>
        </p:nvCxnSpPr>
        <p:spPr>
          <a:xfrm>
            <a:off x="7726680" y="365760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4" name="Google Shape;524;p16"/>
          <p:cNvSpPr/>
          <p:nvPr/>
        </p:nvSpPr>
        <p:spPr>
          <a:xfrm>
            <a:off x="7754112" y="376732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8366760" y="1600200"/>
            <a:ext cx="3291840" cy="41148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8503920" y="181051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AI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8503920" y="2286000"/>
            <a:ext cx="3017520" cy="621792"/>
          </a:xfrm>
          <a:prstGeom prst="roundRect">
            <a:avLst>
              <a:gd fmla="val 8824" name="adj"/>
            </a:avLst>
          </a:prstGeom>
          <a:solidFill>
            <a:srgbClr val="F1F5F9"/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8613648" y="2432304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9006840" y="2340864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Claude (Anthropic)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9006840" y="260604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Reasoning +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8503920" y="3035808"/>
            <a:ext cx="3017520" cy="621792"/>
          </a:xfrm>
          <a:prstGeom prst="roundRect">
            <a:avLst>
              <a:gd fmla="val 8824" name="adj"/>
            </a:avLst>
          </a:prstGeom>
          <a:solidFill>
            <a:srgbClr val="F1F5F9"/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8613648" y="3182112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9006840" y="309067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LangChain4j RAG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9006840" y="335584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Course-note retrieval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8503920" y="3785616"/>
            <a:ext cx="3017520" cy="621792"/>
          </a:xfrm>
          <a:prstGeom prst="roundRect">
            <a:avLst>
              <a:gd fmla="val 8824" name="adj"/>
            </a:avLst>
          </a:prstGeom>
          <a:solidFill>
            <a:srgbClr val="F1F5F9"/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6"/>
          <p:cNvSpPr/>
          <p:nvPr/>
        </p:nvSpPr>
        <p:spPr>
          <a:xfrm>
            <a:off x="8613648" y="3931920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9006840" y="38404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9006840" y="410565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pgvector / Chroma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8503920" y="4535424"/>
            <a:ext cx="3017520" cy="621792"/>
          </a:xfrm>
          <a:prstGeom prst="roundRect">
            <a:avLst>
              <a:gd fmla="val 8824" name="adj"/>
            </a:avLst>
          </a:prstGeom>
          <a:solidFill>
            <a:srgbClr val="F1F5F9"/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"/>
          <p:cNvSpPr/>
          <p:nvPr/>
        </p:nvSpPr>
        <p:spPr>
          <a:xfrm>
            <a:off x="8613648" y="4681728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9006840" y="459028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9006840" y="485546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LMS data as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502920" y="5870448"/>
            <a:ext cx="11155680" cy="658368"/>
          </a:xfrm>
          <a:prstGeom prst="roundRect">
            <a:avLst>
              <a:gd fmla="val 12500" name="adj"/>
            </a:avLst>
          </a:prstGeom>
          <a:solidFill>
            <a:srgbClr val="0C0F1A"/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6"/>
          <p:cNvSpPr/>
          <p:nvPr/>
        </p:nvSpPr>
        <p:spPr>
          <a:xfrm>
            <a:off x="685800" y="5998464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Every piece was built in a previous week. Week 4 = connect + polish + present.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6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7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CAPSTONE · STUDY BUDDY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685800" y="77724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features. Every one is a new skill.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502920" y="1783080"/>
            <a:ext cx="5440680" cy="2103120"/>
          </a:xfrm>
          <a:prstGeom prst="roundRect">
            <a:avLst>
              <a:gd fmla="val 3913" name="adj"/>
            </a:avLst>
          </a:prstGeom>
          <a:solidFill>
            <a:srgbClr val="141828"/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704088" y="198424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1399032" y="198424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RAG-Powered Tutor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704088" y="2514600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Claude answers from the student's actual course notes — not its training memory. Hallucination is structurally prevented.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704088" y="3483864"/>
            <a:ext cx="2560320" cy="292608"/>
          </a:xfrm>
          <a:prstGeom prst="roundRect">
            <a:avLst>
              <a:gd fmla="val 18750" name="adj"/>
            </a:avLst>
          </a:prstGeom>
          <a:solidFill>
            <a:srgbClr val="10B981">
              <a:alpha val="14901"/>
            </a:srgbClr>
          </a:soli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704088" y="34838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← Week 3 RAG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6309360" y="1783080"/>
            <a:ext cx="5440680" cy="2103120"/>
          </a:xfrm>
          <a:prstGeom prst="roundRect">
            <a:avLst>
              <a:gd fmla="val 3913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7"/>
          <p:cNvSpPr/>
          <p:nvPr/>
        </p:nvSpPr>
        <p:spPr>
          <a:xfrm>
            <a:off x="6510528" y="198424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7205472" y="198424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Flashcard Generator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6510528" y="2514600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POST /api/flashcards → retrieve relevant chunks → generate List&lt;Flashcard&gt; via structured output. No string parsing.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6510528" y="3483864"/>
            <a:ext cx="2560320" cy="292608"/>
          </a:xfrm>
          <a:prstGeom prst="roundRect">
            <a:avLst>
              <a:gd fmla="val 18750" name="adj"/>
            </a:avLst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7"/>
          <p:cNvSpPr/>
          <p:nvPr/>
        </p:nvSpPr>
        <p:spPr>
          <a:xfrm>
            <a:off x="6510528" y="34838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← Week 1 structured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502920" y="4114800"/>
            <a:ext cx="5440680" cy="2103120"/>
          </a:xfrm>
          <a:prstGeom prst="roundRect">
            <a:avLst>
              <a:gd fmla="val 3913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7"/>
          <p:cNvSpPr/>
          <p:nvPr/>
        </p:nvSpPr>
        <p:spPr>
          <a:xfrm>
            <a:off x="704088" y="431596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1399032" y="431596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Weak-Topic Tracker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704088" y="4846320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Records quiz results per topic. Surfaces weakest areas first. Feeds back into tutor focus. Optional: MCP server provides this to Claude.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704088" y="5815584"/>
            <a:ext cx="2560320" cy="292608"/>
          </a:xfrm>
          <a:prstGeom prst="roundRect">
            <a:avLst>
              <a:gd fmla="val 18750" name="adj"/>
            </a:avLst>
          </a:prstGeom>
          <a:solidFill>
            <a:srgbClr val="0EA5E9">
              <a:alpha val="14901"/>
            </a:srgbClr>
          </a:solidFill>
          <a:ln cap="flat" cmpd="sng" w="12700">
            <a:solidFill>
              <a:srgbClr val="0EA5E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7"/>
          <p:cNvSpPr/>
          <p:nvPr/>
        </p:nvSpPr>
        <p:spPr>
          <a:xfrm>
            <a:off x="704088" y="581558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← Week 2 MCP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6309360" y="4114800"/>
            <a:ext cx="5440680" cy="2103120"/>
          </a:xfrm>
          <a:prstGeom prst="roundRect">
            <a:avLst>
              <a:gd fmla="val 3913" name="adj"/>
            </a:avLst>
          </a:prstGeom>
          <a:solidFill>
            <a:srgbClr val="141828"/>
          </a:solidFill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7"/>
          <p:cNvSpPr/>
          <p:nvPr/>
        </p:nvSpPr>
        <p:spPr>
          <a:xfrm>
            <a:off x="6510528" y="431596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🎙️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7205472" y="431596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 Input (optional+)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6510528" y="4846320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Whisper STT feeds the chat box. Students who did the Voice Task Manager in W1 can wire this in two lines.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6510528" y="5815584"/>
            <a:ext cx="256032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"/>
          <p:cNvSpPr/>
          <p:nvPr/>
        </p:nvSpPr>
        <p:spPr>
          <a:xfrm>
            <a:off x="6510528" y="581558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← Week 1 Whisper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7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15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F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8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COMPLETE TECH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Everything you'll touch — and when.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502920" y="1463040"/>
            <a:ext cx="5504688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6366F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"/>
          <p:cNvSpPr/>
          <p:nvPr/>
        </p:nvSpPr>
        <p:spPr>
          <a:xfrm>
            <a:off x="502920" y="1463040"/>
            <a:ext cx="1783080" cy="1572768"/>
          </a:xfrm>
          <a:prstGeom prst="roundRect">
            <a:avLst>
              <a:gd fmla="val 5233" name="adj"/>
            </a:avLst>
          </a:prstGeom>
          <a:solidFill>
            <a:srgbClr val="6366F1">
              <a:alpha val="1215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8"/>
          <p:cNvSpPr/>
          <p:nvPr/>
        </p:nvSpPr>
        <p:spPr>
          <a:xfrm>
            <a:off x="594360" y="1920240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LLMs / APIs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2441448" y="1536192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GPT-4o (Responses API)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2441448" y="1883664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Claude Sonnet (Anthropic SDK)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2441448" y="2231136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DALL·E 3  ·  Whisper  ·  TTS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2441448" y="2578608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claude-opus-4 (extended thinking)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6263640" y="1463040"/>
            <a:ext cx="5504688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6263640" y="1463040"/>
            <a:ext cx="1783080" cy="1572768"/>
          </a:xfrm>
          <a:prstGeom prst="roundRect">
            <a:avLst>
              <a:gd fmla="val 5233" name="adj"/>
            </a:avLst>
          </a:prstGeom>
          <a:solidFill>
            <a:srgbClr val="0EA5E9">
              <a:alpha val="1215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8"/>
          <p:cNvSpPr/>
          <p:nvPr/>
        </p:nvSpPr>
        <p:spPr>
          <a:xfrm>
            <a:off x="6355080" y="1920240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Java AI Libraries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8202168" y="1536192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openai-java (v4.x official)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8202168" y="1883664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anthropic-java (v2.40.x official)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8202168" y="2231136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LangChain4j 1.x (BOM-managed)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8202168" y="2578608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Spring AI 1.x (MCP starters)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502920" y="3182112"/>
            <a:ext cx="5504688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8"/>
          <p:cNvSpPr/>
          <p:nvPr/>
        </p:nvSpPr>
        <p:spPr>
          <a:xfrm>
            <a:off x="502920" y="3182112"/>
            <a:ext cx="1783080" cy="1572768"/>
          </a:xfrm>
          <a:prstGeom prst="roundRect">
            <a:avLst>
              <a:gd fmla="val 5233" name="adj"/>
            </a:avLst>
          </a:prstGeom>
          <a:solidFill>
            <a:srgbClr val="10B981">
              <a:alpha val="1215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8"/>
          <p:cNvSpPr/>
          <p:nvPr/>
        </p:nvSpPr>
        <p:spPr>
          <a:xfrm>
            <a:off x="594360" y="3639312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RAG &amp; Vectors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2441448" y="3255264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LangChain4j EmbeddingStoreIngestor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2441448" y="3602736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AllMiniLmL6V2 (local, no key)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2441448" y="3950208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pgvector  ·  Chroma  ·  Qdrant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2441448" y="4297680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ContentRetriever + AiServices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6263640" y="3182112"/>
            <a:ext cx="5504688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8"/>
          <p:cNvSpPr/>
          <p:nvPr/>
        </p:nvSpPr>
        <p:spPr>
          <a:xfrm>
            <a:off x="6263640" y="3182112"/>
            <a:ext cx="1783080" cy="1572768"/>
          </a:xfrm>
          <a:prstGeom prst="roundRect">
            <a:avLst>
              <a:gd fmla="val 5233" name="adj"/>
            </a:avLst>
          </a:prstGeom>
          <a:solidFill>
            <a:srgbClr val="0EA5E9">
              <a:alpha val="1215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"/>
          <p:cNvSpPr/>
          <p:nvPr/>
        </p:nvSpPr>
        <p:spPr>
          <a:xfrm>
            <a:off x="6355080" y="3639312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MCP &amp; 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8202168" y="3255264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Spring AI MCP Server Starter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8202168" y="3602736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@Tool auto-registration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8202168" y="3950208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Claude Desktop / Claude Code client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8202168" y="4297680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LangChain4j AgenticServices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502920" y="4901184"/>
            <a:ext cx="5504688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8"/>
          <p:cNvSpPr/>
          <p:nvPr/>
        </p:nvSpPr>
        <p:spPr>
          <a:xfrm>
            <a:off x="502920" y="4901184"/>
            <a:ext cx="1783080" cy="1572768"/>
          </a:xfrm>
          <a:prstGeom prst="roundRect">
            <a:avLst>
              <a:gd fmla="val 5233" name="adj"/>
            </a:avLst>
          </a:prstGeom>
          <a:solidFill>
            <a:srgbClr val="10B981">
              <a:alpha val="1215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594360" y="535838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Local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2441448" y="4974336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Ollama  ·  Llama 3.2  ·  Mistral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2441448" y="5321808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Qwen  ·  Gemma  ·  GGUF quant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2441448" y="5669280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Swap one bean in RagConfig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2441448" y="6016752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Same code: cloud ↔ local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263640" y="4901184"/>
            <a:ext cx="5504688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F59E0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8"/>
          <p:cNvSpPr/>
          <p:nvPr/>
        </p:nvSpPr>
        <p:spPr>
          <a:xfrm>
            <a:off x="6263640" y="4901184"/>
            <a:ext cx="1783080" cy="1572768"/>
          </a:xfrm>
          <a:prstGeom prst="roundRect">
            <a:avLst>
              <a:gd fmla="val 5233" name="adj"/>
            </a:avLst>
          </a:prstGeom>
          <a:solidFill>
            <a:srgbClr val="F59E0B">
              <a:alpha val="1215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8"/>
          <p:cNvSpPr/>
          <p:nvPr/>
        </p:nvSpPr>
        <p:spPr>
          <a:xfrm>
            <a:off x="6355080" y="535838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Web / 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8202168" y="4974336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Spring Boot 3.x  ·  JDK 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8202168" y="5321808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REST controllers (GET/POST)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8202168" y="5669280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HTML/CSS/JS 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8202168" y="6016752"/>
            <a:ext cx="3429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Maven BOM-managed builds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8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9"/>
          <p:cNvSpPr/>
          <p:nvPr/>
        </p:nvSpPr>
        <p:spPr>
          <a:xfrm>
            <a:off x="685800" y="47548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BY THE 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685800" y="795528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will be able to…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9"/>
          <p:cNvSpPr/>
          <p:nvPr/>
        </p:nvSpPr>
        <p:spPr>
          <a:xfrm>
            <a:off x="530352" y="1737360"/>
            <a:ext cx="713232" cy="438912"/>
          </a:xfrm>
          <a:prstGeom prst="roundRect">
            <a:avLst>
              <a:gd fmla="val 12500" name="adj"/>
            </a:avLst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9"/>
          <p:cNvSpPr/>
          <p:nvPr/>
        </p:nvSpPr>
        <p:spPr>
          <a:xfrm>
            <a:off x="530352" y="1737360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W1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1389888" y="178308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Explain how LLMs work — tokens, embeddings, attention, sampling — and why they hallucinate.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9"/>
          <p:cNvSpPr/>
          <p:nvPr/>
        </p:nvSpPr>
        <p:spPr>
          <a:xfrm>
            <a:off x="530352" y="2340864"/>
            <a:ext cx="713232" cy="438912"/>
          </a:xfrm>
          <a:prstGeom prst="roundRect">
            <a:avLst>
              <a:gd fmla="val 12500" name="adj"/>
            </a:avLst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9"/>
          <p:cNvSpPr/>
          <p:nvPr/>
        </p:nvSpPr>
        <p:spPr>
          <a:xfrm>
            <a:off x="530352" y="2340864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W1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1389888" y="2386584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Write prompts that reliably produce structured output from any LLM API.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9"/>
          <p:cNvSpPr/>
          <p:nvPr/>
        </p:nvSpPr>
        <p:spPr>
          <a:xfrm>
            <a:off x="530352" y="2944368"/>
            <a:ext cx="713232" cy="438912"/>
          </a:xfrm>
          <a:prstGeom prst="roundRect">
            <a:avLst>
              <a:gd fmla="val 12500" name="adj"/>
            </a:avLst>
          </a:prstGeom>
          <a:solidFill>
            <a:srgbClr val="0EA5E9">
              <a:alpha val="20000"/>
            </a:srgbClr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530352" y="2944368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9"/>
          <p:cNvSpPr/>
          <p:nvPr/>
        </p:nvSpPr>
        <p:spPr>
          <a:xfrm>
            <a:off x="1389888" y="299008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Call Claude's extended thinking for hard reasoning problems via the Java SDK.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530352" y="3547872"/>
            <a:ext cx="713232" cy="438912"/>
          </a:xfrm>
          <a:prstGeom prst="roundRect">
            <a:avLst>
              <a:gd fmla="val 12500" name="adj"/>
            </a:avLst>
          </a:prstGeom>
          <a:solidFill>
            <a:srgbClr val="0EA5E9">
              <a:alpha val="20000"/>
            </a:srgbClr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9"/>
          <p:cNvSpPr/>
          <p:nvPr/>
        </p:nvSpPr>
        <p:spPr>
          <a:xfrm>
            <a:off x="530352" y="3547872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1389888" y="3593592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Build and ship a Spring Boot MCP server that any MCP client can connect 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530352" y="4151376"/>
            <a:ext cx="713232" cy="438912"/>
          </a:xfrm>
          <a:prstGeom prst="roundRect">
            <a:avLst>
              <a:gd fmla="val 12500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530352" y="4151376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9"/>
          <p:cNvSpPr/>
          <p:nvPr/>
        </p:nvSpPr>
        <p:spPr>
          <a:xfrm>
            <a:off x="1389888" y="4197096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Build a full RAG pipeline from scratch: ingest → embed → retrieve → generate, grounded in your own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9"/>
          <p:cNvSpPr/>
          <p:nvPr/>
        </p:nvSpPr>
        <p:spPr>
          <a:xfrm>
            <a:off x="530352" y="4754880"/>
            <a:ext cx="713232" cy="438912"/>
          </a:xfrm>
          <a:prstGeom prst="roundRect">
            <a:avLst>
              <a:gd fmla="val 12500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9"/>
          <p:cNvSpPr/>
          <p:nvPr/>
        </p:nvSpPr>
        <p:spPr>
          <a:xfrm>
            <a:off x="530352" y="4754880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9"/>
          <p:cNvSpPr/>
          <p:nvPr/>
        </p:nvSpPr>
        <p:spPr>
          <a:xfrm>
            <a:off x="1389888" y="480060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Create a multi-tool AI agent using LangChain4j — and run the whole thing locally with Ollama.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530352" y="5358384"/>
            <a:ext cx="713232" cy="438912"/>
          </a:xfrm>
          <a:prstGeom prst="roundRect">
            <a:avLst>
              <a:gd fmla="val 12500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9"/>
          <p:cNvSpPr/>
          <p:nvPr/>
        </p:nvSpPr>
        <p:spPr>
          <a:xfrm>
            <a:off x="530352" y="5358384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1389888" y="5404104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CFF"/>
                </a:solidFill>
                <a:latin typeface="Calibri"/>
                <a:ea typeface="Calibri"/>
                <a:cs typeface="Calibri"/>
                <a:sym typeface="Calibri"/>
              </a:rPr>
              <a:t>Deliver a full-stack AI application (Spring Boot + Claude + RAG + JS UI) as a portfolio piece.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9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17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A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"/>
          <p:cNvSpPr/>
          <p:nvPr/>
        </p:nvSpPr>
        <p:spPr>
          <a:xfrm>
            <a:off x="7772400" y="3840480"/>
            <a:ext cx="5943600" cy="5943600"/>
          </a:xfrm>
          <a:prstGeom prst="ellipse">
            <a:avLst/>
          </a:prstGeom>
          <a:solidFill>
            <a:srgbClr val="F59E0B">
              <a:alpha val="7843"/>
            </a:srgbClr>
          </a:solidFill>
          <a:ln cap="flat" cmpd="sng" w="12700">
            <a:solidFill>
              <a:srgbClr val="F59E0B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6366F1">
              <a:alpha val="7058"/>
            </a:srgbClr>
          </a:solidFill>
          <a:ln cap="flat" cmpd="sng" w="12700">
            <a:solidFill>
              <a:srgbClr val="6366F1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0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 to build?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685800" y="2304288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Four weeks. Five projects. One full-stack AI product.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0"/>
          <p:cNvSpPr/>
          <p:nvPr/>
        </p:nvSpPr>
        <p:spPr>
          <a:xfrm>
            <a:off x="685800" y="3337560"/>
            <a:ext cx="2578608" cy="530352"/>
          </a:xfrm>
          <a:prstGeom prst="roundRect">
            <a:avLst>
              <a:gd fmla="val 13793" name="adj"/>
            </a:avLst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0"/>
          <p:cNvSpPr/>
          <p:nvPr/>
        </p:nvSpPr>
        <p:spPr>
          <a:xfrm>
            <a:off x="685800" y="3337560"/>
            <a:ext cx="25786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W1 — Foundations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20"/>
          <p:cNvCxnSpPr/>
          <p:nvPr/>
        </p:nvCxnSpPr>
        <p:spPr>
          <a:xfrm>
            <a:off x="3264408" y="3602736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8B92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7" name="Google Shape;677;p20"/>
          <p:cNvSpPr/>
          <p:nvPr/>
        </p:nvSpPr>
        <p:spPr>
          <a:xfrm>
            <a:off x="3502152" y="3337560"/>
            <a:ext cx="2578608" cy="530352"/>
          </a:xfrm>
          <a:prstGeom prst="roundRect">
            <a:avLst>
              <a:gd fmla="val 13793" name="adj"/>
            </a:avLst>
          </a:prstGeom>
          <a:solidFill>
            <a:srgbClr val="0EA5E9">
              <a:alpha val="20000"/>
            </a:srgbClr>
          </a:solidFill>
          <a:ln cap="flat" cmpd="sng" w="12700">
            <a:solidFill>
              <a:srgbClr val="0EA5E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0"/>
          <p:cNvSpPr/>
          <p:nvPr/>
        </p:nvSpPr>
        <p:spPr>
          <a:xfrm>
            <a:off x="3502152" y="3337560"/>
            <a:ext cx="25786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W2 — Claude + MCP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" name="Google Shape;679;p20"/>
          <p:cNvCxnSpPr/>
          <p:nvPr/>
        </p:nvCxnSpPr>
        <p:spPr>
          <a:xfrm>
            <a:off x="6080760" y="3602736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8B92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0" name="Google Shape;680;p20"/>
          <p:cNvSpPr/>
          <p:nvPr/>
        </p:nvSpPr>
        <p:spPr>
          <a:xfrm>
            <a:off x="6318504" y="3337560"/>
            <a:ext cx="2578608" cy="530352"/>
          </a:xfrm>
          <a:prstGeom prst="roundRect">
            <a:avLst>
              <a:gd fmla="val 13793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0"/>
          <p:cNvSpPr/>
          <p:nvPr/>
        </p:nvSpPr>
        <p:spPr>
          <a:xfrm>
            <a:off x="6318504" y="3337560"/>
            <a:ext cx="25786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W3 — RAG +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20"/>
          <p:cNvCxnSpPr/>
          <p:nvPr/>
        </p:nvCxnSpPr>
        <p:spPr>
          <a:xfrm>
            <a:off x="8897112" y="3602736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8B92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3" name="Google Shape;683;p20"/>
          <p:cNvSpPr/>
          <p:nvPr/>
        </p:nvSpPr>
        <p:spPr>
          <a:xfrm>
            <a:off x="9134856" y="3337560"/>
            <a:ext cx="2578608" cy="530352"/>
          </a:xfrm>
          <a:prstGeom prst="roundRect">
            <a:avLst>
              <a:gd fmla="val 13793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0"/>
          <p:cNvSpPr/>
          <p:nvPr/>
        </p:nvSpPr>
        <p:spPr>
          <a:xfrm>
            <a:off x="9134856" y="3337560"/>
            <a:ext cx="25786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W4 — Capstone 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0"/>
          <p:cNvSpPr/>
          <p:nvPr/>
        </p:nvSpPr>
        <p:spPr>
          <a:xfrm>
            <a:off x="685800" y="4224528"/>
            <a:ext cx="3456432" cy="1664208"/>
          </a:xfrm>
          <a:prstGeom prst="roundRect">
            <a:avLst>
              <a:gd fmla="val 4945" name="adj"/>
            </a:avLst>
          </a:prstGeom>
          <a:solidFill>
            <a:srgbClr val="141828"/>
          </a:solidFill>
          <a:ln cap="flat" cmpd="sng" w="12700">
            <a:solidFill>
              <a:srgbClr val="6366F1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0"/>
          <p:cNvSpPr/>
          <p:nvPr/>
        </p:nvSpPr>
        <p:spPr>
          <a:xfrm>
            <a:off x="841248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0"/>
          <p:cNvSpPr/>
          <p:nvPr/>
        </p:nvSpPr>
        <p:spPr>
          <a:xfrm>
            <a:off x="841248" y="493776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Starter repos on 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0"/>
          <p:cNvSpPr/>
          <p:nvPr/>
        </p:nvSpPr>
        <p:spPr>
          <a:xfrm>
            <a:off x="841248" y="53035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Both MCP + RAG Study Buddy repos are ready to clone. mvn package → run.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0"/>
          <p:cNvSpPr/>
          <p:nvPr/>
        </p:nvSpPr>
        <p:spPr>
          <a:xfrm>
            <a:off x="4416552" y="4224528"/>
            <a:ext cx="3456432" cy="1664208"/>
          </a:xfrm>
          <a:prstGeom prst="roundRect">
            <a:avLst>
              <a:gd fmla="val 4945" name="adj"/>
            </a:avLst>
          </a:prstGeom>
          <a:solidFill>
            <a:srgbClr val="141828"/>
          </a:solidFill>
          <a:ln cap="flat" cmpd="sng" w="12700">
            <a:solidFill>
              <a:srgbClr val="0EA5E9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0"/>
          <p:cNvSpPr/>
          <p:nvPr/>
        </p:nvSpPr>
        <p:spPr>
          <a:xfrm>
            <a:off x="4572000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0"/>
          <p:cNvSpPr/>
          <p:nvPr/>
        </p:nvSpPr>
        <p:spPr>
          <a:xfrm>
            <a:off x="4572000" y="493776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your API keys today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0"/>
          <p:cNvSpPr/>
          <p:nvPr/>
        </p:nvSpPr>
        <p:spPr>
          <a:xfrm>
            <a:off x="4572000" y="53035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Anthropic (required). OpenAI (Week 1). Both have free tiers.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0"/>
          <p:cNvSpPr/>
          <p:nvPr/>
        </p:nvSpPr>
        <p:spPr>
          <a:xfrm>
            <a:off x="8147304" y="4224528"/>
            <a:ext cx="3456432" cy="1664208"/>
          </a:xfrm>
          <a:prstGeom prst="roundRect">
            <a:avLst>
              <a:gd fmla="val 4945" name="adj"/>
            </a:avLst>
          </a:prstGeom>
          <a:solidFill>
            <a:srgbClr val="141828"/>
          </a:solidFill>
          <a:ln cap="flat" cmpd="sng" w="12700">
            <a:solidFill>
              <a:srgbClr val="10B981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0"/>
          <p:cNvSpPr/>
          <p:nvPr/>
        </p:nvSpPr>
        <p:spPr>
          <a:xfrm>
            <a:off x="8302752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0"/>
          <p:cNvSpPr/>
          <p:nvPr/>
        </p:nvSpPr>
        <p:spPr>
          <a:xfrm>
            <a:off x="8302752" y="493776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 reading tonight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8302752" y="53035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Anthropic 'Building Effective Agents' — 15 min. Sets up Weeks 2–4.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0"/>
          <p:cNvSpPr/>
          <p:nvPr/>
        </p:nvSpPr>
        <p:spPr>
          <a:xfrm>
            <a:off x="685800" y="61722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Questions? Let's go. 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0"/>
          <p:cNvSpPr/>
          <p:nvPr/>
        </p:nvSpPr>
        <p:spPr>
          <a:xfrm>
            <a:off x="502920" y="6583680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Gen AI + Capstone  ·  4-Week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0"/>
          <p:cNvSpPr/>
          <p:nvPr/>
        </p:nvSpPr>
        <p:spPr>
          <a:xfrm>
            <a:off x="11247120" y="65836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8"/>
                </a:solidFill>
                <a:latin typeface="Calibri"/>
                <a:ea typeface="Calibri"/>
                <a:cs typeface="Calibri"/>
                <a:sym typeface="Calibri"/>
              </a:rPr>
              <a:t>18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