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Don't define 'LLM' yet. Say: 'You've all used ChatGPT. Today we open the box. And the surprise is how SIMPLE the core idea is.' The 5-step pipeline at the bottom previews the whole session structure.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THE GAME LIVE. Say the sentence, pause, let the room shout answers. Write 'mat', 'floor', 'rug' on the board. Ask: 'Who said keyboard?' — point to them: that's temperature 1.5. The bar chart is the literal output of the model.</a:t>
            </a:r>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thesis. Say it slowly. Pause after 'That's it.' Let it sit. Pre-empt: 'But it writes code and essays!' — yes, it does ALL of that by answering one question extremely well, billions of times.</a:t>
            </a:r>
            <a:endParaRPr/>
          </a:p>
        </p:txBody>
      </p:sp>
      <p:sp>
        <p:nvSpPr>
          <p:cNvPr id="90" name="Google Shape;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 left column fast. The 'autocomplete × 1 billion' phrase is the sticky one — write it on the board. Keep this to 3 min. It's orientation, not deep content.</a:t>
            </a:r>
            <a:endParaRPr/>
          </a:p>
        </p:txBody>
      </p:sp>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Say: 'Before the model can do anything, text has to become numbers. The unit it works with is called a token — not a letter, not always a word.'</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open platform.openai.com/tokenizer. Type each word and show live. Let students shout out predictions. 'strawberry' is the crowd-pleaser — always pause there.</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ask ChatGPT or Claude 'How many r's in strawberry?' Note: newer models may now get it right — they've been specifically trained on this gotcha. If they do, show a weirder word like 'rhinoceros'. The lesson isn't that they always fail; it's WHY it was ever hard and what the engineering fix is.</a:t>
            </a:r>
            <a:endParaRPr/>
          </a:p>
        </p:txBody>
      </p:sp>
      <p:sp>
        <p:nvSpPr>
          <p:cNvPr id="211" name="Google Shape;21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the math intuition, not the math. 'Two similar words sit close together in space. Two unrelated words sit far apart. The model uses distance to understand meaning.' That's enough. The king-man+woman equation was the 'wow' moment that put NLP on the map in 2013 (word2vec). Use it.</a:t>
            </a:r>
            <a:endParaRPr/>
          </a:p>
        </p:txBody>
      </p:sp>
      <p:sp>
        <p:nvSpPr>
          <p:cNvPr id="250" name="Google Shape;25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critical bridge: 'Remember this slide. When we build RAG in Week 3, we embed the student's course notes and find relevant chunks by NEARNESS in this same space. Embeddings are the engine of semantic search. You're not searching text — you're searching meaning.'</a:t>
            </a:r>
            <a:endParaRPr/>
          </a:p>
        </p:txBody>
      </p:sp>
      <p:sp>
        <p:nvSpPr>
          <p:cNvPr id="288" name="Google Shape;2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Stanford coreference example — the most famous attention illustration. Run it interactively: say the 'tired' version, get the answer. Say 'wide', change the answer. That's the whole lesson.</a:t>
            </a:r>
            <a:endParaRPr/>
          </a:p>
        </p:txBody>
      </p:sp>
      <p:sp>
        <p:nvSpPr>
          <p:cNvPr id="333" name="Google Shape;3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depth slide. Only go here if students are curious about how attention actually works inside. Key message: 'Don't design the heads — the model figures out what to track. We just let it run.' Keep it under 3 min.</a:t>
            </a:r>
            <a:endParaRPr/>
          </a:p>
        </p:txBody>
      </p:sp>
      <p:sp>
        <p:nvSpPr>
          <p:cNvPr id="378" name="Google Shape;37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formal version of the hook game. The bar chart is the literal softmax output. Reinforce: 'The model didn't decide 'mat'. It scored 100,000 tokens and 'mat' won. Sampling decides whether to always pick the winner or occasionally upset.'</a:t>
            </a:r>
            <a:endParaRPr/>
          </a:p>
        </p:txBody>
      </p:sp>
      <p:sp>
        <p:nvSpPr>
          <p:cNvPr id="434" name="Google Shape;4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hit regenerate 5× on the same creative prompt. Show variance. Then switch to temperature 0 and show identical outputs. The temperature dial is the first real 'control surface' they'll use in their Java apps.</a:t>
            </a:r>
            <a:endParaRPr/>
          </a:p>
        </p:txBody>
      </p:sp>
      <p:sp>
        <p:nvSpPr>
          <p:cNvPr id="465" name="Google Shape;46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synthesis slide. Say: 'Tokenise → Embed → Attention → Predict → Sample. In a loop. That's ChatGPT.' Ask: 'Why does asking for a longer answer cost more?' Let them answer from what they just learned.</a:t>
            </a:r>
            <a:endParaRPr/>
          </a:p>
        </p:txBody>
      </p:sp>
      <p:sp>
        <p:nvSpPr>
          <p:cNvPr id="500" name="Google Shape;50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ENGAGEMENT: Before showing this slide, ask the room: 'Quick poll — how much do you think it costs to train GPT-4?' Let them guess. You'll get answers from $1,000 to $10 billion. Then reveal. The shock is the lesson.</a:t>
            </a:r>
            <a:br>
              <a:rPr lang="en-US"/>
            </a:br>
            <a:br>
              <a:rPr lang="en-US"/>
            </a:br>
            <a:r>
              <a:rPr lang="en-US"/>
              <a:t>KEY TEACHING POINTS:</a:t>
            </a:r>
            <a:br>
              <a:rPr lang="en-US"/>
            </a:br>
            <a:r>
              <a:rPr lang="en-US"/>
              <a:t>1. The cost gap between inference and pre-training is ENORMOUS — 8+ orders of magnitude. This is why the industry settled on the API model. Nobody except the biggest tech companies can afford to pre-train frontier models.</a:t>
            </a:r>
            <a:br>
              <a:rPr lang="en-US"/>
            </a:br>
            <a:br>
              <a:rPr lang="en-US"/>
            </a:br>
            <a:r>
              <a:rPr lang="en-US"/>
              <a:t>2. Fine-tuning sits in the middle. $100–$10,000 is achievable for a company with a specific use case. But even then, you only fine-tune when prompt engineering + RAG has failed — a decision framework we cover in Week 2.</a:t>
            </a:r>
            <a:br>
              <a:rPr lang="en-US"/>
            </a:br>
            <a:br>
              <a:rPr lang="en-US"/>
            </a:br>
            <a:r>
              <a:rPr lang="en-US"/>
              <a:t>3. The energy/environmental cost is real. A single training run of GPT-4 scale emits hundreds of tonnes of CO2. This is a legitimate engineering ethics consideration — not a reason to avoid the technology, but a reason to be thoughtful about when you need a frontier model vs a smaller one.</a:t>
            </a:r>
            <a:br>
              <a:rPr lang="en-US"/>
            </a:br>
            <a:br>
              <a:rPr lang="en-US"/>
            </a:br>
            <a:r>
              <a:rPr lang="en-US"/>
              <a:t>4. Hardware note: the A100/H100 comparison is useful context. When a student asks 'can I train my own model?' the honest answer is: you CAN fine-tune a small model on consumer hardware. You CANNOT pre-train a frontier model on anything a person can afford.</a:t>
            </a:r>
            <a:br>
              <a:rPr lang="en-US"/>
            </a:br>
            <a:br>
              <a:rPr lang="en-US"/>
            </a:br>
            <a:r>
              <a:rPr lang="en-US"/>
              <a:t>COMPARISON to make it real: $100M is roughly 2,000 years of average salary. OpenAI burned that budget in months of compute. That's why their API pricing needs to cover it.</a:t>
            </a:r>
            <a:endParaRPr/>
          </a:p>
        </p:txBody>
      </p:sp>
      <p:sp>
        <p:nvSpPr>
          <p:cNvPr id="550" name="Google Shape;55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pre-training is UNSUPERVISED. No human labels — the text itself is the supervision. 'Next token' is the only training signal, repeated quadrillions of times. The model absorbs language structure, world knowledge, coding patterns — all from that one objective. Output: a base model that is brilliant at text continuation but will complete your question with 10 more questions. Not yet helpful.</a:t>
            </a:r>
            <a:endParaRPr/>
          </a:p>
        </p:txBody>
      </p:sp>
      <p:sp>
        <p:nvSpPr>
          <p:cNvPr id="606" name="Google Shape;6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CRITICAL distinction: knowledge comes from pre-training (fixed cutoff). Helpfulness/safety comes from post-training. When a model is out-of-date, the fix is RAG (give it current data at runtime), not retraining. This directly motivates Week 3.</a:t>
            </a:r>
            <a:endParaRPr/>
          </a:p>
        </p:txBody>
      </p:sp>
      <p:sp>
        <p:nvSpPr>
          <p:cNvPr id="648" name="Google Shape;64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line of the theory section: 'Think of it as a brilliant, fast, confidently-wrong intern. Your job is to give it the right context and check its work. That's the engineering challenge — and that's what the next 4 weeks teach.' Then go into Q&amp;A.</a:t>
            </a:r>
            <a:endParaRPr/>
          </a:p>
        </p:txBody>
      </p:sp>
      <p:sp>
        <p:nvSpPr>
          <p:cNvPr id="682" name="Google Shape;68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to questions now. These slides cover the 10 most frequent ones. If a question comes up that isn't here, great — it means your students are thinking deeply.</a:t>
            </a:r>
            <a:endParaRPr/>
          </a:p>
        </p:txBody>
      </p:sp>
      <p:sp>
        <p:nvSpPr>
          <p:cNvPr id="709" name="Google Shape;70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comfortable saying 'we don't know exactly where the boundary is, but the architecture we've discussed gives no reason to believe there's understanding in the human sense.'</a:t>
            </a:r>
            <a:endParaRPr/>
          </a:p>
        </p:txBody>
      </p:sp>
      <p:sp>
        <p:nvSpPr>
          <p:cNvPr id="722" name="Google Shape;72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follow-up if asked: 'Can we just ask it to only say things it's sure of?' — You can try, but it doesn't have a ground-truth confidence signal. It will still sometimes say 'I'm confident' when wrong, because that's what 'confident wrong answers' look like in training data.</a:t>
            </a:r>
            <a:endParaRPr/>
          </a:p>
        </p:txBody>
      </p:sp>
      <p:sp>
        <p:nvSpPr>
          <p:cNvPr id="741" name="Google Shape;74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Great analogy: Google is a librarian who finds the right book. The LLM is a writer who synthesises ideas into prose. RAG gives you both at once.</a:t>
            </a:r>
            <a:endParaRPr/>
          </a:p>
        </p:txBody>
      </p:sp>
      <p:sp>
        <p:nvSpPr>
          <p:cNvPr id="760" name="Google Shape;76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Fine-tuning IS a way to make the model 'learn' — but it's an expensive, separate process on curated datasets. Not what happens during a chat.</a:t>
            </a:r>
            <a:endParaRPr/>
          </a:p>
        </p:txBody>
      </p:sp>
      <p:sp>
        <p:nvSpPr>
          <p:cNvPr id="779" name="Google Shape;77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Fun live demo: set temp to 0 and regenerate 3 times — identical. Set to 1.2 and regenerate — different each time.</a:t>
            </a:r>
            <a:endParaRPr/>
          </a:p>
        </p:txBody>
      </p:sp>
      <p:sp>
        <p:nvSpPr>
          <p:cNvPr id="798" name="Google Shape;7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Rough numbers to share: GPT-3 was 175B params (~350 GB in float16). Llama 3.2 7B is ~14 GB in float16, ~4 GB at Q4 quantisation.</a:t>
            </a:r>
            <a:endParaRPr/>
          </a:p>
        </p:txBody>
      </p:sp>
      <p:sp>
        <p:nvSpPr>
          <p:cNvPr id="817" name="Google Shape;81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math: 200k tokens sounds huge. A Harry Potter book is ~500k words = ~667k tokens. So even Claude's 200k window only holds ~0.3 of one book.</a:t>
            </a:r>
            <a:endParaRPr/>
          </a:p>
        </p:txBody>
      </p:sp>
      <p:sp>
        <p:nvSpPr>
          <p:cNvPr id="836" name="Google Shape;83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honest about uncertainty: no one knows the 5-year picture. But in the next 2–3 years, AI literacy is the clearest differentiator in the job market.</a:t>
            </a:r>
            <a:endParaRPr/>
          </a:p>
        </p:txBody>
      </p:sp>
      <p:sp>
        <p:nvSpPr>
          <p:cNvPr id="855" name="Google Shape;85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5" name="Shape 15"/>
        <p:cNvGrpSpPr/>
        <p:nvPr/>
      </p:nvGrpSpPr>
      <p:grpSpPr>
        <a:xfrm>
          <a:off x="0" y="0"/>
          <a:ext cx="0" cy="0"/>
          <a:chOff x="0" y="0"/>
          <a:chExt cx="0" cy="0"/>
        </a:xfrm>
      </p:grpSpPr>
      <p:sp>
        <p:nvSpPr>
          <p:cNvPr id="16" name="Google Shape;16;p3"/>
          <p:cNvSpPr/>
          <p:nvPr/>
        </p:nvSpPr>
        <p:spPr>
          <a:xfrm>
            <a:off x="8412480" y="-1371600"/>
            <a:ext cx="5943600" cy="594360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412480" y="-1371600"/>
            <a:ext cx="5943600" cy="5943600"/>
          </a:xfrm>
          <a:prstGeom prst="ellipse">
            <a:avLst/>
          </a:prstGeom>
          <a:solidFill>
            <a:srgbClr val="7C3AED">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875520" y="3840480"/>
            <a:ext cx="3657600" cy="3657600"/>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875520" y="3840480"/>
            <a:ext cx="3657600" cy="3657600"/>
          </a:xfrm>
          <a:prstGeom prst="ellipse">
            <a:avLst/>
          </a:prstGeom>
          <a:solidFill>
            <a:srgbClr val="0891B2">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6858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300"/>
              <a:buFont typeface="Calibri"/>
              <a:buNone/>
            </a:pPr>
            <a:r>
              <a:rPr b="1" i="0" lang="en-US" sz="1300" u="none" cap="none" strike="noStrike">
                <a:solidFill>
                  <a:srgbClr val="C4B5FD"/>
                </a:solidFill>
                <a:latin typeface="Calibri"/>
                <a:ea typeface="Calibri"/>
                <a:cs typeface="Calibri"/>
                <a:sym typeface="Calibri"/>
              </a:rPr>
              <a:t>WEEK 1  ·  SESSION 1</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658368" y="1508760"/>
            <a:ext cx="8686800" cy="2651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How LLMs</a:t>
            </a:r>
            <a:endParaRPr b="0" i="0" sz="6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Actually Work</a:t>
            </a:r>
            <a:endParaRPr b="0" i="0" sz="6400" u="none" cap="none" strike="noStrike">
              <a:solidFill>
                <a:schemeClr val="dk1"/>
              </a:solidFill>
              <a:latin typeface="Calibri"/>
              <a:ea typeface="Calibri"/>
              <a:cs typeface="Calibri"/>
              <a:sym typeface="Calibri"/>
            </a:endParaRPr>
          </a:p>
        </p:txBody>
      </p:sp>
      <p:sp>
        <p:nvSpPr>
          <p:cNvPr id="22" name="Google Shape;22;p3"/>
          <p:cNvSpPr/>
          <p:nvPr/>
        </p:nvSpPr>
        <p:spPr>
          <a:xfrm>
            <a:off x="685800" y="4251960"/>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100"/>
              <a:buFont typeface="Calibri"/>
              <a:buNone/>
            </a:pPr>
            <a:r>
              <a:rPr b="0" i="0" lang="en-US" sz="2100" u="none" cap="none" strike="noStrike">
                <a:solidFill>
                  <a:srgbClr val="8B92B8"/>
                </a:solidFill>
                <a:latin typeface="Calibri"/>
                <a:ea typeface="Calibri"/>
                <a:cs typeface="Calibri"/>
                <a:sym typeface="Calibri"/>
              </a:rPr>
              <a:t>Deep theory. Live demos. The truth behind the magic.</a:t>
            </a:r>
            <a:endParaRPr b="0" i="0" sz="2100" u="none" cap="none" strike="noStrike">
              <a:solidFill>
                <a:schemeClr val="dk1"/>
              </a:solidFill>
              <a:latin typeface="Calibri"/>
              <a:ea typeface="Calibri"/>
              <a:cs typeface="Calibri"/>
              <a:sym typeface="Calibri"/>
            </a:endParaRPr>
          </a:p>
        </p:txBody>
      </p:sp>
      <p:sp>
        <p:nvSpPr>
          <p:cNvPr id="23" name="Google Shape;23;p3"/>
          <p:cNvSpPr/>
          <p:nvPr/>
        </p:nvSpPr>
        <p:spPr>
          <a:xfrm>
            <a:off x="685800" y="5074920"/>
            <a:ext cx="1143000" cy="502920"/>
          </a:xfrm>
          <a:prstGeom prst="roundRect">
            <a:avLst>
              <a:gd fmla="val 12727" name="adj"/>
            </a:avLst>
          </a:prstGeom>
          <a:solidFill>
            <a:srgbClr val="211B30"/>
          </a:solidFill>
          <a:ln cap="flat" cmpd="sng" w="1270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685800" y="5074920"/>
            <a:ext cx="1143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400"/>
              <a:buFont typeface="Courier New"/>
              <a:buNone/>
            </a:pPr>
            <a:r>
              <a:rPr b="1" i="0" lang="en-US" sz="1400" u="none" cap="none" strike="noStrike">
                <a:solidFill>
                  <a:srgbClr val="7C3AED"/>
                </a:solidFill>
                <a:latin typeface="Courier New"/>
                <a:ea typeface="Courier New"/>
                <a:cs typeface="Courier New"/>
                <a:sym typeface="Courier New"/>
              </a:rPr>
              <a:t>token</a:t>
            </a:r>
            <a:endParaRPr b="0" i="0" sz="1400" u="none" cap="none" strike="noStrike">
              <a:solidFill>
                <a:schemeClr val="dk1"/>
              </a:solidFill>
              <a:latin typeface="Calibri"/>
              <a:ea typeface="Calibri"/>
              <a:cs typeface="Calibri"/>
              <a:sym typeface="Calibri"/>
            </a:endParaRPr>
          </a:p>
        </p:txBody>
      </p:sp>
      <p:sp>
        <p:nvSpPr>
          <p:cNvPr id="25" name="Google Shape;25;p3"/>
          <p:cNvSpPr/>
          <p:nvPr/>
        </p:nvSpPr>
        <p:spPr>
          <a:xfrm>
            <a:off x="1901952" y="5074920"/>
            <a:ext cx="4114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800"/>
              <a:buFont typeface="Calibri"/>
              <a:buNone/>
            </a:pPr>
            <a:r>
              <a:rPr b="1" i="0" lang="en-US" sz="1800" u="none" cap="none" strike="noStrike">
                <a:solidFill>
                  <a:srgbClr val="8B92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6" name="Google Shape;26;p3"/>
          <p:cNvSpPr/>
          <p:nvPr/>
        </p:nvSpPr>
        <p:spPr>
          <a:xfrm>
            <a:off x="2340864" y="5074920"/>
            <a:ext cx="1280160" cy="502920"/>
          </a:xfrm>
          <a:prstGeom prst="roundRect">
            <a:avLst>
              <a:gd fmla="val 12727" name="adj"/>
            </a:avLst>
          </a:prstGeom>
          <a:solidFill>
            <a:srgbClr val="211B30"/>
          </a:solidFill>
          <a:ln cap="flat" cmpd="sng" w="12700">
            <a:solidFill>
              <a:srgbClr val="0891B2">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2340864" y="5074920"/>
            <a:ext cx="1280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400"/>
              <a:buFont typeface="Courier New"/>
              <a:buNone/>
            </a:pPr>
            <a:r>
              <a:rPr b="1" i="0" lang="en-US" sz="1400" u="none" cap="none" strike="noStrike">
                <a:solidFill>
                  <a:srgbClr val="0891B2"/>
                </a:solidFill>
                <a:latin typeface="Courier New"/>
                <a:ea typeface="Courier New"/>
                <a:cs typeface="Courier New"/>
                <a:sym typeface="Courier New"/>
              </a:rPr>
              <a:t>vector</a:t>
            </a:r>
            <a:endParaRPr b="0" i="0" sz="1400" u="none" cap="none" strike="noStrike">
              <a:solidFill>
                <a:schemeClr val="dk1"/>
              </a:solidFill>
              <a:latin typeface="Calibri"/>
              <a:ea typeface="Calibri"/>
              <a:cs typeface="Calibri"/>
              <a:sym typeface="Calibri"/>
            </a:endParaRPr>
          </a:p>
        </p:txBody>
      </p:sp>
      <p:sp>
        <p:nvSpPr>
          <p:cNvPr id="28" name="Google Shape;28;p3"/>
          <p:cNvSpPr/>
          <p:nvPr/>
        </p:nvSpPr>
        <p:spPr>
          <a:xfrm>
            <a:off x="3694176" y="5074920"/>
            <a:ext cx="4114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800"/>
              <a:buFont typeface="Calibri"/>
              <a:buNone/>
            </a:pPr>
            <a:r>
              <a:rPr b="1" i="0" lang="en-US" sz="1800" u="none" cap="none" strike="noStrike">
                <a:solidFill>
                  <a:srgbClr val="8B92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9" name="Google Shape;29;p3"/>
          <p:cNvSpPr/>
          <p:nvPr/>
        </p:nvSpPr>
        <p:spPr>
          <a:xfrm>
            <a:off x="4133088" y="5074920"/>
            <a:ext cx="1691640" cy="502920"/>
          </a:xfrm>
          <a:prstGeom prst="roundRect">
            <a:avLst>
              <a:gd fmla="val 12727" name="adj"/>
            </a:avLst>
          </a:prstGeom>
          <a:solidFill>
            <a:srgbClr val="211B30"/>
          </a:solidFill>
          <a:ln cap="flat" cmpd="sng" w="12700">
            <a:solidFill>
              <a:srgbClr val="E11D48">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4133088" y="507492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400"/>
              <a:buFont typeface="Courier New"/>
              <a:buNone/>
            </a:pPr>
            <a:r>
              <a:rPr b="1" i="0" lang="en-US" sz="1400" u="none" cap="none" strike="noStrike">
                <a:solidFill>
                  <a:srgbClr val="E11D48"/>
                </a:solidFill>
                <a:latin typeface="Courier New"/>
                <a:ea typeface="Courier New"/>
                <a:cs typeface="Courier New"/>
                <a:sym typeface="Courier New"/>
              </a:rPr>
              <a:t>attention</a:t>
            </a:r>
            <a:endParaRPr b="0" i="0" sz="1400" u="none" cap="none" strike="noStrike">
              <a:solidFill>
                <a:schemeClr val="dk1"/>
              </a:solidFill>
              <a:latin typeface="Calibri"/>
              <a:ea typeface="Calibri"/>
              <a:cs typeface="Calibri"/>
              <a:sym typeface="Calibri"/>
            </a:endParaRPr>
          </a:p>
        </p:txBody>
      </p:sp>
      <p:sp>
        <p:nvSpPr>
          <p:cNvPr id="31" name="Google Shape;31;p3"/>
          <p:cNvSpPr/>
          <p:nvPr/>
        </p:nvSpPr>
        <p:spPr>
          <a:xfrm>
            <a:off x="5897880" y="5074920"/>
            <a:ext cx="4114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800"/>
              <a:buFont typeface="Calibri"/>
              <a:buNone/>
            </a:pPr>
            <a:r>
              <a:rPr b="1" i="0" lang="en-US" sz="1800" u="none" cap="none" strike="noStrike">
                <a:solidFill>
                  <a:srgbClr val="8B92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2" name="Google Shape;32;p3"/>
          <p:cNvSpPr/>
          <p:nvPr/>
        </p:nvSpPr>
        <p:spPr>
          <a:xfrm>
            <a:off x="6336792" y="5074920"/>
            <a:ext cx="1417320" cy="502920"/>
          </a:xfrm>
          <a:prstGeom prst="roundRect">
            <a:avLst>
              <a:gd fmla="val 12727" name="adj"/>
            </a:avLst>
          </a:prstGeom>
          <a:solidFill>
            <a:srgbClr val="211B30"/>
          </a:solidFill>
          <a:ln cap="flat" cmpd="sng" w="1270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6336792" y="5074920"/>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400"/>
              <a:buFont typeface="Courier New"/>
              <a:buNone/>
            </a:pPr>
            <a:r>
              <a:rPr b="1" i="0" lang="en-US" sz="1400" u="none" cap="none" strike="noStrike">
                <a:solidFill>
                  <a:srgbClr val="16A34A"/>
                </a:solidFill>
                <a:latin typeface="Courier New"/>
                <a:ea typeface="Courier New"/>
                <a:cs typeface="Courier New"/>
                <a:sym typeface="Courier New"/>
              </a:rPr>
              <a:t>predict</a:t>
            </a:r>
            <a:endParaRPr b="0" i="0" sz="1400" u="none" cap="none" strike="noStrike">
              <a:solidFill>
                <a:schemeClr val="dk1"/>
              </a:solidFill>
              <a:latin typeface="Calibri"/>
              <a:ea typeface="Calibri"/>
              <a:cs typeface="Calibri"/>
              <a:sym typeface="Calibri"/>
            </a:endParaRPr>
          </a:p>
        </p:txBody>
      </p:sp>
      <p:sp>
        <p:nvSpPr>
          <p:cNvPr id="34" name="Google Shape;34;p3"/>
          <p:cNvSpPr/>
          <p:nvPr/>
        </p:nvSpPr>
        <p:spPr>
          <a:xfrm>
            <a:off x="7827264" y="5074920"/>
            <a:ext cx="4114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800"/>
              <a:buFont typeface="Calibri"/>
              <a:buNone/>
            </a:pPr>
            <a:r>
              <a:rPr b="1" i="0" lang="en-US" sz="1800" u="none" cap="none" strike="noStrike">
                <a:solidFill>
                  <a:srgbClr val="8B92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5" name="Google Shape;35;p3"/>
          <p:cNvSpPr/>
          <p:nvPr/>
        </p:nvSpPr>
        <p:spPr>
          <a:xfrm>
            <a:off x="8266176" y="5074920"/>
            <a:ext cx="1280160" cy="502920"/>
          </a:xfrm>
          <a:prstGeom prst="roundRect">
            <a:avLst>
              <a:gd fmla="val 12727" name="adj"/>
            </a:avLst>
          </a:prstGeom>
          <a:solidFill>
            <a:srgbClr val="211B30"/>
          </a:solidFill>
          <a:ln cap="flat" cmpd="sng" w="12700">
            <a:solidFill>
              <a:srgbClr val="D9770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8266176" y="5074920"/>
            <a:ext cx="1280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ourier New"/>
              <a:buNone/>
            </a:pPr>
            <a:r>
              <a:rPr b="1" i="0" lang="en-US" sz="1400" u="none" cap="none" strike="noStrike">
                <a:solidFill>
                  <a:srgbClr val="D97706"/>
                </a:solidFill>
                <a:latin typeface="Courier New"/>
                <a:ea typeface="Courier New"/>
                <a:cs typeface="Courier New"/>
                <a:sym typeface="Courier New"/>
              </a:rPr>
              <a:t>sample</a:t>
            </a:r>
            <a:endParaRPr b="0" i="0" sz="1400" u="none" cap="none" strike="noStrike">
              <a:solidFill>
                <a:schemeClr val="dk1"/>
              </a:solidFill>
              <a:latin typeface="Calibri"/>
              <a:ea typeface="Calibri"/>
              <a:cs typeface="Calibri"/>
              <a:sym typeface="Calibri"/>
            </a:endParaRPr>
          </a:p>
        </p:txBody>
      </p:sp>
      <p:sp>
        <p:nvSpPr>
          <p:cNvPr id="37" name="Google Shape;37;p3"/>
          <p:cNvSpPr/>
          <p:nvPr/>
        </p:nvSpPr>
        <p:spPr>
          <a:xfrm>
            <a:off x="685800" y="59436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400"/>
              <a:buFont typeface="Calibri"/>
              <a:buNone/>
            </a:pPr>
            <a:r>
              <a:rPr b="0" i="1" lang="en-US" sz="1400" u="none" cap="none" strike="noStrike">
                <a:solidFill>
                  <a:srgbClr val="8B92B8"/>
                </a:solidFill>
                <a:latin typeface="Calibri"/>
                <a:ea typeface="Calibri"/>
                <a:cs typeface="Calibri"/>
                <a:sym typeface="Calibri"/>
              </a:rPr>
              <a:t>5-step pipeline  ·  3 live demos  ·  10 student Q&amp;As</a:t>
            </a:r>
            <a:endParaRPr b="0" i="0" sz="1400" u="none" cap="none" strike="noStrike">
              <a:solidFill>
                <a:schemeClr val="dk1"/>
              </a:solidFill>
              <a:latin typeface="Calibri"/>
              <a:ea typeface="Calibri"/>
              <a:cs typeface="Calibri"/>
              <a:sym typeface="Calibri"/>
            </a:endParaRPr>
          </a:p>
        </p:txBody>
      </p:sp>
      <p:sp>
        <p:nvSpPr>
          <p:cNvPr id="38" name="Google Shape;38;p3"/>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40" name="Google Shape;40;p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4"/>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HOOK — PLAY ALONG</a:t>
            </a:r>
            <a:endParaRPr b="0" i="0" sz="1200" u="none" cap="none" strike="noStrike">
              <a:solidFill>
                <a:schemeClr val="dk1"/>
              </a:solidFill>
              <a:latin typeface="Calibri"/>
              <a:ea typeface="Calibri"/>
              <a:cs typeface="Calibri"/>
              <a:sym typeface="Calibri"/>
            </a:endParaRPr>
          </a:p>
        </p:txBody>
      </p:sp>
      <p:sp>
        <p:nvSpPr>
          <p:cNvPr id="47" name="Google Shape;47;p4"/>
          <p:cNvSpPr/>
          <p:nvPr/>
        </p:nvSpPr>
        <p:spPr>
          <a:xfrm>
            <a:off x="685800" y="749808"/>
            <a:ext cx="100584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4200"/>
              <a:buFont typeface="Calibri"/>
              <a:buNone/>
            </a:pPr>
            <a:r>
              <a:rPr b="1" i="0" lang="en-US" sz="4200" u="none" cap="none" strike="noStrike">
                <a:solidFill>
                  <a:srgbClr val="475569"/>
                </a:solidFill>
                <a:latin typeface="Calibri"/>
                <a:ea typeface="Calibri"/>
                <a:cs typeface="Calibri"/>
                <a:sym typeface="Calibri"/>
              </a:rPr>
              <a:t>What comes next?</a:t>
            </a:r>
            <a:endParaRPr b="0" i="0" sz="4200" u="none" cap="none" strike="noStrike">
              <a:solidFill>
                <a:schemeClr val="dk1"/>
              </a:solidFill>
              <a:latin typeface="Calibri"/>
              <a:ea typeface="Calibri"/>
              <a:cs typeface="Calibri"/>
              <a:sym typeface="Calibri"/>
            </a:endParaRPr>
          </a:p>
        </p:txBody>
      </p:sp>
      <p:sp>
        <p:nvSpPr>
          <p:cNvPr id="48" name="Google Shape;48;p4"/>
          <p:cNvSpPr/>
          <p:nvPr/>
        </p:nvSpPr>
        <p:spPr>
          <a:xfrm>
            <a:off x="685800" y="1691640"/>
            <a:ext cx="10972800" cy="4114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800"/>
              <a:buFont typeface="Calibri"/>
              <a:buNone/>
            </a:pPr>
            <a:r>
              <a:rPr b="0" i="0" lang="en-US" sz="1800" u="none" cap="none" strike="noStrike">
                <a:solidFill>
                  <a:srgbClr val="475569"/>
                </a:solidFill>
                <a:latin typeface="Calibri"/>
                <a:ea typeface="Calibri"/>
                <a:cs typeface="Calibri"/>
                <a:sym typeface="Calibri"/>
              </a:rPr>
              <a:t>Say this sentence in your head and fill in the blank:</a:t>
            </a:r>
            <a:endParaRPr b="0" i="0" sz="1800" u="none" cap="none" strike="noStrike">
              <a:solidFill>
                <a:schemeClr val="dk1"/>
              </a:solidFill>
              <a:latin typeface="Calibri"/>
              <a:ea typeface="Calibri"/>
              <a:cs typeface="Calibri"/>
              <a:sym typeface="Calibri"/>
            </a:endParaRPr>
          </a:p>
        </p:txBody>
      </p:sp>
      <p:sp>
        <p:nvSpPr>
          <p:cNvPr id="49" name="Google Shape;49;p4"/>
          <p:cNvSpPr/>
          <p:nvPr/>
        </p:nvSpPr>
        <p:spPr>
          <a:xfrm>
            <a:off x="822960" y="2331720"/>
            <a:ext cx="1060704" cy="914400"/>
          </a:xfrm>
          <a:prstGeom prst="roundRect">
            <a:avLst>
              <a:gd fmla="val 8000" name="adj"/>
            </a:avLst>
          </a:prstGeom>
          <a:solidFill>
            <a:srgbClr val="F8FAFC"/>
          </a:solidFill>
          <a:ln cap="flat" cmpd="sng" w="12700">
            <a:solidFill>
              <a:srgbClr val="CBD5E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822960" y="2331720"/>
            <a:ext cx="10608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2400"/>
              <a:buFont typeface="Courier New"/>
              <a:buNone/>
            </a:pPr>
            <a:r>
              <a:rPr b="1" i="0" lang="en-US" sz="2400" u="none" cap="none" strike="noStrike">
                <a:solidFill>
                  <a:srgbClr val="475569"/>
                </a:solidFill>
                <a:latin typeface="Courier New"/>
                <a:ea typeface="Courier New"/>
                <a:cs typeface="Courier New"/>
                <a:sym typeface="Courier New"/>
              </a:rPr>
              <a:t>The</a:t>
            </a:r>
            <a:endParaRPr b="0" i="0" sz="2400" u="none" cap="none" strike="noStrike">
              <a:solidFill>
                <a:schemeClr val="dk1"/>
              </a:solidFill>
              <a:latin typeface="Calibri"/>
              <a:ea typeface="Calibri"/>
              <a:cs typeface="Calibri"/>
              <a:sym typeface="Calibri"/>
            </a:endParaRPr>
          </a:p>
        </p:txBody>
      </p:sp>
      <p:sp>
        <p:nvSpPr>
          <p:cNvPr id="51" name="Google Shape;51;p4"/>
          <p:cNvSpPr/>
          <p:nvPr/>
        </p:nvSpPr>
        <p:spPr>
          <a:xfrm>
            <a:off x="2066544" y="2331720"/>
            <a:ext cx="1060704" cy="914400"/>
          </a:xfrm>
          <a:prstGeom prst="roundRect">
            <a:avLst>
              <a:gd fmla="val 8000" name="adj"/>
            </a:avLst>
          </a:prstGeom>
          <a:solidFill>
            <a:srgbClr val="F8FAFC"/>
          </a:solidFill>
          <a:ln cap="flat" cmpd="sng" w="12700">
            <a:solidFill>
              <a:srgbClr val="CBD5E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66544" y="2331720"/>
            <a:ext cx="106070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2400"/>
              <a:buFont typeface="Courier New"/>
              <a:buNone/>
            </a:pPr>
            <a:r>
              <a:rPr b="1" i="0" lang="en-US" sz="2400" u="none" cap="none" strike="noStrike">
                <a:solidFill>
                  <a:srgbClr val="475569"/>
                </a:solidFill>
                <a:latin typeface="Courier New"/>
                <a:ea typeface="Courier New"/>
                <a:cs typeface="Courier New"/>
                <a:sym typeface="Courier New"/>
              </a:rPr>
              <a:t>cat</a:t>
            </a:r>
            <a:endParaRPr b="0" i="0" sz="2400" u="none" cap="none" strike="noStrike">
              <a:solidFill>
                <a:schemeClr val="dk1"/>
              </a:solidFill>
              <a:latin typeface="Calibri"/>
              <a:ea typeface="Calibri"/>
              <a:cs typeface="Calibri"/>
              <a:sym typeface="Calibri"/>
            </a:endParaRPr>
          </a:p>
        </p:txBody>
      </p:sp>
      <p:sp>
        <p:nvSpPr>
          <p:cNvPr id="53" name="Google Shape;53;p4"/>
          <p:cNvSpPr/>
          <p:nvPr/>
        </p:nvSpPr>
        <p:spPr>
          <a:xfrm>
            <a:off x="3310128" y="2331720"/>
            <a:ext cx="1060704" cy="914400"/>
          </a:xfrm>
          <a:prstGeom prst="roundRect">
            <a:avLst>
              <a:gd fmla="val 8000" name="adj"/>
            </a:avLst>
          </a:prstGeom>
          <a:solidFill>
            <a:srgbClr val="F8FAFC"/>
          </a:solidFill>
          <a:ln cap="flat" cmpd="sng" w="12700">
            <a:solidFill>
              <a:srgbClr val="CBD5E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310128" y="2331720"/>
            <a:ext cx="106070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2400"/>
              <a:buFont typeface="Courier New"/>
              <a:buNone/>
            </a:pPr>
            <a:r>
              <a:rPr b="1" i="0" lang="en-US" sz="2400" u="none" cap="none" strike="noStrike">
                <a:solidFill>
                  <a:srgbClr val="475569"/>
                </a:solidFill>
                <a:latin typeface="Courier New"/>
                <a:ea typeface="Courier New"/>
                <a:cs typeface="Courier New"/>
                <a:sym typeface="Courier New"/>
              </a:rPr>
              <a:t>sat</a:t>
            </a:r>
            <a:endParaRPr b="0" i="0" sz="2400" u="none" cap="none" strike="noStrike">
              <a:solidFill>
                <a:schemeClr val="dk1"/>
              </a:solidFill>
              <a:latin typeface="Calibri"/>
              <a:ea typeface="Calibri"/>
              <a:cs typeface="Calibri"/>
              <a:sym typeface="Calibri"/>
            </a:endParaRPr>
          </a:p>
        </p:txBody>
      </p:sp>
      <p:sp>
        <p:nvSpPr>
          <p:cNvPr id="55" name="Google Shape;55;p4"/>
          <p:cNvSpPr/>
          <p:nvPr/>
        </p:nvSpPr>
        <p:spPr>
          <a:xfrm>
            <a:off x="4553712" y="2331720"/>
            <a:ext cx="859536" cy="914400"/>
          </a:xfrm>
          <a:prstGeom prst="roundRect">
            <a:avLst>
              <a:gd fmla="val 8511" name="adj"/>
            </a:avLst>
          </a:prstGeom>
          <a:solidFill>
            <a:srgbClr val="F8FAFC"/>
          </a:solidFill>
          <a:ln cap="flat" cmpd="sng" w="12700">
            <a:solidFill>
              <a:srgbClr val="CBD5E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4553712" y="2331720"/>
            <a:ext cx="859536"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2400"/>
              <a:buFont typeface="Courier New"/>
              <a:buNone/>
            </a:pPr>
            <a:r>
              <a:rPr b="1" i="0" lang="en-US" sz="2400" u="none" cap="none" strike="noStrike">
                <a:solidFill>
                  <a:srgbClr val="475569"/>
                </a:solidFill>
                <a:latin typeface="Courier New"/>
                <a:ea typeface="Courier New"/>
                <a:cs typeface="Courier New"/>
                <a:sym typeface="Courier New"/>
              </a:rPr>
              <a:t>on</a:t>
            </a:r>
            <a:endParaRPr b="0" i="0" sz="2400" u="none" cap="none" strike="noStrike">
              <a:solidFill>
                <a:schemeClr val="dk1"/>
              </a:solidFill>
              <a:latin typeface="Calibri"/>
              <a:ea typeface="Calibri"/>
              <a:cs typeface="Calibri"/>
              <a:sym typeface="Calibri"/>
            </a:endParaRPr>
          </a:p>
        </p:txBody>
      </p:sp>
      <p:sp>
        <p:nvSpPr>
          <p:cNvPr id="57" name="Google Shape;57;p4"/>
          <p:cNvSpPr/>
          <p:nvPr/>
        </p:nvSpPr>
        <p:spPr>
          <a:xfrm>
            <a:off x="5596128" y="2331720"/>
            <a:ext cx="1060704" cy="914400"/>
          </a:xfrm>
          <a:prstGeom prst="roundRect">
            <a:avLst>
              <a:gd fmla="val 8000" name="adj"/>
            </a:avLst>
          </a:prstGeom>
          <a:solidFill>
            <a:srgbClr val="F8FAFC"/>
          </a:solidFill>
          <a:ln cap="flat" cmpd="sng" w="12700">
            <a:solidFill>
              <a:srgbClr val="CBD5E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5596128" y="2331720"/>
            <a:ext cx="106070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2400"/>
              <a:buFont typeface="Courier New"/>
              <a:buNone/>
            </a:pPr>
            <a:r>
              <a:rPr b="1" i="0" lang="en-US" sz="2400" u="none" cap="none" strike="noStrike">
                <a:solidFill>
                  <a:srgbClr val="475569"/>
                </a:solidFill>
                <a:latin typeface="Courier New"/>
                <a:ea typeface="Courier New"/>
                <a:cs typeface="Courier New"/>
                <a:sym typeface="Courier New"/>
              </a:rPr>
              <a:t>the</a:t>
            </a:r>
            <a:endParaRPr b="0" i="0" sz="2400" u="none" cap="none" strike="noStrike">
              <a:solidFill>
                <a:schemeClr val="dk1"/>
              </a:solidFill>
              <a:latin typeface="Calibri"/>
              <a:ea typeface="Calibri"/>
              <a:cs typeface="Calibri"/>
              <a:sym typeface="Calibri"/>
            </a:endParaRPr>
          </a:p>
        </p:txBody>
      </p:sp>
      <p:sp>
        <p:nvSpPr>
          <p:cNvPr id="59" name="Google Shape;59;p4"/>
          <p:cNvSpPr/>
          <p:nvPr/>
        </p:nvSpPr>
        <p:spPr>
          <a:xfrm>
            <a:off x="6839712" y="2331720"/>
            <a:ext cx="1463040" cy="914400"/>
          </a:xfrm>
          <a:prstGeom prst="roundRect">
            <a:avLst>
              <a:gd fmla="val 8000" name="adj"/>
            </a:avLst>
          </a:prstGeom>
          <a:solidFill>
            <a:srgbClr val="7C3AED"/>
          </a:solidFill>
          <a:ln cap="flat" cmpd="sng" w="12700">
            <a:solidFill>
              <a:srgbClr val="7C3AED"/>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839712" y="2331720"/>
            <a:ext cx="1463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a:t>
            </a:r>
            <a:endParaRPr b="0" i="0" sz="3800" u="none" cap="none" strike="noStrike">
              <a:solidFill>
                <a:schemeClr val="dk1"/>
              </a:solidFill>
              <a:latin typeface="Calibri"/>
              <a:ea typeface="Calibri"/>
              <a:cs typeface="Calibri"/>
              <a:sym typeface="Calibri"/>
            </a:endParaRPr>
          </a:p>
        </p:txBody>
      </p:sp>
      <p:sp>
        <p:nvSpPr>
          <p:cNvPr id="61" name="Google Shape;61;p4"/>
          <p:cNvSpPr/>
          <p:nvPr/>
        </p:nvSpPr>
        <p:spPr>
          <a:xfrm>
            <a:off x="822960" y="3493008"/>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US" sz="1600" u="none" cap="none" strike="noStrike">
                <a:solidFill>
                  <a:srgbClr val="475569"/>
                </a:solidFill>
                <a:latin typeface="Calibri"/>
                <a:ea typeface="Calibri"/>
                <a:cs typeface="Calibri"/>
                <a:sym typeface="Calibri"/>
              </a:rPr>
              <a:t>Your brain ranked the possibilities:</a:t>
            </a:r>
            <a:endParaRPr b="0" i="0" sz="1600" u="none" cap="none" strike="noStrike">
              <a:solidFill>
                <a:schemeClr val="dk1"/>
              </a:solidFill>
              <a:latin typeface="Calibri"/>
              <a:ea typeface="Calibri"/>
              <a:cs typeface="Calibri"/>
              <a:sym typeface="Calibri"/>
            </a:endParaRPr>
          </a:p>
        </p:txBody>
      </p:sp>
      <p:sp>
        <p:nvSpPr>
          <p:cNvPr id="62" name="Google Shape;62;p4"/>
          <p:cNvSpPr/>
          <p:nvPr/>
        </p:nvSpPr>
        <p:spPr>
          <a:xfrm>
            <a:off x="822960" y="3913632"/>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ourier New"/>
              <a:buNone/>
            </a:pPr>
            <a:r>
              <a:rPr b="1" i="0" lang="en-US" sz="1400" u="none" cap="none" strike="noStrike">
                <a:solidFill>
                  <a:srgbClr val="7C3AED"/>
                </a:solidFill>
                <a:latin typeface="Courier New"/>
                <a:ea typeface="Courier New"/>
                <a:cs typeface="Courier New"/>
                <a:sym typeface="Courier New"/>
              </a:rPr>
              <a:t>mat</a:t>
            </a:r>
            <a:endParaRPr b="0" i="0" sz="1400" u="none" cap="none" strike="noStrike">
              <a:solidFill>
                <a:schemeClr val="dk1"/>
              </a:solidFill>
              <a:latin typeface="Calibri"/>
              <a:ea typeface="Calibri"/>
              <a:cs typeface="Calibri"/>
              <a:sym typeface="Calibri"/>
            </a:endParaRPr>
          </a:p>
        </p:txBody>
      </p:sp>
      <p:sp>
        <p:nvSpPr>
          <p:cNvPr id="63" name="Google Shape;63;p4"/>
          <p:cNvSpPr/>
          <p:nvPr/>
        </p:nvSpPr>
        <p:spPr>
          <a:xfrm>
            <a:off x="2103120" y="3968496"/>
            <a:ext cx="6035040" cy="256032"/>
          </a:xfrm>
          <a:prstGeom prst="roundRect">
            <a:avLst>
              <a:gd fmla="val 14286"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8183880" y="3913632"/>
            <a:ext cx="914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0" i="0" lang="en-US" sz="1300" u="none" cap="none" strike="noStrike">
                <a:solidFill>
                  <a:srgbClr val="7C3AED"/>
                </a:solidFill>
                <a:latin typeface="Calibri"/>
                <a:ea typeface="Calibri"/>
                <a:cs typeface="Calibri"/>
                <a:sym typeface="Calibri"/>
              </a:rPr>
              <a:t>88%</a:t>
            </a:r>
            <a:endParaRPr b="0" i="0" sz="1300" u="none" cap="none" strike="noStrike">
              <a:solidFill>
                <a:schemeClr val="dk1"/>
              </a:solidFill>
              <a:latin typeface="Calibri"/>
              <a:ea typeface="Calibri"/>
              <a:cs typeface="Calibri"/>
              <a:sym typeface="Calibri"/>
            </a:endParaRPr>
          </a:p>
        </p:txBody>
      </p:sp>
      <p:sp>
        <p:nvSpPr>
          <p:cNvPr id="65" name="Google Shape;65;p4"/>
          <p:cNvSpPr/>
          <p:nvPr/>
        </p:nvSpPr>
        <p:spPr>
          <a:xfrm>
            <a:off x="822960" y="4379976"/>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ourier New"/>
              <a:buNone/>
            </a:pPr>
            <a:r>
              <a:rPr b="1" i="0" lang="en-US" sz="1400" u="none" cap="none" strike="noStrike">
                <a:solidFill>
                  <a:srgbClr val="0891B2"/>
                </a:solidFill>
                <a:latin typeface="Courier New"/>
                <a:ea typeface="Courier New"/>
                <a:cs typeface="Courier New"/>
                <a:sym typeface="Courier New"/>
              </a:rPr>
              <a:t>floor</a:t>
            </a:r>
            <a:endParaRPr b="0" i="0" sz="1400" u="none" cap="none" strike="noStrike">
              <a:solidFill>
                <a:schemeClr val="dk1"/>
              </a:solidFill>
              <a:latin typeface="Calibri"/>
              <a:ea typeface="Calibri"/>
              <a:cs typeface="Calibri"/>
              <a:sym typeface="Calibri"/>
            </a:endParaRPr>
          </a:p>
        </p:txBody>
      </p:sp>
      <p:sp>
        <p:nvSpPr>
          <p:cNvPr id="66" name="Google Shape;66;p4"/>
          <p:cNvSpPr/>
          <p:nvPr/>
        </p:nvSpPr>
        <p:spPr>
          <a:xfrm>
            <a:off x="2103120" y="4434840"/>
            <a:ext cx="480060" cy="256032"/>
          </a:xfrm>
          <a:prstGeom prst="roundRect">
            <a:avLst>
              <a:gd fmla="val 14286"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2628900" y="4379976"/>
            <a:ext cx="914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0" i="0" lang="en-US" sz="1300" u="none" cap="none" strike="noStrike">
                <a:solidFill>
                  <a:srgbClr val="0891B2"/>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68" name="Google Shape;68;p4"/>
          <p:cNvSpPr/>
          <p:nvPr/>
        </p:nvSpPr>
        <p:spPr>
          <a:xfrm>
            <a:off x="822960" y="4846320"/>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33EA"/>
              </a:buClr>
              <a:buSzPts val="1400"/>
              <a:buFont typeface="Courier New"/>
              <a:buNone/>
            </a:pPr>
            <a:r>
              <a:rPr b="1" i="0" lang="en-US" sz="1400" u="none" cap="none" strike="noStrike">
                <a:solidFill>
                  <a:srgbClr val="9333EA"/>
                </a:solidFill>
                <a:latin typeface="Courier New"/>
                <a:ea typeface="Courier New"/>
                <a:cs typeface="Courier New"/>
                <a:sym typeface="Courier New"/>
              </a:rPr>
              <a:t>rug</a:t>
            </a:r>
            <a:endParaRPr b="0" i="0" sz="1400" u="none" cap="none" strike="noStrike">
              <a:solidFill>
                <a:schemeClr val="dk1"/>
              </a:solidFill>
              <a:latin typeface="Calibri"/>
              <a:ea typeface="Calibri"/>
              <a:cs typeface="Calibri"/>
              <a:sym typeface="Calibri"/>
            </a:endParaRPr>
          </a:p>
        </p:txBody>
      </p:sp>
      <p:sp>
        <p:nvSpPr>
          <p:cNvPr id="69" name="Google Shape;69;p4"/>
          <p:cNvSpPr/>
          <p:nvPr/>
        </p:nvSpPr>
        <p:spPr>
          <a:xfrm>
            <a:off x="2103120" y="4901184"/>
            <a:ext cx="205740" cy="256032"/>
          </a:xfrm>
          <a:prstGeom prst="roundRect">
            <a:avLst>
              <a:gd fmla="val 17778" name="adj"/>
            </a:avLst>
          </a:prstGeom>
          <a:solidFill>
            <a:srgbClr val="9333EA"/>
          </a:solidFill>
          <a:ln cap="flat" cmpd="sng" w="127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2354580" y="4846320"/>
            <a:ext cx="914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33EA"/>
              </a:buClr>
              <a:buSzPts val="1300"/>
              <a:buFont typeface="Calibri"/>
              <a:buNone/>
            </a:pPr>
            <a:r>
              <a:rPr b="0" i="0" lang="en-US" sz="1300" u="none" cap="none" strike="noStrike">
                <a:solidFill>
                  <a:srgbClr val="9333EA"/>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71" name="Google Shape;71;p4"/>
          <p:cNvSpPr/>
          <p:nvPr/>
        </p:nvSpPr>
        <p:spPr>
          <a:xfrm>
            <a:off x="822960" y="5312664"/>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400"/>
              <a:buFont typeface="Courier New"/>
              <a:buNone/>
            </a:pPr>
            <a:r>
              <a:rPr b="1" i="0" lang="en-US" sz="1400" u="none" cap="none" strike="noStrike">
                <a:solidFill>
                  <a:srgbClr val="8B92B8"/>
                </a:solidFill>
                <a:latin typeface="Courier New"/>
                <a:ea typeface="Courier New"/>
                <a:cs typeface="Courier New"/>
                <a:sym typeface="Courier New"/>
              </a:rPr>
              <a:t>roof</a:t>
            </a:r>
            <a:endParaRPr b="0" i="0" sz="1400" u="none" cap="none" strike="noStrike">
              <a:solidFill>
                <a:schemeClr val="dk1"/>
              </a:solidFill>
              <a:latin typeface="Calibri"/>
              <a:ea typeface="Calibri"/>
              <a:cs typeface="Calibri"/>
              <a:sym typeface="Calibri"/>
            </a:endParaRPr>
          </a:p>
        </p:txBody>
      </p:sp>
      <p:sp>
        <p:nvSpPr>
          <p:cNvPr id="72" name="Google Shape;72;p4"/>
          <p:cNvSpPr/>
          <p:nvPr/>
        </p:nvSpPr>
        <p:spPr>
          <a:xfrm>
            <a:off x="2103120" y="5367528"/>
            <a:ext cx="68580" cy="256032"/>
          </a:xfrm>
          <a:prstGeom prst="roundRect">
            <a:avLst>
              <a:gd fmla="val 53333" name="adj"/>
            </a:avLst>
          </a:prstGeom>
          <a:solidFill>
            <a:srgbClr val="8B92B8"/>
          </a:solidFill>
          <a:ln cap="flat" cmpd="sng" w="12700">
            <a:solidFill>
              <a:srgbClr val="8B92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2217420" y="5312664"/>
            <a:ext cx="914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0" lang="en-US" sz="1300" u="none" cap="none" strike="noStrike">
                <a:solidFill>
                  <a:srgbClr val="8B92B8"/>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74" name="Google Shape;74;p4"/>
          <p:cNvSpPr/>
          <p:nvPr/>
        </p:nvSpPr>
        <p:spPr>
          <a:xfrm>
            <a:off x="822960" y="5779008"/>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400"/>
              <a:buFont typeface="Courier New"/>
              <a:buNone/>
            </a:pPr>
            <a:r>
              <a:rPr b="1" i="0" lang="en-US" sz="1400" u="none" cap="none" strike="noStrike">
                <a:solidFill>
                  <a:srgbClr val="CBD5E1"/>
                </a:solidFill>
                <a:latin typeface="Courier New"/>
                <a:ea typeface="Courier New"/>
                <a:cs typeface="Courier New"/>
                <a:sym typeface="Courier New"/>
              </a:rPr>
              <a:t>keyboard</a:t>
            </a:r>
            <a:endParaRPr b="0" i="0" sz="1400" u="none" cap="none" strike="noStrike">
              <a:solidFill>
                <a:schemeClr val="dk1"/>
              </a:solidFill>
              <a:latin typeface="Calibri"/>
              <a:ea typeface="Calibri"/>
              <a:cs typeface="Calibri"/>
              <a:sym typeface="Calibri"/>
            </a:endParaRPr>
          </a:p>
        </p:txBody>
      </p:sp>
      <p:sp>
        <p:nvSpPr>
          <p:cNvPr id="75" name="Google Shape;75;p4"/>
          <p:cNvSpPr/>
          <p:nvPr/>
        </p:nvSpPr>
        <p:spPr>
          <a:xfrm>
            <a:off x="2103120" y="5833872"/>
            <a:ext cx="34290" cy="256032"/>
          </a:xfrm>
          <a:prstGeom prst="roundRect">
            <a:avLst>
              <a:gd fmla="val 106667" name="adj"/>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2183130" y="5779008"/>
            <a:ext cx="914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0" i="0" lang="en-US" sz="1300" u="none" cap="none" strike="noStrike">
                <a:solidFill>
                  <a:srgbClr val="CBD5E1"/>
                </a:solidFill>
                <a:latin typeface="Calibri"/>
                <a:ea typeface="Calibri"/>
                <a:cs typeface="Calibri"/>
                <a:sym typeface="Calibri"/>
              </a:rPr>
              <a:t>0.5%</a:t>
            </a:r>
            <a:endParaRPr b="0" i="0" sz="1300" u="none" cap="none" strike="noStrike">
              <a:solidFill>
                <a:schemeClr val="dk1"/>
              </a:solidFill>
              <a:latin typeface="Calibri"/>
              <a:ea typeface="Calibri"/>
              <a:cs typeface="Calibri"/>
              <a:sym typeface="Calibri"/>
            </a:endParaRPr>
          </a:p>
        </p:txBody>
      </p:sp>
      <p:sp>
        <p:nvSpPr>
          <p:cNvPr id="77" name="Google Shape;77;p4"/>
          <p:cNvSpPr/>
          <p:nvPr/>
        </p:nvSpPr>
        <p:spPr>
          <a:xfrm>
            <a:off x="7315200" y="2331720"/>
            <a:ext cx="4206300" cy="4206300"/>
          </a:xfrm>
          <a:prstGeom prst="roundRect">
            <a:avLst>
              <a:gd fmla="val 2174" name="adj"/>
            </a:avLst>
          </a:prstGeom>
          <a:solidFill>
            <a:srgbClr val="EDE9FE"/>
          </a:solidFill>
          <a:ln cap="flat" cmpd="sng" w="12700">
            <a:solidFill>
              <a:srgbClr val="7C3AED">
                <a:alpha val="50196"/>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7498080" y="2514600"/>
            <a:ext cx="3840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700"/>
              <a:buFont typeface="Calibri"/>
              <a:buNone/>
            </a:pPr>
            <a:r>
              <a:rPr b="1" i="0" lang="en-US" sz="1700" u="none" cap="none" strike="noStrike">
                <a:solidFill>
                  <a:srgbClr val="7C3AED"/>
                </a:solidFill>
                <a:latin typeface="Calibri"/>
                <a:ea typeface="Calibri"/>
                <a:cs typeface="Calibri"/>
                <a:sym typeface="Calibri"/>
              </a:rPr>
              <a:t>This IS what an LLM does</a:t>
            </a:r>
            <a:endParaRPr b="0" i="0" sz="1700" u="none" cap="none" strike="noStrike">
              <a:solidFill>
                <a:schemeClr val="dk1"/>
              </a:solidFill>
              <a:latin typeface="Calibri"/>
              <a:ea typeface="Calibri"/>
              <a:cs typeface="Calibri"/>
              <a:sym typeface="Calibri"/>
            </a:endParaRPr>
          </a:p>
        </p:txBody>
      </p:sp>
      <p:sp>
        <p:nvSpPr>
          <p:cNvPr id="79" name="Google Shape;79;p4"/>
          <p:cNvSpPr/>
          <p:nvPr/>
        </p:nvSpPr>
        <p:spPr>
          <a:xfrm>
            <a:off x="7543800" y="3017520"/>
            <a:ext cx="374904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It assigns a probability to EVERY token in its vocabulary</a:t>
            </a:r>
            <a:endParaRPr b="0" i="0" sz="1400" u="none" cap="none" strike="noStrike">
              <a:solidFill>
                <a:schemeClr val="dk1"/>
              </a:solidFill>
              <a:latin typeface="Calibri"/>
              <a:ea typeface="Calibri"/>
              <a:cs typeface="Calibri"/>
              <a:sym typeface="Calibri"/>
            </a:endParaRPr>
          </a:p>
        </p:txBody>
      </p:sp>
      <p:sp>
        <p:nvSpPr>
          <p:cNvPr id="80" name="Google Shape;80;p4"/>
          <p:cNvSpPr/>
          <p:nvPr/>
        </p:nvSpPr>
        <p:spPr>
          <a:xfrm>
            <a:off x="7543800" y="3547872"/>
            <a:ext cx="374904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(~50,000–100,000 tokens)</a:t>
            </a:r>
            <a:endParaRPr b="0" i="0" sz="1400" u="none" cap="none" strike="noStrike">
              <a:solidFill>
                <a:schemeClr val="dk1"/>
              </a:solidFill>
              <a:latin typeface="Calibri"/>
              <a:ea typeface="Calibri"/>
              <a:cs typeface="Calibri"/>
              <a:sym typeface="Calibri"/>
            </a:endParaRPr>
          </a:p>
        </p:txBody>
      </p:sp>
      <p:sp>
        <p:nvSpPr>
          <p:cNvPr id="81" name="Google Shape;81;p4"/>
          <p:cNvSpPr/>
          <p:nvPr/>
        </p:nvSpPr>
        <p:spPr>
          <a:xfrm>
            <a:off x="7543800" y="4078224"/>
            <a:ext cx="374904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Then samples from that distribution</a:t>
            </a:r>
            <a:endParaRPr b="0" i="0" sz="1400" u="none" cap="none" strike="noStrike">
              <a:solidFill>
                <a:schemeClr val="dk1"/>
              </a:solidFill>
              <a:latin typeface="Calibri"/>
              <a:ea typeface="Calibri"/>
              <a:cs typeface="Calibri"/>
              <a:sym typeface="Calibri"/>
            </a:endParaRPr>
          </a:p>
        </p:txBody>
      </p:sp>
      <p:sp>
        <p:nvSpPr>
          <p:cNvPr id="82" name="Google Shape;82;p4"/>
          <p:cNvSpPr/>
          <p:nvPr/>
        </p:nvSpPr>
        <p:spPr>
          <a:xfrm>
            <a:off x="7543800" y="4608576"/>
            <a:ext cx="374904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One token at a time.</a:t>
            </a:r>
            <a:endParaRPr b="0" i="0" sz="1400" u="none" cap="none" strike="noStrike">
              <a:solidFill>
                <a:schemeClr val="dk1"/>
              </a:solidFill>
              <a:latin typeface="Calibri"/>
              <a:ea typeface="Calibri"/>
              <a:cs typeface="Calibri"/>
              <a:sym typeface="Calibri"/>
            </a:endParaRPr>
          </a:p>
        </p:txBody>
      </p:sp>
      <p:sp>
        <p:nvSpPr>
          <p:cNvPr id="83" name="Google Shape;83;p4"/>
          <p:cNvSpPr/>
          <p:nvPr/>
        </p:nvSpPr>
        <p:spPr>
          <a:xfrm>
            <a:off x="7543800" y="5138928"/>
            <a:ext cx="374904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Your intuition is the algorithm.</a:t>
            </a:r>
            <a:endParaRPr b="0" i="0" sz="1400" u="none" cap="none" strike="noStrike">
              <a:solidFill>
                <a:schemeClr val="dk1"/>
              </a:solidFill>
              <a:latin typeface="Calibri"/>
              <a:ea typeface="Calibri"/>
              <a:cs typeface="Calibri"/>
              <a:sym typeface="Calibri"/>
            </a:endParaRPr>
          </a:p>
        </p:txBody>
      </p:sp>
      <p:sp>
        <p:nvSpPr>
          <p:cNvPr id="84" name="Google Shape;84;p4"/>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86" name="Google Shape;86;p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91" name="Shape 91"/>
        <p:cNvGrpSpPr/>
        <p:nvPr/>
      </p:nvGrpSpPr>
      <p:grpSpPr>
        <a:xfrm>
          <a:off x="0" y="0"/>
          <a:ext cx="0" cy="0"/>
          <a:chOff x="0" y="0"/>
          <a:chExt cx="0" cy="0"/>
        </a:xfrm>
      </p:grpSpPr>
      <p:sp>
        <p:nvSpPr>
          <p:cNvPr id="92" name="Google Shape;92;p5"/>
          <p:cNvSpPr/>
          <p:nvPr/>
        </p:nvSpPr>
        <p:spPr>
          <a:xfrm>
            <a:off x="685800" y="137160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200"/>
              <a:buFont typeface="Calibri"/>
              <a:buNone/>
            </a:pPr>
            <a:r>
              <a:rPr b="0" i="0" lang="en-US" sz="2200" u="none" cap="none" strike="noStrike">
                <a:solidFill>
                  <a:srgbClr val="8B92B8"/>
                </a:solidFill>
                <a:latin typeface="Calibri"/>
                <a:ea typeface="Calibri"/>
                <a:cs typeface="Calibri"/>
                <a:sym typeface="Calibri"/>
              </a:rPr>
              <a:t>So what IS an LLM?</a:t>
            </a:r>
            <a:endParaRPr b="0" i="0" sz="2200" u="none" cap="none" strike="noStrike">
              <a:solidFill>
                <a:schemeClr val="dk1"/>
              </a:solidFill>
              <a:latin typeface="Calibri"/>
              <a:ea typeface="Calibri"/>
              <a:cs typeface="Calibri"/>
              <a:sym typeface="Calibri"/>
            </a:endParaRPr>
          </a:p>
        </p:txBody>
      </p:sp>
      <p:sp>
        <p:nvSpPr>
          <p:cNvPr id="93" name="Google Shape;93;p5"/>
          <p:cNvSpPr/>
          <p:nvPr/>
        </p:nvSpPr>
        <p:spPr>
          <a:xfrm>
            <a:off x="658368" y="1920240"/>
            <a:ext cx="10515600" cy="22860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8ECFF"/>
              </a:buClr>
              <a:buSzPts val="5200"/>
              <a:buFont typeface="Calibri"/>
              <a:buNone/>
            </a:pPr>
            <a:r>
              <a:rPr b="1" i="0" lang="en-US" sz="5200" u="none" cap="none" strike="noStrike">
                <a:solidFill>
                  <a:srgbClr val="E8ECFF"/>
                </a:solidFill>
                <a:latin typeface="Calibri"/>
                <a:ea typeface="Calibri"/>
                <a:cs typeface="Calibri"/>
                <a:sym typeface="Calibri"/>
              </a:rPr>
              <a:t>An LLM is a machine</a:t>
            </a:r>
            <a:endParaRPr b="0" i="0" sz="52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E8ECFF"/>
              </a:buClr>
              <a:buSzPts val="5200"/>
              <a:buFont typeface="Calibri"/>
              <a:buNone/>
            </a:pPr>
            <a:r>
              <a:rPr b="1" i="0" lang="en-US" sz="5200" u="none" cap="none" strike="noStrike">
                <a:solidFill>
                  <a:srgbClr val="E8ECFF"/>
                </a:solidFill>
                <a:latin typeface="Calibri"/>
                <a:ea typeface="Calibri"/>
                <a:cs typeface="Calibri"/>
                <a:sym typeface="Calibri"/>
              </a:rPr>
              <a:t>that predicts </a:t>
            </a:r>
            <a:endParaRPr b="0" i="0" sz="52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C4B5FD"/>
              </a:buClr>
              <a:buSzPts val="5200"/>
              <a:buFont typeface="Calibri"/>
              <a:buNone/>
            </a:pPr>
            <a:r>
              <a:rPr b="1" i="0" lang="en-US" sz="5200" u="none" cap="none" strike="noStrike">
                <a:solidFill>
                  <a:srgbClr val="C4B5FD"/>
                </a:solidFill>
                <a:latin typeface="Calibri"/>
                <a:ea typeface="Calibri"/>
                <a:cs typeface="Calibri"/>
                <a:sym typeface="Calibri"/>
              </a:rPr>
              <a:t>the next token.</a:t>
            </a:r>
            <a:endParaRPr b="0" i="0" sz="5200" u="none" cap="none" strike="noStrike">
              <a:solidFill>
                <a:schemeClr val="dk1"/>
              </a:solidFill>
              <a:latin typeface="Calibri"/>
              <a:ea typeface="Calibri"/>
              <a:cs typeface="Calibri"/>
              <a:sym typeface="Calibri"/>
            </a:endParaRPr>
          </a:p>
        </p:txBody>
      </p:sp>
      <p:cxnSp>
        <p:nvCxnSpPr>
          <p:cNvPr id="94" name="Google Shape;94;p5"/>
          <p:cNvCxnSpPr/>
          <p:nvPr/>
        </p:nvCxnSpPr>
        <p:spPr>
          <a:xfrm>
            <a:off x="685800" y="4343400"/>
            <a:ext cx="10789920" cy="0"/>
          </a:xfrm>
          <a:prstGeom prst="straightConnector1">
            <a:avLst/>
          </a:prstGeom>
          <a:noFill/>
          <a:ln cap="flat" cmpd="sng" w="12700">
            <a:solidFill>
              <a:srgbClr val="2D2447"/>
            </a:solidFill>
            <a:prstDash val="solid"/>
            <a:round/>
            <a:headEnd len="sm" w="sm" type="none"/>
            <a:tailEnd len="sm" w="sm" type="none"/>
          </a:ln>
        </p:spPr>
      </p:cxnSp>
      <p:sp>
        <p:nvSpPr>
          <p:cNvPr id="95" name="Google Shape;95;p5"/>
          <p:cNvSpPr/>
          <p:nvPr/>
        </p:nvSpPr>
        <p:spPr>
          <a:xfrm>
            <a:off x="685800" y="4572000"/>
            <a:ext cx="10515600" cy="777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B92B8"/>
              </a:buClr>
              <a:buSzPts val="1800"/>
              <a:buFont typeface="Calibri"/>
              <a:buNone/>
            </a:pPr>
            <a:r>
              <a:rPr b="0" i="0" lang="en-US" sz="1800" u="none" cap="none" strike="noStrike">
                <a:solidFill>
                  <a:srgbClr val="8B92B8"/>
                </a:solidFill>
                <a:latin typeface="Calibri"/>
                <a:ea typeface="Calibri"/>
                <a:cs typeface="Calibri"/>
                <a:sym typeface="Calibri"/>
              </a:rPr>
              <a:t>Everything else we cover today — tokenisation, embeddings, attention, training — is just HOW it becomes exceptionally good at this one job.</a:t>
            </a:r>
            <a:endParaRPr b="0" i="0" sz="1800" u="none" cap="none" strike="noStrike">
              <a:solidFill>
                <a:schemeClr val="dk1"/>
              </a:solidFill>
              <a:latin typeface="Calibri"/>
              <a:ea typeface="Calibri"/>
              <a:cs typeface="Calibri"/>
              <a:sym typeface="Calibri"/>
            </a:endParaRPr>
          </a:p>
        </p:txBody>
      </p:sp>
      <p:sp>
        <p:nvSpPr>
          <p:cNvPr id="96" name="Google Shape;96;p5"/>
          <p:cNvSpPr/>
          <p:nvPr/>
        </p:nvSpPr>
        <p:spPr>
          <a:xfrm>
            <a:off x="685800" y="5532120"/>
            <a:ext cx="3291840" cy="822960"/>
          </a:xfrm>
          <a:prstGeom prst="roundRect">
            <a:avLst>
              <a:gd fmla="val 10000" name="adj"/>
            </a:avLst>
          </a:prstGeom>
          <a:solidFill>
            <a:srgbClr val="1C2236"/>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850392" y="559612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Tokenise</a:t>
            </a:r>
            <a:endParaRPr b="0" i="0" sz="1500" u="none" cap="none" strike="noStrike">
              <a:solidFill>
                <a:schemeClr val="dk1"/>
              </a:solidFill>
              <a:latin typeface="Calibri"/>
              <a:ea typeface="Calibri"/>
              <a:cs typeface="Calibri"/>
              <a:sym typeface="Calibri"/>
            </a:endParaRPr>
          </a:p>
        </p:txBody>
      </p:sp>
      <p:sp>
        <p:nvSpPr>
          <p:cNvPr id="98" name="Google Shape;98;p5"/>
          <p:cNvSpPr/>
          <p:nvPr/>
        </p:nvSpPr>
        <p:spPr>
          <a:xfrm>
            <a:off x="850392" y="5925312"/>
            <a:ext cx="2926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text → tokens</a:t>
            </a:r>
            <a:endParaRPr b="0" i="0" sz="1200" u="none" cap="none" strike="noStrike">
              <a:solidFill>
                <a:schemeClr val="dk1"/>
              </a:solidFill>
              <a:latin typeface="Calibri"/>
              <a:ea typeface="Calibri"/>
              <a:cs typeface="Calibri"/>
              <a:sym typeface="Calibri"/>
            </a:endParaRPr>
          </a:p>
        </p:txBody>
      </p:sp>
      <p:sp>
        <p:nvSpPr>
          <p:cNvPr id="99" name="Google Shape;99;p5"/>
          <p:cNvSpPr/>
          <p:nvPr/>
        </p:nvSpPr>
        <p:spPr>
          <a:xfrm>
            <a:off x="4251960" y="5532120"/>
            <a:ext cx="3291840" cy="822960"/>
          </a:xfrm>
          <a:prstGeom prst="roundRect">
            <a:avLst>
              <a:gd fmla="val 10000" name="adj"/>
            </a:avLst>
          </a:prstGeom>
          <a:solidFill>
            <a:srgbClr val="1C2236"/>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4416552" y="559612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i="0" lang="en-US" sz="1500" u="none" cap="none" strike="noStrike">
                <a:solidFill>
                  <a:srgbClr val="0891B2"/>
                </a:solidFill>
                <a:latin typeface="Calibri"/>
                <a:ea typeface="Calibri"/>
                <a:cs typeface="Calibri"/>
                <a:sym typeface="Calibri"/>
              </a:rPr>
              <a:t>Generate</a:t>
            </a:r>
            <a:endParaRPr b="0" i="0" sz="1500" u="none" cap="none" strike="noStrike">
              <a:solidFill>
                <a:schemeClr val="dk1"/>
              </a:solidFill>
              <a:latin typeface="Calibri"/>
              <a:ea typeface="Calibri"/>
              <a:cs typeface="Calibri"/>
              <a:sym typeface="Calibri"/>
            </a:endParaRPr>
          </a:p>
        </p:txBody>
      </p:sp>
      <p:sp>
        <p:nvSpPr>
          <p:cNvPr id="101" name="Google Shape;101;p5"/>
          <p:cNvSpPr/>
          <p:nvPr/>
        </p:nvSpPr>
        <p:spPr>
          <a:xfrm>
            <a:off x="4416552" y="5925312"/>
            <a:ext cx="2926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predict token</a:t>
            </a:r>
            <a:endParaRPr b="0" i="0" sz="1200" u="none" cap="none" strike="noStrike">
              <a:solidFill>
                <a:schemeClr val="dk1"/>
              </a:solidFill>
              <a:latin typeface="Calibri"/>
              <a:ea typeface="Calibri"/>
              <a:cs typeface="Calibri"/>
              <a:sym typeface="Calibri"/>
            </a:endParaRPr>
          </a:p>
        </p:txBody>
      </p:sp>
      <p:sp>
        <p:nvSpPr>
          <p:cNvPr id="102" name="Google Shape;102;p5"/>
          <p:cNvSpPr/>
          <p:nvPr/>
        </p:nvSpPr>
        <p:spPr>
          <a:xfrm>
            <a:off x="7818120" y="5532120"/>
            <a:ext cx="3291840" cy="822960"/>
          </a:xfrm>
          <a:prstGeom prst="roundRect">
            <a:avLst>
              <a:gd fmla="val 10000"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7982712" y="559612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Repeat</a:t>
            </a:r>
            <a:endParaRPr b="0" i="0" sz="1500" u="none" cap="none" strike="noStrike">
              <a:solidFill>
                <a:schemeClr val="dk1"/>
              </a:solidFill>
              <a:latin typeface="Calibri"/>
              <a:ea typeface="Calibri"/>
              <a:cs typeface="Calibri"/>
              <a:sym typeface="Calibri"/>
            </a:endParaRPr>
          </a:p>
        </p:txBody>
      </p:sp>
      <p:sp>
        <p:nvSpPr>
          <p:cNvPr id="104" name="Google Shape;104;p5"/>
          <p:cNvSpPr/>
          <p:nvPr/>
        </p:nvSpPr>
        <p:spPr>
          <a:xfrm>
            <a:off x="7982712" y="5925312"/>
            <a:ext cx="2926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loop until done</a:t>
            </a:r>
            <a:endParaRPr b="0" i="0" sz="1200" u="none" cap="none" strike="noStrike">
              <a:solidFill>
                <a:schemeClr val="dk1"/>
              </a:solidFill>
              <a:latin typeface="Calibri"/>
              <a:ea typeface="Calibri"/>
              <a:cs typeface="Calibri"/>
              <a:sym typeface="Calibri"/>
            </a:endParaRPr>
          </a:p>
        </p:txBody>
      </p:sp>
      <p:sp>
        <p:nvSpPr>
          <p:cNvPr id="105" name="Google Shape;105;p5"/>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107" name="Google Shape;107;p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6"/>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CLEAR THE AIR FIRST</a:t>
            </a:r>
            <a:endParaRPr b="0" i="0" sz="1200" u="none" cap="none" strike="noStrike">
              <a:solidFill>
                <a:schemeClr val="dk1"/>
              </a:solidFill>
              <a:latin typeface="Calibri"/>
              <a:ea typeface="Calibri"/>
              <a:cs typeface="Calibri"/>
              <a:sym typeface="Calibri"/>
            </a:endParaRPr>
          </a:p>
        </p:txBody>
      </p:sp>
      <p:sp>
        <p:nvSpPr>
          <p:cNvPr id="114" name="Google Shape;114;p6"/>
          <p:cNvSpPr/>
          <p:nvPr/>
        </p:nvSpPr>
        <p:spPr>
          <a:xfrm>
            <a:off x="605250" y="301733"/>
            <a:ext cx="10058400" cy="1463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800"/>
              <a:buFont typeface="Calibri"/>
              <a:buNone/>
            </a:pPr>
            <a:r>
              <a:rPr b="1" i="0" lang="en-US" sz="3800" u="none" cap="none" strike="noStrike">
                <a:solidFill>
                  <a:srgbClr val="475569"/>
                </a:solidFill>
                <a:latin typeface="Calibri"/>
                <a:ea typeface="Calibri"/>
                <a:cs typeface="Calibri"/>
                <a:sym typeface="Calibri"/>
              </a:rPr>
              <a:t>What an LLM is — and isn't</a:t>
            </a:r>
            <a:endParaRPr b="0" i="0" sz="3800" u="none" cap="none" strike="noStrike">
              <a:solidFill>
                <a:schemeClr val="dk1"/>
              </a:solidFill>
              <a:latin typeface="Calibri"/>
              <a:ea typeface="Calibri"/>
              <a:cs typeface="Calibri"/>
              <a:sym typeface="Calibri"/>
            </a:endParaRPr>
          </a:p>
        </p:txBody>
      </p:sp>
      <p:sp>
        <p:nvSpPr>
          <p:cNvPr id="115" name="Google Shape;115;p6"/>
          <p:cNvSpPr/>
          <p:nvPr/>
        </p:nvSpPr>
        <p:spPr>
          <a:xfrm>
            <a:off x="502920" y="1600200"/>
            <a:ext cx="5349240" cy="4251960"/>
          </a:xfrm>
          <a:prstGeom prst="roundRect">
            <a:avLst>
              <a:gd fmla="val 2151" name="adj"/>
            </a:avLst>
          </a:prstGeom>
          <a:solidFill>
            <a:srgbClr val="FFF1F2"/>
          </a:solidFill>
          <a:ln cap="flat" cmpd="sng" w="12700">
            <a:solidFill>
              <a:srgbClr val="E11D48">
                <a:alpha val="40000"/>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749808" y="178308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IT IS NOT</a:t>
            </a:r>
            <a:endParaRPr b="0" i="0" sz="1200" u="none" cap="none" strike="noStrike">
              <a:solidFill>
                <a:schemeClr val="dk1"/>
              </a:solidFill>
              <a:latin typeface="Calibri"/>
              <a:ea typeface="Calibri"/>
              <a:cs typeface="Calibri"/>
              <a:sym typeface="Calibri"/>
            </a:endParaRPr>
          </a:p>
        </p:txBody>
      </p:sp>
      <p:sp>
        <p:nvSpPr>
          <p:cNvPr id="117" name="Google Shape;117;p6"/>
          <p:cNvSpPr/>
          <p:nvPr/>
        </p:nvSpPr>
        <p:spPr>
          <a:xfrm>
            <a:off x="777240" y="2240280"/>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000"/>
              <a:buFont typeface="Calibri"/>
              <a:buNone/>
            </a:pPr>
            <a:r>
              <a:rPr b="1" i="0" lang="en-US" sz="2000" u="none" cap="none" strike="noStrike">
                <a:solidFill>
                  <a:srgbClr val="E11D4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18" name="Google Shape;118;p6"/>
          <p:cNvSpPr/>
          <p:nvPr/>
        </p:nvSpPr>
        <p:spPr>
          <a:xfrm>
            <a:off x="1207008" y="2240280"/>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database</a:t>
            </a:r>
            <a:endParaRPr b="0" i="0" sz="1500" u="none" cap="none" strike="noStrike">
              <a:solidFill>
                <a:schemeClr val="dk1"/>
              </a:solidFill>
              <a:latin typeface="Calibri"/>
              <a:ea typeface="Calibri"/>
              <a:cs typeface="Calibri"/>
              <a:sym typeface="Calibri"/>
            </a:endParaRPr>
          </a:p>
        </p:txBody>
      </p:sp>
      <p:sp>
        <p:nvSpPr>
          <p:cNvPr id="119" name="Google Shape;119;p6"/>
          <p:cNvSpPr/>
          <p:nvPr/>
        </p:nvSpPr>
        <p:spPr>
          <a:xfrm>
            <a:off x="1207008" y="2587752"/>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It doesn't retrieve stored facts. It generates the most plausible text.</a:t>
            </a:r>
            <a:endParaRPr b="0" i="0" sz="1200" u="none" cap="none" strike="noStrike">
              <a:solidFill>
                <a:schemeClr val="dk1"/>
              </a:solidFill>
              <a:latin typeface="Calibri"/>
              <a:ea typeface="Calibri"/>
              <a:cs typeface="Calibri"/>
              <a:sym typeface="Calibri"/>
            </a:endParaRPr>
          </a:p>
        </p:txBody>
      </p:sp>
      <p:sp>
        <p:nvSpPr>
          <p:cNvPr id="120" name="Google Shape;120;p6"/>
          <p:cNvSpPr/>
          <p:nvPr/>
        </p:nvSpPr>
        <p:spPr>
          <a:xfrm>
            <a:off x="777240" y="3099816"/>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000"/>
              <a:buFont typeface="Calibri"/>
              <a:buNone/>
            </a:pPr>
            <a:r>
              <a:rPr b="1" i="0" lang="en-US" sz="2000" u="none" cap="none" strike="noStrike">
                <a:solidFill>
                  <a:srgbClr val="E11D4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21" name="Google Shape;121;p6"/>
          <p:cNvSpPr/>
          <p:nvPr/>
        </p:nvSpPr>
        <p:spPr>
          <a:xfrm>
            <a:off x="1207008" y="3099816"/>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search engine</a:t>
            </a:r>
            <a:endParaRPr b="0" i="0" sz="1500" u="none" cap="none" strike="noStrike">
              <a:solidFill>
                <a:schemeClr val="dk1"/>
              </a:solidFill>
              <a:latin typeface="Calibri"/>
              <a:ea typeface="Calibri"/>
              <a:cs typeface="Calibri"/>
              <a:sym typeface="Calibri"/>
            </a:endParaRPr>
          </a:p>
        </p:txBody>
      </p:sp>
      <p:sp>
        <p:nvSpPr>
          <p:cNvPr id="122" name="Google Shape;122;p6"/>
          <p:cNvSpPr/>
          <p:nvPr/>
        </p:nvSpPr>
        <p:spPr>
          <a:xfrm>
            <a:off x="1207008" y="3447288"/>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No live internet. No citations (unless tools are added).</a:t>
            </a:r>
            <a:endParaRPr b="0" i="0" sz="1200" u="none" cap="none" strike="noStrike">
              <a:solidFill>
                <a:schemeClr val="dk1"/>
              </a:solidFill>
              <a:latin typeface="Calibri"/>
              <a:ea typeface="Calibri"/>
              <a:cs typeface="Calibri"/>
              <a:sym typeface="Calibri"/>
            </a:endParaRPr>
          </a:p>
        </p:txBody>
      </p:sp>
      <p:sp>
        <p:nvSpPr>
          <p:cNvPr id="123" name="Google Shape;123;p6"/>
          <p:cNvSpPr/>
          <p:nvPr/>
        </p:nvSpPr>
        <p:spPr>
          <a:xfrm>
            <a:off x="777240" y="3959352"/>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000"/>
              <a:buFont typeface="Calibri"/>
              <a:buNone/>
            </a:pPr>
            <a:r>
              <a:rPr b="1" i="0" lang="en-US" sz="2000" u="none" cap="none" strike="noStrike">
                <a:solidFill>
                  <a:srgbClr val="E11D4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24" name="Google Shape;124;p6"/>
          <p:cNvSpPr/>
          <p:nvPr/>
        </p:nvSpPr>
        <p:spPr>
          <a:xfrm>
            <a:off x="1207008" y="3959352"/>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calculator</a:t>
            </a:r>
            <a:endParaRPr b="0" i="0" sz="1500" u="none" cap="none" strike="noStrike">
              <a:solidFill>
                <a:schemeClr val="dk1"/>
              </a:solidFill>
              <a:latin typeface="Calibri"/>
              <a:ea typeface="Calibri"/>
              <a:cs typeface="Calibri"/>
              <a:sym typeface="Calibri"/>
            </a:endParaRPr>
          </a:p>
        </p:txBody>
      </p:sp>
      <p:sp>
        <p:nvSpPr>
          <p:cNvPr id="125" name="Google Shape;125;p6"/>
          <p:cNvSpPr/>
          <p:nvPr/>
        </p:nvSpPr>
        <p:spPr>
          <a:xfrm>
            <a:off x="1207008" y="4306824"/>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It predicts math-looking text — not actual computation.</a:t>
            </a:r>
            <a:endParaRPr b="0" i="0" sz="1200" u="none" cap="none" strike="noStrike">
              <a:solidFill>
                <a:schemeClr val="dk1"/>
              </a:solidFill>
              <a:latin typeface="Calibri"/>
              <a:ea typeface="Calibri"/>
              <a:cs typeface="Calibri"/>
              <a:sym typeface="Calibri"/>
            </a:endParaRPr>
          </a:p>
        </p:txBody>
      </p:sp>
      <p:sp>
        <p:nvSpPr>
          <p:cNvPr id="126" name="Google Shape;126;p6"/>
          <p:cNvSpPr/>
          <p:nvPr/>
        </p:nvSpPr>
        <p:spPr>
          <a:xfrm>
            <a:off x="777240" y="4818888"/>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000"/>
              <a:buFont typeface="Calibri"/>
              <a:buNone/>
            </a:pPr>
            <a:r>
              <a:rPr b="1" i="0" lang="en-US" sz="2000" u="none" cap="none" strike="noStrike">
                <a:solidFill>
                  <a:srgbClr val="E11D4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27" name="Google Shape;127;p6"/>
          <p:cNvSpPr/>
          <p:nvPr/>
        </p:nvSpPr>
        <p:spPr>
          <a:xfrm>
            <a:off x="1207008" y="4818888"/>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thinking mind</a:t>
            </a:r>
            <a:endParaRPr b="0" i="0" sz="1500" u="none" cap="none" strike="noStrike">
              <a:solidFill>
                <a:schemeClr val="dk1"/>
              </a:solidFill>
              <a:latin typeface="Calibri"/>
              <a:ea typeface="Calibri"/>
              <a:cs typeface="Calibri"/>
              <a:sym typeface="Calibri"/>
            </a:endParaRPr>
          </a:p>
        </p:txBody>
      </p:sp>
      <p:sp>
        <p:nvSpPr>
          <p:cNvPr id="128" name="Google Shape;128;p6"/>
          <p:cNvSpPr/>
          <p:nvPr/>
        </p:nvSpPr>
        <p:spPr>
          <a:xfrm>
            <a:off x="1207008" y="5166360"/>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No beliefs, consciousness, understanding, or intent.</a:t>
            </a:r>
            <a:endParaRPr b="0" i="0" sz="1200" u="none" cap="none" strike="noStrike">
              <a:solidFill>
                <a:schemeClr val="dk1"/>
              </a:solidFill>
              <a:latin typeface="Calibri"/>
              <a:ea typeface="Calibri"/>
              <a:cs typeface="Calibri"/>
              <a:sym typeface="Calibri"/>
            </a:endParaRPr>
          </a:p>
        </p:txBody>
      </p:sp>
      <p:sp>
        <p:nvSpPr>
          <p:cNvPr id="129" name="Google Shape;129;p6"/>
          <p:cNvSpPr/>
          <p:nvPr/>
        </p:nvSpPr>
        <p:spPr>
          <a:xfrm>
            <a:off x="6309360" y="1600200"/>
            <a:ext cx="5349240" cy="4251960"/>
          </a:xfrm>
          <a:prstGeom prst="roundRect">
            <a:avLst>
              <a:gd fmla="val 2151" name="adj"/>
            </a:avLst>
          </a:prstGeom>
          <a:solidFill>
            <a:srgbClr val="F0FDF4"/>
          </a:solidFill>
          <a:ln cap="flat" cmpd="sng" w="12700">
            <a:solidFill>
              <a:srgbClr val="16A34A">
                <a:alpha val="40000"/>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556248" y="178308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IT IS</a:t>
            </a:r>
            <a:endParaRPr b="0" i="0" sz="1200" u="none" cap="none" strike="noStrike">
              <a:solidFill>
                <a:schemeClr val="dk1"/>
              </a:solidFill>
              <a:latin typeface="Calibri"/>
              <a:ea typeface="Calibri"/>
              <a:cs typeface="Calibri"/>
              <a:sym typeface="Calibri"/>
            </a:endParaRPr>
          </a:p>
        </p:txBody>
      </p:sp>
      <p:sp>
        <p:nvSpPr>
          <p:cNvPr id="131" name="Google Shape;131;p6"/>
          <p:cNvSpPr/>
          <p:nvPr/>
        </p:nvSpPr>
        <p:spPr>
          <a:xfrm>
            <a:off x="6583680" y="2240280"/>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000"/>
              <a:buFont typeface="Calibri"/>
              <a:buNone/>
            </a:pPr>
            <a:r>
              <a:rPr b="1" i="0" lang="en-US" sz="2000" u="none" cap="none" strike="noStrike">
                <a:solidFill>
                  <a:srgbClr val="16A34A"/>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32" name="Google Shape;132;p6"/>
          <p:cNvSpPr/>
          <p:nvPr/>
        </p:nvSpPr>
        <p:spPr>
          <a:xfrm>
            <a:off x="7022592" y="2240280"/>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probability machine</a:t>
            </a:r>
            <a:endParaRPr b="0" i="0" sz="1500" u="none" cap="none" strike="noStrike">
              <a:solidFill>
                <a:schemeClr val="dk1"/>
              </a:solidFill>
              <a:latin typeface="Calibri"/>
              <a:ea typeface="Calibri"/>
              <a:cs typeface="Calibri"/>
              <a:sym typeface="Calibri"/>
            </a:endParaRPr>
          </a:p>
        </p:txBody>
      </p:sp>
      <p:sp>
        <p:nvSpPr>
          <p:cNvPr id="133" name="Google Shape;133;p6"/>
          <p:cNvSpPr/>
          <p:nvPr/>
        </p:nvSpPr>
        <p:spPr>
          <a:xfrm>
            <a:off x="7022592" y="2587752"/>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It scores how likely every next token is — and picks one.</a:t>
            </a:r>
            <a:endParaRPr b="0" i="0" sz="1200" u="none" cap="none" strike="noStrike">
              <a:solidFill>
                <a:schemeClr val="dk1"/>
              </a:solidFill>
              <a:latin typeface="Calibri"/>
              <a:ea typeface="Calibri"/>
              <a:cs typeface="Calibri"/>
              <a:sym typeface="Calibri"/>
            </a:endParaRPr>
          </a:p>
        </p:txBody>
      </p:sp>
      <p:sp>
        <p:nvSpPr>
          <p:cNvPr id="134" name="Google Shape;134;p6"/>
          <p:cNvSpPr/>
          <p:nvPr/>
        </p:nvSpPr>
        <p:spPr>
          <a:xfrm>
            <a:off x="6583680" y="3099816"/>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000"/>
              <a:buFont typeface="Calibri"/>
              <a:buNone/>
            </a:pPr>
            <a:r>
              <a:rPr b="1" i="0" lang="en-US" sz="2000" u="none" cap="none" strike="noStrike">
                <a:solidFill>
                  <a:srgbClr val="16A34A"/>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35" name="Google Shape;135;p6"/>
          <p:cNvSpPr/>
          <p:nvPr/>
        </p:nvSpPr>
        <p:spPr>
          <a:xfrm>
            <a:off x="7022592" y="3099816"/>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 pattern learner</a:t>
            </a:r>
            <a:endParaRPr b="0" i="0" sz="1500" u="none" cap="none" strike="noStrike">
              <a:solidFill>
                <a:schemeClr val="dk1"/>
              </a:solidFill>
              <a:latin typeface="Calibri"/>
              <a:ea typeface="Calibri"/>
              <a:cs typeface="Calibri"/>
              <a:sym typeface="Calibri"/>
            </a:endParaRPr>
          </a:p>
        </p:txBody>
      </p:sp>
      <p:sp>
        <p:nvSpPr>
          <p:cNvPr id="136" name="Google Shape;136;p6"/>
          <p:cNvSpPr/>
          <p:nvPr/>
        </p:nvSpPr>
        <p:spPr>
          <a:xfrm>
            <a:off x="7022592" y="3447288"/>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Trained on massive text — absorbed grammar, facts, style, code.</a:t>
            </a:r>
            <a:endParaRPr b="0" i="0" sz="1200" u="none" cap="none" strike="noStrike">
              <a:solidFill>
                <a:schemeClr val="dk1"/>
              </a:solidFill>
              <a:latin typeface="Calibri"/>
              <a:ea typeface="Calibri"/>
              <a:cs typeface="Calibri"/>
              <a:sym typeface="Calibri"/>
            </a:endParaRPr>
          </a:p>
        </p:txBody>
      </p:sp>
      <p:sp>
        <p:nvSpPr>
          <p:cNvPr id="137" name="Google Shape;137;p6"/>
          <p:cNvSpPr/>
          <p:nvPr/>
        </p:nvSpPr>
        <p:spPr>
          <a:xfrm>
            <a:off x="6583680" y="3959352"/>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000"/>
              <a:buFont typeface="Calibri"/>
              <a:buNone/>
            </a:pPr>
            <a:r>
              <a:rPr b="1" i="0" lang="en-US" sz="2000" u="none" cap="none" strike="noStrike">
                <a:solidFill>
                  <a:srgbClr val="16A34A"/>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38" name="Google Shape;138;p6"/>
          <p:cNvSpPr/>
          <p:nvPr/>
        </p:nvSpPr>
        <p:spPr>
          <a:xfrm>
            <a:off x="7022592" y="3959352"/>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Autocomplete × 1 billion</a:t>
            </a:r>
            <a:endParaRPr b="0" i="0" sz="1500" u="none" cap="none" strike="noStrike">
              <a:solidFill>
                <a:schemeClr val="dk1"/>
              </a:solidFill>
              <a:latin typeface="Calibri"/>
              <a:ea typeface="Calibri"/>
              <a:cs typeface="Calibri"/>
              <a:sym typeface="Calibri"/>
            </a:endParaRPr>
          </a:p>
        </p:txBody>
      </p:sp>
      <p:sp>
        <p:nvSpPr>
          <p:cNvPr id="139" name="Google Shape;139;p6"/>
          <p:cNvSpPr/>
          <p:nvPr/>
        </p:nvSpPr>
        <p:spPr>
          <a:xfrm>
            <a:off x="7022592" y="4306824"/>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Your phone keyboard, scaled to the whole internet.</a:t>
            </a:r>
            <a:endParaRPr b="0" i="0" sz="1200" u="none" cap="none" strike="noStrike">
              <a:solidFill>
                <a:schemeClr val="dk1"/>
              </a:solidFill>
              <a:latin typeface="Calibri"/>
              <a:ea typeface="Calibri"/>
              <a:cs typeface="Calibri"/>
              <a:sym typeface="Calibri"/>
            </a:endParaRPr>
          </a:p>
        </p:txBody>
      </p:sp>
      <p:sp>
        <p:nvSpPr>
          <p:cNvPr id="140" name="Google Shape;140;p6"/>
          <p:cNvSpPr/>
          <p:nvPr/>
        </p:nvSpPr>
        <p:spPr>
          <a:xfrm>
            <a:off x="6583680" y="4818888"/>
            <a:ext cx="3474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000"/>
              <a:buFont typeface="Calibri"/>
              <a:buNone/>
            </a:pPr>
            <a:r>
              <a:rPr b="1" i="0" lang="en-US" sz="2000" u="none" cap="none" strike="noStrike">
                <a:solidFill>
                  <a:srgbClr val="16A34A"/>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41" name="Google Shape;141;p6"/>
          <p:cNvSpPr/>
          <p:nvPr/>
        </p:nvSpPr>
        <p:spPr>
          <a:xfrm>
            <a:off x="7022592" y="4818888"/>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Confidently fluent</a:t>
            </a:r>
            <a:endParaRPr b="0" i="0" sz="1500" u="none" cap="none" strike="noStrike">
              <a:solidFill>
                <a:schemeClr val="dk1"/>
              </a:solidFill>
              <a:latin typeface="Calibri"/>
              <a:ea typeface="Calibri"/>
              <a:cs typeface="Calibri"/>
              <a:sym typeface="Calibri"/>
            </a:endParaRPr>
          </a:p>
        </p:txBody>
      </p:sp>
      <p:sp>
        <p:nvSpPr>
          <p:cNvPr id="142" name="Google Shape;142;p6"/>
          <p:cNvSpPr/>
          <p:nvPr/>
        </p:nvSpPr>
        <p:spPr>
          <a:xfrm>
            <a:off x="7022592" y="5166360"/>
            <a:ext cx="4480560" cy="4023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Great at sounding right. Not guaranteed to BE right.</a:t>
            </a:r>
            <a:endParaRPr b="0" i="0" sz="1200" u="none" cap="none" strike="noStrike">
              <a:solidFill>
                <a:schemeClr val="dk1"/>
              </a:solidFill>
              <a:latin typeface="Calibri"/>
              <a:ea typeface="Calibri"/>
              <a:cs typeface="Calibri"/>
              <a:sym typeface="Calibri"/>
            </a:endParaRPr>
          </a:p>
        </p:txBody>
      </p:sp>
      <p:sp>
        <p:nvSpPr>
          <p:cNvPr id="143" name="Google Shape;143;p6"/>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145" name="Google Shape;145;p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4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50" name="Shape 150"/>
        <p:cNvGrpSpPr/>
        <p:nvPr/>
      </p:nvGrpSpPr>
      <p:grpSpPr>
        <a:xfrm>
          <a:off x="0" y="0"/>
          <a:ext cx="0" cy="0"/>
          <a:chOff x="0" y="0"/>
          <a:chExt cx="0" cy="0"/>
        </a:xfrm>
      </p:grpSpPr>
      <p:sp>
        <p:nvSpPr>
          <p:cNvPr id="151" name="Google Shape;151;p7"/>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26000"/>
              <a:buFont typeface="Calibri"/>
              <a:buNone/>
            </a:pPr>
            <a:r>
              <a:rPr b="1" i="0" lang="en-US" sz="26000" u="none" cap="none" strike="noStrike">
                <a:solidFill>
                  <a:srgbClr val="7C3AED"/>
                </a:solidFill>
                <a:latin typeface="Calibri"/>
                <a:ea typeface="Calibri"/>
                <a:cs typeface="Calibri"/>
                <a:sym typeface="Calibri"/>
              </a:rPr>
              <a:t>01</a:t>
            </a:r>
            <a:endParaRPr b="0" i="0" sz="26000" u="none" cap="none" strike="noStrike">
              <a:solidFill>
                <a:schemeClr val="dk1"/>
              </a:solidFill>
              <a:latin typeface="Calibri"/>
              <a:ea typeface="Calibri"/>
              <a:cs typeface="Calibri"/>
              <a:sym typeface="Calibri"/>
            </a:endParaRPr>
          </a:p>
        </p:txBody>
      </p:sp>
      <p:sp>
        <p:nvSpPr>
          <p:cNvPr id="152" name="Google Shape;152;p7"/>
          <p:cNvSpPr/>
          <p:nvPr/>
        </p:nvSpPr>
        <p:spPr>
          <a:xfrm>
            <a:off x="475488" y="804672"/>
            <a:ext cx="658368" cy="658368"/>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82296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STEP</a:t>
            </a:r>
            <a:endParaRPr b="0" i="0" sz="1300" u="none" cap="none" strike="noStrike">
              <a:solidFill>
                <a:schemeClr val="dk1"/>
              </a:solidFill>
              <a:latin typeface="Calibri"/>
              <a:ea typeface="Calibri"/>
              <a:cs typeface="Calibri"/>
              <a:sym typeface="Calibri"/>
            </a:endParaRPr>
          </a:p>
        </p:txBody>
      </p:sp>
      <p:sp>
        <p:nvSpPr>
          <p:cNvPr id="155" name="Google Shape;155;p7"/>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Tokenise</a:t>
            </a:r>
            <a:endParaRPr b="0" i="0" sz="5800" u="none" cap="none" strike="noStrike">
              <a:solidFill>
                <a:schemeClr val="dk1"/>
              </a:solidFill>
              <a:latin typeface="Calibri"/>
              <a:ea typeface="Calibri"/>
              <a:cs typeface="Calibri"/>
              <a:sym typeface="Calibri"/>
            </a:endParaRPr>
          </a:p>
        </p:txBody>
      </p:sp>
      <p:sp>
        <p:nvSpPr>
          <p:cNvPr id="156" name="Google Shape;156;p7"/>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Text in → numbers out. The model never sees letters.</a:t>
            </a:r>
            <a:endParaRPr b="0" i="0" sz="2000" u="none" cap="none" strike="noStrike">
              <a:solidFill>
                <a:schemeClr val="dk1"/>
              </a:solidFill>
              <a:latin typeface="Calibri"/>
              <a:ea typeface="Calibri"/>
              <a:cs typeface="Calibri"/>
              <a:sym typeface="Calibri"/>
            </a:endParaRPr>
          </a:p>
        </p:txBody>
      </p:sp>
      <p:sp>
        <p:nvSpPr>
          <p:cNvPr id="157" name="Google Shape;157;p7"/>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159" name="Google Shape;159;p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5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8"/>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STEP 1 · TOKENISE</a:t>
            </a:r>
            <a:endParaRPr b="0" i="0" sz="1200" u="none" cap="none" strike="noStrike">
              <a:solidFill>
                <a:schemeClr val="dk1"/>
              </a:solidFill>
              <a:latin typeface="Calibri"/>
              <a:ea typeface="Calibri"/>
              <a:cs typeface="Calibri"/>
              <a:sym typeface="Calibri"/>
            </a:endParaRPr>
          </a:p>
        </p:txBody>
      </p:sp>
      <p:sp>
        <p:nvSpPr>
          <p:cNvPr id="166" name="Google Shape;166;p8"/>
          <p:cNvSpPr/>
          <p:nvPr/>
        </p:nvSpPr>
        <p:spPr>
          <a:xfrm>
            <a:off x="685800" y="548658"/>
            <a:ext cx="10058400" cy="1463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A token is a chunk of text.</a:t>
            </a:r>
            <a:endParaRPr b="0" i="0" sz="3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Not a letter. Not always a word.</a:t>
            </a:r>
            <a:endParaRPr b="0" i="0" sz="3600" u="none" cap="none" strike="noStrike">
              <a:solidFill>
                <a:schemeClr val="dk1"/>
              </a:solidFill>
              <a:latin typeface="Calibri"/>
              <a:ea typeface="Calibri"/>
              <a:cs typeface="Calibri"/>
              <a:sym typeface="Calibri"/>
            </a:endParaRPr>
          </a:p>
        </p:txBody>
      </p:sp>
      <p:sp>
        <p:nvSpPr>
          <p:cNvPr id="167" name="Google Shape;167;p8"/>
          <p:cNvSpPr/>
          <p:nvPr/>
        </p:nvSpPr>
        <p:spPr>
          <a:xfrm>
            <a:off x="548640" y="1920240"/>
            <a:ext cx="2011680" cy="658368"/>
          </a:xfrm>
          <a:prstGeom prst="roundRect">
            <a:avLst>
              <a:gd fmla="val 9722"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548640" y="1920240"/>
            <a:ext cx="2011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600"/>
              <a:buFont typeface="Courier New"/>
              <a:buNone/>
            </a:pPr>
            <a:r>
              <a:rPr b="1" i="0" lang="en-US" sz="1600" u="none" cap="none" strike="noStrike">
                <a:solidFill>
                  <a:srgbClr val="475569"/>
                </a:solidFill>
                <a:latin typeface="Courier New"/>
                <a:ea typeface="Courier New"/>
                <a:cs typeface="Courier New"/>
                <a:sym typeface="Courier New"/>
              </a:rPr>
              <a:t>cat</a:t>
            </a:r>
            <a:endParaRPr b="0" i="0" sz="1600" u="none" cap="none" strike="noStrike">
              <a:solidFill>
                <a:schemeClr val="dk1"/>
              </a:solidFill>
              <a:latin typeface="Calibri"/>
              <a:ea typeface="Calibri"/>
              <a:cs typeface="Calibri"/>
              <a:sym typeface="Calibri"/>
            </a:endParaRPr>
          </a:p>
        </p:txBody>
      </p:sp>
      <p:cxnSp>
        <p:nvCxnSpPr>
          <p:cNvPr id="169" name="Google Shape;169;p8"/>
          <p:cNvCxnSpPr/>
          <p:nvPr/>
        </p:nvCxnSpPr>
        <p:spPr>
          <a:xfrm>
            <a:off x="2633472" y="2249424"/>
            <a:ext cx="548640" cy="0"/>
          </a:xfrm>
          <a:prstGeom prst="straightConnector1">
            <a:avLst/>
          </a:prstGeom>
          <a:noFill/>
          <a:ln cap="flat" cmpd="sng" w="27925">
            <a:solidFill>
              <a:srgbClr val="CBD5E1"/>
            </a:solidFill>
            <a:prstDash val="solid"/>
            <a:round/>
            <a:headEnd len="sm" w="sm" type="none"/>
            <a:tailEnd len="med" w="med" type="triangle"/>
          </a:ln>
        </p:spPr>
      </p:cxnSp>
      <p:sp>
        <p:nvSpPr>
          <p:cNvPr id="170" name="Google Shape;170;p8"/>
          <p:cNvSpPr/>
          <p:nvPr/>
        </p:nvSpPr>
        <p:spPr>
          <a:xfrm>
            <a:off x="3337560" y="1993392"/>
            <a:ext cx="877824" cy="512064"/>
          </a:xfrm>
          <a:prstGeom prst="roundRect">
            <a:avLst>
              <a:gd fmla="val 12500" name="adj"/>
            </a:avLst>
          </a:prstGeom>
          <a:solidFill>
            <a:srgbClr val="7C3AED"/>
          </a:solidFill>
          <a:ln cap="flat" cmpd="sng" w="12700">
            <a:solidFill>
              <a:srgbClr val="7C3AED"/>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3337560" y="1993392"/>
            <a:ext cx="87782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cat</a:t>
            </a:r>
            <a:endParaRPr b="0" i="0" sz="1500" u="none" cap="none" strike="noStrike">
              <a:solidFill>
                <a:schemeClr val="dk1"/>
              </a:solidFill>
              <a:latin typeface="Calibri"/>
              <a:ea typeface="Calibri"/>
              <a:cs typeface="Calibri"/>
              <a:sym typeface="Calibri"/>
            </a:endParaRPr>
          </a:p>
        </p:txBody>
      </p:sp>
      <p:sp>
        <p:nvSpPr>
          <p:cNvPr id="172" name="Google Shape;172;p8"/>
          <p:cNvSpPr/>
          <p:nvPr/>
        </p:nvSpPr>
        <p:spPr>
          <a:xfrm>
            <a:off x="4526280" y="2029968"/>
            <a:ext cx="62636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Common words = 1 token</a:t>
            </a:r>
            <a:endParaRPr b="0" i="0" sz="1300" u="none" cap="none" strike="noStrike">
              <a:solidFill>
                <a:schemeClr val="dk1"/>
              </a:solidFill>
              <a:latin typeface="Calibri"/>
              <a:ea typeface="Calibri"/>
              <a:cs typeface="Calibri"/>
              <a:sym typeface="Calibri"/>
            </a:endParaRPr>
          </a:p>
        </p:txBody>
      </p:sp>
      <p:sp>
        <p:nvSpPr>
          <p:cNvPr id="173" name="Google Shape;173;p8"/>
          <p:cNvSpPr/>
          <p:nvPr/>
        </p:nvSpPr>
        <p:spPr>
          <a:xfrm>
            <a:off x="548640" y="2944368"/>
            <a:ext cx="2011680" cy="658368"/>
          </a:xfrm>
          <a:prstGeom prst="roundRect">
            <a:avLst>
              <a:gd fmla="val 9722"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548640" y="2944368"/>
            <a:ext cx="2011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600"/>
              <a:buFont typeface="Courier New"/>
              <a:buNone/>
            </a:pPr>
            <a:r>
              <a:rPr b="1" i="0" lang="en-US" sz="1600" u="none" cap="none" strike="noStrike">
                <a:solidFill>
                  <a:srgbClr val="475569"/>
                </a:solidFill>
                <a:latin typeface="Courier New"/>
                <a:ea typeface="Courier New"/>
                <a:cs typeface="Courier New"/>
                <a:sym typeface="Courier New"/>
              </a:rPr>
              <a:t>unbelievable</a:t>
            </a:r>
            <a:endParaRPr b="0" i="0" sz="1600" u="none" cap="none" strike="noStrike">
              <a:solidFill>
                <a:schemeClr val="dk1"/>
              </a:solidFill>
              <a:latin typeface="Calibri"/>
              <a:ea typeface="Calibri"/>
              <a:cs typeface="Calibri"/>
              <a:sym typeface="Calibri"/>
            </a:endParaRPr>
          </a:p>
        </p:txBody>
      </p:sp>
      <p:cxnSp>
        <p:nvCxnSpPr>
          <p:cNvPr id="175" name="Google Shape;175;p8"/>
          <p:cNvCxnSpPr/>
          <p:nvPr/>
        </p:nvCxnSpPr>
        <p:spPr>
          <a:xfrm>
            <a:off x="2633472" y="3273552"/>
            <a:ext cx="548640" cy="0"/>
          </a:xfrm>
          <a:prstGeom prst="straightConnector1">
            <a:avLst/>
          </a:prstGeom>
          <a:noFill/>
          <a:ln cap="flat" cmpd="sng" w="27925">
            <a:solidFill>
              <a:srgbClr val="CBD5E1"/>
            </a:solidFill>
            <a:prstDash val="solid"/>
            <a:round/>
            <a:headEnd len="sm" w="sm" type="none"/>
            <a:tailEnd len="med" w="med" type="triangle"/>
          </a:ln>
        </p:spPr>
      </p:cxnSp>
      <p:sp>
        <p:nvSpPr>
          <p:cNvPr id="176" name="Google Shape;176;p8"/>
          <p:cNvSpPr/>
          <p:nvPr/>
        </p:nvSpPr>
        <p:spPr>
          <a:xfrm>
            <a:off x="3337560" y="3017520"/>
            <a:ext cx="713232" cy="512064"/>
          </a:xfrm>
          <a:prstGeom prst="roundRect">
            <a:avLst>
              <a:gd fmla="val 12500" name="adj"/>
            </a:avLst>
          </a:prstGeom>
          <a:solidFill>
            <a:srgbClr val="7C3AED"/>
          </a:solidFill>
          <a:ln cap="flat" cmpd="sng" w="12700">
            <a:solidFill>
              <a:srgbClr val="7C3AED"/>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3337560" y="3017520"/>
            <a:ext cx="713232"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un</a:t>
            </a:r>
            <a:endParaRPr b="0" i="0" sz="1500" u="none" cap="none" strike="noStrike">
              <a:solidFill>
                <a:schemeClr val="dk1"/>
              </a:solidFill>
              <a:latin typeface="Calibri"/>
              <a:ea typeface="Calibri"/>
              <a:cs typeface="Calibri"/>
              <a:sym typeface="Calibri"/>
            </a:endParaRPr>
          </a:p>
        </p:txBody>
      </p:sp>
      <p:sp>
        <p:nvSpPr>
          <p:cNvPr id="178" name="Google Shape;178;p8"/>
          <p:cNvSpPr/>
          <p:nvPr/>
        </p:nvSpPr>
        <p:spPr>
          <a:xfrm>
            <a:off x="4178808" y="3017520"/>
            <a:ext cx="1371600" cy="512064"/>
          </a:xfrm>
          <a:prstGeom prst="roundRect">
            <a:avLst>
              <a:gd fmla="val 12500" name="adj"/>
            </a:avLst>
          </a:prstGeom>
          <a:solidFill>
            <a:srgbClr val="7C3AED"/>
          </a:solidFill>
          <a:ln cap="flat" cmpd="sng" w="12700">
            <a:solidFill>
              <a:srgbClr val="7C3AED"/>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4178808" y="3017520"/>
            <a:ext cx="137160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believ</a:t>
            </a:r>
            <a:endParaRPr b="0" i="0" sz="1500" u="none" cap="none" strike="noStrike">
              <a:solidFill>
                <a:schemeClr val="dk1"/>
              </a:solidFill>
              <a:latin typeface="Calibri"/>
              <a:ea typeface="Calibri"/>
              <a:cs typeface="Calibri"/>
              <a:sym typeface="Calibri"/>
            </a:endParaRPr>
          </a:p>
        </p:txBody>
      </p:sp>
      <p:sp>
        <p:nvSpPr>
          <p:cNvPr id="180" name="Google Shape;180;p8"/>
          <p:cNvSpPr/>
          <p:nvPr/>
        </p:nvSpPr>
        <p:spPr>
          <a:xfrm>
            <a:off x="5678424" y="3017520"/>
            <a:ext cx="1042416" cy="512064"/>
          </a:xfrm>
          <a:prstGeom prst="roundRect">
            <a:avLst>
              <a:gd fmla="val 12500" name="adj"/>
            </a:avLst>
          </a:prstGeom>
          <a:solidFill>
            <a:srgbClr val="5B21B6"/>
          </a:solidFill>
          <a:ln cap="flat" cmpd="sng" w="12700">
            <a:solidFill>
              <a:srgbClr val="5B21B6"/>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5678424" y="3017520"/>
            <a:ext cx="1042416"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able</a:t>
            </a:r>
            <a:endParaRPr b="0" i="0" sz="1500" u="none" cap="none" strike="noStrike">
              <a:solidFill>
                <a:schemeClr val="dk1"/>
              </a:solidFill>
              <a:latin typeface="Calibri"/>
              <a:ea typeface="Calibri"/>
              <a:cs typeface="Calibri"/>
              <a:sym typeface="Calibri"/>
            </a:endParaRPr>
          </a:p>
        </p:txBody>
      </p:sp>
      <p:sp>
        <p:nvSpPr>
          <p:cNvPr id="182" name="Google Shape;182;p8"/>
          <p:cNvSpPr/>
          <p:nvPr/>
        </p:nvSpPr>
        <p:spPr>
          <a:xfrm>
            <a:off x="7031736" y="3054096"/>
            <a:ext cx="375818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Rare/long words split into pieces</a:t>
            </a:r>
            <a:endParaRPr b="0" i="0" sz="1300" u="none" cap="none" strike="noStrike">
              <a:solidFill>
                <a:schemeClr val="dk1"/>
              </a:solidFill>
              <a:latin typeface="Calibri"/>
              <a:ea typeface="Calibri"/>
              <a:cs typeface="Calibri"/>
              <a:sym typeface="Calibri"/>
            </a:endParaRPr>
          </a:p>
        </p:txBody>
      </p:sp>
      <p:sp>
        <p:nvSpPr>
          <p:cNvPr id="183" name="Google Shape;183;p8"/>
          <p:cNvSpPr/>
          <p:nvPr/>
        </p:nvSpPr>
        <p:spPr>
          <a:xfrm>
            <a:off x="548640" y="3968496"/>
            <a:ext cx="2011680" cy="658368"/>
          </a:xfrm>
          <a:prstGeom prst="roundRect">
            <a:avLst>
              <a:gd fmla="val 9722"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548640" y="3968496"/>
            <a:ext cx="2011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600"/>
              <a:buFont typeface="Courier New"/>
              <a:buNone/>
            </a:pPr>
            <a:r>
              <a:rPr b="1" i="0" lang="en-US" sz="1600" u="none" cap="none" strike="noStrike">
                <a:solidFill>
                  <a:srgbClr val="475569"/>
                </a:solidFill>
                <a:latin typeface="Courier New"/>
                <a:ea typeface="Courier New"/>
                <a:cs typeface="Courier New"/>
                <a:sym typeface="Courier New"/>
              </a:rPr>
              <a:t>1234567</a:t>
            </a:r>
            <a:endParaRPr b="0" i="0" sz="1600" u="none" cap="none" strike="noStrike">
              <a:solidFill>
                <a:schemeClr val="dk1"/>
              </a:solidFill>
              <a:latin typeface="Calibri"/>
              <a:ea typeface="Calibri"/>
              <a:cs typeface="Calibri"/>
              <a:sym typeface="Calibri"/>
            </a:endParaRPr>
          </a:p>
        </p:txBody>
      </p:sp>
      <p:cxnSp>
        <p:nvCxnSpPr>
          <p:cNvPr id="185" name="Google Shape;185;p8"/>
          <p:cNvCxnSpPr/>
          <p:nvPr/>
        </p:nvCxnSpPr>
        <p:spPr>
          <a:xfrm>
            <a:off x="2633472" y="4297680"/>
            <a:ext cx="548640" cy="0"/>
          </a:xfrm>
          <a:prstGeom prst="straightConnector1">
            <a:avLst/>
          </a:prstGeom>
          <a:noFill/>
          <a:ln cap="flat" cmpd="sng" w="27925">
            <a:solidFill>
              <a:srgbClr val="CBD5E1"/>
            </a:solidFill>
            <a:prstDash val="solid"/>
            <a:round/>
            <a:headEnd len="sm" w="sm" type="none"/>
            <a:tailEnd len="med" w="med" type="triangle"/>
          </a:ln>
        </p:spPr>
      </p:cxnSp>
      <p:sp>
        <p:nvSpPr>
          <p:cNvPr id="186" name="Google Shape;186;p8"/>
          <p:cNvSpPr/>
          <p:nvPr/>
        </p:nvSpPr>
        <p:spPr>
          <a:xfrm>
            <a:off x="3337560" y="4041648"/>
            <a:ext cx="713232" cy="512064"/>
          </a:xfrm>
          <a:prstGeom prst="roundRect">
            <a:avLst>
              <a:gd fmla="val 12500" name="adj"/>
            </a:avLst>
          </a:prstGeom>
          <a:solidFill>
            <a:srgbClr val="0891B2"/>
          </a:solidFill>
          <a:ln cap="flat" cmpd="sng" w="12700">
            <a:solidFill>
              <a:srgbClr val="0891B2"/>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3337560" y="4041648"/>
            <a:ext cx="713232"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12</a:t>
            </a:r>
            <a:endParaRPr b="0" i="0" sz="1500" u="none" cap="none" strike="noStrike">
              <a:solidFill>
                <a:schemeClr val="dk1"/>
              </a:solidFill>
              <a:latin typeface="Calibri"/>
              <a:ea typeface="Calibri"/>
              <a:cs typeface="Calibri"/>
              <a:sym typeface="Calibri"/>
            </a:endParaRPr>
          </a:p>
        </p:txBody>
      </p:sp>
      <p:sp>
        <p:nvSpPr>
          <p:cNvPr id="188" name="Google Shape;188;p8"/>
          <p:cNvSpPr/>
          <p:nvPr/>
        </p:nvSpPr>
        <p:spPr>
          <a:xfrm>
            <a:off x="4178808" y="4041648"/>
            <a:ext cx="877824" cy="512064"/>
          </a:xfrm>
          <a:prstGeom prst="roundRect">
            <a:avLst>
              <a:gd fmla="val 12500" name="adj"/>
            </a:avLst>
          </a:prstGeom>
          <a:solidFill>
            <a:srgbClr val="0369A1"/>
          </a:solidFill>
          <a:ln cap="flat" cmpd="sng" w="12700">
            <a:solidFill>
              <a:srgbClr val="0369A1"/>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4178808" y="4041648"/>
            <a:ext cx="87782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345</a:t>
            </a:r>
            <a:endParaRPr b="0" i="0" sz="1500" u="none" cap="none" strike="noStrike">
              <a:solidFill>
                <a:schemeClr val="dk1"/>
              </a:solidFill>
              <a:latin typeface="Calibri"/>
              <a:ea typeface="Calibri"/>
              <a:cs typeface="Calibri"/>
              <a:sym typeface="Calibri"/>
            </a:endParaRPr>
          </a:p>
        </p:txBody>
      </p:sp>
      <p:sp>
        <p:nvSpPr>
          <p:cNvPr id="190" name="Google Shape;190;p8"/>
          <p:cNvSpPr/>
          <p:nvPr/>
        </p:nvSpPr>
        <p:spPr>
          <a:xfrm>
            <a:off x="5184648" y="4041648"/>
            <a:ext cx="713232" cy="512064"/>
          </a:xfrm>
          <a:prstGeom prst="roundRect">
            <a:avLst>
              <a:gd fmla="val 12500" name="adj"/>
            </a:avLst>
          </a:prstGeom>
          <a:solidFill>
            <a:srgbClr val="164E63"/>
          </a:solidFill>
          <a:ln cap="flat" cmpd="sng" w="12700">
            <a:solidFill>
              <a:srgbClr val="164E63"/>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184648" y="4041648"/>
            <a:ext cx="713232"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67</a:t>
            </a:r>
            <a:endParaRPr b="0" i="0" sz="1500" u="none" cap="none" strike="noStrike">
              <a:solidFill>
                <a:schemeClr val="dk1"/>
              </a:solidFill>
              <a:latin typeface="Calibri"/>
              <a:ea typeface="Calibri"/>
              <a:cs typeface="Calibri"/>
              <a:sym typeface="Calibri"/>
            </a:endParaRPr>
          </a:p>
        </p:txBody>
      </p:sp>
      <p:sp>
        <p:nvSpPr>
          <p:cNvPr id="192" name="Google Shape;192;p8"/>
          <p:cNvSpPr/>
          <p:nvPr/>
        </p:nvSpPr>
        <p:spPr>
          <a:xfrm>
            <a:off x="6208776" y="4078224"/>
            <a:ext cx="458114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Numbers often split oddly</a:t>
            </a:r>
            <a:endParaRPr b="0" i="0" sz="1300" u="none" cap="none" strike="noStrike">
              <a:solidFill>
                <a:schemeClr val="dk1"/>
              </a:solidFill>
              <a:latin typeface="Calibri"/>
              <a:ea typeface="Calibri"/>
              <a:cs typeface="Calibri"/>
              <a:sym typeface="Calibri"/>
            </a:endParaRPr>
          </a:p>
        </p:txBody>
      </p:sp>
      <p:sp>
        <p:nvSpPr>
          <p:cNvPr id="193" name="Google Shape;193;p8"/>
          <p:cNvSpPr/>
          <p:nvPr/>
        </p:nvSpPr>
        <p:spPr>
          <a:xfrm>
            <a:off x="548640" y="4992624"/>
            <a:ext cx="2011680" cy="658368"/>
          </a:xfrm>
          <a:prstGeom prst="roundRect">
            <a:avLst>
              <a:gd fmla="val 9722"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548640" y="4992624"/>
            <a:ext cx="2011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600"/>
              <a:buFont typeface="Courier New"/>
              <a:buNone/>
            </a:pPr>
            <a:r>
              <a:rPr b="1" i="0" lang="en-US" sz="1600" u="none" cap="none" strike="noStrike">
                <a:solidFill>
                  <a:srgbClr val="475569"/>
                </a:solidFill>
                <a:latin typeface="Courier New"/>
                <a:ea typeface="Courier New"/>
                <a:cs typeface="Courier New"/>
                <a:sym typeface="Courier New"/>
              </a:rPr>
              <a:t>strawberry</a:t>
            </a:r>
            <a:endParaRPr b="0" i="0" sz="1600" u="none" cap="none" strike="noStrike">
              <a:solidFill>
                <a:schemeClr val="dk1"/>
              </a:solidFill>
              <a:latin typeface="Calibri"/>
              <a:ea typeface="Calibri"/>
              <a:cs typeface="Calibri"/>
              <a:sym typeface="Calibri"/>
            </a:endParaRPr>
          </a:p>
        </p:txBody>
      </p:sp>
      <p:cxnSp>
        <p:nvCxnSpPr>
          <p:cNvPr id="195" name="Google Shape;195;p8"/>
          <p:cNvCxnSpPr/>
          <p:nvPr/>
        </p:nvCxnSpPr>
        <p:spPr>
          <a:xfrm>
            <a:off x="2633472" y="5321808"/>
            <a:ext cx="548640" cy="0"/>
          </a:xfrm>
          <a:prstGeom prst="straightConnector1">
            <a:avLst/>
          </a:prstGeom>
          <a:noFill/>
          <a:ln cap="flat" cmpd="sng" w="27925">
            <a:solidFill>
              <a:srgbClr val="CBD5E1"/>
            </a:solidFill>
            <a:prstDash val="solid"/>
            <a:round/>
            <a:headEnd len="sm" w="sm" type="none"/>
            <a:tailEnd len="med" w="med" type="triangle"/>
          </a:ln>
        </p:spPr>
      </p:cxnSp>
      <p:sp>
        <p:nvSpPr>
          <p:cNvPr id="196" name="Google Shape;196;p8"/>
          <p:cNvSpPr/>
          <p:nvPr/>
        </p:nvSpPr>
        <p:spPr>
          <a:xfrm>
            <a:off x="3337560" y="5065776"/>
            <a:ext cx="713232" cy="512064"/>
          </a:xfrm>
          <a:prstGeom prst="roundRect">
            <a:avLst>
              <a:gd fmla="val 12500" name="adj"/>
            </a:avLst>
          </a:prstGeom>
          <a:solidFill>
            <a:srgbClr val="E11D48"/>
          </a:solidFill>
          <a:ln cap="flat" cmpd="sng" w="12700">
            <a:solidFill>
              <a:srgbClr val="E11D48"/>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3337560" y="5065776"/>
            <a:ext cx="713232"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st</a:t>
            </a:r>
            <a:endParaRPr b="0" i="0" sz="1500" u="none" cap="none" strike="noStrike">
              <a:solidFill>
                <a:schemeClr val="dk1"/>
              </a:solidFill>
              <a:latin typeface="Calibri"/>
              <a:ea typeface="Calibri"/>
              <a:cs typeface="Calibri"/>
              <a:sym typeface="Calibri"/>
            </a:endParaRPr>
          </a:p>
        </p:txBody>
      </p:sp>
      <p:sp>
        <p:nvSpPr>
          <p:cNvPr id="198" name="Google Shape;198;p8"/>
          <p:cNvSpPr/>
          <p:nvPr/>
        </p:nvSpPr>
        <p:spPr>
          <a:xfrm>
            <a:off x="4178808" y="5065776"/>
            <a:ext cx="877824" cy="512064"/>
          </a:xfrm>
          <a:prstGeom prst="roundRect">
            <a:avLst>
              <a:gd fmla="val 12500" name="adj"/>
            </a:avLst>
          </a:prstGeom>
          <a:solidFill>
            <a:srgbClr val="B91C1C"/>
          </a:solidFill>
          <a:ln cap="flat" cmpd="sng" w="12700">
            <a:solidFill>
              <a:srgbClr val="B91C1C"/>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4178808" y="5065776"/>
            <a:ext cx="87782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raw</a:t>
            </a:r>
            <a:endParaRPr b="0" i="0" sz="1500" u="none" cap="none" strike="noStrike">
              <a:solidFill>
                <a:schemeClr val="dk1"/>
              </a:solidFill>
              <a:latin typeface="Calibri"/>
              <a:ea typeface="Calibri"/>
              <a:cs typeface="Calibri"/>
              <a:sym typeface="Calibri"/>
            </a:endParaRPr>
          </a:p>
        </p:txBody>
      </p:sp>
      <p:sp>
        <p:nvSpPr>
          <p:cNvPr id="200" name="Google Shape;200;p8"/>
          <p:cNvSpPr/>
          <p:nvPr/>
        </p:nvSpPr>
        <p:spPr>
          <a:xfrm>
            <a:off x="5184648" y="5065776"/>
            <a:ext cx="1207008" cy="512064"/>
          </a:xfrm>
          <a:prstGeom prst="roundRect">
            <a:avLst>
              <a:gd fmla="val 12500" name="adj"/>
            </a:avLst>
          </a:prstGeom>
          <a:solidFill>
            <a:srgbClr val="991B1B"/>
          </a:solidFill>
          <a:ln cap="flat" cmpd="sng" w="12700">
            <a:solidFill>
              <a:srgbClr val="991B1B"/>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5184648" y="5065776"/>
            <a:ext cx="120700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berry</a:t>
            </a:r>
            <a:endParaRPr b="0" i="0" sz="1500" u="none" cap="none" strike="noStrike">
              <a:solidFill>
                <a:schemeClr val="dk1"/>
              </a:solidFill>
              <a:latin typeface="Calibri"/>
              <a:ea typeface="Calibri"/>
              <a:cs typeface="Calibri"/>
              <a:sym typeface="Calibri"/>
            </a:endParaRPr>
          </a:p>
        </p:txBody>
      </p:sp>
      <p:sp>
        <p:nvSpPr>
          <p:cNvPr id="202" name="Google Shape;202;p8"/>
          <p:cNvSpPr/>
          <p:nvPr/>
        </p:nvSpPr>
        <p:spPr>
          <a:xfrm>
            <a:off x="6702552" y="5102352"/>
            <a:ext cx="4087368"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Where the famous bug comes from!</a:t>
            </a:r>
            <a:endParaRPr b="0" i="0" sz="1300" u="none" cap="none" strike="noStrike">
              <a:solidFill>
                <a:schemeClr val="dk1"/>
              </a:solidFill>
              <a:latin typeface="Calibri"/>
              <a:ea typeface="Calibri"/>
              <a:cs typeface="Calibri"/>
              <a:sym typeface="Calibri"/>
            </a:endParaRPr>
          </a:p>
        </p:txBody>
      </p:sp>
      <p:sp>
        <p:nvSpPr>
          <p:cNvPr id="203" name="Google Shape;203;p8"/>
          <p:cNvSpPr/>
          <p:nvPr/>
        </p:nvSpPr>
        <p:spPr>
          <a:xfrm>
            <a:off x="548640" y="5961888"/>
            <a:ext cx="11064240" cy="658368"/>
          </a:xfrm>
          <a:prstGeom prst="roundRect">
            <a:avLst>
              <a:gd fmla="val 12500"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685790" y="5961890"/>
            <a:ext cx="106527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Rule of thumb: </a:t>
            </a:r>
            <a:r>
              <a:rPr b="0" i="0" lang="en-US" sz="1500" u="none" cap="none" strike="noStrike">
                <a:solidFill>
                  <a:srgbClr val="475569"/>
                </a:solidFill>
                <a:latin typeface="Calibri"/>
                <a:ea typeface="Calibri"/>
                <a:cs typeface="Calibri"/>
                <a:sym typeface="Calibri"/>
              </a:rPr>
              <a:t>1 token ≈ ¾ of an English word.  </a:t>
            </a:r>
            <a:r>
              <a:rPr b="1" i="0" lang="en-US" sz="1500" u="none" cap="none" strike="noStrike">
                <a:solidFill>
                  <a:srgbClr val="475569"/>
                </a:solidFill>
                <a:latin typeface="Calibri"/>
                <a:ea typeface="Calibri"/>
                <a:cs typeface="Calibri"/>
                <a:sym typeface="Calibri"/>
              </a:rPr>
              <a:t>100 tokens ≈ 75 words.  </a:t>
            </a:r>
            <a:r>
              <a:rPr b="0" i="0" lang="en-US" sz="1500" u="none" cap="none" strike="noStrike">
                <a:solidFill>
                  <a:srgbClr val="475569"/>
                </a:solidFill>
                <a:latin typeface="Calibri"/>
                <a:ea typeface="Calibri"/>
                <a:cs typeface="Calibri"/>
                <a:sym typeface="Calibri"/>
              </a:rPr>
              <a:t>Spaces and punctuation are tokens too.  </a:t>
            </a:r>
            <a:r>
              <a:rPr b="1" i="0" lang="en-US" sz="1500" u="none" cap="none" strike="noStrike">
                <a:solidFill>
                  <a:srgbClr val="7C3AED"/>
                </a:solidFill>
                <a:latin typeface="Calibri"/>
                <a:ea typeface="Calibri"/>
                <a:cs typeface="Calibri"/>
                <a:sym typeface="Calibri"/>
              </a:rPr>
              <a:t>API pricing is per token.</a:t>
            </a:r>
            <a:endParaRPr b="0" i="0" sz="1500" u="none" cap="none" strike="noStrike">
              <a:solidFill>
                <a:schemeClr val="dk1"/>
              </a:solidFill>
              <a:latin typeface="Calibri"/>
              <a:ea typeface="Calibri"/>
              <a:cs typeface="Calibri"/>
              <a:sym typeface="Calibri"/>
            </a:endParaRPr>
          </a:p>
        </p:txBody>
      </p:sp>
      <p:sp>
        <p:nvSpPr>
          <p:cNvPr id="205" name="Google Shape;205;p8"/>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207" name="Google Shape;207;p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6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9"/>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STEP 1 · TOKENISE — THE INFAMOUS BUG</a:t>
            </a:r>
            <a:endParaRPr b="0" i="0" sz="1200" u="none" cap="none" strike="noStrike">
              <a:solidFill>
                <a:schemeClr val="dk1"/>
              </a:solidFill>
              <a:latin typeface="Calibri"/>
              <a:ea typeface="Calibri"/>
              <a:cs typeface="Calibri"/>
              <a:sym typeface="Calibri"/>
            </a:endParaRPr>
          </a:p>
        </p:txBody>
      </p:sp>
      <p:sp>
        <p:nvSpPr>
          <p:cNvPr id="214" name="Google Shape;214;p9"/>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4000"/>
              <a:buFont typeface="Calibri"/>
              <a:buNone/>
            </a:pPr>
            <a:r>
              <a:rPr b="1" i="0" lang="en-US" sz="4000" u="none" cap="none" strike="noStrike">
                <a:solidFill>
                  <a:srgbClr val="475569"/>
                </a:solidFill>
                <a:latin typeface="Calibri"/>
                <a:ea typeface="Calibri"/>
                <a:cs typeface="Calibri"/>
                <a:sym typeface="Calibri"/>
              </a:rPr>
              <a:t>"How many R's in strawberry?"</a:t>
            </a:r>
            <a:endParaRPr b="0" i="0" sz="4000" u="none" cap="none" strike="noStrike">
              <a:solidFill>
                <a:schemeClr val="dk1"/>
              </a:solidFill>
              <a:latin typeface="Calibri"/>
              <a:ea typeface="Calibri"/>
              <a:cs typeface="Calibri"/>
              <a:sym typeface="Calibri"/>
            </a:endParaRPr>
          </a:p>
        </p:txBody>
      </p:sp>
      <p:sp>
        <p:nvSpPr>
          <p:cNvPr id="215" name="Google Shape;215;p9"/>
          <p:cNvSpPr/>
          <p:nvPr/>
        </p:nvSpPr>
        <p:spPr>
          <a:xfrm>
            <a:off x="685800" y="18288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600"/>
              <a:buFont typeface="Calibri"/>
              <a:buNone/>
            </a:pPr>
            <a:r>
              <a:rPr b="0" i="0" lang="en-US" sz="1600" u="none" cap="none" strike="noStrike">
                <a:solidFill>
                  <a:srgbClr val="8B92B8"/>
                </a:solidFill>
                <a:latin typeface="Calibri"/>
                <a:ea typeface="Calibri"/>
                <a:cs typeface="Calibri"/>
                <a:sym typeface="Calibri"/>
              </a:rPr>
              <a:t>The model sees this:</a:t>
            </a:r>
            <a:endParaRPr b="0" i="0" sz="1600" u="none" cap="none" strike="noStrike">
              <a:solidFill>
                <a:schemeClr val="dk1"/>
              </a:solidFill>
              <a:latin typeface="Calibri"/>
              <a:ea typeface="Calibri"/>
              <a:cs typeface="Calibri"/>
              <a:sym typeface="Calibri"/>
            </a:endParaRPr>
          </a:p>
        </p:txBody>
      </p:sp>
      <p:sp>
        <p:nvSpPr>
          <p:cNvPr id="216" name="Google Shape;216;p9"/>
          <p:cNvSpPr/>
          <p:nvPr/>
        </p:nvSpPr>
        <p:spPr>
          <a:xfrm>
            <a:off x="1097280" y="2286000"/>
            <a:ext cx="1243584" cy="1024128"/>
          </a:xfrm>
          <a:prstGeom prst="roundRect">
            <a:avLst>
              <a:gd fmla="val 6250" name="adj"/>
            </a:avLst>
          </a:prstGeom>
          <a:solidFill>
            <a:srgbClr val="D85A30"/>
          </a:solidFill>
          <a:ln cap="flat" cmpd="sng" w="12700">
            <a:solidFill>
              <a:srgbClr val="D85A30"/>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1097280" y="2286000"/>
            <a:ext cx="124358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ourier New"/>
              <a:buNone/>
            </a:pPr>
            <a:r>
              <a:rPr b="1" i="0" lang="en-US" sz="2800" u="none" cap="none" strike="noStrike">
                <a:solidFill>
                  <a:srgbClr val="FFFFFF"/>
                </a:solidFill>
                <a:latin typeface="Courier New"/>
                <a:ea typeface="Courier New"/>
                <a:cs typeface="Courier New"/>
                <a:sym typeface="Courier New"/>
              </a:rPr>
              <a:t>st</a:t>
            </a:r>
            <a:endParaRPr b="0" i="0" sz="2800" u="none" cap="none" strike="noStrike">
              <a:solidFill>
                <a:schemeClr val="dk1"/>
              </a:solidFill>
              <a:latin typeface="Calibri"/>
              <a:ea typeface="Calibri"/>
              <a:cs typeface="Calibri"/>
              <a:sym typeface="Calibri"/>
            </a:endParaRPr>
          </a:p>
        </p:txBody>
      </p:sp>
      <p:sp>
        <p:nvSpPr>
          <p:cNvPr id="218" name="Google Shape;218;p9"/>
          <p:cNvSpPr/>
          <p:nvPr/>
        </p:nvSpPr>
        <p:spPr>
          <a:xfrm>
            <a:off x="2596896" y="2286000"/>
            <a:ext cx="1591056" cy="1024128"/>
          </a:xfrm>
          <a:prstGeom prst="roundRect">
            <a:avLst>
              <a:gd fmla="val 6250" name="adj"/>
            </a:avLst>
          </a:prstGeom>
          <a:solidFill>
            <a:srgbClr val="B91C1C"/>
          </a:solidFill>
          <a:ln cap="flat" cmpd="sng" w="12700">
            <a:solidFill>
              <a:srgbClr val="B91C1C"/>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2596896" y="2286000"/>
            <a:ext cx="1591056"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ourier New"/>
              <a:buNone/>
            </a:pPr>
            <a:r>
              <a:rPr b="1" i="0" lang="en-US" sz="2800" u="none" cap="none" strike="noStrike">
                <a:solidFill>
                  <a:srgbClr val="FFFFFF"/>
                </a:solidFill>
                <a:latin typeface="Courier New"/>
                <a:ea typeface="Courier New"/>
                <a:cs typeface="Courier New"/>
                <a:sym typeface="Courier New"/>
              </a:rPr>
              <a:t>raw</a:t>
            </a:r>
            <a:endParaRPr b="0" i="0" sz="2800" u="none" cap="none" strike="noStrike">
              <a:solidFill>
                <a:schemeClr val="dk1"/>
              </a:solidFill>
              <a:latin typeface="Calibri"/>
              <a:ea typeface="Calibri"/>
              <a:cs typeface="Calibri"/>
              <a:sym typeface="Calibri"/>
            </a:endParaRPr>
          </a:p>
        </p:txBody>
      </p:sp>
      <p:sp>
        <p:nvSpPr>
          <p:cNvPr id="220" name="Google Shape;220;p9"/>
          <p:cNvSpPr/>
          <p:nvPr/>
        </p:nvSpPr>
        <p:spPr>
          <a:xfrm>
            <a:off x="4443984" y="2286000"/>
            <a:ext cx="2286000" cy="1024128"/>
          </a:xfrm>
          <a:prstGeom prst="roundRect">
            <a:avLst>
              <a:gd fmla="val 6250" name="adj"/>
            </a:avLst>
          </a:prstGeom>
          <a:solidFill>
            <a:srgbClr val="7F1D1D"/>
          </a:solidFill>
          <a:ln cap="flat" cmpd="sng" w="12700">
            <a:solidFill>
              <a:srgbClr val="7F1D1D"/>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4443984" y="2286000"/>
            <a:ext cx="228600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ourier New"/>
              <a:buNone/>
            </a:pPr>
            <a:r>
              <a:rPr b="1" i="0" lang="en-US" sz="2800" u="none" cap="none" strike="noStrike">
                <a:solidFill>
                  <a:srgbClr val="FFFFFF"/>
                </a:solidFill>
                <a:latin typeface="Courier New"/>
                <a:ea typeface="Courier New"/>
                <a:cs typeface="Courier New"/>
                <a:sym typeface="Courier New"/>
              </a:rPr>
              <a:t>berry</a:t>
            </a:r>
            <a:endParaRPr b="0" i="0" sz="2800" u="none" cap="none" strike="noStrike">
              <a:solidFill>
                <a:schemeClr val="dk1"/>
              </a:solidFill>
              <a:latin typeface="Calibri"/>
              <a:ea typeface="Calibri"/>
              <a:cs typeface="Calibri"/>
              <a:sym typeface="Calibri"/>
            </a:endParaRPr>
          </a:p>
        </p:txBody>
      </p:sp>
      <p:sp>
        <p:nvSpPr>
          <p:cNvPr id="222" name="Google Shape;222;p9"/>
          <p:cNvSpPr/>
          <p:nvPr/>
        </p:nvSpPr>
        <p:spPr>
          <a:xfrm>
            <a:off x="7260336" y="2542032"/>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600"/>
              <a:buFont typeface="Calibri"/>
              <a:buNone/>
            </a:pPr>
            <a:r>
              <a:rPr b="1" i="0" lang="en-US" sz="1600" u="none" cap="none" strike="noStrike">
                <a:solidFill>
                  <a:srgbClr val="8B92B8"/>
                </a:solidFill>
                <a:latin typeface="Calibri"/>
                <a:ea typeface="Calibri"/>
                <a:cs typeface="Calibri"/>
                <a:sym typeface="Calibri"/>
              </a:rPr>
              <a:t>3 tokens — NOT 10 letters</a:t>
            </a:r>
            <a:endParaRPr b="0" i="0" sz="1600" u="none" cap="none" strike="noStrike">
              <a:solidFill>
                <a:schemeClr val="dk1"/>
              </a:solidFill>
              <a:latin typeface="Calibri"/>
              <a:ea typeface="Calibri"/>
              <a:cs typeface="Calibri"/>
              <a:sym typeface="Calibri"/>
            </a:endParaRPr>
          </a:p>
        </p:txBody>
      </p:sp>
      <p:sp>
        <p:nvSpPr>
          <p:cNvPr id="223" name="Google Shape;223;p9"/>
          <p:cNvSpPr/>
          <p:nvPr/>
        </p:nvSpPr>
        <p:spPr>
          <a:xfrm>
            <a:off x="685800" y="3547872"/>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800"/>
              <a:buFont typeface="Calibri"/>
              <a:buNone/>
            </a:pPr>
            <a:r>
              <a:rPr b="0" i="0" lang="en-US" sz="1800" u="none" cap="none" strike="noStrike">
                <a:solidFill>
                  <a:srgbClr val="475569"/>
                </a:solidFill>
                <a:latin typeface="Calibri"/>
                <a:ea typeface="Calibri"/>
                <a:cs typeface="Calibri"/>
                <a:sym typeface="Calibri"/>
              </a:rPr>
              <a:t>The 3 R's are buried INSIDE tokens — the model reasons over chunks, not characters.</a:t>
            </a:r>
            <a:endParaRPr b="0" i="0" sz="1800" u="none" cap="none" strike="noStrike">
              <a:solidFill>
                <a:schemeClr val="dk1"/>
              </a:solidFill>
              <a:latin typeface="Calibri"/>
              <a:ea typeface="Calibri"/>
              <a:cs typeface="Calibri"/>
              <a:sym typeface="Calibri"/>
            </a:endParaRPr>
          </a:p>
        </p:txBody>
      </p:sp>
      <p:sp>
        <p:nvSpPr>
          <p:cNvPr id="224" name="Google Shape;224;p9"/>
          <p:cNvSpPr/>
          <p:nvPr/>
        </p:nvSpPr>
        <p:spPr>
          <a:xfrm>
            <a:off x="548640" y="4224528"/>
            <a:ext cx="5394960" cy="1572768"/>
          </a:xfrm>
          <a:prstGeom prst="roundRect">
            <a:avLst>
              <a:gd fmla="val 5814"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777240" y="4407408"/>
            <a:ext cx="4937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600"/>
              <a:buFont typeface="Calibri"/>
              <a:buNone/>
            </a:pPr>
            <a:r>
              <a:rPr b="1" i="0" lang="en-US" sz="1600" u="none" cap="none" strike="noStrike">
                <a:solidFill>
                  <a:srgbClr val="E11D48"/>
                </a:solidFill>
                <a:latin typeface="Calibri"/>
                <a:ea typeface="Calibri"/>
                <a:cs typeface="Calibri"/>
                <a:sym typeface="Calibri"/>
              </a:rPr>
              <a:t>Why it struggled</a:t>
            </a:r>
            <a:endParaRPr b="0" i="0" sz="1600" u="none" cap="none" strike="noStrike">
              <a:solidFill>
                <a:schemeClr val="dk1"/>
              </a:solidFill>
              <a:latin typeface="Calibri"/>
              <a:ea typeface="Calibri"/>
              <a:cs typeface="Calibri"/>
              <a:sym typeface="Calibri"/>
            </a:endParaRPr>
          </a:p>
        </p:txBody>
      </p:sp>
      <p:sp>
        <p:nvSpPr>
          <p:cNvPr id="226" name="Google Shape;226;p9"/>
          <p:cNvSpPr/>
          <p:nvPr/>
        </p:nvSpPr>
        <p:spPr>
          <a:xfrm>
            <a:off x="777240" y="4773168"/>
            <a:ext cx="49834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Letters were discarded at the tokenisation step. To count letters, the model would need to reverse-engineer the original characters from tokens — something it was never trained to do.</a:t>
            </a:r>
            <a:endParaRPr b="0" i="0" sz="1300" u="none" cap="none" strike="noStrike">
              <a:solidFill>
                <a:schemeClr val="dk1"/>
              </a:solidFill>
              <a:latin typeface="Calibri"/>
              <a:ea typeface="Calibri"/>
              <a:cs typeface="Calibri"/>
              <a:sym typeface="Calibri"/>
            </a:endParaRPr>
          </a:p>
        </p:txBody>
      </p:sp>
      <p:sp>
        <p:nvSpPr>
          <p:cNvPr id="227" name="Google Shape;227;p9"/>
          <p:cNvSpPr/>
          <p:nvPr/>
        </p:nvSpPr>
        <p:spPr>
          <a:xfrm>
            <a:off x="6309360" y="4224528"/>
            <a:ext cx="5394960" cy="1572768"/>
          </a:xfrm>
          <a:prstGeom prst="roundRect">
            <a:avLst>
              <a:gd fmla="val 5814"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6537960" y="4407408"/>
            <a:ext cx="4937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The engineering fix</a:t>
            </a:r>
            <a:endParaRPr b="0" i="0" sz="1600" u="none" cap="none" strike="noStrike">
              <a:solidFill>
                <a:schemeClr val="dk1"/>
              </a:solidFill>
              <a:latin typeface="Calibri"/>
              <a:ea typeface="Calibri"/>
              <a:cs typeface="Calibri"/>
              <a:sym typeface="Calibri"/>
            </a:endParaRPr>
          </a:p>
        </p:txBody>
      </p:sp>
      <p:sp>
        <p:nvSpPr>
          <p:cNvPr id="229" name="Google Shape;229;p9"/>
          <p:cNvSpPr/>
          <p:nvPr/>
        </p:nvSpPr>
        <p:spPr>
          <a:xfrm>
            <a:off x="6537960" y="4773168"/>
            <a:ext cx="49834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Give it a tool! 'Use code to count' → the model calls a code-execution tool → runs len([c for c in word if c=='r']) → gets 3. This pattern (tool use for precision tasks) is a pillar of the whole course.</a:t>
            </a:r>
            <a:endParaRPr b="0" i="0" sz="1300" u="none" cap="none" strike="noStrike">
              <a:solidFill>
                <a:schemeClr val="dk1"/>
              </a:solidFill>
              <a:latin typeface="Calibri"/>
              <a:ea typeface="Calibri"/>
              <a:cs typeface="Calibri"/>
              <a:sym typeface="Calibri"/>
            </a:endParaRPr>
          </a:p>
        </p:txBody>
      </p:sp>
      <p:sp>
        <p:nvSpPr>
          <p:cNvPr id="230" name="Google Shape;230;p9"/>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232" name="Google Shape;232;p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7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237" name="Shape 237"/>
        <p:cNvGrpSpPr/>
        <p:nvPr/>
      </p:nvGrpSpPr>
      <p:grpSpPr>
        <a:xfrm>
          <a:off x="0" y="0"/>
          <a:ext cx="0" cy="0"/>
          <a:chOff x="0" y="0"/>
          <a:chExt cx="0" cy="0"/>
        </a:xfrm>
      </p:grpSpPr>
      <p:sp>
        <p:nvSpPr>
          <p:cNvPr id="238" name="Google Shape;238;p10"/>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26000"/>
              <a:buFont typeface="Calibri"/>
              <a:buNone/>
            </a:pPr>
            <a:r>
              <a:rPr b="1" i="0" lang="en-US" sz="26000" u="none" cap="none" strike="noStrike">
                <a:solidFill>
                  <a:srgbClr val="0891B2"/>
                </a:solidFill>
                <a:latin typeface="Calibri"/>
                <a:ea typeface="Calibri"/>
                <a:cs typeface="Calibri"/>
                <a:sym typeface="Calibri"/>
              </a:rPr>
              <a:t>02</a:t>
            </a:r>
            <a:endParaRPr b="0" i="0" sz="26000" u="none" cap="none" strike="noStrike">
              <a:solidFill>
                <a:schemeClr val="dk1"/>
              </a:solidFill>
              <a:latin typeface="Calibri"/>
              <a:ea typeface="Calibri"/>
              <a:cs typeface="Calibri"/>
              <a:sym typeface="Calibri"/>
            </a:endParaRPr>
          </a:p>
        </p:txBody>
      </p:sp>
      <p:sp>
        <p:nvSpPr>
          <p:cNvPr id="239" name="Google Shape;239;p10"/>
          <p:cNvSpPr/>
          <p:nvPr/>
        </p:nvSpPr>
        <p:spPr>
          <a:xfrm>
            <a:off x="475488" y="804672"/>
            <a:ext cx="658368" cy="65836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241" name="Google Shape;241;p10"/>
          <p:cNvSpPr/>
          <p:nvPr/>
        </p:nvSpPr>
        <p:spPr>
          <a:xfrm>
            <a:off x="1298448" y="82296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STEP</a:t>
            </a:r>
            <a:endParaRPr b="0" i="0" sz="1300" u="none" cap="none" strike="noStrike">
              <a:solidFill>
                <a:schemeClr val="dk1"/>
              </a:solidFill>
              <a:latin typeface="Calibri"/>
              <a:ea typeface="Calibri"/>
              <a:cs typeface="Calibri"/>
              <a:sym typeface="Calibri"/>
            </a:endParaRPr>
          </a:p>
        </p:txBody>
      </p:sp>
      <p:sp>
        <p:nvSpPr>
          <p:cNvPr id="242" name="Google Shape;242;p10"/>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Embed</a:t>
            </a:r>
            <a:endParaRPr b="0" i="0" sz="5800" u="none" cap="none" strike="noStrike">
              <a:solidFill>
                <a:schemeClr val="dk1"/>
              </a:solidFill>
              <a:latin typeface="Calibri"/>
              <a:ea typeface="Calibri"/>
              <a:cs typeface="Calibri"/>
              <a:sym typeface="Calibri"/>
            </a:endParaRPr>
          </a:p>
        </p:txBody>
      </p:sp>
      <p:sp>
        <p:nvSpPr>
          <p:cNvPr id="243" name="Google Shape;243;p10"/>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Each token becomes a list of numbers. Meaning becomes geometry.</a:t>
            </a:r>
            <a:endParaRPr b="0" i="0" sz="2000" u="none" cap="none" strike="noStrike">
              <a:solidFill>
                <a:schemeClr val="dk1"/>
              </a:solidFill>
              <a:latin typeface="Calibri"/>
              <a:ea typeface="Calibri"/>
              <a:cs typeface="Calibri"/>
              <a:sym typeface="Calibri"/>
            </a:endParaRPr>
          </a:p>
        </p:txBody>
      </p:sp>
      <p:sp>
        <p:nvSpPr>
          <p:cNvPr id="244" name="Google Shape;244;p10"/>
          <p:cNvSpPr/>
          <p:nvPr/>
        </p:nvSpPr>
        <p:spPr>
          <a:xfrm>
            <a:off x="0" y="6583680"/>
            <a:ext cx="12191695" cy="274320"/>
          </a:xfrm>
          <a:prstGeom prst="rect">
            <a:avLst/>
          </a:prstGeom>
          <a:solidFill>
            <a:srgbClr val="0891B2">
              <a:alpha val="12156"/>
            </a:srgbClr>
          </a:solidFill>
          <a:ln cap="flat" cmpd="sng" w="12700">
            <a:solidFill>
              <a:srgbClr val="0891B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246" name="Google Shape;246;p1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8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11"/>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STEP 2 · EMBED</a:t>
            </a:r>
            <a:endParaRPr b="0" i="0" sz="1200" u="none" cap="none" strike="noStrike">
              <a:solidFill>
                <a:schemeClr val="dk1"/>
              </a:solidFill>
              <a:latin typeface="Calibri"/>
              <a:ea typeface="Calibri"/>
              <a:cs typeface="Calibri"/>
              <a:sym typeface="Calibri"/>
            </a:endParaRPr>
          </a:p>
        </p:txBody>
      </p:sp>
      <p:sp>
        <p:nvSpPr>
          <p:cNvPr id="253" name="Google Shape;253;p11"/>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800"/>
              <a:buFont typeface="Calibri"/>
              <a:buNone/>
            </a:pPr>
            <a:r>
              <a:rPr b="1" i="0" lang="en-US" sz="3800" u="none" cap="none" strike="noStrike">
                <a:solidFill>
                  <a:srgbClr val="475569"/>
                </a:solidFill>
                <a:latin typeface="Calibri"/>
                <a:ea typeface="Calibri"/>
                <a:cs typeface="Calibri"/>
                <a:sym typeface="Calibri"/>
              </a:rPr>
              <a:t>Meaning as coordinates in space</a:t>
            </a:r>
            <a:endParaRPr b="0" i="0" sz="3800" u="none" cap="none" strike="noStrike">
              <a:solidFill>
                <a:schemeClr val="dk1"/>
              </a:solidFill>
              <a:latin typeface="Calibri"/>
              <a:ea typeface="Calibri"/>
              <a:cs typeface="Calibri"/>
              <a:sym typeface="Calibri"/>
            </a:endParaRPr>
          </a:p>
        </p:txBody>
      </p:sp>
      <p:sp>
        <p:nvSpPr>
          <p:cNvPr id="254" name="Google Shape;254;p11"/>
          <p:cNvSpPr/>
          <p:nvPr/>
        </p:nvSpPr>
        <p:spPr>
          <a:xfrm>
            <a:off x="685800" y="1783080"/>
            <a:ext cx="10972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00"/>
              <a:buFont typeface="Calibri"/>
              <a:buNone/>
            </a:pPr>
            <a:r>
              <a:rPr b="0" i="0" lang="en-US" sz="1700" u="none" cap="none" strike="noStrike">
                <a:solidFill>
                  <a:srgbClr val="475569"/>
                </a:solidFill>
                <a:latin typeface="Calibri"/>
                <a:ea typeface="Calibri"/>
                <a:cs typeface="Calibri"/>
                <a:sym typeface="Calibri"/>
              </a:rPr>
              <a:t>Each token → a vector (list of hundreds or thousands of numbers):</a:t>
            </a:r>
            <a:endParaRPr b="0" i="0" sz="1700" u="none" cap="none" strike="noStrike">
              <a:solidFill>
                <a:schemeClr val="dk1"/>
              </a:solidFill>
              <a:latin typeface="Calibri"/>
              <a:ea typeface="Calibri"/>
              <a:cs typeface="Calibri"/>
              <a:sym typeface="Calibri"/>
            </a:endParaRPr>
          </a:p>
        </p:txBody>
      </p:sp>
      <p:sp>
        <p:nvSpPr>
          <p:cNvPr id="255" name="Google Shape;255;p11"/>
          <p:cNvSpPr/>
          <p:nvPr/>
        </p:nvSpPr>
        <p:spPr>
          <a:xfrm>
            <a:off x="685800" y="2286000"/>
            <a:ext cx="2606040" cy="566928"/>
          </a:xfrm>
          <a:prstGeom prst="roundRect">
            <a:avLst>
              <a:gd fmla="val 11290"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685800" y="228600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king</a:t>
            </a:r>
            <a:endParaRPr b="0" i="0" sz="2000" u="none" cap="none" strike="noStrike">
              <a:solidFill>
                <a:schemeClr val="dk1"/>
              </a:solidFill>
              <a:latin typeface="Calibri"/>
              <a:ea typeface="Calibri"/>
              <a:cs typeface="Calibri"/>
              <a:sym typeface="Calibri"/>
            </a:endParaRPr>
          </a:p>
        </p:txBody>
      </p:sp>
      <p:sp>
        <p:nvSpPr>
          <p:cNvPr id="257" name="Google Shape;257;p11"/>
          <p:cNvSpPr/>
          <p:nvPr/>
        </p:nvSpPr>
        <p:spPr>
          <a:xfrm>
            <a:off x="685800" y="2907792"/>
            <a:ext cx="2606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000"/>
              <a:buFont typeface="Courier New"/>
              <a:buNone/>
            </a:pPr>
            <a:r>
              <a:rPr b="0" i="0" lang="en-US" sz="1000" u="none" cap="none" strike="noStrike">
                <a:solidFill>
                  <a:srgbClr val="8B92B8"/>
                </a:solidFill>
                <a:latin typeface="Courier New"/>
                <a:ea typeface="Courier New"/>
                <a:cs typeface="Courier New"/>
                <a:sym typeface="Courier New"/>
              </a:rPr>
              <a:t>[0.82, -0.24, 0.61, 0.13, -0.55, 0.39, ...]</a:t>
            </a:r>
            <a:endParaRPr b="0" i="0" sz="1000" u="none" cap="none" strike="noStrike">
              <a:solidFill>
                <a:schemeClr val="dk1"/>
              </a:solidFill>
              <a:latin typeface="Calibri"/>
              <a:ea typeface="Calibri"/>
              <a:cs typeface="Calibri"/>
              <a:sym typeface="Calibri"/>
            </a:endParaRPr>
          </a:p>
        </p:txBody>
      </p:sp>
      <p:sp>
        <p:nvSpPr>
          <p:cNvPr id="258" name="Google Shape;258;p11"/>
          <p:cNvSpPr/>
          <p:nvPr/>
        </p:nvSpPr>
        <p:spPr>
          <a:xfrm>
            <a:off x="3520440" y="2286000"/>
            <a:ext cx="2606040" cy="566928"/>
          </a:xfrm>
          <a:prstGeom prst="roundRect">
            <a:avLst>
              <a:gd fmla="val 11290"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3520440" y="228600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queen</a:t>
            </a:r>
            <a:endParaRPr b="0" i="0" sz="2000" u="none" cap="none" strike="noStrike">
              <a:solidFill>
                <a:schemeClr val="dk1"/>
              </a:solidFill>
              <a:latin typeface="Calibri"/>
              <a:ea typeface="Calibri"/>
              <a:cs typeface="Calibri"/>
              <a:sym typeface="Calibri"/>
            </a:endParaRPr>
          </a:p>
        </p:txBody>
      </p:sp>
      <p:sp>
        <p:nvSpPr>
          <p:cNvPr id="260" name="Google Shape;260;p11"/>
          <p:cNvSpPr/>
          <p:nvPr/>
        </p:nvSpPr>
        <p:spPr>
          <a:xfrm>
            <a:off x="3520440" y="2907792"/>
            <a:ext cx="2606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000"/>
              <a:buFont typeface="Courier New"/>
              <a:buNone/>
            </a:pPr>
            <a:r>
              <a:rPr b="0" i="0" lang="en-US" sz="1000" u="none" cap="none" strike="noStrike">
                <a:solidFill>
                  <a:srgbClr val="8B92B8"/>
                </a:solidFill>
                <a:latin typeface="Courier New"/>
                <a:ea typeface="Courier New"/>
                <a:cs typeface="Courier New"/>
                <a:sym typeface="Courier New"/>
              </a:rPr>
              <a:t>[0.85, -0.21, 0.64, 0.16, -0.52, 0.42, ...]</a:t>
            </a:r>
            <a:endParaRPr b="0" i="0" sz="1000" u="none" cap="none" strike="noStrike">
              <a:solidFill>
                <a:schemeClr val="dk1"/>
              </a:solidFill>
              <a:latin typeface="Calibri"/>
              <a:ea typeface="Calibri"/>
              <a:cs typeface="Calibri"/>
              <a:sym typeface="Calibri"/>
            </a:endParaRPr>
          </a:p>
        </p:txBody>
      </p:sp>
      <p:sp>
        <p:nvSpPr>
          <p:cNvPr id="261" name="Google Shape;261;p11"/>
          <p:cNvSpPr/>
          <p:nvPr/>
        </p:nvSpPr>
        <p:spPr>
          <a:xfrm>
            <a:off x="6355080" y="2286000"/>
            <a:ext cx="2606040" cy="566928"/>
          </a:xfrm>
          <a:prstGeom prst="roundRect">
            <a:avLst>
              <a:gd fmla="val 11290" name="adj"/>
            </a:avLst>
          </a:prstGeom>
          <a:solidFill>
            <a:srgbClr val="475569"/>
          </a:solidFill>
          <a:ln cap="flat" cmpd="sng" w="12700">
            <a:solidFill>
              <a:srgbClr val="4755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6355080" y="228600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man</a:t>
            </a:r>
            <a:endParaRPr b="0" i="0" sz="2000" u="none" cap="none" strike="noStrike">
              <a:solidFill>
                <a:schemeClr val="dk1"/>
              </a:solidFill>
              <a:latin typeface="Calibri"/>
              <a:ea typeface="Calibri"/>
              <a:cs typeface="Calibri"/>
              <a:sym typeface="Calibri"/>
            </a:endParaRPr>
          </a:p>
        </p:txBody>
      </p:sp>
      <p:sp>
        <p:nvSpPr>
          <p:cNvPr id="263" name="Google Shape;263;p11"/>
          <p:cNvSpPr/>
          <p:nvPr/>
        </p:nvSpPr>
        <p:spPr>
          <a:xfrm>
            <a:off x="6355080" y="2907792"/>
            <a:ext cx="2606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000"/>
              <a:buFont typeface="Courier New"/>
              <a:buNone/>
            </a:pPr>
            <a:r>
              <a:rPr b="0" i="0" lang="en-US" sz="1000" u="none" cap="none" strike="noStrike">
                <a:solidFill>
                  <a:srgbClr val="8B92B8"/>
                </a:solidFill>
                <a:latin typeface="Courier New"/>
                <a:ea typeface="Courier New"/>
                <a:cs typeface="Courier New"/>
                <a:sym typeface="Courier New"/>
              </a:rPr>
              <a:t>[0.88, -0.18, 0.67, 0.19, -0.49, 0.45, ...]</a:t>
            </a:r>
            <a:endParaRPr b="0" i="0" sz="1000" u="none" cap="none" strike="noStrike">
              <a:solidFill>
                <a:schemeClr val="dk1"/>
              </a:solidFill>
              <a:latin typeface="Calibri"/>
              <a:ea typeface="Calibri"/>
              <a:cs typeface="Calibri"/>
              <a:sym typeface="Calibri"/>
            </a:endParaRPr>
          </a:p>
        </p:txBody>
      </p:sp>
      <p:sp>
        <p:nvSpPr>
          <p:cNvPr id="264" name="Google Shape;264;p11"/>
          <p:cNvSpPr/>
          <p:nvPr/>
        </p:nvSpPr>
        <p:spPr>
          <a:xfrm>
            <a:off x="9189720" y="2286000"/>
            <a:ext cx="2606040" cy="566928"/>
          </a:xfrm>
          <a:prstGeom prst="roundRect">
            <a:avLst>
              <a:gd fmla="val 11290"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9189720" y="228600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woman</a:t>
            </a:r>
            <a:endParaRPr b="0" i="0" sz="2000" u="none" cap="none" strike="noStrike">
              <a:solidFill>
                <a:schemeClr val="dk1"/>
              </a:solidFill>
              <a:latin typeface="Calibri"/>
              <a:ea typeface="Calibri"/>
              <a:cs typeface="Calibri"/>
              <a:sym typeface="Calibri"/>
            </a:endParaRPr>
          </a:p>
        </p:txBody>
      </p:sp>
      <p:sp>
        <p:nvSpPr>
          <p:cNvPr id="266" name="Google Shape;266;p11"/>
          <p:cNvSpPr/>
          <p:nvPr/>
        </p:nvSpPr>
        <p:spPr>
          <a:xfrm>
            <a:off x="9189720" y="2907792"/>
            <a:ext cx="2606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000"/>
              <a:buFont typeface="Courier New"/>
              <a:buNone/>
            </a:pPr>
            <a:r>
              <a:rPr b="0" i="0" lang="en-US" sz="1000" u="none" cap="none" strike="noStrike">
                <a:solidFill>
                  <a:srgbClr val="8B92B8"/>
                </a:solidFill>
                <a:latin typeface="Courier New"/>
                <a:ea typeface="Courier New"/>
                <a:cs typeface="Courier New"/>
                <a:sym typeface="Courier New"/>
              </a:rPr>
              <a:t>[0.91, -0.15, 0.70, 0.22, -0.46, 0.48, ...]</a:t>
            </a:r>
            <a:endParaRPr b="0" i="0" sz="1000" u="none" cap="none" strike="noStrike">
              <a:solidFill>
                <a:schemeClr val="dk1"/>
              </a:solidFill>
              <a:latin typeface="Calibri"/>
              <a:ea typeface="Calibri"/>
              <a:cs typeface="Calibri"/>
              <a:sym typeface="Calibri"/>
            </a:endParaRPr>
          </a:p>
        </p:txBody>
      </p:sp>
      <p:sp>
        <p:nvSpPr>
          <p:cNvPr id="267" name="Google Shape;267;p11"/>
          <p:cNvSpPr/>
          <p:nvPr/>
        </p:nvSpPr>
        <p:spPr>
          <a:xfrm>
            <a:off x="685800" y="3493008"/>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US" sz="1600" u="none" cap="none" strike="noStrike">
                <a:solidFill>
                  <a:srgbClr val="475569"/>
                </a:solidFill>
                <a:latin typeface="Calibri"/>
                <a:ea typeface="Calibri"/>
                <a:cs typeface="Calibri"/>
                <a:sym typeface="Calibri"/>
              </a:rPr>
              <a:t>The famous example:</a:t>
            </a:r>
            <a:endParaRPr b="0" i="0" sz="1600" u="none" cap="none" strike="noStrike">
              <a:solidFill>
                <a:schemeClr val="dk1"/>
              </a:solidFill>
              <a:latin typeface="Calibri"/>
              <a:ea typeface="Calibri"/>
              <a:cs typeface="Calibri"/>
              <a:sym typeface="Calibri"/>
            </a:endParaRPr>
          </a:p>
        </p:txBody>
      </p:sp>
      <p:sp>
        <p:nvSpPr>
          <p:cNvPr id="268" name="Google Shape;268;p11"/>
          <p:cNvSpPr/>
          <p:nvPr/>
        </p:nvSpPr>
        <p:spPr>
          <a:xfrm>
            <a:off x="685800" y="3913632"/>
            <a:ext cx="1188720" cy="777240"/>
          </a:xfrm>
          <a:prstGeom prst="roundRect">
            <a:avLst>
              <a:gd fmla="val 8235"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685800" y="3913632"/>
            <a:ext cx="118872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king</a:t>
            </a:r>
            <a:endParaRPr b="0" i="0" sz="2000" u="none" cap="none" strike="noStrike">
              <a:solidFill>
                <a:schemeClr val="dk1"/>
              </a:solidFill>
              <a:latin typeface="Calibri"/>
              <a:ea typeface="Calibri"/>
              <a:cs typeface="Calibri"/>
              <a:sym typeface="Calibri"/>
            </a:endParaRPr>
          </a:p>
        </p:txBody>
      </p:sp>
      <p:sp>
        <p:nvSpPr>
          <p:cNvPr id="270" name="Google Shape;270;p11"/>
          <p:cNvSpPr/>
          <p:nvPr/>
        </p:nvSpPr>
        <p:spPr>
          <a:xfrm>
            <a:off x="1965960" y="3913632"/>
            <a:ext cx="56692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2600"/>
              <a:buFont typeface="Calibri"/>
              <a:buNone/>
            </a:pPr>
            <a:r>
              <a:rPr b="1" i="0" lang="en-US" sz="2600" u="none" cap="none" strike="noStrike">
                <a:solidFill>
                  <a:srgbClr val="8B92B8"/>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271" name="Google Shape;271;p11"/>
          <p:cNvSpPr/>
          <p:nvPr/>
        </p:nvSpPr>
        <p:spPr>
          <a:xfrm>
            <a:off x="2560320" y="3913632"/>
            <a:ext cx="1005840" cy="777240"/>
          </a:xfrm>
          <a:prstGeom prst="roundRect">
            <a:avLst>
              <a:gd fmla="val 8235" name="adj"/>
            </a:avLst>
          </a:prstGeom>
          <a:solidFill>
            <a:srgbClr val="475569"/>
          </a:solidFill>
          <a:ln cap="flat" cmpd="sng" w="12700">
            <a:solidFill>
              <a:srgbClr val="4755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2560320" y="3913632"/>
            <a:ext cx="1005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man</a:t>
            </a:r>
            <a:endParaRPr b="0" i="0" sz="2000" u="none" cap="none" strike="noStrike">
              <a:solidFill>
                <a:schemeClr val="dk1"/>
              </a:solidFill>
              <a:latin typeface="Calibri"/>
              <a:ea typeface="Calibri"/>
              <a:cs typeface="Calibri"/>
              <a:sym typeface="Calibri"/>
            </a:endParaRPr>
          </a:p>
        </p:txBody>
      </p:sp>
      <p:sp>
        <p:nvSpPr>
          <p:cNvPr id="273" name="Google Shape;273;p11"/>
          <p:cNvSpPr/>
          <p:nvPr/>
        </p:nvSpPr>
        <p:spPr>
          <a:xfrm>
            <a:off x="3657600" y="3913632"/>
            <a:ext cx="56692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2600"/>
              <a:buFont typeface="Calibri"/>
              <a:buNone/>
            </a:pPr>
            <a:r>
              <a:rPr b="1" i="0" lang="en-US" sz="2600" u="none" cap="none" strike="noStrike">
                <a:solidFill>
                  <a:srgbClr val="8B92B8"/>
                </a:solidFill>
                <a:latin typeface="Calibri"/>
                <a:ea typeface="Calibri"/>
                <a:cs typeface="Calibri"/>
                <a:sym typeface="Calibri"/>
              </a:rPr>
              <a:t>  +</a:t>
            </a:r>
            <a:endParaRPr b="0" i="0" sz="2600" u="none" cap="none" strike="noStrike">
              <a:solidFill>
                <a:schemeClr val="dk1"/>
              </a:solidFill>
              <a:latin typeface="Calibri"/>
              <a:ea typeface="Calibri"/>
              <a:cs typeface="Calibri"/>
              <a:sym typeface="Calibri"/>
            </a:endParaRPr>
          </a:p>
        </p:txBody>
      </p:sp>
      <p:sp>
        <p:nvSpPr>
          <p:cNvPr id="274" name="Google Shape;274;p11"/>
          <p:cNvSpPr/>
          <p:nvPr/>
        </p:nvSpPr>
        <p:spPr>
          <a:xfrm>
            <a:off x="4251960" y="3913632"/>
            <a:ext cx="1371600" cy="777240"/>
          </a:xfrm>
          <a:prstGeom prst="roundRect">
            <a:avLst>
              <a:gd fmla="val 8235"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4251960" y="3913632"/>
            <a:ext cx="1371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woman</a:t>
            </a:r>
            <a:endParaRPr b="0" i="0" sz="2000" u="none" cap="none" strike="noStrike">
              <a:solidFill>
                <a:schemeClr val="dk1"/>
              </a:solidFill>
              <a:latin typeface="Calibri"/>
              <a:ea typeface="Calibri"/>
              <a:cs typeface="Calibri"/>
              <a:sym typeface="Calibri"/>
            </a:endParaRPr>
          </a:p>
        </p:txBody>
      </p:sp>
      <p:sp>
        <p:nvSpPr>
          <p:cNvPr id="276" name="Google Shape;276;p11"/>
          <p:cNvSpPr/>
          <p:nvPr/>
        </p:nvSpPr>
        <p:spPr>
          <a:xfrm>
            <a:off x="5715000" y="3913632"/>
            <a:ext cx="56692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2600"/>
              <a:buFont typeface="Calibri"/>
              <a:buNone/>
            </a:pPr>
            <a:r>
              <a:rPr b="1" i="0" lang="en-US" sz="2600" u="none" cap="none" strike="noStrike">
                <a:solidFill>
                  <a:srgbClr val="8B92B8"/>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277" name="Google Shape;277;p11"/>
          <p:cNvSpPr/>
          <p:nvPr/>
        </p:nvSpPr>
        <p:spPr>
          <a:xfrm>
            <a:off x="6309360" y="3913632"/>
            <a:ext cx="1371600" cy="777240"/>
          </a:xfrm>
          <a:prstGeom prst="roundRect">
            <a:avLst>
              <a:gd fmla="val 8235"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6309360" y="3913632"/>
            <a:ext cx="1371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queen</a:t>
            </a:r>
            <a:endParaRPr b="0" i="0" sz="2000" u="none" cap="none" strike="noStrike">
              <a:solidFill>
                <a:schemeClr val="dk1"/>
              </a:solidFill>
              <a:latin typeface="Calibri"/>
              <a:ea typeface="Calibri"/>
              <a:cs typeface="Calibri"/>
              <a:sym typeface="Calibri"/>
            </a:endParaRPr>
          </a:p>
        </p:txBody>
      </p:sp>
      <p:sp>
        <p:nvSpPr>
          <p:cNvPr id="279" name="Google Shape;279;p11"/>
          <p:cNvSpPr/>
          <p:nvPr/>
        </p:nvSpPr>
        <p:spPr>
          <a:xfrm>
            <a:off x="548640" y="4956048"/>
            <a:ext cx="11064240" cy="1170432"/>
          </a:xfrm>
          <a:prstGeom prst="roundRect">
            <a:avLst>
              <a:gd fmla="val 7813" name="adj"/>
            </a:avLst>
          </a:prstGeom>
          <a:solidFill>
            <a:srgbClr val="ECFEFF"/>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777240" y="5120640"/>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i="0" lang="en-US" sz="1500" u="none" cap="none" strike="noStrike">
                <a:solidFill>
                  <a:srgbClr val="0891B2"/>
                </a:solidFill>
                <a:latin typeface="Calibri"/>
                <a:ea typeface="Calibri"/>
                <a:cs typeface="Calibri"/>
                <a:sym typeface="Calibri"/>
              </a:rPr>
              <a:t>Why this matters for engineers: </a:t>
            </a:r>
            <a:endParaRPr b="0" i="0" sz="1500" u="none" cap="none" strike="noStrike">
              <a:solidFill>
                <a:schemeClr val="dk1"/>
              </a:solidFill>
              <a:latin typeface="Calibri"/>
              <a:ea typeface="Calibri"/>
              <a:cs typeface="Calibri"/>
              <a:sym typeface="Calibri"/>
            </a:endParaRPr>
          </a:p>
        </p:txBody>
      </p:sp>
      <p:sp>
        <p:nvSpPr>
          <p:cNvPr id="281" name="Google Shape;281;p11"/>
          <p:cNvSpPr/>
          <p:nvPr/>
        </p:nvSpPr>
        <p:spPr>
          <a:xfrm>
            <a:off x="777240" y="5468112"/>
            <a:ext cx="10424160" cy="594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the DIRECTION from 'man→woman' is roughly the same vector as 'king→queen'. The model has learned a 'gender direction' with zero human labelling. Meaning is geometry. This same embedding idea powers semantic search and RAG in Week 3 — searching by meaning, not keywords.</a:t>
            </a:r>
            <a:endParaRPr b="0" i="0" sz="1400" u="none" cap="none" strike="noStrike">
              <a:solidFill>
                <a:schemeClr val="dk1"/>
              </a:solidFill>
              <a:latin typeface="Calibri"/>
              <a:ea typeface="Calibri"/>
              <a:cs typeface="Calibri"/>
              <a:sym typeface="Calibri"/>
            </a:endParaRPr>
          </a:p>
        </p:txBody>
      </p:sp>
      <p:sp>
        <p:nvSpPr>
          <p:cNvPr id="282" name="Google Shape;282;p11"/>
          <p:cNvSpPr/>
          <p:nvPr/>
        </p:nvSpPr>
        <p:spPr>
          <a:xfrm>
            <a:off x="0" y="6583680"/>
            <a:ext cx="12191695" cy="274320"/>
          </a:xfrm>
          <a:prstGeom prst="rect">
            <a:avLst/>
          </a:prstGeom>
          <a:solidFill>
            <a:srgbClr val="0891B2">
              <a:alpha val="12156"/>
            </a:srgbClr>
          </a:solidFill>
          <a:ln cap="flat" cmpd="sng" w="12700">
            <a:solidFill>
              <a:srgbClr val="0891B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284" name="Google Shape;284;p1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9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2"/>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STEP 2 · EMBED — THE GEOMETRY</a:t>
            </a:r>
            <a:endParaRPr b="0" i="0" sz="1200" u="none" cap="none" strike="noStrike">
              <a:solidFill>
                <a:schemeClr val="dk1"/>
              </a:solidFill>
              <a:latin typeface="Calibri"/>
              <a:ea typeface="Calibri"/>
              <a:cs typeface="Calibri"/>
              <a:sym typeface="Calibri"/>
            </a:endParaRPr>
          </a:p>
        </p:txBody>
      </p:sp>
      <p:sp>
        <p:nvSpPr>
          <p:cNvPr id="291" name="Google Shape;291;p12"/>
          <p:cNvSpPr/>
          <p:nvPr/>
        </p:nvSpPr>
        <p:spPr>
          <a:xfrm>
            <a:off x="685800" y="749808"/>
            <a:ext cx="100584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800"/>
              <a:buFont typeface="Calibri"/>
              <a:buNone/>
            </a:pPr>
            <a:r>
              <a:rPr b="1" i="0" lang="en-US" sz="3800" u="none" cap="none" strike="noStrike">
                <a:solidFill>
                  <a:srgbClr val="475569"/>
                </a:solidFill>
                <a:latin typeface="Calibri"/>
                <a:ea typeface="Calibri"/>
                <a:cs typeface="Calibri"/>
                <a:sym typeface="Calibri"/>
              </a:rPr>
              <a:t>Similar meaning = close in space</a:t>
            </a:r>
            <a:endParaRPr b="0" i="0" sz="3800" u="none" cap="none" strike="noStrike">
              <a:solidFill>
                <a:schemeClr val="dk1"/>
              </a:solidFill>
              <a:latin typeface="Calibri"/>
              <a:ea typeface="Calibri"/>
              <a:cs typeface="Calibri"/>
              <a:sym typeface="Calibri"/>
            </a:endParaRPr>
          </a:p>
        </p:txBody>
      </p:sp>
      <p:sp>
        <p:nvSpPr>
          <p:cNvPr id="292" name="Google Shape;292;p12"/>
          <p:cNvSpPr/>
          <p:nvPr/>
        </p:nvSpPr>
        <p:spPr>
          <a:xfrm>
            <a:off x="1645920" y="2011680"/>
            <a:ext cx="3200400" cy="640080"/>
          </a:xfrm>
          <a:prstGeom prst="roundRect">
            <a:avLst>
              <a:gd fmla="val 50000"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1645920" y="2011680"/>
            <a:ext cx="3200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urier New"/>
              <a:buNone/>
            </a:pPr>
            <a:r>
              <a:rPr b="0" i="0" lang="en-US" sz="1300" u="none" cap="none" strike="noStrike">
                <a:solidFill>
                  <a:srgbClr val="FFFFFF"/>
                </a:solidFill>
                <a:latin typeface="Courier New"/>
                <a:ea typeface="Courier New"/>
                <a:cs typeface="Courier New"/>
                <a:sym typeface="Courier New"/>
              </a:rPr>
              <a:t>car / automobile / vehicle</a:t>
            </a:r>
            <a:endParaRPr b="0" i="0" sz="1300" u="none" cap="none" strike="noStrike">
              <a:solidFill>
                <a:schemeClr val="dk1"/>
              </a:solidFill>
              <a:latin typeface="Calibri"/>
              <a:ea typeface="Calibri"/>
              <a:cs typeface="Calibri"/>
              <a:sym typeface="Calibri"/>
            </a:endParaRPr>
          </a:p>
        </p:txBody>
      </p:sp>
      <p:sp>
        <p:nvSpPr>
          <p:cNvPr id="294" name="Google Shape;294;p12"/>
          <p:cNvSpPr/>
          <p:nvPr/>
        </p:nvSpPr>
        <p:spPr>
          <a:xfrm>
            <a:off x="7772400" y="2194560"/>
            <a:ext cx="3200400" cy="640080"/>
          </a:xfrm>
          <a:prstGeom prst="roundRect">
            <a:avLst>
              <a:gd fmla="val 50000"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p:nvPr/>
        </p:nvSpPr>
        <p:spPr>
          <a:xfrm>
            <a:off x="7772400" y="2194560"/>
            <a:ext cx="3200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urier New"/>
              <a:buNone/>
            </a:pPr>
            <a:r>
              <a:rPr b="0" i="0" lang="en-US" sz="1300" u="none" cap="none" strike="noStrike">
                <a:solidFill>
                  <a:srgbClr val="FFFFFF"/>
                </a:solidFill>
                <a:latin typeface="Courier New"/>
                <a:ea typeface="Courier New"/>
                <a:cs typeface="Courier New"/>
                <a:sym typeface="Courier New"/>
              </a:rPr>
              <a:t>cat / kitten / feline</a:t>
            </a:r>
            <a:endParaRPr b="0" i="0" sz="1300" u="none" cap="none" strike="noStrike">
              <a:solidFill>
                <a:schemeClr val="dk1"/>
              </a:solidFill>
              <a:latin typeface="Calibri"/>
              <a:ea typeface="Calibri"/>
              <a:cs typeface="Calibri"/>
              <a:sym typeface="Calibri"/>
            </a:endParaRPr>
          </a:p>
        </p:txBody>
      </p:sp>
      <p:sp>
        <p:nvSpPr>
          <p:cNvPr id="296" name="Google Shape;296;p12"/>
          <p:cNvSpPr/>
          <p:nvPr/>
        </p:nvSpPr>
        <p:spPr>
          <a:xfrm>
            <a:off x="2907805" y="4297630"/>
            <a:ext cx="3200400" cy="640200"/>
          </a:xfrm>
          <a:prstGeom prst="roundRect">
            <a:avLst>
              <a:gd fmla="val 50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2907805" y="4297630"/>
            <a:ext cx="32004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urier New"/>
              <a:buNone/>
            </a:pPr>
            <a:r>
              <a:rPr b="0" i="0" lang="en-US" sz="1300" u="none" cap="none" strike="noStrike">
                <a:solidFill>
                  <a:srgbClr val="FFFFFF"/>
                </a:solidFill>
                <a:latin typeface="Courier New"/>
                <a:ea typeface="Courier New"/>
                <a:cs typeface="Courier New"/>
                <a:sym typeface="Courier New"/>
              </a:rPr>
              <a:t>run / sprint / jog</a:t>
            </a:r>
            <a:endParaRPr b="0" i="0" sz="1300" u="none" cap="none" strike="noStrike">
              <a:solidFill>
                <a:schemeClr val="dk1"/>
              </a:solidFill>
              <a:latin typeface="Calibri"/>
              <a:ea typeface="Calibri"/>
              <a:cs typeface="Calibri"/>
              <a:sym typeface="Calibri"/>
            </a:endParaRPr>
          </a:p>
        </p:txBody>
      </p:sp>
      <p:sp>
        <p:nvSpPr>
          <p:cNvPr id="298" name="Google Shape;298;p12"/>
          <p:cNvSpPr/>
          <p:nvPr/>
        </p:nvSpPr>
        <p:spPr>
          <a:xfrm>
            <a:off x="8394205" y="4114750"/>
            <a:ext cx="3200400" cy="640200"/>
          </a:xfrm>
          <a:prstGeom prst="roundRect">
            <a:avLst>
              <a:gd fmla="val 5000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8394205" y="4114750"/>
            <a:ext cx="32004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urier New"/>
              <a:buNone/>
            </a:pPr>
            <a:r>
              <a:rPr b="0" i="0" lang="en-US" sz="1300" u="none" cap="none" strike="noStrike">
                <a:solidFill>
                  <a:srgbClr val="FFFFFF"/>
                </a:solidFill>
                <a:latin typeface="Courier New"/>
                <a:ea typeface="Courier New"/>
                <a:cs typeface="Courier New"/>
                <a:sym typeface="Courier New"/>
              </a:rPr>
              <a:t>happy / joyful / elated</a:t>
            </a:r>
            <a:endParaRPr b="0" i="0" sz="1300" u="none" cap="none" strike="noStrike">
              <a:solidFill>
                <a:schemeClr val="dk1"/>
              </a:solidFill>
              <a:latin typeface="Calibri"/>
              <a:ea typeface="Calibri"/>
              <a:cs typeface="Calibri"/>
              <a:sym typeface="Calibri"/>
            </a:endParaRPr>
          </a:p>
        </p:txBody>
      </p:sp>
      <p:cxnSp>
        <p:nvCxnSpPr>
          <p:cNvPr id="300" name="Google Shape;300;p12"/>
          <p:cNvCxnSpPr/>
          <p:nvPr/>
        </p:nvCxnSpPr>
        <p:spPr>
          <a:xfrm>
            <a:off x="3246120" y="2331720"/>
            <a:ext cx="4526280" cy="0"/>
          </a:xfrm>
          <a:prstGeom prst="straightConnector1">
            <a:avLst/>
          </a:prstGeom>
          <a:noFill/>
          <a:ln cap="flat" cmpd="sng" w="19050">
            <a:solidFill>
              <a:srgbClr val="CBD5E1"/>
            </a:solidFill>
            <a:prstDash val="dash"/>
            <a:round/>
            <a:headEnd len="sm" w="sm" type="none"/>
            <a:tailEnd len="sm" w="sm" type="none"/>
          </a:ln>
        </p:spPr>
      </p:cxnSp>
      <p:sp>
        <p:nvSpPr>
          <p:cNvPr id="301" name="Google Shape;301;p12"/>
          <p:cNvSpPr/>
          <p:nvPr/>
        </p:nvSpPr>
        <p:spPr>
          <a:xfrm>
            <a:off x="4754880" y="1938528"/>
            <a:ext cx="18288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far apart</a:t>
            </a:r>
            <a:endParaRPr b="0" i="0" sz="1200" u="none" cap="none" strike="noStrike">
              <a:solidFill>
                <a:schemeClr val="dk1"/>
              </a:solidFill>
              <a:latin typeface="Calibri"/>
              <a:ea typeface="Calibri"/>
              <a:cs typeface="Calibri"/>
              <a:sym typeface="Calibri"/>
            </a:endParaRPr>
          </a:p>
        </p:txBody>
      </p:sp>
      <p:cxnSp>
        <p:nvCxnSpPr>
          <p:cNvPr id="302" name="Google Shape;302;p12"/>
          <p:cNvCxnSpPr/>
          <p:nvPr/>
        </p:nvCxnSpPr>
        <p:spPr>
          <a:xfrm>
            <a:off x="4169677" y="4617670"/>
            <a:ext cx="4224600" cy="0"/>
          </a:xfrm>
          <a:prstGeom prst="straightConnector1">
            <a:avLst/>
          </a:prstGeom>
          <a:noFill/>
          <a:ln cap="flat" cmpd="sng" w="19050">
            <a:solidFill>
              <a:srgbClr val="CBD5E1"/>
            </a:solidFill>
            <a:prstDash val="dash"/>
            <a:round/>
            <a:headEnd len="sm" w="sm" type="none"/>
            <a:tailEnd len="sm" w="sm" type="none"/>
          </a:ln>
        </p:spPr>
      </p:cxnSp>
      <p:sp>
        <p:nvSpPr>
          <p:cNvPr id="303" name="Google Shape;303;p12"/>
          <p:cNvSpPr/>
          <p:nvPr/>
        </p:nvSpPr>
        <p:spPr>
          <a:xfrm>
            <a:off x="5468125" y="4224478"/>
            <a:ext cx="1828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far apart</a:t>
            </a:r>
            <a:endParaRPr b="0" i="0" sz="1200" u="none" cap="none" strike="noStrike">
              <a:solidFill>
                <a:schemeClr val="dk1"/>
              </a:solidFill>
              <a:latin typeface="Calibri"/>
              <a:ea typeface="Calibri"/>
              <a:cs typeface="Calibri"/>
              <a:sym typeface="Calibri"/>
            </a:endParaRPr>
          </a:p>
        </p:txBody>
      </p:sp>
      <p:sp>
        <p:nvSpPr>
          <p:cNvPr id="304" name="Google Shape;304;p12"/>
          <p:cNvSpPr/>
          <p:nvPr/>
        </p:nvSpPr>
        <p:spPr>
          <a:xfrm>
            <a:off x="502915" y="5514358"/>
            <a:ext cx="3612000" cy="914400"/>
          </a:xfrm>
          <a:prstGeom prst="roundRect">
            <a:avLst>
              <a:gd fmla="val 9000"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2"/>
          <p:cNvSpPr/>
          <p:nvPr/>
        </p:nvSpPr>
        <p:spPr>
          <a:xfrm>
            <a:off x="667507" y="5624086"/>
            <a:ext cx="3291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Synonyms cluster</a:t>
            </a:r>
            <a:endParaRPr b="0" i="0" sz="1400" u="none" cap="none" strike="noStrike">
              <a:solidFill>
                <a:schemeClr val="dk1"/>
              </a:solidFill>
              <a:latin typeface="Calibri"/>
              <a:ea typeface="Calibri"/>
              <a:cs typeface="Calibri"/>
              <a:sym typeface="Calibri"/>
            </a:endParaRPr>
          </a:p>
        </p:txBody>
      </p:sp>
      <p:sp>
        <p:nvSpPr>
          <p:cNvPr id="306" name="Google Shape;306;p12"/>
          <p:cNvSpPr/>
          <p:nvPr/>
        </p:nvSpPr>
        <p:spPr>
          <a:xfrm>
            <a:off x="667507" y="5953270"/>
            <a:ext cx="3291900" cy="384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car ≈ automobile. Different surface form, same vector region.</a:t>
            </a:r>
            <a:endParaRPr b="0" i="0" sz="1200" u="none" cap="none" strike="noStrike">
              <a:solidFill>
                <a:schemeClr val="dk1"/>
              </a:solidFill>
              <a:latin typeface="Calibri"/>
              <a:ea typeface="Calibri"/>
              <a:cs typeface="Calibri"/>
              <a:sym typeface="Calibri"/>
            </a:endParaRPr>
          </a:p>
        </p:txBody>
      </p:sp>
      <p:sp>
        <p:nvSpPr>
          <p:cNvPr id="307" name="Google Shape;307;p12"/>
          <p:cNvSpPr/>
          <p:nvPr/>
        </p:nvSpPr>
        <p:spPr>
          <a:xfrm>
            <a:off x="4297675" y="5514358"/>
            <a:ext cx="3612000" cy="914400"/>
          </a:xfrm>
          <a:prstGeom prst="roundRect">
            <a:avLst>
              <a:gd fmla="val 9000"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4462267" y="5624086"/>
            <a:ext cx="3291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Analogies are directions</a:t>
            </a:r>
            <a:endParaRPr b="0" i="0" sz="1400" u="none" cap="none" strike="noStrike">
              <a:solidFill>
                <a:schemeClr val="dk1"/>
              </a:solidFill>
              <a:latin typeface="Calibri"/>
              <a:ea typeface="Calibri"/>
              <a:cs typeface="Calibri"/>
              <a:sym typeface="Calibri"/>
            </a:endParaRPr>
          </a:p>
        </p:txBody>
      </p:sp>
      <p:sp>
        <p:nvSpPr>
          <p:cNvPr id="309" name="Google Shape;309;p12"/>
          <p:cNvSpPr/>
          <p:nvPr/>
        </p:nvSpPr>
        <p:spPr>
          <a:xfrm>
            <a:off x="4462267" y="5953270"/>
            <a:ext cx="3291900" cy="384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king→queen = man→woman. Gender is a learnable direction.</a:t>
            </a:r>
            <a:endParaRPr b="0" i="0" sz="1200" u="none" cap="none" strike="noStrike">
              <a:solidFill>
                <a:schemeClr val="dk1"/>
              </a:solidFill>
              <a:latin typeface="Calibri"/>
              <a:ea typeface="Calibri"/>
              <a:cs typeface="Calibri"/>
              <a:sym typeface="Calibri"/>
            </a:endParaRPr>
          </a:p>
        </p:txBody>
      </p:sp>
      <p:sp>
        <p:nvSpPr>
          <p:cNvPr id="310" name="Google Shape;310;p12"/>
          <p:cNvSpPr/>
          <p:nvPr/>
        </p:nvSpPr>
        <p:spPr>
          <a:xfrm>
            <a:off x="8092435" y="5514358"/>
            <a:ext cx="3612000" cy="914400"/>
          </a:xfrm>
          <a:prstGeom prst="roundRect">
            <a:avLst>
              <a:gd fmla="val 9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8257027" y="5624086"/>
            <a:ext cx="3291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Powers semantic search</a:t>
            </a:r>
            <a:endParaRPr b="0" i="0" sz="1400" u="none" cap="none" strike="noStrike">
              <a:solidFill>
                <a:schemeClr val="dk1"/>
              </a:solidFill>
              <a:latin typeface="Calibri"/>
              <a:ea typeface="Calibri"/>
              <a:cs typeface="Calibri"/>
              <a:sym typeface="Calibri"/>
            </a:endParaRPr>
          </a:p>
        </p:txBody>
      </p:sp>
      <p:sp>
        <p:nvSpPr>
          <p:cNvPr id="312" name="Google Shape;312;p12"/>
          <p:cNvSpPr/>
          <p:nvPr/>
        </p:nvSpPr>
        <p:spPr>
          <a:xfrm>
            <a:off x="8257027" y="5953270"/>
            <a:ext cx="3291900" cy="384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RAG finds relevant chunks by VECTOR DISTANCE, not keyword match.</a:t>
            </a:r>
            <a:endParaRPr b="0" i="0" sz="1200" u="none" cap="none" strike="noStrike">
              <a:solidFill>
                <a:schemeClr val="dk1"/>
              </a:solidFill>
              <a:latin typeface="Calibri"/>
              <a:ea typeface="Calibri"/>
              <a:cs typeface="Calibri"/>
              <a:sym typeface="Calibri"/>
            </a:endParaRPr>
          </a:p>
        </p:txBody>
      </p:sp>
      <p:sp>
        <p:nvSpPr>
          <p:cNvPr id="313" name="Google Shape;313;p12"/>
          <p:cNvSpPr/>
          <p:nvPr/>
        </p:nvSpPr>
        <p:spPr>
          <a:xfrm>
            <a:off x="0" y="6583680"/>
            <a:ext cx="12191695" cy="274320"/>
          </a:xfrm>
          <a:prstGeom prst="rect">
            <a:avLst/>
          </a:prstGeom>
          <a:solidFill>
            <a:srgbClr val="0891B2">
              <a:alpha val="12156"/>
            </a:srgbClr>
          </a:solidFill>
          <a:ln cap="flat" cmpd="sng" w="12700">
            <a:solidFill>
              <a:srgbClr val="0891B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315" name="Google Shape;315;p1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10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20" name="Shape 320"/>
        <p:cNvGrpSpPr/>
        <p:nvPr/>
      </p:nvGrpSpPr>
      <p:grpSpPr>
        <a:xfrm>
          <a:off x="0" y="0"/>
          <a:ext cx="0" cy="0"/>
          <a:chOff x="0" y="0"/>
          <a:chExt cx="0" cy="0"/>
        </a:xfrm>
      </p:grpSpPr>
      <p:sp>
        <p:nvSpPr>
          <p:cNvPr id="321" name="Google Shape;321;p13"/>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6000"/>
              <a:buFont typeface="Calibri"/>
              <a:buNone/>
            </a:pPr>
            <a:r>
              <a:rPr b="1" i="0" lang="en-US" sz="26000" u="none" cap="none" strike="noStrike">
                <a:solidFill>
                  <a:srgbClr val="E11D48"/>
                </a:solidFill>
                <a:latin typeface="Calibri"/>
                <a:ea typeface="Calibri"/>
                <a:cs typeface="Calibri"/>
                <a:sym typeface="Calibri"/>
              </a:rPr>
              <a:t>03</a:t>
            </a:r>
            <a:endParaRPr b="0" i="0" sz="26000" u="none" cap="none" strike="noStrike">
              <a:solidFill>
                <a:schemeClr val="dk1"/>
              </a:solidFill>
              <a:latin typeface="Calibri"/>
              <a:ea typeface="Calibri"/>
              <a:cs typeface="Calibri"/>
              <a:sym typeface="Calibri"/>
            </a:endParaRPr>
          </a:p>
        </p:txBody>
      </p:sp>
      <p:sp>
        <p:nvSpPr>
          <p:cNvPr id="322" name="Google Shape;322;p13"/>
          <p:cNvSpPr/>
          <p:nvPr/>
        </p:nvSpPr>
        <p:spPr>
          <a:xfrm>
            <a:off x="475488" y="804672"/>
            <a:ext cx="658368" cy="658368"/>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324" name="Google Shape;324;p13"/>
          <p:cNvSpPr/>
          <p:nvPr/>
        </p:nvSpPr>
        <p:spPr>
          <a:xfrm>
            <a:off x="1298448" y="82296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STEP</a:t>
            </a:r>
            <a:endParaRPr b="0" i="0" sz="1300" u="none" cap="none" strike="noStrike">
              <a:solidFill>
                <a:schemeClr val="dk1"/>
              </a:solidFill>
              <a:latin typeface="Calibri"/>
              <a:ea typeface="Calibri"/>
              <a:cs typeface="Calibri"/>
              <a:sym typeface="Calibri"/>
            </a:endParaRPr>
          </a:p>
        </p:txBody>
      </p:sp>
      <p:sp>
        <p:nvSpPr>
          <p:cNvPr id="325" name="Google Shape;325;p13"/>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Attention</a:t>
            </a:r>
            <a:endParaRPr b="0" i="0" sz="5800" u="none" cap="none" strike="noStrike">
              <a:solidFill>
                <a:schemeClr val="dk1"/>
              </a:solidFill>
              <a:latin typeface="Calibri"/>
              <a:ea typeface="Calibri"/>
              <a:cs typeface="Calibri"/>
              <a:sym typeface="Calibri"/>
            </a:endParaRPr>
          </a:p>
        </p:txBody>
      </p:sp>
      <p:sp>
        <p:nvSpPr>
          <p:cNvPr id="326" name="Google Shape;326;p13"/>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Every token looks at every other token to decide what matters.</a:t>
            </a:r>
            <a:endParaRPr b="0" i="0" sz="2000" u="none" cap="none" strike="noStrike">
              <a:solidFill>
                <a:schemeClr val="dk1"/>
              </a:solidFill>
              <a:latin typeface="Calibri"/>
              <a:ea typeface="Calibri"/>
              <a:cs typeface="Calibri"/>
              <a:sym typeface="Calibri"/>
            </a:endParaRPr>
          </a:p>
        </p:txBody>
      </p:sp>
      <p:sp>
        <p:nvSpPr>
          <p:cNvPr id="327" name="Google Shape;327;p13"/>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329" name="Google Shape;329;p1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11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4"/>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STEP 3 · ATTENTION — THE TRANSFORMER'S SUPERPOWER</a:t>
            </a:r>
            <a:endParaRPr b="0" i="0" sz="1200" u="none" cap="none" strike="noStrike">
              <a:solidFill>
                <a:schemeClr val="dk1"/>
              </a:solidFill>
              <a:latin typeface="Calibri"/>
              <a:ea typeface="Calibri"/>
              <a:cs typeface="Calibri"/>
              <a:sym typeface="Calibri"/>
            </a:endParaRPr>
          </a:p>
        </p:txBody>
      </p:sp>
      <p:sp>
        <p:nvSpPr>
          <p:cNvPr id="336" name="Google Shape;336;p14"/>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"The animal didn't cross the street</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because it was too tired."</a:t>
            </a:r>
            <a:endParaRPr b="0" i="0" sz="3000" u="none" cap="none" strike="noStrike">
              <a:solidFill>
                <a:schemeClr val="dk1"/>
              </a:solidFill>
              <a:latin typeface="Calibri"/>
              <a:ea typeface="Calibri"/>
              <a:cs typeface="Calibri"/>
              <a:sym typeface="Calibri"/>
            </a:endParaRPr>
          </a:p>
        </p:txBody>
      </p:sp>
      <p:sp>
        <p:nvSpPr>
          <p:cNvPr id="337" name="Google Shape;337;p14"/>
          <p:cNvSpPr/>
          <p:nvPr/>
        </p:nvSpPr>
        <p:spPr>
          <a:xfrm>
            <a:off x="685800" y="2011680"/>
            <a:ext cx="10972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00"/>
              <a:buFont typeface="Calibri"/>
              <a:buNone/>
            </a:pPr>
            <a:r>
              <a:rPr b="1" i="0" lang="en-US" sz="1700" u="none" cap="none" strike="noStrike">
                <a:solidFill>
                  <a:srgbClr val="475569"/>
                </a:solidFill>
                <a:latin typeface="Calibri"/>
                <a:ea typeface="Calibri"/>
                <a:cs typeface="Calibri"/>
                <a:sym typeface="Calibri"/>
              </a:rPr>
              <a:t>What does "it" refer to? The animal or the street?</a:t>
            </a:r>
            <a:endParaRPr b="0" i="0" sz="1700" u="none" cap="none" strike="noStrike">
              <a:solidFill>
                <a:schemeClr val="dk1"/>
              </a:solidFill>
              <a:latin typeface="Calibri"/>
              <a:ea typeface="Calibri"/>
              <a:cs typeface="Calibri"/>
              <a:sym typeface="Calibri"/>
            </a:endParaRPr>
          </a:p>
        </p:txBody>
      </p:sp>
      <p:sp>
        <p:nvSpPr>
          <p:cNvPr id="338" name="Google Shape;338;p14"/>
          <p:cNvSpPr/>
          <p:nvPr/>
        </p:nvSpPr>
        <p:spPr>
          <a:xfrm>
            <a:off x="548640" y="2560320"/>
            <a:ext cx="758952"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548640" y="2560320"/>
            <a:ext cx="7589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The</a:t>
            </a:r>
            <a:endParaRPr b="0" i="0" sz="1200" u="none" cap="none" strike="noStrike">
              <a:solidFill>
                <a:schemeClr val="dk1"/>
              </a:solidFill>
              <a:latin typeface="Calibri"/>
              <a:ea typeface="Calibri"/>
              <a:cs typeface="Calibri"/>
              <a:sym typeface="Calibri"/>
            </a:endParaRPr>
          </a:p>
        </p:txBody>
      </p:sp>
      <p:sp>
        <p:nvSpPr>
          <p:cNvPr id="340" name="Google Shape;340;p14"/>
          <p:cNvSpPr/>
          <p:nvPr/>
        </p:nvSpPr>
        <p:spPr>
          <a:xfrm>
            <a:off x="1417320" y="2560320"/>
            <a:ext cx="1197864" cy="530352"/>
          </a:xfrm>
          <a:prstGeom prst="roundRect">
            <a:avLst>
              <a:gd fmla="val 10345"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1417320" y="2560320"/>
            <a:ext cx="1197864"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ourier New"/>
              <a:buNone/>
            </a:pPr>
            <a:r>
              <a:rPr b="1" i="0" lang="en-US" sz="1200" u="none" cap="none" strike="noStrike">
                <a:solidFill>
                  <a:srgbClr val="FFFFFF"/>
                </a:solidFill>
                <a:latin typeface="Courier New"/>
                <a:ea typeface="Courier New"/>
                <a:cs typeface="Courier New"/>
                <a:sym typeface="Courier New"/>
              </a:rPr>
              <a:t>animal</a:t>
            </a:r>
            <a:endParaRPr b="0" i="0" sz="1200" u="none" cap="none" strike="noStrike">
              <a:solidFill>
                <a:schemeClr val="dk1"/>
              </a:solidFill>
              <a:latin typeface="Calibri"/>
              <a:ea typeface="Calibri"/>
              <a:cs typeface="Calibri"/>
              <a:sym typeface="Calibri"/>
            </a:endParaRPr>
          </a:p>
        </p:txBody>
      </p:sp>
      <p:cxnSp>
        <p:nvCxnSpPr>
          <p:cNvPr id="342" name="Google Shape;342;p14"/>
          <p:cNvCxnSpPr/>
          <p:nvPr/>
        </p:nvCxnSpPr>
        <p:spPr>
          <a:xfrm>
            <a:off x="2016252" y="3090672"/>
            <a:ext cx="7274052" cy="0"/>
          </a:xfrm>
          <a:prstGeom prst="straightConnector1">
            <a:avLst/>
          </a:prstGeom>
          <a:noFill/>
          <a:ln cap="flat" cmpd="sng" w="31750">
            <a:solidFill>
              <a:srgbClr val="E11D48"/>
            </a:solidFill>
            <a:prstDash val="solid"/>
            <a:round/>
            <a:headEnd len="sm" w="sm" type="none"/>
            <a:tailEnd len="sm" w="sm" type="none"/>
          </a:ln>
        </p:spPr>
      </p:cxnSp>
      <p:sp>
        <p:nvSpPr>
          <p:cNvPr id="343" name="Google Shape;343;p14"/>
          <p:cNvSpPr/>
          <p:nvPr/>
        </p:nvSpPr>
        <p:spPr>
          <a:xfrm>
            <a:off x="2724912" y="2560320"/>
            <a:ext cx="1197864"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2724912" y="2560320"/>
            <a:ext cx="1197864"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didn't</a:t>
            </a:r>
            <a:endParaRPr b="0" i="0" sz="1200" u="none" cap="none" strike="noStrike">
              <a:solidFill>
                <a:schemeClr val="dk1"/>
              </a:solidFill>
              <a:latin typeface="Calibri"/>
              <a:ea typeface="Calibri"/>
              <a:cs typeface="Calibri"/>
              <a:sym typeface="Calibri"/>
            </a:endParaRPr>
          </a:p>
        </p:txBody>
      </p:sp>
      <p:sp>
        <p:nvSpPr>
          <p:cNvPr id="345" name="Google Shape;345;p14"/>
          <p:cNvSpPr/>
          <p:nvPr/>
        </p:nvSpPr>
        <p:spPr>
          <a:xfrm>
            <a:off x="4032504" y="2560320"/>
            <a:ext cx="1051560"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
          <p:cNvSpPr/>
          <p:nvPr/>
        </p:nvSpPr>
        <p:spPr>
          <a:xfrm>
            <a:off x="4032504" y="2560320"/>
            <a:ext cx="105156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cross</a:t>
            </a:r>
            <a:endParaRPr b="0" i="0" sz="1200" u="none" cap="none" strike="noStrike">
              <a:solidFill>
                <a:schemeClr val="dk1"/>
              </a:solidFill>
              <a:latin typeface="Calibri"/>
              <a:ea typeface="Calibri"/>
              <a:cs typeface="Calibri"/>
              <a:sym typeface="Calibri"/>
            </a:endParaRPr>
          </a:p>
        </p:txBody>
      </p:sp>
      <p:sp>
        <p:nvSpPr>
          <p:cNvPr id="347" name="Google Shape;347;p14"/>
          <p:cNvSpPr/>
          <p:nvPr/>
        </p:nvSpPr>
        <p:spPr>
          <a:xfrm>
            <a:off x="5193792" y="2560320"/>
            <a:ext cx="758952"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4"/>
          <p:cNvSpPr/>
          <p:nvPr/>
        </p:nvSpPr>
        <p:spPr>
          <a:xfrm>
            <a:off x="5193792" y="2560320"/>
            <a:ext cx="7589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the</a:t>
            </a:r>
            <a:endParaRPr b="0" i="0" sz="1200" u="none" cap="none" strike="noStrike">
              <a:solidFill>
                <a:schemeClr val="dk1"/>
              </a:solidFill>
              <a:latin typeface="Calibri"/>
              <a:ea typeface="Calibri"/>
              <a:cs typeface="Calibri"/>
              <a:sym typeface="Calibri"/>
            </a:endParaRPr>
          </a:p>
        </p:txBody>
      </p:sp>
      <p:sp>
        <p:nvSpPr>
          <p:cNvPr id="349" name="Google Shape;349;p14"/>
          <p:cNvSpPr/>
          <p:nvPr/>
        </p:nvSpPr>
        <p:spPr>
          <a:xfrm>
            <a:off x="6062472" y="2560320"/>
            <a:ext cx="1197864"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4"/>
          <p:cNvSpPr/>
          <p:nvPr/>
        </p:nvSpPr>
        <p:spPr>
          <a:xfrm>
            <a:off x="6062472" y="2560320"/>
            <a:ext cx="1197864"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street</a:t>
            </a:r>
            <a:endParaRPr b="0" i="0" sz="1200" u="none" cap="none" strike="noStrike">
              <a:solidFill>
                <a:schemeClr val="dk1"/>
              </a:solidFill>
              <a:latin typeface="Calibri"/>
              <a:ea typeface="Calibri"/>
              <a:cs typeface="Calibri"/>
              <a:sym typeface="Calibri"/>
            </a:endParaRPr>
          </a:p>
        </p:txBody>
      </p:sp>
      <p:sp>
        <p:nvSpPr>
          <p:cNvPr id="351" name="Google Shape;351;p14"/>
          <p:cNvSpPr/>
          <p:nvPr/>
        </p:nvSpPr>
        <p:spPr>
          <a:xfrm>
            <a:off x="7370064" y="2560320"/>
            <a:ext cx="1344168"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p:nvPr/>
        </p:nvSpPr>
        <p:spPr>
          <a:xfrm>
            <a:off x="7370064" y="2560320"/>
            <a:ext cx="134416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because</a:t>
            </a:r>
            <a:endParaRPr b="0" i="0" sz="1200" u="none" cap="none" strike="noStrike">
              <a:solidFill>
                <a:schemeClr val="dk1"/>
              </a:solidFill>
              <a:latin typeface="Calibri"/>
              <a:ea typeface="Calibri"/>
              <a:cs typeface="Calibri"/>
              <a:sym typeface="Calibri"/>
            </a:endParaRPr>
          </a:p>
        </p:txBody>
      </p:sp>
      <p:sp>
        <p:nvSpPr>
          <p:cNvPr id="353" name="Google Shape;353;p14"/>
          <p:cNvSpPr/>
          <p:nvPr/>
        </p:nvSpPr>
        <p:spPr>
          <a:xfrm>
            <a:off x="8823960" y="2560320"/>
            <a:ext cx="612648" cy="530352"/>
          </a:xfrm>
          <a:prstGeom prst="roundRect">
            <a:avLst>
              <a:gd fmla="val 10345"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4"/>
          <p:cNvSpPr/>
          <p:nvPr/>
        </p:nvSpPr>
        <p:spPr>
          <a:xfrm>
            <a:off x="8823960" y="2560320"/>
            <a:ext cx="61264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ourier New"/>
              <a:buNone/>
            </a:pPr>
            <a:r>
              <a:rPr b="1" i="0" lang="en-US" sz="1200" u="none" cap="none" strike="noStrike">
                <a:solidFill>
                  <a:srgbClr val="FFFFFF"/>
                </a:solidFill>
                <a:latin typeface="Courier New"/>
                <a:ea typeface="Courier New"/>
                <a:cs typeface="Courier New"/>
                <a:sym typeface="Courier New"/>
              </a:rPr>
              <a:t>it</a:t>
            </a:r>
            <a:endParaRPr b="0" i="0" sz="1200" u="none" cap="none" strike="noStrike">
              <a:solidFill>
                <a:schemeClr val="dk1"/>
              </a:solidFill>
              <a:latin typeface="Calibri"/>
              <a:ea typeface="Calibri"/>
              <a:cs typeface="Calibri"/>
              <a:sym typeface="Calibri"/>
            </a:endParaRPr>
          </a:p>
        </p:txBody>
      </p:sp>
      <p:sp>
        <p:nvSpPr>
          <p:cNvPr id="355" name="Google Shape;355;p14"/>
          <p:cNvSpPr/>
          <p:nvPr/>
        </p:nvSpPr>
        <p:spPr>
          <a:xfrm>
            <a:off x="9546336" y="2560320"/>
            <a:ext cx="758952"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9546336" y="2560320"/>
            <a:ext cx="759000" cy="53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was</a:t>
            </a:r>
            <a:endParaRPr b="0" i="0" sz="1200" u="none" cap="none" strike="noStrike">
              <a:solidFill>
                <a:schemeClr val="dk1"/>
              </a:solidFill>
              <a:latin typeface="Calibri"/>
              <a:ea typeface="Calibri"/>
              <a:cs typeface="Calibri"/>
              <a:sym typeface="Calibri"/>
            </a:endParaRPr>
          </a:p>
        </p:txBody>
      </p:sp>
      <p:sp>
        <p:nvSpPr>
          <p:cNvPr id="357" name="Google Shape;357;p14"/>
          <p:cNvSpPr/>
          <p:nvPr/>
        </p:nvSpPr>
        <p:spPr>
          <a:xfrm>
            <a:off x="10415016" y="2560320"/>
            <a:ext cx="758952" cy="530352"/>
          </a:xfrm>
          <a:prstGeom prst="roundRect">
            <a:avLst>
              <a:gd fmla="val 10345" name="adj"/>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4"/>
          <p:cNvSpPr/>
          <p:nvPr/>
        </p:nvSpPr>
        <p:spPr>
          <a:xfrm>
            <a:off x="10415016" y="2560320"/>
            <a:ext cx="7589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too</a:t>
            </a:r>
            <a:endParaRPr b="0" i="0" sz="1200" u="none" cap="none" strike="noStrike">
              <a:solidFill>
                <a:schemeClr val="dk1"/>
              </a:solidFill>
              <a:latin typeface="Calibri"/>
              <a:ea typeface="Calibri"/>
              <a:cs typeface="Calibri"/>
              <a:sym typeface="Calibri"/>
            </a:endParaRPr>
          </a:p>
        </p:txBody>
      </p:sp>
      <p:sp>
        <p:nvSpPr>
          <p:cNvPr id="359" name="Google Shape;359;p14"/>
          <p:cNvSpPr/>
          <p:nvPr/>
        </p:nvSpPr>
        <p:spPr>
          <a:xfrm>
            <a:off x="11283696" y="2560320"/>
            <a:ext cx="1051560" cy="530352"/>
          </a:xfrm>
          <a:prstGeom prst="roundRect">
            <a:avLst>
              <a:gd fmla="val 10345"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11283696" y="2560320"/>
            <a:ext cx="105156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ourier New"/>
              <a:buNone/>
            </a:pPr>
            <a:r>
              <a:rPr b="1" i="0" lang="en-US" sz="1200" u="none" cap="none" strike="noStrike">
                <a:solidFill>
                  <a:srgbClr val="FFFFFF"/>
                </a:solidFill>
                <a:latin typeface="Courier New"/>
                <a:ea typeface="Courier New"/>
                <a:cs typeface="Courier New"/>
                <a:sym typeface="Courier New"/>
              </a:rPr>
              <a:t>tired</a:t>
            </a:r>
            <a:endParaRPr b="0" i="0" sz="1200" u="none" cap="none" strike="noStrike">
              <a:solidFill>
                <a:schemeClr val="dk1"/>
              </a:solidFill>
              <a:latin typeface="Calibri"/>
              <a:ea typeface="Calibri"/>
              <a:cs typeface="Calibri"/>
              <a:sym typeface="Calibri"/>
            </a:endParaRPr>
          </a:p>
        </p:txBody>
      </p:sp>
      <p:cxnSp>
        <p:nvCxnSpPr>
          <p:cNvPr id="361" name="Google Shape;361;p14"/>
          <p:cNvCxnSpPr/>
          <p:nvPr/>
        </p:nvCxnSpPr>
        <p:spPr>
          <a:xfrm>
            <a:off x="9290304" y="3090672"/>
            <a:ext cx="2519172" cy="0"/>
          </a:xfrm>
          <a:prstGeom prst="straightConnector1">
            <a:avLst/>
          </a:prstGeom>
          <a:noFill/>
          <a:ln cap="flat" cmpd="sng" w="19050">
            <a:solidFill>
              <a:srgbClr val="E11D48">
                <a:alpha val="80000"/>
              </a:srgbClr>
            </a:solidFill>
            <a:prstDash val="solid"/>
            <a:round/>
            <a:headEnd len="sm" w="sm" type="none"/>
            <a:tailEnd len="sm" w="sm" type="none"/>
          </a:ln>
        </p:spPr>
      </p:cxnSp>
      <p:sp>
        <p:nvSpPr>
          <p:cNvPr id="362" name="Google Shape;362;p14"/>
          <p:cNvSpPr/>
          <p:nvPr/>
        </p:nvSpPr>
        <p:spPr>
          <a:xfrm>
            <a:off x="1280160" y="3200400"/>
            <a:ext cx="1828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strong attention</a:t>
            </a:r>
            <a:endParaRPr b="0" i="0" sz="1100" u="none" cap="none" strike="noStrike">
              <a:solidFill>
                <a:schemeClr val="dk1"/>
              </a:solidFill>
              <a:latin typeface="Calibri"/>
              <a:ea typeface="Calibri"/>
              <a:cs typeface="Calibri"/>
              <a:sym typeface="Calibri"/>
            </a:endParaRPr>
          </a:p>
        </p:txBody>
      </p:sp>
      <p:sp>
        <p:nvSpPr>
          <p:cNvPr id="363" name="Google Shape;363;p14"/>
          <p:cNvSpPr/>
          <p:nvPr/>
        </p:nvSpPr>
        <p:spPr>
          <a:xfrm>
            <a:off x="1097280" y="3493008"/>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"it" = animal</a:t>
            </a:r>
            <a:endParaRPr b="0" i="0" sz="1300" u="none" cap="none" strike="noStrike">
              <a:solidFill>
                <a:schemeClr val="dk1"/>
              </a:solidFill>
              <a:latin typeface="Calibri"/>
              <a:ea typeface="Calibri"/>
              <a:cs typeface="Calibri"/>
              <a:sym typeface="Calibri"/>
            </a:endParaRPr>
          </a:p>
        </p:txBody>
      </p:sp>
      <p:sp>
        <p:nvSpPr>
          <p:cNvPr id="364" name="Google Shape;364;p14"/>
          <p:cNvSpPr/>
          <p:nvPr/>
        </p:nvSpPr>
        <p:spPr>
          <a:xfrm>
            <a:off x="548640" y="4069080"/>
            <a:ext cx="11064240" cy="1234440"/>
          </a:xfrm>
          <a:prstGeom prst="roundRect">
            <a:avLst>
              <a:gd fmla="val 7407"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777240" y="4206240"/>
            <a:ext cx="3657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500"/>
              <a:buFont typeface="Calibri"/>
              <a:buNone/>
            </a:pPr>
            <a:r>
              <a:rPr b="1" i="0" lang="en-US" sz="1500" u="none" cap="none" strike="noStrike">
                <a:solidFill>
                  <a:srgbClr val="E11D48"/>
                </a:solidFill>
                <a:latin typeface="Calibri"/>
                <a:ea typeface="Calibri"/>
                <a:cs typeface="Calibri"/>
                <a:sym typeface="Calibri"/>
              </a:rPr>
              <a:t>Now change one word:</a:t>
            </a:r>
            <a:endParaRPr b="0" i="0" sz="1500" u="none" cap="none" strike="noStrike">
              <a:solidFill>
                <a:schemeClr val="dk1"/>
              </a:solidFill>
              <a:latin typeface="Calibri"/>
              <a:ea typeface="Calibri"/>
              <a:cs typeface="Calibri"/>
              <a:sym typeface="Calibri"/>
            </a:endParaRPr>
          </a:p>
        </p:txBody>
      </p:sp>
      <p:sp>
        <p:nvSpPr>
          <p:cNvPr id="366" name="Google Shape;366;p14"/>
          <p:cNvSpPr/>
          <p:nvPr/>
        </p:nvSpPr>
        <p:spPr>
          <a:xfrm>
            <a:off x="777240" y="4553712"/>
            <a:ext cx="6858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00"/>
              <a:buFont typeface="Courier New"/>
              <a:buNone/>
            </a:pPr>
            <a:r>
              <a:rPr b="0" i="0" lang="en-US" sz="1400" u="none" cap="none" strike="noStrike">
                <a:solidFill>
                  <a:srgbClr val="475569"/>
                </a:solidFill>
                <a:latin typeface="Courier New"/>
                <a:ea typeface="Courier New"/>
                <a:cs typeface="Courier New"/>
                <a:sym typeface="Courier New"/>
              </a:rPr>
              <a:t>"The animal didn't cross the street because it was too </a:t>
            </a:r>
            <a:endParaRPr b="0" i="0" sz="1400" u="none" cap="none" strike="noStrike">
              <a:solidFill>
                <a:schemeClr val="dk1"/>
              </a:solidFill>
              <a:latin typeface="Calibri"/>
              <a:ea typeface="Calibri"/>
              <a:cs typeface="Calibri"/>
              <a:sym typeface="Calibri"/>
            </a:endParaRPr>
          </a:p>
        </p:txBody>
      </p:sp>
      <p:sp>
        <p:nvSpPr>
          <p:cNvPr id="367" name="Google Shape;367;p14"/>
          <p:cNvSpPr/>
          <p:nvPr/>
        </p:nvSpPr>
        <p:spPr>
          <a:xfrm>
            <a:off x="7680960" y="4526280"/>
            <a:ext cx="914400" cy="384048"/>
          </a:xfrm>
          <a:prstGeom prst="roundRect">
            <a:avLst>
              <a:gd fmla="val 14286"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7680960" y="4526280"/>
            <a:ext cx="914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Courier New"/>
                <a:ea typeface="Courier New"/>
                <a:cs typeface="Courier New"/>
                <a:sym typeface="Courier New"/>
              </a:rPr>
              <a:t>wide</a:t>
            </a:r>
            <a:endParaRPr b="0" i="0" sz="1400" u="none" cap="none" strike="noStrike">
              <a:solidFill>
                <a:schemeClr val="dk1"/>
              </a:solidFill>
              <a:latin typeface="Calibri"/>
              <a:ea typeface="Calibri"/>
              <a:cs typeface="Calibri"/>
              <a:sym typeface="Calibri"/>
            </a:endParaRPr>
          </a:p>
        </p:txBody>
      </p:sp>
      <p:sp>
        <p:nvSpPr>
          <p:cNvPr id="369" name="Google Shape;369;p14"/>
          <p:cNvSpPr/>
          <p:nvPr/>
        </p:nvSpPr>
        <p:spPr>
          <a:xfrm>
            <a:off x="8732520" y="4553712"/>
            <a:ext cx="288036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 → now "it" = the street. Attention re-weighted with ONE word change. Same architecture, different context.</a:t>
            </a:r>
            <a:endParaRPr b="0" i="0" sz="1300" u="none" cap="none" strike="noStrike">
              <a:solidFill>
                <a:schemeClr val="dk1"/>
              </a:solidFill>
              <a:latin typeface="Calibri"/>
              <a:ea typeface="Calibri"/>
              <a:cs typeface="Calibri"/>
              <a:sym typeface="Calibri"/>
            </a:endParaRPr>
          </a:p>
        </p:txBody>
      </p:sp>
      <p:sp>
        <p:nvSpPr>
          <p:cNvPr id="370" name="Google Shape;370;p14"/>
          <p:cNvSpPr/>
          <p:nvPr/>
        </p:nvSpPr>
        <p:spPr>
          <a:xfrm>
            <a:off x="548640" y="5468112"/>
            <a:ext cx="11064240" cy="932688"/>
          </a:xfrm>
          <a:prstGeom prst="roundRect">
            <a:avLst>
              <a:gd fmla="val 9804"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777240" y="5577840"/>
            <a:ext cx="10424160"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Why engineers care: </a:t>
            </a:r>
            <a:r>
              <a:rPr b="0" i="0" lang="en-US" sz="1400" u="none" cap="none" strike="noStrike">
                <a:solidFill>
                  <a:srgbClr val="475569"/>
                </a:solidFill>
                <a:latin typeface="Calibri"/>
                <a:ea typeface="Calibri"/>
                <a:cs typeface="Calibri"/>
                <a:sym typeface="Calibri"/>
              </a:rPr>
              <a:t>Attention is why your entire prompt is used coherently, not just the last sentence. Good prompting (Session 2) is partly about giving attention the right things to focus on — clear context, relevant examples, explicit role definition.</a:t>
            </a:r>
            <a:endParaRPr b="0" i="0" sz="1400" u="none" cap="none" strike="noStrike">
              <a:solidFill>
                <a:schemeClr val="dk1"/>
              </a:solidFill>
              <a:latin typeface="Calibri"/>
              <a:ea typeface="Calibri"/>
              <a:cs typeface="Calibri"/>
              <a:sym typeface="Calibri"/>
            </a:endParaRPr>
          </a:p>
        </p:txBody>
      </p:sp>
      <p:sp>
        <p:nvSpPr>
          <p:cNvPr id="372" name="Google Shape;372;p14"/>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374" name="Google Shape;374;p1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12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79" name="Shape 379"/>
        <p:cNvGrpSpPr/>
        <p:nvPr/>
      </p:nvGrpSpPr>
      <p:grpSpPr>
        <a:xfrm>
          <a:off x="0" y="0"/>
          <a:ext cx="0" cy="0"/>
          <a:chOff x="0" y="0"/>
          <a:chExt cx="0" cy="0"/>
        </a:xfrm>
      </p:grpSpPr>
      <p:sp>
        <p:nvSpPr>
          <p:cNvPr id="380" name="Google Shape;380;p15"/>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alibri"/>
              <a:buNone/>
            </a:pPr>
            <a:r>
              <a:rPr b="1" i="0" lang="en-US" sz="1200" u="none" cap="none" strike="noStrike">
                <a:solidFill>
                  <a:srgbClr val="FDA4AF"/>
                </a:solidFill>
                <a:latin typeface="Calibri"/>
                <a:ea typeface="Calibri"/>
                <a:cs typeface="Calibri"/>
                <a:sym typeface="Calibri"/>
              </a:rPr>
              <a:t>STEP 3 · ATTENTION — GOING DEEPER</a:t>
            </a:r>
            <a:endParaRPr b="0" i="0" sz="1200" u="none" cap="none" strike="noStrike">
              <a:solidFill>
                <a:schemeClr val="dk1"/>
              </a:solidFill>
              <a:latin typeface="Calibri"/>
              <a:ea typeface="Calibri"/>
              <a:cs typeface="Calibri"/>
              <a:sym typeface="Calibri"/>
            </a:endParaRPr>
          </a:p>
        </p:txBody>
      </p:sp>
      <p:sp>
        <p:nvSpPr>
          <p:cNvPr id="381" name="Google Shape;381;p15"/>
          <p:cNvSpPr/>
          <p:nvPr/>
        </p:nvSpPr>
        <p:spPr>
          <a:xfrm>
            <a:off x="685800" y="777240"/>
            <a:ext cx="10972800" cy="1463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400"/>
              <a:buFont typeface="Calibri"/>
              <a:buNone/>
            </a:pPr>
            <a:r>
              <a:rPr b="1" i="0" lang="en-US" sz="3400" u="none" cap="none" strike="noStrike">
                <a:solidFill>
                  <a:srgbClr val="E8ECFF"/>
                </a:solidFill>
                <a:latin typeface="Calibri"/>
                <a:ea typeface="Calibri"/>
                <a:cs typeface="Calibri"/>
                <a:sym typeface="Calibri"/>
              </a:rPr>
              <a:t>Attention runs many times in parallel.</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400"/>
              <a:buFont typeface="Calibri"/>
              <a:buNone/>
            </a:pPr>
            <a:r>
              <a:rPr b="1" i="0" lang="en-US" sz="3400" u="none" cap="none" strike="noStrike">
                <a:solidFill>
                  <a:srgbClr val="E8ECFF"/>
                </a:solidFill>
                <a:latin typeface="Calibri"/>
                <a:ea typeface="Calibri"/>
                <a:cs typeface="Calibri"/>
                <a:sym typeface="Calibri"/>
              </a:rPr>
              <a:t>Each 'head' learns something different.</a:t>
            </a:r>
            <a:endParaRPr b="0" i="0" sz="3400" u="none" cap="none" strike="noStrike">
              <a:solidFill>
                <a:schemeClr val="dk1"/>
              </a:solidFill>
              <a:latin typeface="Calibri"/>
              <a:ea typeface="Calibri"/>
              <a:cs typeface="Calibri"/>
              <a:sym typeface="Calibri"/>
            </a:endParaRPr>
          </a:p>
        </p:txBody>
      </p:sp>
      <p:sp>
        <p:nvSpPr>
          <p:cNvPr id="382" name="Google Shape;382;p15"/>
          <p:cNvSpPr/>
          <p:nvPr/>
        </p:nvSpPr>
        <p:spPr>
          <a:xfrm>
            <a:off x="495290" y="2423163"/>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678170" y="2752347"/>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678170" y="2752347"/>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1</a:t>
            </a:r>
            <a:endParaRPr b="0" i="0" sz="1100" u="none" cap="none" strike="noStrike">
              <a:solidFill>
                <a:schemeClr val="dk1"/>
              </a:solidFill>
              <a:latin typeface="Calibri"/>
              <a:ea typeface="Calibri"/>
              <a:cs typeface="Calibri"/>
              <a:sym typeface="Calibri"/>
            </a:endParaRPr>
          </a:p>
        </p:txBody>
      </p:sp>
      <p:sp>
        <p:nvSpPr>
          <p:cNvPr id="385" name="Google Shape;385;p15"/>
          <p:cNvSpPr/>
          <p:nvPr/>
        </p:nvSpPr>
        <p:spPr>
          <a:xfrm>
            <a:off x="1281674" y="2551179"/>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Who did what?</a:t>
            </a:r>
            <a:endParaRPr b="0" i="0" sz="1400" u="none" cap="none" strike="noStrike">
              <a:solidFill>
                <a:schemeClr val="dk1"/>
              </a:solidFill>
              <a:latin typeface="Calibri"/>
              <a:ea typeface="Calibri"/>
              <a:cs typeface="Calibri"/>
              <a:sym typeface="Calibri"/>
            </a:endParaRPr>
          </a:p>
        </p:txBody>
      </p:sp>
      <p:sp>
        <p:nvSpPr>
          <p:cNvPr id="386" name="Google Shape;386;p15"/>
          <p:cNvSpPr/>
          <p:nvPr/>
        </p:nvSpPr>
        <p:spPr>
          <a:xfrm>
            <a:off x="1281674" y="2935227"/>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Tracks subject–verb relationships</a:t>
            </a:r>
            <a:endParaRPr b="0" i="0" sz="1200" u="none" cap="none" strike="noStrike">
              <a:solidFill>
                <a:schemeClr val="dk1"/>
              </a:solidFill>
              <a:latin typeface="Calibri"/>
              <a:ea typeface="Calibri"/>
              <a:cs typeface="Calibri"/>
              <a:sym typeface="Calibri"/>
            </a:endParaRPr>
          </a:p>
        </p:txBody>
      </p:sp>
      <p:sp>
        <p:nvSpPr>
          <p:cNvPr id="387" name="Google Shape;387;p15"/>
          <p:cNvSpPr/>
          <p:nvPr/>
        </p:nvSpPr>
        <p:spPr>
          <a:xfrm>
            <a:off x="4290050" y="2423163"/>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4472930" y="2752347"/>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4472930" y="2752347"/>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2</a:t>
            </a:r>
            <a:endParaRPr b="0" i="0" sz="1100" u="none" cap="none" strike="noStrike">
              <a:solidFill>
                <a:schemeClr val="dk1"/>
              </a:solidFill>
              <a:latin typeface="Calibri"/>
              <a:ea typeface="Calibri"/>
              <a:cs typeface="Calibri"/>
              <a:sym typeface="Calibri"/>
            </a:endParaRPr>
          </a:p>
        </p:txBody>
      </p:sp>
      <p:sp>
        <p:nvSpPr>
          <p:cNvPr id="390" name="Google Shape;390;p15"/>
          <p:cNvSpPr/>
          <p:nvPr/>
        </p:nvSpPr>
        <p:spPr>
          <a:xfrm>
            <a:off x="5076434" y="2551179"/>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Is this a synonym?</a:t>
            </a:r>
            <a:endParaRPr b="0" i="0" sz="1400" u="none" cap="none" strike="noStrike">
              <a:solidFill>
                <a:schemeClr val="dk1"/>
              </a:solidFill>
              <a:latin typeface="Calibri"/>
              <a:ea typeface="Calibri"/>
              <a:cs typeface="Calibri"/>
              <a:sym typeface="Calibri"/>
            </a:endParaRPr>
          </a:p>
        </p:txBody>
      </p:sp>
      <p:sp>
        <p:nvSpPr>
          <p:cNvPr id="391" name="Google Shape;391;p15"/>
          <p:cNvSpPr/>
          <p:nvPr/>
        </p:nvSpPr>
        <p:spPr>
          <a:xfrm>
            <a:off x="5076434" y="2935227"/>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Relates semantically similar words</a:t>
            </a:r>
            <a:endParaRPr b="0" i="0" sz="1200" u="none" cap="none" strike="noStrike">
              <a:solidFill>
                <a:schemeClr val="dk1"/>
              </a:solidFill>
              <a:latin typeface="Calibri"/>
              <a:ea typeface="Calibri"/>
              <a:cs typeface="Calibri"/>
              <a:sym typeface="Calibri"/>
            </a:endParaRPr>
          </a:p>
        </p:txBody>
      </p:sp>
      <p:sp>
        <p:nvSpPr>
          <p:cNvPr id="392" name="Google Shape;392;p15"/>
          <p:cNvSpPr/>
          <p:nvPr/>
        </p:nvSpPr>
        <p:spPr>
          <a:xfrm>
            <a:off x="8084810" y="3749043"/>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8267690" y="4078227"/>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8267690" y="4078227"/>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3</a:t>
            </a:r>
            <a:endParaRPr b="0" i="0" sz="1100" u="none" cap="none" strike="noStrike">
              <a:solidFill>
                <a:schemeClr val="dk1"/>
              </a:solidFill>
              <a:latin typeface="Calibri"/>
              <a:ea typeface="Calibri"/>
              <a:cs typeface="Calibri"/>
              <a:sym typeface="Calibri"/>
            </a:endParaRPr>
          </a:p>
        </p:txBody>
      </p:sp>
      <p:sp>
        <p:nvSpPr>
          <p:cNvPr id="395" name="Google Shape;395;p15"/>
          <p:cNvSpPr/>
          <p:nvPr/>
        </p:nvSpPr>
        <p:spPr>
          <a:xfrm>
            <a:off x="8871194" y="3877059"/>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What modifies what?</a:t>
            </a:r>
            <a:endParaRPr b="0" i="0" sz="1400" u="none" cap="none" strike="noStrike">
              <a:solidFill>
                <a:schemeClr val="dk1"/>
              </a:solidFill>
              <a:latin typeface="Calibri"/>
              <a:ea typeface="Calibri"/>
              <a:cs typeface="Calibri"/>
              <a:sym typeface="Calibri"/>
            </a:endParaRPr>
          </a:p>
        </p:txBody>
      </p:sp>
      <p:sp>
        <p:nvSpPr>
          <p:cNvPr id="396" name="Google Shape;396;p15"/>
          <p:cNvSpPr/>
          <p:nvPr/>
        </p:nvSpPr>
        <p:spPr>
          <a:xfrm>
            <a:off x="8871194" y="4261107"/>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Finds adjective–noun links</a:t>
            </a:r>
            <a:endParaRPr b="0" i="0" sz="1200" u="none" cap="none" strike="noStrike">
              <a:solidFill>
                <a:schemeClr val="dk1"/>
              </a:solidFill>
              <a:latin typeface="Calibri"/>
              <a:ea typeface="Calibri"/>
              <a:cs typeface="Calibri"/>
              <a:sym typeface="Calibri"/>
            </a:endParaRPr>
          </a:p>
        </p:txBody>
      </p:sp>
      <p:sp>
        <p:nvSpPr>
          <p:cNvPr id="397" name="Google Shape;397;p15"/>
          <p:cNvSpPr/>
          <p:nvPr/>
        </p:nvSpPr>
        <p:spPr>
          <a:xfrm>
            <a:off x="495290" y="3749043"/>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678170" y="4078227"/>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678170" y="4078227"/>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4</a:t>
            </a:r>
            <a:endParaRPr b="0" i="0" sz="1100" u="none" cap="none" strike="noStrike">
              <a:solidFill>
                <a:schemeClr val="dk1"/>
              </a:solidFill>
              <a:latin typeface="Calibri"/>
              <a:ea typeface="Calibri"/>
              <a:cs typeface="Calibri"/>
              <a:sym typeface="Calibri"/>
            </a:endParaRPr>
          </a:p>
        </p:txBody>
      </p:sp>
      <p:sp>
        <p:nvSpPr>
          <p:cNvPr id="400" name="Google Shape;400;p15"/>
          <p:cNvSpPr/>
          <p:nvPr/>
        </p:nvSpPr>
        <p:spPr>
          <a:xfrm>
            <a:off x="1281674" y="3877059"/>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Co-reference</a:t>
            </a:r>
            <a:endParaRPr b="0" i="0" sz="1400" u="none" cap="none" strike="noStrike">
              <a:solidFill>
                <a:schemeClr val="dk1"/>
              </a:solidFill>
              <a:latin typeface="Calibri"/>
              <a:ea typeface="Calibri"/>
              <a:cs typeface="Calibri"/>
              <a:sym typeface="Calibri"/>
            </a:endParaRPr>
          </a:p>
        </p:txBody>
      </p:sp>
      <p:sp>
        <p:nvSpPr>
          <p:cNvPr id="401" name="Google Shape;401;p15"/>
          <p:cNvSpPr/>
          <p:nvPr/>
        </p:nvSpPr>
        <p:spPr>
          <a:xfrm>
            <a:off x="1281674" y="4261107"/>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Resolves pronouns like 'it', 'they', 'he'</a:t>
            </a:r>
            <a:endParaRPr b="0" i="0" sz="1200" u="none" cap="none" strike="noStrike">
              <a:solidFill>
                <a:schemeClr val="dk1"/>
              </a:solidFill>
              <a:latin typeface="Calibri"/>
              <a:ea typeface="Calibri"/>
              <a:cs typeface="Calibri"/>
              <a:sym typeface="Calibri"/>
            </a:endParaRPr>
          </a:p>
        </p:txBody>
      </p:sp>
      <p:sp>
        <p:nvSpPr>
          <p:cNvPr id="402" name="Google Shape;402;p15"/>
          <p:cNvSpPr/>
          <p:nvPr/>
        </p:nvSpPr>
        <p:spPr>
          <a:xfrm>
            <a:off x="4343400" y="5394960"/>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4526280" y="5724144"/>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4526280" y="57241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5</a:t>
            </a:r>
            <a:endParaRPr b="0" i="0" sz="1100" u="none" cap="none" strike="noStrike">
              <a:solidFill>
                <a:schemeClr val="dk1"/>
              </a:solidFill>
              <a:latin typeface="Calibri"/>
              <a:ea typeface="Calibri"/>
              <a:cs typeface="Calibri"/>
              <a:sym typeface="Calibri"/>
            </a:endParaRPr>
          </a:p>
        </p:txBody>
      </p:sp>
      <p:sp>
        <p:nvSpPr>
          <p:cNvPr id="405" name="Google Shape;405;p15"/>
          <p:cNvSpPr/>
          <p:nvPr/>
        </p:nvSpPr>
        <p:spPr>
          <a:xfrm>
            <a:off x="5129784" y="5522976"/>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Positional</a:t>
            </a:r>
            <a:endParaRPr b="0" i="0" sz="1400" u="none" cap="none" strike="noStrike">
              <a:solidFill>
                <a:schemeClr val="dk1"/>
              </a:solidFill>
              <a:latin typeface="Calibri"/>
              <a:ea typeface="Calibri"/>
              <a:cs typeface="Calibri"/>
              <a:sym typeface="Calibri"/>
            </a:endParaRPr>
          </a:p>
        </p:txBody>
      </p:sp>
      <p:sp>
        <p:nvSpPr>
          <p:cNvPr id="406" name="Google Shape;406;p15"/>
          <p:cNvSpPr/>
          <p:nvPr/>
        </p:nvSpPr>
        <p:spPr>
          <a:xfrm>
            <a:off x="5129784" y="5907024"/>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Tracks word order and distance</a:t>
            </a:r>
            <a:endParaRPr b="0" i="0" sz="1200" u="none" cap="none" strike="noStrike">
              <a:solidFill>
                <a:schemeClr val="dk1"/>
              </a:solidFill>
              <a:latin typeface="Calibri"/>
              <a:ea typeface="Calibri"/>
              <a:cs typeface="Calibri"/>
              <a:sym typeface="Calibri"/>
            </a:endParaRPr>
          </a:p>
        </p:txBody>
      </p:sp>
      <p:sp>
        <p:nvSpPr>
          <p:cNvPr id="407" name="Google Shape;407;p15"/>
          <p:cNvSpPr/>
          <p:nvPr/>
        </p:nvSpPr>
        <p:spPr>
          <a:xfrm>
            <a:off x="8138160" y="5394960"/>
            <a:ext cx="3612000" cy="1143000"/>
          </a:xfrm>
          <a:prstGeom prst="roundRect">
            <a:avLst>
              <a:gd fmla="val 7200" name="adj"/>
            </a:avLst>
          </a:prstGeom>
          <a:solidFill>
            <a:srgbClr val="1C2236"/>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8321040" y="5724144"/>
            <a:ext cx="457200" cy="45720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8321040" y="57241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Head 6</a:t>
            </a:r>
            <a:endParaRPr b="0" i="0" sz="1100" u="none" cap="none" strike="noStrike">
              <a:solidFill>
                <a:schemeClr val="dk1"/>
              </a:solidFill>
              <a:latin typeface="Calibri"/>
              <a:ea typeface="Calibri"/>
              <a:cs typeface="Calibri"/>
              <a:sym typeface="Calibri"/>
            </a:endParaRPr>
          </a:p>
        </p:txBody>
      </p:sp>
      <p:sp>
        <p:nvSpPr>
          <p:cNvPr id="410" name="Google Shape;410;p15"/>
          <p:cNvSpPr/>
          <p:nvPr/>
        </p:nvSpPr>
        <p:spPr>
          <a:xfrm>
            <a:off x="8924544" y="5522976"/>
            <a:ext cx="269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400"/>
              <a:buFont typeface="Calibri"/>
              <a:buNone/>
            </a:pPr>
            <a:r>
              <a:rPr b="1" i="0" lang="en-US" sz="1400" u="none" cap="none" strike="noStrike">
                <a:solidFill>
                  <a:srgbClr val="FDA4AF"/>
                </a:solidFill>
                <a:latin typeface="Calibri"/>
                <a:ea typeface="Calibri"/>
                <a:cs typeface="Calibri"/>
                <a:sym typeface="Calibri"/>
              </a:rPr>
              <a:t>Negation</a:t>
            </a:r>
            <a:endParaRPr b="0" i="0" sz="1400" u="none" cap="none" strike="noStrike">
              <a:solidFill>
                <a:schemeClr val="dk1"/>
              </a:solidFill>
              <a:latin typeface="Calibri"/>
              <a:ea typeface="Calibri"/>
              <a:cs typeface="Calibri"/>
              <a:sym typeface="Calibri"/>
            </a:endParaRPr>
          </a:p>
        </p:txBody>
      </p:sp>
      <p:sp>
        <p:nvSpPr>
          <p:cNvPr id="411" name="Google Shape;411;p15"/>
          <p:cNvSpPr/>
          <p:nvPr/>
        </p:nvSpPr>
        <p:spPr>
          <a:xfrm>
            <a:off x="8924544" y="5907024"/>
            <a:ext cx="2697600" cy="47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Spots 'not', 'never', 'didn't' and their scope</a:t>
            </a:r>
            <a:endParaRPr b="0" i="0" sz="1200" u="none" cap="none" strike="noStrike">
              <a:solidFill>
                <a:schemeClr val="dk1"/>
              </a:solidFill>
              <a:latin typeface="Calibri"/>
              <a:ea typeface="Calibri"/>
              <a:cs typeface="Calibri"/>
              <a:sym typeface="Calibri"/>
            </a:endParaRPr>
          </a:p>
        </p:txBody>
      </p:sp>
      <p:sp>
        <p:nvSpPr>
          <p:cNvPr id="412" name="Google Shape;412;p15"/>
          <p:cNvSpPr/>
          <p:nvPr/>
        </p:nvSpPr>
        <p:spPr>
          <a:xfrm>
            <a:off x="548640" y="5376672"/>
            <a:ext cx="11064300" cy="658500"/>
          </a:xfrm>
          <a:prstGeom prst="roundRect">
            <a:avLst>
              <a:gd fmla="val 12500" name="adj"/>
            </a:avLst>
          </a:prstGeom>
          <a:solidFill>
            <a:srgbClr val="1C1530"/>
          </a:solidFill>
          <a:ln cap="flat" cmpd="sng" w="12700">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777240" y="5468112"/>
            <a:ext cx="10424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400"/>
              <a:buFont typeface="Calibri"/>
              <a:buNone/>
            </a:pPr>
            <a:r>
              <a:rPr b="0" i="0" lang="en-US" sz="1400" u="none" cap="none" strike="noStrike">
                <a:solidFill>
                  <a:srgbClr val="8B92B8"/>
                </a:solidFill>
                <a:latin typeface="Calibri"/>
                <a:ea typeface="Calibri"/>
                <a:cs typeface="Calibri"/>
                <a:sym typeface="Calibri"/>
              </a:rPr>
              <a:t>Real models have 12–96 heads per layer and 24–96 transformer layers. All heads run in parallel. The model learns what to look for — you never specify it. This is why transformers are so powerful.</a:t>
            </a:r>
            <a:endParaRPr b="0" i="0" sz="1400" u="none" cap="none" strike="noStrike">
              <a:solidFill>
                <a:schemeClr val="dk1"/>
              </a:solidFill>
              <a:latin typeface="Calibri"/>
              <a:ea typeface="Calibri"/>
              <a:cs typeface="Calibri"/>
              <a:sym typeface="Calibri"/>
            </a:endParaRPr>
          </a:p>
        </p:txBody>
      </p:sp>
      <p:sp>
        <p:nvSpPr>
          <p:cNvPr id="414" name="Google Shape;414;p15"/>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416" name="Google Shape;416;p1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13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421" name="Shape 421"/>
        <p:cNvGrpSpPr/>
        <p:nvPr/>
      </p:nvGrpSpPr>
      <p:grpSpPr>
        <a:xfrm>
          <a:off x="0" y="0"/>
          <a:ext cx="0" cy="0"/>
          <a:chOff x="0" y="0"/>
          <a:chExt cx="0" cy="0"/>
        </a:xfrm>
      </p:grpSpPr>
      <p:sp>
        <p:nvSpPr>
          <p:cNvPr id="422" name="Google Shape;422;p16"/>
          <p:cNvSpPr/>
          <p:nvPr/>
        </p:nvSpPr>
        <p:spPr>
          <a:xfrm>
            <a:off x="8213970" y="-37665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0000"/>
              <a:buFont typeface="Calibri"/>
              <a:buNone/>
            </a:pPr>
            <a:r>
              <a:rPr b="1" i="0" lang="en-US" sz="20000" u="none" cap="none" strike="noStrike">
                <a:solidFill>
                  <a:srgbClr val="16A34A"/>
                </a:solidFill>
                <a:latin typeface="Calibri"/>
                <a:ea typeface="Calibri"/>
                <a:cs typeface="Calibri"/>
                <a:sym typeface="Calibri"/>
              </a:rPr>
              <a:t>04 </a:t>
            </a:r>
            <a:endParaRPr b="0" i="0" sz="20000" u="none" cap="none" strike="noStrike">
              <a:solidFill>
                <a:schemeClr val="dk1"/>
              </a:solidFill>
              <a:latin typeface="Calibri"/>
              <a:ea typeface="Calibri"/>
              <a:cs typeface="Calibri"/>
              <a:sym typeface="Calibri"/>
            </a:endParaRPr>
          </a:p>
        </p:txBody>
      </p:sp>
      <p:sp>
        <p:nvSpPr>
          <p:cNvPr id="423" name="Google Shape;423;p16"/>
          <p:cNvSpPr/>
          <p:nvPr/>
        </p:nvSpPr>
        <p:spPr>
          <a:xfrm>
            <a:off x="475488" y="804672"/>
            <a:ext cx="658368" cy="65836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4+5</a:t>
            </a:r>
            <a:endParaRPr b="0" i="0" sz="2200" u="none" cap="none" strike="noStrike">
              <a:solidFill>
                <a:schemeClr val="dk1"/>
              </a:solidFill>
              <a:latin typeface="Calibri"/>
              <a:ea typeface="Calibri"/>
              <a:cs typeface="Calibri"/>
              <a:sym typeface="Calibri"/>
            </a:endParaRPr>
          </a:p>
        </p:txBody>
      </p:sp>
      <p:sp>
        <p:nvSpPr>
          <p:cNvPr id="425" name="Google Shape;425;p16"/>
          <p:cNvSpPr/>
          <p:nvPr/>
        </p:nvSpPr>
        <p:spPr>
          <a:xfrm>
            <a:off x="1298448" y="82296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STEPS</a:t>
            </a:r>
            <a:endParaRPr b="0" i="0" sz="1300" u="none" cap="none" strike="noStrike">
              <a:solidFill>
                <a:schemeClr val="dk1"/>
              </a:solidFill>
              <a:latin typeface="Calibri"/>
              <a:ea typeface="Calibri"/>
              <a:cs typeface="Calibri"/>
              <a:sym typeface="Calibri"/>
            </a:endParaRPr>
          </a:p>
        </p:txBody>
      </p:sp>
      <p:sp>
        <p:nvSpPr>
          <p:cNvPr id="426" name="Google Shape;426;p16"/>
          <p:cNvSpPr/>
          <p:nvPr/>
        </p:nvSpPr>
        <p:spPr>
          <a:xfrm>
            <a:off x="685800" y="1417320"/>
            <a:ext cx="10058400" cy="12801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Predict + Sample</a:t>
            </a:r>
            <a:endParaRPr b="0" i="0" sz="5800" u="none" cap="none" strike="noStrike">
              <a:solidFill>
                <a:schemeClr val="dk1"/>
              </a:solidFill>
              <a:latin typeface="Calibri"/>
              <a:ea typeface="Calibri"/>
              <a:cs typeface="Calibri"/>
              <a:sym typeface="Calibri"/>
            </a:endParaRPr>
          </a:p>
        </p:txBody>
      </p:sp>
      <p:sp>
        <p:nvSpPr>
          <p:cNvPr id="427" name="Google Shape;427;p16"/>
          <p:cNvSpPr/>
          <p:nvPr/>
        </p:nvSpPr>
        <p:spPr>
          <a:xfrm>
            <a:off x="685800" y="2880360"/>
            <a:ext cx="9144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200"/>
              <a:buFont typeface="Calibri"/>
              <a:buNone/>
            </a:pPr>
            <a:r>
              <a:rPr b="0" i="0" lang="en-US" sz="2200" u="none" cap="none" strike="noStrike">
                <a:solidFill>
                  <a:srgbClr val="8B92B8"/>
                </a:solidFill>
                <a:latin typeface="Calibri"/>
                <a:ea typeface="Calibri"/>
                <a:cs typeface="Calibri"/>
                <a:sym typeface="Calibri"/>
              </a:rPr>
              <a:t>Score every possible next token. Then pick one. Then loop.</a:t>
            </a:r>
            <a:endParaRPr b="0" i="0" sz="2200" u="none" cap="none" strike="noStrike">
              <a:solidFill>
                <a:schemeClr val="dk1"/>
              </a:solidFill>
              <a:latin typeface="Calibri"/>
              <a:ea typeface="Calibri"/>
              <a:cs typeface="Calibri"/>
              <a:sym typeface="Calibri"/>
            </a:endParaRPr>
          </a:p>
        </p:txBody>
      </p:sp>
      <p:sp>
        <p:nvSpPr>
          <p:cNvPr id="428" name="Google Shape;428;p16"/>
          <p:cNvSpPr/>
          <p:nvPr/>
        </p:nvSpPr>
        <p:spPr>
          <a:xfrm>
            <a:off x="0" y="6583680"/>
            <a:ext cx="12191695" cy="274320"/>
          </a:xfrm>
          <a:prstGeom prst="rect">
            <a:avLst/>
          </a:prstGeom>
          <a:solidFill>
            <a:srgbClr val="16A34A">
              <a:alpha val="12156"/>
            </a:srgbClr>
          </a:solidFill>
          <a:ln cap="flat" cmpd="sng" w="12700">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430" name="Google Shape;430;p1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14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17"/>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STEP 4 · PREDICT</a:t>
            </a:r>
            <a:endParaRPr b="0" i="0" sz="1200" u="none" cap="none" strike="noStrike">
              <a:solidFill>
                <a:schemeClr val="dk1"/>
              </a:solidFill>
              <a:latin typeface="Calibri"/>
              <a:ea typeface="Calibri"/>
              <a:cs typeface="Calibri"/>
              <a:sym typeface="Calibri"/>
            </a:endParaRPr>
          </a:p>
        </p:txBody>
      </p:sp>
      <p:sp>
        <p:nvSpPr>
          <p:cNvPr id="437" name="Google Shape;437;p17"/>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The model outputs a probability for</a:t>
            </a:r>
            <a:endParaRPr b="0" i="0" sz="3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every token in its vocabulary</a:t>
            </a:r>
            <a:endParaRPr b="0" i="0" sz="3200" u="none" cap="none" strike="noStrike">
              <a:solidFill>
                <a:schemeClr val="dk1"/>
              </a:solidFill>
              <a:latin typeface="Calibri"/>
              <a:ea typeface="Calibri"/>
              <a:cs typeface="Calibri"/>
              <a:sym typeface="Calibri"/>
            </a:endParaRPr>
          </a:p>
        </p:txBody>
      </p:sp>
      <p:sp>
        <p:nvSpPr>
          <p:cNvPr id="438" name="Google Shape;438;p17"/>
          <p:cNvSpPr/>
          <p:nvPr/>
        </p:nvSpPr>
        <p:spPr>
          <a:xfrm>
            <a:off x="914400" y="2834640"/>
            <a:ext cx="1234440" cy="2194560"/>
          </a:xfrm>
          <a:prstGeom prst="roundRect">
            <a:avLst>
              <a:gd fmla="val 3704"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914400" y="2487168"/>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88%</a:t>
            </a:r>
            <a:endParaRPr b="0" i="0" sz="1300" u="none" cap="none" strike="noStrike">
              <a:solidFill>
                <a:schemeClr val="dk1"/>
              </a:solidFill>
              <a:latin typeface="Calibri"/>
              <a:ea typeface="Calibri"/>
              <a:cs typeface="Calibri"/>
              <a:sym typeface="Calibri"/>
            </a:endParaRPr>
          </a:p>
        </p:txBody>
      </p:sp>
      <p:sp>
        <p:nvSpPr>
          <p:cNvPr id="440" name="Google Shape;440;p17"/>
          <p:cNvSpPr/>
          <p:nvPr/>
        </p:nvSpPr>
        <p:spPr>
          <a:xfrm>
            <a:off x="82296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mat</a:t>
            </a:r>
            <a:endParaRPr b="0" i="0" sz="1200" u="none" cap="none" strike="noStrike">
              <a:solidFill>
                <a:schemeClr val="dk1"/>
              </a:solidFill>
              <a:latin typeface="Calibri"/>
              <a:ea typeface="Calibri"/>
              <a:cs typeface="Calibri"/>
              <a:sym typeface="Calibri"/>
            </a:endParaRPr>
          </a:p>
        </p:txBody>
      </p:sp>
      <p:sp>
        <p:nvSpPr>
          <p:cNvPr id="441" name="Google Shape;441;p17"/>
          <p:cNvSpPr/>
          <p:nvPr/>
        </p:nvSpPr>
        <p:spPr>
          <a:xfrm>
            <a:off x="2423160" y="4879571"/>
            <a:ext cx="1234440" cy="149629"/>
          </a:xfrm>
          <a:prstGeom prst="roundRect">
            <a:avLst>
              <a:gd fmla="val 30556"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7"/>
          <p:cNvSpPr/>
          <p:nvPr/>
        </p:nvSpPr>
        <p:spPr>
          <a:xfrm>
            <a:off x="2423160" y="4532099"/>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443" name="Google Shape;443;p17"/>
          <p:cNvSpPr/>
          <p:nvPr/>
        </p:nvSpPr>
        <p:spPr>
          <a:xfrm>
            <a:off x="233172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floor</a:t>
            </a:r>
            <a:endParaRPr b="0" i="0" sz="1200" u="none" cap="none" strike="noStrike">
              <a:solidFill>
                <a:schemeClr val="dk1"/>
              </a:solidFill>
              <a:latin typeface="Calibri"/>
              <a:ea typeface="Calibri"/>
              <a:cs typeface="Calibri"/>
              <a:sym typeface="Calibri"/>
            </a:endParaRPr>
          </a:p>
        </p:txBody>
      </p:sp>
      <p:sp>
        <p:nvSpPr>
          <p:cNvPr id="444" name="Google Shape;444;p17"/>
          <p:cNvSpPr/>
          <p:nvPr/>
        </p:nvSpPr>
        <p:spPr>
          <a:xfrm>
            <a:off x="3931920" y="4954385"/>
            <a:ext cx="1234440" cy="74815"/>
          </a:xfrm>
          <a:prstGeom prst="roundRect">
            <a:avLst>
              <a:gd fmla="val 6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3931920" y="4606913"/>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46" name="Google Shape;446;p17"/>
          <p:cNvSpPr/>
          <p:nvPr/>
        </p:nvSpPr>
        <p:spPr>
          <a:xfrm>
            <a:off x="384048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rug</a:t>
            </a:r>
            <a:endParaRPr b="0" i="0" sz="1200" u="none" cap="none" strike="noStrike">
              <a:solidFill>
                <a:schemeClr val="dk1"/>
              </a:solidFill>
              <a:latin typeface="Calibri"/>
              <a:ea typeface="Calibri"/>
              <a:cs typeface="Calibri"/>
              <a:sym typeface="Calibri"/>
            </a:endParaRPr>
          </a:p>
        </p:txBody>
      </p:sp>
      <p:sp>
        <p:nvSpPr>
          <p:cNvPr id="447" name="Google Shape;447;p17"/>
          <p:cNvSpPr/>
          <p:nvPr/>
        </p:nvSpPr>
        <p:spPr>
          <a:xfrm>
            <a:off x="5440680" y="4991793"/>
            <a:ext cx="1234440" cy="37407"/>
          </a:xfrm>
          <a:prstGeom prst="roundRect">
            <a:avLst>
              <a:gd fmla="val 122223"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5440680" y="4644321"/>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1.5%</a:t>
            </a:r>
            <a:endParaRPr b="0" i="0" sz="1300" u="none" cap="none" strike="noStrike">
              <a:solidFill>
                <a:schemeClr val="dk1"/>
              </a:solidFill>
              <a:latin typeface="Calibri"/>
              <a:ea typeface="Calibri"/>
              <a:cs typeface="Calibri"/>
              <a:sym typeface="Calibri"/>
            </a:endParaRPr>
          </a:p>
        </p:txBody>
      </p:sp>
      <p:sp>
        <p:nvSpPr>
          <p:cNvPr id="449" name="Google Shape;449;p17"/>
          <p:cNvSpPr/>
          <p:nvPr/>
        </p:nvSpPr>
        <p:spPr>
          <a:xfrm>
            <a:off x="534924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ground</a:t>
            </a:r>
            <a:endParaRPr b="0" i="0" sz="1200" u="none" cap="none" strike="noStrike">
              <a:solidFill>
                <a:schemeClr val="dk1"/>
              </a:solidFill>
              <a:latin typeface="Calibri"/>
              <a:ea typeface="Calibri"/>
              <a:cs typeface="Calibri"/>
              <a:sym typeface="Calibri"/>
            </a:endParaRPr>
          </a:p>
        </p:txBody>
      </p:sp>
      <p:sp>
        <p:nvSpPr>
          <p:cNvPr id="450" name="Google Shape;450;p17"/>
          <p:cNvSpPr/>
          <p:nvPr/>
        </p:nvSpPr>
        <p:spPr>
          <a:xfrm>
            <a:off x="6949440" y="5009249"/>
            <a:ext cx="1234440" cy="19951"/>
          </a:xfrm>
          <a:prstGeom prst="roundRect">
            <a:avLst>
              <a:gd fmla="val 229161"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6949440" y="4661777"/>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0.8%</a:t>
            </a:r>
            <a:endParaRPr b="0" i="0" sz="1300" u="none" cap="none" strike="noStrike">
              <a:solidFill>
                <a:schemeClr val="dk1"/>
              </a:solidFill>
              <a:latin typeface="Calibri"/>
              <a:ea typeface="Calibri"/>
              <a:cs typeface="Calibri"/>
              <a:sym typeface="Calibri"/>
            </a:endParaRPr>
          </a:p>
        </p:txBody>
      </p:sp>
      <p:sp>
        <p:nvSpPr>
          <p:cNvPr id="452" name="Google Shape;452;p17"/>
          <p:cNvSpPr/>
          <p:nvPr/>
        </p:nvSpPr>
        <p:spPr>
          <a:xfrm>
            <a:off x="685800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roof</a:t>
            </a:r>
            <a:endParaRPr b="0" i="0" sz="1200" u="none" cap="none" strike="noStrike">
              <a:solidFill>
                <a:schemeClr val="dk1"/>
              </a:solidFill>
              <a:latin typeface="Calibri"/>
              <a:ea typeface="Calibri"/>
              <a:cs typeface="Calibri"/>
              <a:sym typeface="Calibri"/>
            </a:endParaRPr>
          </a:p>
        </p:txBody>
      </p:sp>
      <p:sp>
        <p:nvSpPr>
          <p:cNvPr id="453" name="Google Shape;453;p17"/>
          <p:cNvSpPr/>
          <p:nvPr/>
        </p:nvSpPr>
        <p:spPr>
          <a:xfrm>
            <a:off x="8458200" y="5011743"/>
            <a:ext cx="1234440" cy="17457"/>
          </a:xfrm>
          <a:prstGeom prst="roundRect">
            <a:avLst>
              <a:gd fmla="val 261901" name="adj"/>
            </a:avLst>
          </a:prstGeom>
          <a:solidFill>
            <a:srgbClr val="8B92B8"/>
          </a:solidFill>
          <a:ln cap="flat" cmpd="sng" w="12700">
            <a:solidFill>
              <a:srgbClr val="8B92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p:nvPr/>
        </p:nvSpPr>
        <p:spPr>
          <a:xfrm>
            <a:off x="8458200" y="4664271"/>
            <a:ext cx="1234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1300"/>
              <a:buFont typeface="Calibri"/>
              <a:buNone/>
            </a:pPr>
            <a:r>
              <a:rPr b="1" i="0" lang="en-US" sz="1300" u="none" cap="none" strike="noStrike">
                <a:solidFill>
                  <a:srgbClr val="8B92B8"/>
                </a:solidFill>
                <a:latin typeface="Calibri"/>
                <a:ea typeface="Calibri"/>
                <a:cs typeface="Calibri"/>
                <a:sym typeface="Calibri"/>
              </a:rPr>
              <a:t>0.7%</a:t>
            </a:r>
            <a:endParaRPr b="0" i="0" sz="1300" u="none" cap="none" strike="noStrike">
              <a:solidFill>
                <a:schemeClr val="dk1"/>
              </a:solidFill>
              <a:latin typeface="Calibri"/>
              <a:ea typeface="Calibri"/>
              <a:cs typeface="Calibri"/>
              <a:sym typeface="Calibri"/>
            </a:endParaRPr>
          </a:p>
        </p:txBody>
      </p:sp>
      <p:sp>
        <p:nvSpPr>
          <p:cNvPr id="455" name="Google Shape;455;p17"/>
          <p:cNvSpPr/>
          <p:nvPr/>
        </p:nvSpPr>
        <p:spPr>
          <a:xfrm>
            <a:off x="8366760" y="5102352"/>
            <a:ext cx="14173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Courier New"/>
              <a:buNone/>
            </a:pPr>
            <a:r>
              <a:rPr b="0" i="0" lang="en-US" sz="1000" u="none" cap="none" strike="noStrike">
                <a:solidFill>
                  <a:srgbClr val="475569"/>
                </a:solidFill>
                <a:latin typeface="Courier New"/>
                <a:ea typeface="Courier New"/>
                <a:cs typeface="Courier New"/>
                <a:sym typeface="Courier New"/>
              </a:rPr>
              <a:t>…93,000+ others</a:t>
            </a:r>
            <a:endParaRPr b="0" i="0" sz="1000" u="none" cap="none" strike="noStrike">
              <a:solidFill>
                <a:schemeClr val="dk1"/>
              </a:solidFill>
              <a:latin typeface="Calibri"/>
              <a:ea typeface="Calibri"/>
              <a:cs typeface="Calibri"/>
              <a:sym typeface="Calibri"/>
            </a:endParaRPr>
          </a:p>
        </p:txBody>
      </p:sp>
      <p:cxnSp>
        <p:nvCxnSpPr>
          <p:cNvPr id="456" name="Google Shape;456;p17"/>
          <p:cNvCxnSpPr/>
          <p:nvPr/>
        </p:nvCxnSpPr>
        <p:spPr>
          <a:xfrm>
            <a:off x="914400" y="5029200"/>
            <a:ext cx="10058400" cy="0"/>
          </a:xfrm>
          <a:prstGeom prst="straightConnector1">
            <a:avLst/>
          </a:prstGeom>
          <a:noFill/>
          <a:ln cap="flat" cmpd="sng" w="12700">
            <a:solidFill>
              <a:srgbClr val="CBD5E1"/>
            </a:solidFill>
            <a:prstDash val="solid"/>
            <a:round/>
            <a:headEnd len="sm" w="sm" type="none"/>
            <a:tailEnd len="sm" w="sm" type="none"/>
          </a:ln>
        </p:spPr>
      </p:cxnSp>
      <p:sp>
        <p:nvSpPr>
          <p:cNvPr id="457" name="Google Shape;457;p17"/>
          <p:cNvSpPr/>
          <p:nvPr/>
        </p:nvSpPr>
        <p:spPr>
          <a:xfrm>
            <a:off x="548640" y="5687568"/>
            <a:ext cx="11064240" cy="749808"/>
          </a:xfrm>
          <a:prstGeom prst="roundRect">
            <a:avLst>
              <a:gd fmla="val 1097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7"/>
          <p:cNvSpPr/>
          <p:nvPr/>
        </p:nvSpPr>
        <p:spPr>
          <a:xfrm>
            <a:off x="777240" y="5760720"/>
            <a:ext cx="10424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Key insight: </a:t>
            </a:r>
            <a:r>
              <a:rPr b="0" i="0" lang="en-US" sz="1400" u="none" cap="none" strike="noStrike">
                <a:solidFill>
                  <a:srgbClr val="475569"/>
                </a:solidFill>
                <a:latin typeface="Calibri"/>
                <a:ea typeface="Calibri"/>
                <a:cs typeface="Calibri"/>
                <a:sym typeface="Calibri"/>
              </a:rPr>
              <a:t>the model is </a:t>
            </a:r>
            <a:r>
              <a:rPr b="1" i="0" lang="en-US" sz="1400" u="none" cap="none" strike="noStrike">
                <a:solidFill>
                  <a:srgbClr val="475569"/>
                </a:solidFill>
                <a:latin typeface="Calibri"/>
                <a:ea typeface="Calibri"/>
                <a:cs typeface="Calibri"/>
                <a:sym typeface="Calibri"/>
              </a:rPr>
              <a:t>uncertain by design. </a:t>
            </a:r>
            <a:r>
              <a:rPr b="0" i="0" lang="en-US" sz="1400" u="none" cap="none" strike="noStrike">
                <a:solidFill>
                  <a:srgbClr val="475569"/>
                </a:solidFill>
                <a:latin typeface="Calibri"/>
                <a:ea typeface="Calibri"/>
                <a:cs typeface="Calibri"/>
                <a:sym typeface="Calibri"/>
              </a:rPr>
              <a:t>It doesn't output one answer — it outputs ranked opinions. The next step (sampling) decides how strictly to follow the ranking.</a:t>
            </a:r>
            <a:endParaRPr b="0" i="0" sz="1400" u="none" cap="none" strike="noStrike">
              <a:solidFill>
                <a:schemeClr val="dk1"/>
              </a:solidFill>
              <a:latin typeface="Calibri"/>
              <a:ea typeface="Calibri"/>
              <a:cs typeface="Calibri"/>
              <a:sym typeface="Calibri"/>
            </a:endParaRPr>
          </a:p>
        </p:txBody>
      </p:sp>
      <p:sp>
        <p:nvSpPr>
          <p:cNvPr id="459" name="Google Shape;459;p17"/>
          <p:cNvSpPr/>
          <p:nvPr/>
        </p:nvSpPr>
        <p:spPr>
          <a:xfrm>
            <a:off x="0" y="6583680"/>
            <a:ext cx="12191695" cy="274320"/>
          </a:xfrm>
          <a:prstGeom prst="rect">
            <a:avLst/>
          </a:prstGeom>
          <a:solidFill>
            <a:srgbClr val="16A34A">
              <a:alpha val="12156"/>
            </a:srgbClr>
          </a:solidFill>
          <a:ln cap="flat" cmpd="sng" w="12700">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461" name="Google Shape;461;p1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15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18"/>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STEP 5 · SAMPLE — THE CREATIVITY DIAL</a:t>
            </a:r>
            <a:endParaRPr b="0" i="0" sz="1200" u="none" cap="none" strike="noStrike">
              <a:solidFill>
                <a:schemeClr val="dk1"/>
              </a:solidFill>
              <a:latin typeface="Calibri"/>
              <a:ea typeface="Calibri"/>
              <a:cs typeface="Calibri"/>
              <a:sym typeface="Calibri"/>
            </a:endParaRPr>
          </a:p>
        </p:txBody>
      </p:sp>
      <p:sp>
        <p:nvSpPr>
          <p:cNvPr id="468" name="Google Shape;468;p18"/>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Temperature controls how strictly the</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model follows the probability ranking</a:t>
            </a:r>
            <a:endParaRPr b="0" i="0" sz="3000" u="none" cap="none" strike="noStrike">
              <a:solidFill>
                <a:schemeClr val="dk1"/>
              </a:solidFill>
              <a:latin typeface="Calibri"/>
              <a:ea typeface="Calibri"/>
              <a:cs typeface="Calibri"/>
              <a:sym typeface="Calibri"/>
            </a:endParaRPr>
          </a:p>
        </p:txBody>
      </p:sp>
      <p:sp>
        <p:nvSpPr>
          <p:cNvPr id="469" name="Google Shape;469;p18"/>
          <p:cNvSpPr/>
          <p:nvPr/>
        </p:nvSpPr>
        <p:spPr>
          <a:xfrm>
            <a:off x="548640" y="2057400"/>
            <a:ext cx="3611880" cy="4251960"/>
          </a:xfrm>
          <a:prstGeom prst="roundRect">
            <a:avLst>
              <a:gd fmla="val 2532" name="adj"/>
            </a:avLst>
          </a:prstGeom>
          <a:solidFill>
            <a:srgbClr val="ECFEFF"/>
          </a:solidFill>
          <a:ln cap="flat" cmpd="sng" w="12700">
            <a:solidFill>
              <a:srgbClr val="0891B2">
                <a:alpha val="50196"/>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p:nvPr/>
        </p:nvSpPr>
        <p:spPr>
          <a:xfrm>
            <a:off x="548640" y="2176272"/>
            <a:ext cx="36118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4400"/>
              <a:buFont typeface="Calibri"/>
              <a:buNone/>
            </a:pPr>
            <a:r>
              <a:rPr b="1" i="0" lang="en-US" sz="4400" u="none" cap="none" strike="noStrike">
                <a:solidFill>
                  <a:srgbClr val="0891B2"/>
                </a:solidFill>
                <a:latin typeface="Calibri"/>
                <a:ea typeface="Calibri"/>
                <a:cs typeface="Calibri"/>
                <a:sym typeface="Calibri"/>
              </a:rPr>
              <a:t>0.0</a:t>
            </a:r>
            <a:endParaRPr b="0" i="0" sz="4400" u="none" cap="none" strike="noStrike">
              <a:solidFill>
                <a:schemeClr val="dk1"/>
              </a:solidFill>
              <a:latin typeface="Calibri"/>
              <a:ea typeface="Calibri"/>
              <a:cs typeface="Calibri"/>
              <a:sym typeface="Calibri"/>
            </a:endParaRPr>
          </a:p>
        </p:txBody>
      </p:sp>
      <p:sp>
        <p:nvSpPr>
          <p:cNvPr id="471" name="Google Shape;471;p18"/>
          <p:cNvSpPr/>
          <p:nvPr/>
        </p:nvSpPr>
        <p:spPr>
          <a:xfrm>
            <a:off x="731520" y="2999232"/>
            <a:ext cx="32461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400"/>
              <a:buFont typeface="Calibri"/>
              <a:buNone/>
            </a:pPr>
            <a:r>
              <a:rPr b="1" i="0" lang="en-US" sz="1400" u="none" cap="none" strike="noStrike">
                <a:solidFill>
                  <a:srgbClr val="0891B2"/>
                </a:solidFill>
                <a:latin typeface="Calibri"/>
                <a:ea typeface="Calibri"/>
                <a:cs typeface="Calibri"/>
                <a:sym typeface="Calibri"/>
              </a:rPr>
              <a:t>Deterministic</a:t>
            </a:r>
            <a:endParaRPr b="0" i="0" sz="1400" u="none" cap="none" strike="noStrike">
              <a:solidFill>
                <a:schemeClr val="dk1"/>
              </a:solidFill>
              <a:latin typeface="Calibri"/>
              <a:ea typeface="Calibri"/>
              <a:cs typeface="Calibri"/>
              <a:sym typeface="Calibri"/>
            </a:endParaRPr>
          </a:p>
        </p:txBody>
      </p:sp>
      <p:cxnSp>
        <p:nvCxnSpPr>
          <p:cNvPr id="472" name="Google Shape;472;p18"/>
          <p:cNvCxnSpPr/>
          <p:nvPr/>
        </p:nvCxnSpPr>
        <p:spPr>
          <a:xfrm>
            <a:off x="822960" y="3401568"/>
            <a:ext cx="3063240" cy="0"/>
          </a:xfrm>
          <a:prstGeom prst="straightConnector1">
            <a:avLst/>
          </a:prstGeom>
          <a:noFill/>
          <a:ln cap="flat" cmpd="sng" w="9525">
            <a:solidFill>
              <a:srgbClr val="0891B2">
                <a:alpha val="50196"/>
              </a:srgbClr>
            </a:solidFill>
            <a:prstDash val="solid"/>
            <a:round/>
            <a:headEnd len="sm" w="sm" type="none"/>
            <a:tailEnd len="sm" w="sm" type="none"/>
          </a:ln>
        </p:spPr>
      </p:cxnSp>
      <p:sp>
        <p:nvSpPr>
          <p:cNvPr id="473" name="Google Shape;473;p18"/>
          <p:cNvSpPr/>
          <p:nvPr/>
        </p:nvSpPr>
        <p:spPr>
          <a:xfrm>
            <a:off x="731520" y="3493008"/>
            <a:ext cx="324612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Always picks the highest-probability token. Same input = same output every time. Use for: extraction, classification, SQL generation.</a:t>
            </a:r>
            <a:endParaRPr b="0" i="0" sz="1300" u="none" cap="none" strike="noStrike">
              <a:solidFill>
                <a:schemeClr val="dk1"/>
              </a:solidFill>
              <a:latin typeface="Calibri"/>
              <a:ea typeface="Calibri"/>
              <a:cs typeface="Calibri"/>
              <a:sym typeface="Calibri"/>
            </a:endParaRPr>
          </a:p>
        </p:txBody>
      </p:sp>
      <p:sp>
        <p:nvSpPr>
          <p:cNvPr id="474" name="Google Shape;474;p18"/>
          <p:cNvSpPr/>
          <p:nvPr/>
        </p:nvSpPr>
        <p:spPr>
          <a:xfrm>
            <a:off x="731520" y="4919472"/>
            <a:ext cx="3246120" cy="749808"/>
          </a:xfrm>
          <a:prstGeom prst="roundRect">
            <a:avLst>
              <a:gd fmla="val 8537"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p:nvPr/>
        </p:nvSpPr>
        <p:spPr>
          <a:xfrm>
            <a:off x="777240" y="4956048"/>
            <a:ext cx="3154680" cy="6766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100"/>
              <a:buFont typeface="Courier New"/>
              <a:buNone/>
            </a:pPr>
            <a:r>
              <a:rPr b="1" i="0" lang="en-US" sz="1100" u="none" cap="none" strike="noStrike">
                <a:solidFill>
                  <a:srgbClr val="FFFFFF"/>
                </a:solidFill>
                <a:latin typeface="Courier New"/>
                <a:ea typeface="Courier New"/>
                <a:cs typeface="Courier New"/>
                <a:sym typeface="Courier New"/>
              </a:rPr>
              <a:t>"The cat sat on the mat."   (always)</a:t>
            </a:r>
            <a:endParaRPr b="0" i="0" sz="1100" u="none" cap="none" strike="noStrike">
              <a:solidFill>
                <a:schemeClr val="dk1"/>
              </a:solidFill>
              <a:latin typeface="Calibri"/>
              <a:ea typeface="Calibri"/>
              <a:cs typeface="Calibri"/>
              <a:sym typeface="Calibri"/>
            </a:endParaRPr>
          </a:p>
        </p:txBody>
      </p:sp>
      <p:sp>
        <p:nvSpPr>
          <p:cNvPr id="476" name="Google Shape;476;p18"/>
          <p:cNvSpPr/>
          <p:nvPr/>
        </p:nvSpPr>
        <p:spPr>
          <a:xfrm>
            <a:off x="4343400" y="2057400"/>
            <a:ext cx="3611880" cy="4251960"/>
          </a:xfrm>
          <a:prstGeom prst="roundRect">
            <a:avLst>
              <a:gd fmla="val 2532" name="adj"/>
            </a:avLst>
          </a:prstGeom>
          <a:solidFill>
            <a:srgbClr val="F0FDF4"/>
          </a:solidFill>
          <a:ln cap="flat" cmpd="sng" w="12700">
            <a:solidFill>
              <a:srgbClr val="16A34A">
                <a:alpha val="50196"/>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p:nvPr/>
        </p:nvSpPr>
        <p:spPr>
          <a:xfrm>
            <a:off x="4343400" y="2176272"/>
            <a:ext cx="36118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4400"/>
              <a:buFont typeface="Calibri"/>
              <a:buNone/>
            </a:pPr>
            <a:r>
              <a:rPr b="1" i="0" lang="en-US" sz="4400" u="none" cap="none" strike="noStrike">
                <a:solidFill>
                  <a:srgbClr val="16A34A"/>
                </a:solidFill>
                <a:latin typeface="Calibri"/>
                <a:ea typeface="Calibri"/>
                <a:cs typeface="Calibri"/>
                <a:sym typeface="Calibri"/>
              </a:rPr>
              <a:t>0.7</a:t>
            </a:r>
            <a:endParaRPr b="0" i="0" sz="4400" u="none" cap="none" strike="noStrike">
              <a:solidFill>
                <a:schemeClr val="dk1"/>
              </a:solidFill>
              <a:latin typeface="Calibri"/>
              <a:ea typeface="Calibri"/>
              <a:cs typeface="Calibri"/>
              <a:sym typeface="Calibri"/>
            </a:endParaRPr>
          </a:p>
        </p:txBody>
      </p:sp>
      <p:sp>
        <p:nvSpPr>
          <p:cNvPr id="478" name="Google Shape;478;p18"/>
          <p:cNvSpPr/>
          <p:nvPr/>
        </p:nvSpPr>
        <p:spPr>
          <a:xfrm>
            <a:off x="4526280" y="2999232"/>
            <a:ext cx="32461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Balanced (default)</a:t>
            </a:r>
            <a:endParaRPr b="0" i="0" sz="1400" u="none" cap="none" strike="noStrike">
              <a:solidFill>
                <a:schemeClr val="dk1"/>
              </a:solidFill>
              <a:latin typeface="Calibri"/>
              <a:ea typeface="Calibri"/>
              <a:cs typeface="Calibri"/>
              <a:sym typeface="Calibri"/>
            </a:endParaRPr>
          </a:p>
        </p:txBody>
      </p:sp>
      <p:cxnSp>
        <p:nvCxnSpPr>
          <p:cNvPr id="479" name="Google Shape;479;p18"/>
          <p:cNvCxnSpPr/>
          <p:nvPr/>
        </p:nvCxnSpPr>
        <p:spPr>
          <a:xfrm>
            <a:off x="4617720" y="3401568"/>
            <a:ext cx="3063240" cy="0"/>
          </a:xfrm>
          <a:prstGeom prst="straightConnector1">
            <a:avLst/>
          </a:prstGeom>
          <a:noFill/>
          <a:ln cap="flat" cmpd="sng" w="9525">
            <a:solidFill>
              <a:srgbClr val="16A34A">
                <a:alpha val="50196"/>
              </a:srgbClr>
            </a:solidFill>
            <a:prstDash val="solid"/>
            <a:round/>
            <a:headEnd len="sm" w="sm" type="none"/>
            <a:tailEnd len="sm" w="sm" type="none"/>
          </a:ln>
        </p:spPr>
      </p:cxnSp>
      <p:sp>
        <p:nvSpPr>
          <p:cNvPr id="480" name="Google Shape;480;p18"/>
          <p:cNvSpPr/>
          <p:nvPr/>
        </p:nvSpPr>
        <p:spPr>
          <a:xfrm>
            <a:off x="4526280" y="3493008"/>
            <a:ext cx="324612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Slight randomness. Second/third choices get a real chance. Helpful and varied. The sweet spot for most chat applications.</a:t>
            </a:r>
            <a:endParaRPr b="0" i="0" sz="1300" u="none" cap="none" strike="noStrike">
              <a:solidFill>
                <a:schemeClr val="dk1"/>
              </a:solidFill>
              <a:latin typeface="Calibri"/>
              <a:ea typeface="Calibri"/>
              <a:cs typeface="Calibri"/>
              <a:sym typeface="Calibri"/>
            </a:endParaRPr>
          </a:p>
        </p:txBody>
      </p:sp>
      <p:sp>
        <p:nvSpPr>
          <p:cNvPr id="481" name="Google Shape;481;p18"/>
          <p:cNvSpPr/>
          <p:nvPr/>
        </p:nvSpPr>
        <p:spPr>
          <a:xfrm>
            <a:off x="4526280" y="4919472"/>
            <a:ext cx="3246120" cy="749808"/>
          </a:xfrm>
          <a:prstGeom prst="roundRect">
            <a:avLst>
              <a:gd fmla="val 8537"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a:off x="4572000" y="4956048"/>
            <a:ext cx="3154680" cy="6766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100"/>
              <a:buFont typeface="Courier New"/>
              <a:buNone/>
            </a:pPr>
            <a:r>
              <a:rPr b="1" i="0" lang="en-US" sz="1100" u="none" cap="none" strike="noStrike">
                <a:solidFill>
                  <a:srgbClr val="FFFFFF"/>
                </a:solidFill>
                <a:latin typeface="Courier New"/>
                <a:ea typeface="Courier New"/>
                <a:cs typeface="Courier New"/>
                <a:sym typeface="Courier New"/>
              </a:rPr>
              <a:t>"...mat." / "...floor." / "...sofa."</a:t>
            </a:r>
            <a:endParaRPr b="0" i="0" sz="1100" u="none" cap="none" strike="noStrike">
              <a:solidFill>
                <a:schemeClr val="dk1"/>
              </a:solidFill>
              <a:latin typeface="Calibri"/>
              <a:ea typeface="Calibri"/>
              <a:cs typeface="Calibri"/>
              <a:sym typeface="Calibri"/>
            </a:endParaRPr>
          </a:p>
        </p:txBody>
      </p:sp>
      <p:sp>
        <p:nvSpPr>
          <p:cNvPr id="483" name="Google Shape;483;p18"/>
          <p:cNvSpPr/>
          <p:nvPr/>
        </p:nvSpPr>
        <p:spPr>
          <a:xfrm>
            <a:off x="8138160" y="2057400"/>
            <a:ext cx="3611880" cy="4251960"/>
          </a:xfrm>
          <a:prstGeom prst="roundRect">
            <a:avLst>
              <a:gd fmla="val 2532" name="adj"/>
            </a:avLst>
          </a:prstGeom>
          <a:solidFill>
            <a:srgbClr val="FFFBEB"/>
          </a:solidFill>
          <a:ln cap="flat" cmpd="sng" w="12700">
            <a:solidFill>
              <a:srgbClr val="D97706">
                <a:alpha val="50196"/>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8"/>
          <p:cNvSpPr/>
          <p:nvPr/>
        </p:nvSpPr>
        <p:spPr>
          <a:xfrm>
            <a:off x="8138160" y="2176272"/>
            <a:ext cx="36118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4400"/>
              <a:buFont typeface="Calibri"/>
              <a:buNone/>
            </a:pPr>
            <a:r>
              <a:rPr b="1" i="0" lang="en-US" sz="4400" u="none" cap="none" strike="noStrike">
                <a:solidFill>
                  <a:srgbClr val="D97706"/>
                </a:solidFill>
                <a:latin typeface="Calibri"/>
                <a:ea typeface="Calibri"/>
                <a:cs typeface="Calibri"/>
                <a:sym typeface="Calibri"/>
              </a:rPr>
              <a:t>1.5</a:t>
            </a:r>
            <a:endParaRPr b="0" i="0" sz="4400" u="none" cap="none" strike="noStrike">
              <a:solidFill>
                <a:schemeClr val="dk1"/>
              </a:solidFill>
              <a:latin typeface="Calibri"/>
              <a:ea typeface="Calibri"/>
              <a:cs typeface="Calibri"/>
              <a:sym typeface="Calibri"/>
            </a:endParaRPr>
          </a:p>
        </p:txBody>
      </p:sp>
      <p:sp>
        <p:nvSpPr>
          <p:cNvPr id="485" name="Google Shape;485;p18"/>
          <p:cNvSpPr/>
          <p:nvPr/>
        </p:nvSpPr>
        <p:spPr>
          <a:xfrm>
            <a:off x="8321040" y="2999232"/>
            <a:ext cx="32461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US" sz="1400" u="none" cap="none" strike="noStrike">
                <a:solidFill>
                  <a:srgbClr val="D97706"/>
                </a:solidFill>
                <a:latin typeface="Calibri"/>
                <a:ea typeface="Calibri"/>
                <a:cs typeface="Calibri"/>
                <a:sym typeface="Calibri"/>
              </a:rPr>
              <a:t>Creative</a:t>
            </a:r>
            <a:endParaRPr b="0" i="0" sz="1400" u="none" cap="none" strike="noStrike">
              <a:solidFill>
                <a:schemeClr val="dk1"/>
              </a:solidFill>
              <a:latin typeface="Calibri"/>
              <a:ea typeface="Calibri"/>
              <a:cs typeface="Calibri"/>
              <a:sym typeface="Calibri"/>
            </a:endParaRPr>
          </a:p>
        </p:txBody>
      </p:sp>
      <p:cxnSp>
        <p:nvCxnSpPr>
          <p:cNvPr id="486" name="Google Shape;486;p18"/>
          <p:cNvCxnSpPr/>
          <p:nvPr/>
        </p:nvCxnSpPr>
        <p:spPr>
          <a:xfrm>
            <a:off x="8412480" y="3401568"/>
            <a:ext cx="3063240" cy="0"/>
          </a:xfrm>
          <a:prstGeom prst="straightConnector1">
            <a:avLst/>
          </a:prstGeom>
          <a:noFill/>
          <a:ln cap="flat" cmpd="sng" w="9525">
            <a:solidFill>
              <a:srgbClr val="D97706">
                <a:alpha val="50196"/>
              </a:srgbClr>
            </a:solidFill>
            <a:prstDash val="solid"/>
            <a:round/>
            <a:headEnd len="sm" w="sm" type="none"/>
            <a:tailEnd len="sm" w="sm" type="none"/>
          </a:ln>
        </p:spPr>
      </p:cxnSp>
      <p:sp>
        <p:nvSpPr>
          <p:cNvPr id="487" name="Google Shape;487;p18"/>
          <p:cNvSpPr/>
          <p:nvPr/>
        </p:nvSpPr>
        <p:spPr>
          <a:xfrm>
            <a:off x="8321040" y="3493008"/>
            <a:ext cx="324612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Flattens the distribution. Low-probability tokens get a big boost. Output is surprising, creative — and sometimes incoherent. Use for brainstorming or fiction.</a:t>
            </a:r>
            <a:endParaRPr b="0" i="0" sz="1300" u="none" cap="none" strike="noStrike">
              <a:solidFill>
                <a:schemeClr val="dk1"/>
              </a:solidFill>
              <a:latin typeface="Calibri"/>
              <a:ea typeface="Calibri"/>
              <a:cs typeface="Calibri"/>
              <a:sym typeface="Calibri"/>
            </a:endParaRPr>
          </a:p>
        </p:txBody>
      </p:sp>
      <p:sp>
        <p:nvSpPr>
          <p:cNvPr id="488" name="Google Shape;488;p18"/>
          <p:cNvSpPr/>
          <p:nvPr/>
        </p:nvSpPr>
        <p:spPr>
          <a:xfrm>
            <a:off x="8321040" y="4919472"/>
            <a:ext cx="3246120" cy="749808"/>
          </a:xfrm>
          <a:prstGeom prst="roundRect">
            <a:avLst>
              <a:gd fmla="val 8537"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a:off x="8366760" y="4956048"/>
            <a:ext cx="3154680" cy="6766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100"/>
              <a:buFont typeface="Courier New"/>
              <a:buNone/>
            </a:pPr>
            <a:r>
              <a:rPr b="1" i="0" lang="en-US" sz="1100" u="none" cap="none" strike="noStrike">
                <a:solidFill>
                  <a:srgbClr val="FFFFFF"/>
                </a:solidFill>
                <a:latin typeface="Courier New"/>
                <a:ea typeface="Courier New"/>
                <a:cs typeface="Courier New"/>
                <a:sym typeface="Courier New"/>
              </a:rPr>
              <a:t>"...keyboard." / "...quantum realm."</a:t>
            </a:r>
            <a:endParaRPr b="0" i="0" sz="1100" u="none" cap="none" strike="noStrike">
              <a:solidFill>
                <a:schemeClr val="dk1"/>
              </a:solidFill>
              <a:latin typeface="Calibri"/>
              <a:ea typeface="Calibri"/>
              <a:cs typeface="Calibri"/>
              <a:sym typeface="Calibri"/>
            </a:endParaRPr>
          </a:p>
        </p:txBody>
      </p:sp>
      <p:cxnSp>
        <p:nvCxnSpPr>
          <p:cNvPr id="490" name="Google Shape;490;p18"/>
          <p:cNvCxnSpPr/>
          <p:nvPr/>
        </p:nvCxnSpPr>
        <p:spPr>
          <a:xfrm>
            <a:off x="685800" y="6446520"/>
            <a:ext cx="10789920" cy="0"/>
          </a:xfrm>
          <a:prstGeom prst="straightConnector1">
            <a:avLst/>
          </a:prstGeom>
          <a:noFill/>
          <a:ln cap="flat" cmpd="sng" w="38100">
            <a:solidFill>
              <a:srgbClr val="CBD5E1"/>
            </a:solidFill>
            <a:prstDash val="solid"/>
            <a:round/>
            <a:headEnd len="sm" w="sm" type="none"/>
            <a:tailEnd len="sm" w="sm" type="none"/>
          </a:ln>
        </p:spPr>
      </p:cxnSp>
      <p:sp>
        <p:nvSpPr>
          <p:cNvPr id="491" name="Google Shape;491;p18"/>
          <p:cNvSpPr/>
          <p:nvPr/>
        </p:nvSpPr>
        <p:spPr>
          <a:xfrm>
            <a:off x="576072" y="6327648"/>
            <a:ext cx="219456" cy="219456"/>
          </a:xfrm>
          <a:prstGeom prst="ellipse">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8"/>
          <p:cNvSpPr/>
          <p:nvPr/>
        </p:nvSpPr>
        <p:spPr>
          <a:xfrm>
            <a:off x="4599432" y="6327648"/>
            <a:ext cx="219456" cy="219456"/>
          </a:xfrm>
          <a:prstGeom prst="ellipse">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8"/>
          <p:cNvSpPr/>
          <p:nvPr/>
        </p:nvSpPr>
        <p:spPr>
          <a:xfrm>
            <a:off x="11137392" y="6327648"/>
            <a:ext cx="219456" cy="219456"/>
          </a:xfrm>
          <a:prstGeom prst="ellipse">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8"/>
          <p:cNvSpPr/>
          <p:nvPr/>
        </p:nvSpPr>
        <p:spPr>
          <a:xfrm>
            <a:off x="0" y="6583680"/>
            <a:ext cx="12191695" cy="274320"/>
          </a:xfrm>
          <a:prstGeom prst="rect">
            <a:avLst/>
          </a:prstGeom>
          <a:solidFill>
            <a:srgbClr val="D97706">
              <a:alpha val="12156"/>
            </a:srgbClr>
          </a:solidFill>
          <a:ln cap="flat" cmpd="sng" w="12700">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496" name="Google Shape;496;p1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16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501" name="Shape 501"/>
        <p:cNvGrpSpPr/>
        <p:nvPr/>
      </p:nvGrpSpPr>
      <p:grpSpPr>
        <a:xfrm>
          <a:off x="0" y="0"/>
          <a:ext cx="0" cy="0"/>
          <a:chOff x="0" y="0"/>
          <a:chExt cx="0" cy="0"/>
        </a:xfrm>
      </p:grpSpPr>
      <p:sp>
        <p:nvSpPr>
          <p:cNvPr id="502" name="Google Shape;502;p19"/>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200"/>
              <a:buFont typeface="Calibri"/>
              <a:buNone/>
            </a:pPr>
            <a:r>
              <a:rPr b="1" i="0" lang="en-US" sz="1200" u="none" cap="none" strike="noStrike">
                <a:solidFill>
                  <a:srgbClr val="C4B5FD"/>
                </a:solidFill>
                <a:latin typeface="Calibri"/>
                <a:ea typeface="Calibri"/>
                <a:cs typeface="Calibri"/>
                <a:sym typeface="Calibri"/>
              </a:rPr>
              <a:t>PUTTING IT ALL TOGETHER</a:t>
            </a:r>
            <a:endParaRPr b="0" i="0" sz="1200" u="none" cap="none" strike="noStrike">
              <a:solidFill>
                <a:schemeClr val="dk1"/>
              </a:solidFill>
              <a:latin typeface="Calibri"/>
              <a:ea typeface="Calibri"/>
              <a:cs typeface="Calibri"/>
              <a:sym typeface="Calibri"/>
            </a:endParaRPr>
          </a:p>
        </p:txBody>
      </p:sp>
      <p:sp>
        <p:nvSpPr>
          <p:cNvPr id="503" name="Google Shape;503;p19"/>
          <p:cNvSpPr/>
          <p:nvPr/>
        </p:nvSpPr>
        <p:spPr>
          <a:xfrm>
            <a:off x="685800" y="777240"/>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600"/>
              <a:buFont typeface="Calibri"/>
              <a:buNone/>
            </a:pPr>
            <a:r>
              <a:rPr b="1" i="0" lang="en-US" sz="3600" u="none" cap="none" strike="noStrike">
                <a:solidFill>
                  <a:srgbClr val="E8ECFF"/>
                </a:solidFill>
                <a:latin typeface="Calibri"/>
                <a:ea typeface="Calibri"/>
                <a:cs typeface="Calibri"/>
                <a:sym typeface="Calibri"/>
              </a:rPr>
              <a:t>It writes one token at a time.</a:t>
            </a:r>
            <a:endParaRPr b="0" i="0" sz="3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600"/>
              <a:buFont typeface="Calibri"/>
              <a:buNone/>
            </a:pPr>
            <a:r>
              <a:rPr b="1" i="0" lang="en-US" sz="3600" u="none" cap="none" strike="noStrike">
                <a:solidFill>
                  <a:srgbClr val="E8ECFF"/>
                </a:solidFill>
                <a:latin typeface="Calibri"/>
                <a:ea typeface="Calibri"/>
                <a:cs typeface="Calibri"/>
                <a:sym typeface="Calibri"/>
              </a:rPr>
              <a:t>Every time. Without exception.</a:t>
            </a:r>
            <a:endParaRPr b="0" i="0" sz="3600" u="none" cap="none" strike="noStrike">
              <a:solidFill>
                <a:schemeClr val="dk1"/>
              </a:solidFill>
              <a:latin typeface="Calibri"/>
              <a:ea typeface="Calibri"/>
              <a:cs typeface="Calibri"/>
              <a:sym typeface="Calibri"/>
            </a:endParaRPr>
          </a:p>
        </p:txBody>
      </p:sp>
      <p:sp>
        <p:nvSpPr>
          <p:cNvPr id="504" name="Google Shape;504;p19"/>
          <p:cNvSpPr/>
          <p:nvPr/>
        </p:nvSpPr>
        <p:spPr>
          <a:xfrm>
            <a:off x="685800" y="2880360"/>
            <a:ext cx="96012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9"/>
          <p:cNvSpPr/>
          <p:nvPr/>
        </p:nvSpPr>
        <p:spPr>
          <a:xfrm>
            <a:off x="685800" y="2880360"/>
            <a:ext cx="96012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The</a:t>
            </a:r>
            <a:endParaRPr b="0" i="0" sz="1600" u="none" cap="none" strike="noStrike">
              <a:solidFill>
                <a:schemeClr val="dk1"/>
              </a:solidFill>
              <a:latin typeface="Calibri"/>
              <a:ea typeface="Calibri"/>
              <a:cs typeface="Calibri"/>
              <a:sym typeface="Calibri"/>
            </a:endParaRPr>
          </a:p>
        </p:txBody>
      </p:sp>
      <p:sp>
        <p:nvSpPr>
          <p:cNvPr id="506" name="Google Shape;506;p19"/>
          <p:cNvSpPr/>
          <p:nvPr/>
        </p:nvSpPr>
        <p:spPr>
          <a:xfrm>
            <a:off x="1773936" y="2880360"/>
            <a:ext cx="96012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1773936" y="2880360"/>
            <a:ext cx="96012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cat</a:t>
            </a:r>
            <a:endParaRPr b="0" i="0" sz="1600" u="none" cap="none" strike="noStrike">
              <a:solidFill>
                <a:schemeClr val="dk1"/>
              </a:solidFill>
              <a:latin typeface="Calibri"/>
              <a:ea typeface="Calibri"/>
              <a:cs typeface="Calibri"/>
              <a:sym typeface="Calibri"/>
            </a:endParaRPr>
          </a:p>
        </p:txBody>
      </p:sp>
      <p:sp>
        <p:nvSpPr>
          <p:cNvPr id="508" name="Google Shape;508;p19"/>
          <p:cNvSpPr/>
          <p:nvPr/>
        </p:nvSpPr>
        <p:spPr>
          <a:xfrm>
            <a:off x="2862072" y="2880360"/>
            <a:ext cx="96012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2862072" y="2880360"/>
            <a:ext cx="96012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sat</a:t>
            </a:r>
            <a:endParaRPr b="0" i="0" sz="1600" u="none" cap="none" strike="noStrike">
              <a:solidFill>
                <a:schemeClr val="dk1"/>
              </a:solidFill>
              <a:latin typeface="Calibri"/>
              <a:ea typeface="Calibri"/>
              <a:cs typeface="Calibri"/>
              <a:sym typeface="Calibri"/>
            </a:endParaRPr>
          </a:p>
        </p:txBody>
      </p:sp>
      <p:sp>
        <p:nvSpPr>
          <p:cNvPr id="510" name="Google Shape;510;p19"/>
          <p:cNvSpPr/>
          <p:nvPr/>
        </p:nvSpPr>
        <p:spPr>
          <a:xfrm>
            <a:off x="3950208" y="2880360"/>
            <a:ext cx="77724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3950208" y="2880360"/>
            <a:ext cx="7772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on</a:t>
            </a:r>
            <a:endParaRPr b="0" i="0" sz="1600" u="none" cap="none" strike="noStrike">
              <a:solidFill>
                <a:schemeClr val="dk1"/>
              </a:solidFill>
              <a:latin typeface="Calibri"/>
              <a:ea typeface="Calibri"/>
              <a:cs typeface="Calibri"/>
              <a:sym typeface="Calibri"/>
            </a:endParaRPr>
          </a:p>
        </p:txBody>
      </p:sp>
      <p:sp>
        <p:nvSpPr>
          <p:cNvPr id="512" name="Google Shape;512;p19"/>
          <p:cNvSpPr/>
          <p:nvPr/>
        </p:nvSpPr>
        <p:spPr>
          <a:xfrm>
            <a:off x="4855464" y="2880360"/>
            <a:ext cx="96012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9"/>
          <p:cNvSpPr/>
          <p:nvPr/>
        </p:nvSpPr>
        <p:spPr>
          <a:xfrm>
            <a:off x="4855464" y="2880360"/>
            <a:ext cx="96012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the</a:t>
            </a:r>
            <a:endParaRPr b="0" i="0" sz="1600" u="none" cap="none" strike="noStrike">
              <a:solidFill>
                <a:schemeClr val="dk1"/>
              </a:solidFill>
              <a:latin typeface="Calibri"/>
              <a:ea typeface="Calibri"/>
              <a:cs typeface="Calibri"/>
              <a:sym typeface="Calibri"/>
            </a:endParaRPr>
          </a:p>
        </p:txBody>
      </p:sp>
      <p:sp>
        <p:nvSpPr>
          <p:cNvPr id="514" name="Google Shape;514;p19"/>
          <p:cNvSpPr/>
          <p:nvPr/>
        </p:nvSpPr>
        <p:spPr>
          <a:xfrm>
            <a:off x="5943600" y="2880360"/>
            <a:ext cx="960120" cy="713232"/>
          </a:xfrm>
          <a:prstGeom prst="roundRect">
            <a:avLst>
              <a:gd fmla="val 8974" name="adj"/>
            </a:avLst>
          </a:prstGeom>
          <a:solidFill>
            <a:srgbClr val="1C2236"/>
          </a:solidFill>
          <a:ln cap="flat" cmpd="sng" w="12700">
            <a:solidFill>
              <a:srgbClr val="2D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9"/>
          <p:cNvSpPr/>
          <p:nvPr/>
        </p:nvSpPr>
        <p:spPr>
          <a:xfrm>
            <a:off x="5943600" y="2880360"/>
            <a:ext cx="96012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CFF"/>
              </a:buClr>
              <a:buSzPts val="1600"/>
              <a:buFont typeface="Courier New"/>
              <a:buNone/>
            </a:pPr>
            <a:r>
              <a:rPr b="1" i="0" lang="en-US" sz="1600" u="none" cap="none" strike="noStrike">
                <a:solidFill>
                  <a:srgbClr val="E8ECFF"/>
                </a:solidFill>
                <a:latin typeface="Courier New"/>
                <a:ea typeface="Courier New"/>
                <a:cs typeface="Courier New"/>
                <a:sym typeface="Courier New"/>
              </a:rPr>
              <a:t>mat</a:t>
            </a:r>
            <a:endParaRPr b="0" i="0" sz="1600" u="none" cap="none" strike="noStrike">
              <a:solidFill>
                <a:schemeClr val="dk1"/>
              </a:solidFill>
              <a:latin typeface="Calibri"/>
              <a:ea typeface="Calibri"/>
              <a:cs typeface="Calibri"/>
              <a:sym typeface="Calibri"/>
            </a:endParaRPr>
          </a:p>
        </p:txBody>
      </p:sp>
      <p:sp>
        <p:nvSpPr>
          <p:cNvPr id="516" name="Google Shape;516;p19"/>
          <p:cNvSpPr/>
          <p:nvPr/>
        </p:nvSpPr>
        <p:spPr>
          <a:xfrm>
            <a:off x="7031736" y="2880360"/>
            <a:ext cx="594360" cy="713232"/>
          </a:xfrm>
          <a:prstGeom prst="roundRect">
            <a:avLst>
              <a:gd fmla="val 1076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9"/>
          <p:cNvSpPr/>
          <p:nvPr/>
        </p:nvSpPr>
        <p:spPr>
          <a:xfrm>
            <a:off x="7031736" y="2880360"/>
            <a:ext cx="5943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ourier New"/>
              <a:buNone/>
            </a:pPr>
            <a:r>
              <a:rPr b="1" i="0" lang="en-US" sz="1600" u="none" cap="none" strike="noStrike">
                <a:solidFill>
                  <a:srgbClr val="FFFFFF"/>
                </a:solidFill>
                <a:latin typeface="Courier New"/>
                <a:ea typeface="Courier New"/>
                <a:cs typeface="Courier New"/>
                <a:sym typeface="Courier New"/>
              </a:rPr>
              <a:t>.</a:t>
            </a:r>
            <a:endParaRPr b="0" i="0" sz="1600" u="none" cap="none" strike="noStrike">
              <a:solidFill>
                <a:schemeClr val="dk1"/>
              </a:solidFill>
              <a:latin typeface="Calibri"/>
              <a:ea typeface="Calibri"/>
              <a:cs typeface="Calibri"/>
              <a:sym typeface="Calibri"/>
            </a:endParaRPr>
          </a:p>
        </p:txBody>
      </p:sp>
      <p:sp>
        <p:nvSpPr>
          <p:cNvPr id="518" name="Google Shape;518;p19"/>
          <p:cNvSpPr/>
          <p:nvPr/>
        </p:nvSpPr>
        <p:spPr>
          <a:xfrm>
            <a:off x="7845552" y="2880360"/>
            <a:ext cx="1005840" cy="713232"/>
          </a:xfrm>
          <a:prstGeom prst="roundRect">
            <a:avLst>
              <a:gd fmla="val 8974" name="adj"/>
            </a:avLst>
          </a:prstGeom>
          <a:solidFill>
            <a:srgbClr val="1C2236"/>
          </a:solidFill>
          <a:ln cap="flat" cmpd="sng" w="19050">
            <a:solidFill>
              <a:srgbClr val="2D2447"/>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9"/>
          <p:cNvSpPr/>
          <p:nvPr/>
        </p:nvSpPr>
        <p:spPr>
          <a:xfrm>
            <a:off x="7845552" y="2880360"/>
            <a:ext cx="10058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B5FD"/>
              </a:buClr>
              <a:buSzPts val="2800"/>
              <a:buFont typeface="Calibri"/>
              <a:buNone/>
            </a:pPr>
            <a:r>
              <a:rPr b="1" i="0" lang="en-US" sz="2800" u="none" cap="none" strike="noStrike">
                <a:solidFill>
                  <a:srgbClr val="C4B5FD"/>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cxnSp>
        <p:nvCxnSpPr>
          <p:cNvPr id="520" name="Google Shape;520;p19"/>
          <p:cNvCxnSpPr/>
          <p:nvPr/>
        </p:nvCxnSpPr>
        <p:spPr>
          <a:xfrm>
            <a:off x="8348472" y="3593592"/>
            <a:ext cx="0" cy="502920"/>
          </a:xfrm>
          <a:prstGeom prst="straightConnector1">
            <a:avLst/>
          </a:prstGeom>
          <a:noFill/>
          <a:ln cap="flat" cmpd="sng" w="25400">
            <a:solidFill>
              <a:srgbClr val="C4B5FD"/>
            </a:solidFill>
            <a:prstDash val="solid"/>
            <a:round/>
            <a:headEnd len="sm" w="sm" type="none"/>
            <a:tailEnd len="sm" w="sm" type="none"/>
          </a:ln>
        </p:spPr>
      </p:cxnSp>
      <p:cxnSp>
        <p:nvCxnSpPr>
          <p:cNvPr id="521" name="Google Shape;521;p19"/>
          <p:cNvCxnSpPr/>
          <p:nvPr/>
        </p:nvCxnSpPr>
        <p:spPr>
          <a:xfrm>
            <a:off x="1005840" y="4096512"/>
            <a:ext cx="7342632" cy="0"/>
          </a:xfrm>
          <a:prstGeom prst="straightConnector1">
            <a:avLst/>
          </a:prstGeom>
          <a:noFill/>
          <a:ln cap="flat" cmpd="sng" w="25400">
            <a:solidFill>
              <a:srgbClr val="C4B5FD"/>
            </a:solidFill>
            <a:prstDash val="solid"/>
            <a:round/>
            <a:headEnd len="sm" w="sm" type="none"/>
            <a:tailEnd len="sm" w="sm" type="none"/>
          </a:ln>
        </p:spPr>
      </p:cxnSp>
      <p:cxnSp>
        <p:nvCxnSpPr>
          <p:cNvPr id="522" name="Google Shape;522;p19"/>
          <p:cNvCxnSpPr/>
          <p:nvPr/>
        </p:nvCxnSpPr>
        <p:spPr>
          <a:xfrm rot="10800000">
            <a:off x="1005840" y="3593592"/>
            <a:ext cx="0" cy="502920"/>
          </a:xfrm>
          <a:prstGeom prst="straightConnector1">
            <a:avLst/>
          </a:prstGeom>
          <a:noFill/>
          <a:ln cap="flat" cmpd="sng" w="25400">
            <a:solidFill>
              <a:srgbClr val="C4B5FD"/>
            </a:solidFill>
            <a:prstDash val="solid"/>
            <a:round/>
            <a:headEnd len="sm" w="sm" type="none"/>
            <a:tailEnd len="med" w="med" type="triangle"/>
          </a:ln>
        </p:spPr>
      </p:cxnSp>
      <p:sp>
        <p:nvSpPr>
          <p:cNvPr id="523" name="Google Shape;523;p19"/>
          <p:cNvSpPr/>
          <p:nvPr/>
        </p:nvSpPr>
        <p:spPr>
          <a:xfrm>
            <a:off x="1371600" y="417880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400"/>
              <a:buFont typeface="Calibri"/>
              <a:buNone/>
            </a:pPr>
            <a:r>
              <a:rPr b="1" i="0" lang="en-US" sz="1400" u="none" cap="none" strike="noStrike">
                <a:solidFill>
                  <a:srgbClr val="C4B5FD"/>
                </a:solidFill>
                <a:latin typeface="Calibri"/>
                <a:ea typeface="Calibri"/>
                <a:cs typeface="Calibri"/>
                <a:sym typeface="Calibri"/>
              </a:rPr>
              <a:t>feed back in → predict next → repeat</a:t>
            </a:r>
            <a:endParaRPr b="0" i="0" sz="1400" u="none" cap="none" strike="noStrike">
              <a:solidFill>
                <a:schemeClr val="dk1"/>
              </a:solidFill>
              <a:latin typeface="Calibri"/>
              <a:ea typeface="Calibri"/>
              <a:cs typeface="Calibri"/>
              <a:sym typeface="Calibri"/>
            </a:endParaRPr>
          </a:p>
        </p:txBody>
      </p:sp>
      <p:sp>
        <p:nvSpPr>
          <p:cNvPr id="524" name="Google Shape;524;p19"/>
          <p:cNvSpPr/>
          <p:nvPr/>
        </p:nvSpPr>
        <p:spPr>
          <a:xfrm>
            <a:off x="548640" y="5166360"/>
            <a:ext cx="3611880" cy="1261872"/>
          </a:xfrm>
          <a:prstGeom prst="roundRect">
            <a:avLst>
              <a:gd fmla="val 6522" name="adj"/>
            </a:avLst>
          </a:prstGeom>
          <a:solidFill>
            <a:srgbClr val="1C2236"/>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9"/>
          <p:cNvSpPr/>
          <p:nvPr/>
        </p:nvSpPr>
        <p:spPr>
          <a:xfrm>
            <a:off x="731520" y="5285232"/>
            <a:ext cx="3246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Streaming = tokens arriving</a:t>
            </a:r>
            <a:endParaRPr b="0" i="0" sz="1300" u="none" cap="none" strike="noStrike">
              <a:solidFill>
                <a:schemeClr val="dk1"/>
              </a:solidFill>
              <a:latin typeface="Calibri"/>
              <a:ea typeface="Calibri"/>
              <a:cs typeface="Calibri"/>
              <a:sym typeface="Calibri"/>
            </a:endParaRPr>
          </a:p>
        </p:txBody>
      </p:sp>
      <p:sp>
        <p:nvSpPr>
          <p:cNvPr id="526" name="Google Shape;526;p19"/>
          <p:cNvSpPr/>
          <p:nvPr/>
        </p:nvSpPr>
        <p:spPr>
          <a:xfrm>
            <a:off x="731520" y="5669280"/>
            <a:ext cx="3246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ChatGPT types word by word because each token is generated and sent immediately. It's not holding back.</a:t>
            </a:r>
            <a:endParaRPr b="0" i="0" sz="1200" u="none" cap="none" strike="noStrike">
              <a:solidFill>
                <a:schemeClr val="dk1"/>
              </a:solidFill>
              <a:latin typeface="Calibri"/>
              <a:ea typeface="Calibri"/>
              <a:cs typeface="Calibri"/>
              <a:sym typeface="Calibri"/>
            </a:endParaRPr>
          </a:p>
        </p:txBody>
      </p:sp>
      <p:sp>
        <p:nvSpPr>
          <p:cNvPr id="527" name="Google Shape;527;p19"/>
          <p:cNvSpPr/>
          <p:nvPr/>
        </p:nvSpPr>
        <p:spPr>
          <a:xfrm>
            <a:off x="4343400" y="5166360"/>
            <a:ext cx="3611880" cy="1261872"/>
          </a:xfrm>
          <a:prstGeom prst="roundRect">
            <a:avLst>
              <a:gd fmla="val 6522"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9"/>
          <p:cNvSpPr/>
          <p:nvPr/>
        </p:nvSpPr>
        <p:spPr>
          <a:xfrm>
            <a:off x="4526280" y="5285232"/>
            <a:ext cx="3246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Long answers cost more</a:t>
            </a:r>
            <a:endParaRPr b="0" i="0" sz="1300" u="none" cap="none" strike="noStrike">
              <a:solidFill>
                <a:schemeClr val="dk1"/>
              </a:solidFill>
              <a:latin typeface="Calibri"/>
              <a:ea typeface="Calibri"/>
              <a:cs typeface="Calibri"/>
              <a:sym typeface="Calibri"/>
            </a:endParaRPr>
          </a:p>
        </p:txBody>
      </p:sp>
      <p:sp>
        <p:nvSpPr>
          <p:cNvPr id="529" name="Google Shape;529;p19"/>
          <p:cNvSpPr/>
          <p:nvPr/>
        </p:nvSpPr>
        <p:spPr>
          <a:xfrm>
            <a:off x="4526280" y="5669280"/>
            <a:ext cx="3246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Every generated token = one full forward pass through the whole network. 1000-word answer = ~1300 forward passes.</a:t>
            </a:r>
            <a:endParaRPr b="0" i="0" sz="1200" u="none" cap="none" strike="noStrike">
              <a:solidFill>
                <a:schemeClr val="dk1"/>
              </a:solidFill>
              <a:latin typeface="Calibri"/>
              <a:ea typeface="Calibri"/>
              <a:cs typeface="Calibri"/>
              <a:sym typeface="Calibri"/>
            </a:endParaRPr>
          </a:p>
        </p:txBody>
      </p:sp>
      <p:sp>
        <p:nvSpPr>
          <p:cNvPr id="530" name="Google Shape;530;p19"/>
          <p:cNvSpPr/>
          <p:nvPr/>
        </p:nvSpPr>
        <p:spPr>
          <a:xfrm>
            <a:off x="8138160" y="5166360"/>
            <a:ext cx="3611880" cy="1261872"/>
          </a:xfrm>
          <a:prstGeom prst="roundRect">
            <a:avLst>
              <a:gd fmla="val 6522" name="adj"/>
            </a:avLst>
          </a:prstGeom>
          <a:solidFill>
            <a:srgbClr val="1C2236"/>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9"/>
          <p:cNvSpPr/>
          <p:nvPr/>
        </p:nvSpPr>
        <p:spPr>
          <a:xfrm>
            <a:off x="8321040" y="5285232"/>
            <a:ext cx="3246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Early mistakes cascade</a:t>
            </a:r>
            <a:endParaRPr b="0" i="0" sz="1300" u="none" cap="none" strike="noStrike">
              <a:solidFill>
                <a:schemeClr val="dk1"/>
              </a:solidFill>
              <a:latin typeface="Calibri"/>
              <a:ea typeface="Calibri"/>
              <a:cs typeface="Calibri"/>
              <a:sym typeface="Calibri"/>
            </a:endParaRPr>
          </a:p>
        </p:txBody>
      </p:sp>
      <p:sp>
        <p:nvSpPr>
          <p:cNvPr id="532" name="Google Shape;532;p19"/>
          <p:cNvSpPr/>
          <p:nvPr/>
        </p:nvSpPr>
        <p:spPr>
          <a:xfrm>
            <a:off x="8321040" y="5669280"/>
            <a:ext cx="3246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A bad token early steers the context. The model's next predictions build on the wrong foundation.</a:t>
            </a:r>
            <a:endParaRPr b="0" i="0" sz="1200" u="none" cap="none" strike="noStrike">
              <a:solidFill>
                <a:schemeClr val="dk1"/>
              </a:solidFill>
              <a:latin typeface="Calibri"/>
              <a:ea typeface="Calibri"/>
              <a:cs typeface="Calibri"/>
              <a:sym typeface="Calibri"/>
            </a:endParaRPr>
          </a:p>
        </p:txBody>
      </p:sp>
      <p:sp>
        <p:nvSpPr>
          <p:cNvPr id="533" name="Google Shape;533;p19"/>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535" name="Google Shape;535;p1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17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540" name="Shape 540"/>
        <p:cNvGrpSpPr/>
        <p:nvPr/>
      </p:nvGrpSpPr>
      <p:grpSpPr>
        <a:xfrm>
          <a:off x="0" y="0"/>
          <a:ext cx="0" cy="0"/>
          <a:chOff x="0" y="0"/>
          <a:chExt cx="0" cy="0"/>
        </a:xfrm>
      </p:grpSpPr>
      <p:sp>
        <p:nvSpPr>
          <p:cNvPr id="541" name="Google Shape;541;p20"/>
          <p:cNvSpPr/>
          <p:nvPr/>
        </p:nvSpPr>
        <p:spPr>
          <a:xfrm>
            <a:off x="685800" y="1828800"/>
            <a:ext cx="10058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i="0" lang="en-US" sz="1400" u="none" cap="none" strike="noStrike">
                <a:solidFill>
                  <a:srgbClr val="D97706"/>
                </a:solidFill>
                <a:latin typeface="Calibri"/>
                <a:ea typeface="Calibri"/>
                <a:cs typeface="Calibri"/>
                <a:sym typeface="Calibri"/>
              </a:rPr>
              <a:t>BUT WHERE DID THE SKILL COME FROM?</a:t>
            </a:r>
            <a:endParaRPr b="0" i="0" sz="1400" u="none" cap="none" strike="noStrike">
              <a:solidFill>
                <a:schemeClr val="dk1"/>
              </a:solidFill>
              <a:latin typeface="Calibri"/>
              <a:ea typeface="Calibri"/>
              <a:cs typeface="Calibri"/>
              <a:sym typeface="Calibri"/>
            </a:endParaRPr>
          </a:p>
        </p:txBody>
      </p:sp>
      <p:sp>
        <p:nvSpPr>
          <p:cNvPr id="542" name="Google Shape;542;p20"/>
          <p:cNvSpPr/>
          <p:nvPr/>
        </p:nvSpPr>
        <p:spPr>
          <a:xfrm>
            <a:off x="658368" y="2286000"/>
            <a:ext cx="10515600" cy="201168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5000"/>
              <a:buFont typeface="Calibri"/>
              <a:buNone/>
            </a:pPr>
            <a:r>
              <a:rPr b="1" i="0" lang="en-US" sz="5000" u="none" cap="none" strike="noStrike">
                <a:solidFill>
                  <a:srgbClr val="FFFFFF"/>
                </a:solidFill>
                <a:latin typeface="Calibri"/>
                <a:ea typeface="Calibri"/>
                <a:cs typeface="Calibri"/>
                <a:sym typeface="Calibri"/>
              </a:rPr>
              <a:t>A predictor is only as good</a:t>
            </a:r>
            <a:endParaRPr b="0" i="0" sz="50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FFFFFF"/>
              </a:buClr>
              <a:buSzPts val="5000"/>
              <a:buFont typeface="Calibri"/>
              <a:buNone/>
            </a:pPr>
            <a:r>
              <a:rPr b="1" i="0" lang="en-US" sz="5000" u="none" cap="none" strike="noStrike">
                <a:solidFill>
                  <a:srgbClr val="FFFFFF"/>
                </a:solidFill>
                <a:latin typeface="Calibri"/>
                <a:ea typeface="Calibri"/>
                <a:cs typeface="Calibri"/>
                <a:sym typeface="Calibri"/>
              </a:rPr>
              <a:t>as its training.</a:t>
            </a:r>
            <a:endParaRPr b="0" i="0" sz="5000" u="none" cap="none" strike="noStrike">
              <a:solidFill>
                <a:schemeClr val="dk1"/>
              </a:solidFill>
              <a:latin typeface="Calibri"/>
              <a:ea typeface="Calibri"/>
              <a:cs typeface="Calibri"/>
              <a:sym typeface="Calibri"/>
            </a:endParaRPr>
          </a:p>
        </p:txBody>
      </p:sp>
      <p:sp>
        <p:nvSpPr>
          <p:cNvPr id="543" name="Google Shape;543;p20"/>
          <p:cNvSpPr/>
          <p:nvPr/>
        </p:nvSpPr>
        <p:spPr>
          <a:xfrm>
            <a:off x="685800" y="4434840"/>
            <a:ext cx="10058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Two stages turn random numbers into a helpful assistant.</a:t>
            </a:r>
            <a:endParaRPr b="0" i="0" sz="2000" u="none" cap="none" strike="noStrike">
              <a:solidFill>
                <a:schemeClr val="dk1"/>
              </a:solidFill>
              <a:latin typeface="Calibri"/>
              <a:ea typeface="Calibri"/>
              <a:cs typeface="Calibri"/>
              <a:sym typeface="Calibri"/>
            </a:endParaRPr>
          </a:p>
        </p:txBody>
      </p:sp>
      <p:sp>
        <p:nvSpPr>
          <p:cNvPr id="544" name="Google Shape;544;p20"/>
          <p:cNvSpPr/>
          <p:nvPr/>
        </p:nvSpPr>
        <p:spPr>
          <a:xfrm>
            <a:off x="0" y="6583680"/>
            <a:ext cx="12191695" cy="274320"/>
          </a:xfrm>
          <a:prstGeom prst="rect">
            <a:avLst/>
          </a:prstGeom>
          <a:solidFill>
            <a:srgbClr val="D97706">
              <a:alpha val="12156"/>
            </a:srgbClr>
          </a:solidFill>
          <a:ln cap="flat" cmpd="sng" w="12700">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546" name="Google Shape;546;p2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18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551" name="Shape 551"/>
        <p:cNvGrpSpPr/>
        <p:nvPr/>
      </p:nvGrpSpPr>
      <p:grpSpPr>
        <a:xfrm>
          <a:off x="0" y="0"/>
          <a:ext cx="0" cy="0"/>
          <a:chOff x="0" y="0"/>
          <a:chExt cx="0" cy="0"/>
        </a:xfrm>
      </p:grpSpPr>
      <p:sp>
        <p:nvSpPr>
          <p:cNvPr id="552" name="Google Shape;552;p21"/>
          <p:cNvSpPr/>
          <p:nvPr/>
        </p:nvSpPr>
        <p:spPr>
          <a:xfrm>
            <a:off x="685800" y="34747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BEFORE WE DIVE INTO TRAINING — THE REALITY CHECK</a:t>
            </a:r>
            <a:endParaRPr b="0" i="0" sz="1200" u="none" cap="none" strike="noStrike">
              <a:solidFill>
                <a:schemeClr val="dk1"/>
              </a:solidFill>
              <a:latin typeface="Calibri"/>
              <a:ea typeface="Calibri"/>
              <a:cs typeface="Calibri"/>
              <a:sym typeface="Calibri"/>
            </a:endParaRPr>
          </a:p>
        </p:txBody>
      </p:sp>
      <p:sp>
        <p:nvSpPr>
          <p:cNvPr id="553" name="Google Shape;553;p21"/>
          <p:cNvSpPr/>
          <p:nvPr/>
        </p:nvSpPr>
        <p:spPr>
          <a:xfrm>
            <a:off x="685800" y="658368"/>
            <a:ext cx="105156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000"/>
              <a:buFont typeface="Calibri"/>
              <a:buNone/>
            </a:pPr>
            <a:r>
              <a:rPr b="1" i="0" lang="en-US" sz="3000" u="none" cap="none" strike="noStrike">
                <a:solidFill>
                  <a:srgbClr val="E8ECFF"/>
                </a:solidFill>
                <a:latin typeface="Calibri"/>
                <a:ea typeface="Calibri"/>
                <a:cs typeface="Calibri"/>
                <a:sym typeface="Calibri"/>
              </a:rPr>
              <a:t>What does it actually cost to train one of these?</a:t>
            </a:r>
            <a:endParaRPr b="0" i="0" sz="3000" u="none" cap="none" strike="noStrike">
              <a:solidFill>
                <a:schemeClr val="dk1"/>
              </a:solidFill>
              <a:latin typeface="Calibri"/>
              <a:ea typeface="Calibri"/>
              <a:cs typeface="Calibri"/>
              <a:sym typeface="Calibri"/>
            </a:endParaRPr>
          </a:p>
        </p:txBody>
      </p:sp>
      <p:sp>
        <p:nvSpPr>
          <p:cNvPr id="554" name="Google Shape;554;p21"/>
          <p:cNvSpPr/>
          <p:nvPr/>
        </p:nvSpPr>
        <p:spPr>
          <a:xfrm>
            <a:off x="502920" y="1847088"/>
            <a:ext cx="2743200" cy="2487168"/>
          </a:xfrm>
          <a:prstGeom prst="roundRect">
            <a:avLst>
              <a:gd fmla="val 3676" name="adj"/>
            </a:avLst>
          </a:prstGeom>
          <a:solidFill>
            <a:srgbClr val="1C2236"/>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667512" y="1956816"/>
            <a:ext cx="2423160" cy="384048"/>
          </a:xfrm>
          <a:prstGeom prst="roundRect">
            <a:avLst>
              <a:gd fmla="val 14286" name="adj"/>
            </a:avLst>
          </a:prstGeom>
          <a:solidFill>
            <a:srgbClr val="7C3AED">
              <a:alpha val="18039"/>
            </a:srgbClr>
          </a:solidFill>
          <a:ln cap="flat" cmpd="sng" w="1270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667512" y="1956816"/>
            <a:ext cx="2423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GPT-3</a:t>
            </a:r>
            <a:endParaRPr b="0" i="0" sz="1400" u="none" cap="none" strike="noStrike">
              <a:solidFill>
                <a:schemeClr val="dk1"/>
              </a:solidFill>
              <a:latin typeface="Calibri"/>
              <a:ea typeface="Calibri"/>
              <a:cs typeface="Calibri"/>
              <a:sym typeface="Calibri"/>
            </a:endParaRPr>
          </a:p>
        </p:txBody>
      </p:sp>
      <p:sp>
        <p:nvSpPr>
          <p:cNvPr id="557" name="Google Shape;557;p21"/>
          <p:cNvSpPr/>
          <p:nvPr/>
        </p:nvSpPr>
        <p:spPr>
          <a:xfrm>
            <a:off x="612648" y="2414016"/>
            <a:ext cx="2514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$4.6 M</a:t>
            </a:r>
            <a:endParaRPr b="0" i="0" sz="2600" u="none" cap="none" strike="noStrike">
              <a:solidFill>
                <a:schemeClr val="dk1"/>
              </a:solidFill>
              <a:latin typeface="Calibri"/>
              <a:ea typeface="Calibri"/>
              <a:cs typeface="Calibri"/>
              <a:sym typeface="Calibri"/>
            </a:endParaRPr>
          </a:p>
        </p:txBody>
      </p:sp>
      <p:cxnSp>
        <p:nvCxnSpPr>
          <p:cNvPr id="558" name="Google Shape;558;p21"/>
          <p:cNvCxnSpPr/>
          <p:nvPr/>
        </p:nvCxnSpPr>
        <p:spPr>
          <a:xfrm>
            <a:off x="731520" y="3090672"/>
            <a:ext cx="2286000" cy="0"/>
          </a:xfrm>
          <a:prstGeom prst="straightConnector1">
            <a:avLst/>
          </a:prstGeom>
          <a:noFill/>
          <a:ln cap="flat" cmpd="sng" w="9525">
            <a:solidFill>
              <a:srgbClr val="7C3AED">
                <a:alpha val="45098"/>
              </a:srgbClr>
            </a:solidFill>
            <a:prstDash val="solid"/>
            <a:round/>
            <a:headEnd len="sm" w="sm" type="none"/>
            <a:tailEnd len="sm" w="sm" type="none"/>
          </a:ln>
        </p:spPr>
      </p:cxnSp>
      <p:sp>
        <p:nvSpPr>
          <p:cNvPr id="559" name="Google Shape;559;p21"/>
          <p:cNvSpPr/>
          <p:nvPr/>
        </p:nvSpPr>
        <p:spPr>
          <a:xfrm>
            <a:off x="667512" y="3163824"/>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0" i="0" lang="en-US" sz="1200" u="none" cap="none" strike="noStrike">
                <a:solidFill>
                  <a:srgbClr val="E8ECFF"/>
                </a:solidFill>
                <a:latin typeface="Calibri"/>
                <a:ea typeface="Calibri"/>
                <a:cs typeface="Calibri"/>
                <a:sym typeface="Calibri"/>
              </a:rPr>
              <a:t>⏱  34 days</a:t>
            </a:r>
            <a:endParaRPr b="0" i="0" sz="1200" u="none" cap="none" strike="noStrike">
              <a:solidFill>
                <a:schemeClr val="dk1"/>
              </a:solidFill>
              <a:latin typeface="Calibri"/>
              <a:ea typeface="Calibri"/>
              <a:cs typeface="Calibri"/>
              <a:sym typeface="Calibri"/>
            </a:endParaRPr>
          </a:p>
        </p:txBody>
      </p:sp>
      <p:sp>
        <p:nvSpPr>
          <p:cNvPr id="560" name="Google Shape;560;p21"/>
          <p:cNvSpPr/>
          <p:nvPr/>
        </p:nvSpPr>
        <p:spPr>
          <a:xfrm>
            <a:off x="667512" y="3456432"/>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  ~1,000 A100s</a:t>
            </a:r>
            <a:endParaRPr b="0" i="0" sz="1200" u="none" cap="none" strike="noStrike">
              <a:solidFill>
                <a:schemeClr val="dk1"/>
              </a:solidFill>
              <a:latin typeface="Calibri"/>
              <a:ea typeface="Calibri"/>
              <a:cs typeface="Calibri"/>
              <a:sym typeface="Calibri"/>
            </a:endParaRPr>
          </a:p>
        </p:txBody>
      </p:sp>
      <p:sp>
        <p:nvSpPr>
          <p:cNvPr id="561" name="Google Shape;561;p21"/>
          <p:cNvSpPr/>
          <p:nvPr/>
        </p:nvSpPr>
        <p:spPr>
          <a:xfrm>
            <a:off x="3410712" y="1847088"/>
            <a:ext cx="2743200" cy="2487168"/>
          </a:xfrm>
          <a:prstGeom prst="roundRect">
            <a:avLst>
              <a:gd fmla="val 3676" name="adj"/>
            </a:avLst>
          </a:prstGeom>
          <a:solidFill>
            <a:srgbClr val="1C2236"/>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a:off x="3575304" y="1956816"/>
            <a:ext cx="2423160" cy="384048"/>
          </a:xfrm>
          <a:prstGeom prst="roundRect">
            <a:avLst>
              <a:gd fmla="val 14286" name="adj"/>
            </a:avLst>
          </a:prstGeom>
          <a:solidFill>
            <a:srgbClr val="0891B2">
              <a:alpha val="18039"/>
            </a:srgbClr>
          </a:solidFill>
          <a:ln cap="flat" cmpd="sng" w="12700">
            <a:solidFill>
              <a:srgbClr val="0891B2">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a:off x="3575304" y="1956816"/>
            <a:ext cx="2423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400"/>
              <a:buFont typeface="Calibri"/>
              <a:buNone/>
            </a:pPr>
            <a:r>
              <a:rPr b="1" i="0" lang="en-US" sz="1400" u="none" cap="none" strike="noStrike">
                <a:solidFill>
                  <a:srgbClr val="0891B2"/>
                </a:solidFill>
                <a:latin typeface="Calibri"/>
                <a:ea typeface="Calibri"/>
                <a:cs typeface="Calibri"/>
                <a:sym typeface="Calibri"/>
              </a:rPr>
              <a:t>GPT-4</a:t>
            </a:r>
            <a:endParaRPr b="0" i="0" sz="1400" u="none" cap="none" strike="noStrike">
              <a:solidFill>
                <a:schemeClr val="dk1"/>
              </a:solidFill>
              <a:latin typeface="Calibri"/>
              <a:ea typeface="Calibri"/>
              <a:cs typeface="Calibri"/>
              <a:sym typeface="Calibri"/>
            </a:endParaRPr>
          </a:p>
        </p:txBody>
      </p:sp>
      <p:sp>
        <p:nvSpPr>
          <p:cNvPr id="564" name="Google Shape;564;p21"/>
          <p:cNvSpPr/>
          <p:nvPr/>
        </p:nvSpPr>
        <p:spPr>
          <a:xfrm>
            <a:off x="3520440" y="2414016"/>
            <a:ext cx="2514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$100 M+</a:t>
            </a:r>
            <a:endParaRPr b="0" i="0" sz="2600" u="none" cap="none" strike="noStrike">
              <a:solidFill>
                <a:schemeClr val="dk1"/>
              </a:solidFill>
              <a:latin typeface="Calibri"/>
              <a:ea typeface="Calibri"/>
              <a:cs typeface="Calibri"/>
              <a:sym typeface="Calibri"/>
            </a:endParaRPr>
          </a:p>
        </p:txBody>
      </p:sp>
      <p:cxnSp>
        <p:nvCxnSpPr>
          <p:cNvPr id="565" name="Google Shape;565;p21"/>
          <p:cNvCxnSpPr/>
          <p:nvPr/>
        </p:nvCxnSpPr>
        <p:spPr>
          <a:xfrm>
            <a:off x="3639312" y="3090672"/>
            <a:ext cx="2286000" cy="0"/>
          </a:xfrm>
          <a:prstGeom prst="straightConnector1">
            <a:avLst/>
          </a:prstGeom>
          <a:noFill/>
          <a:ln cap="flat" cmpd="sng" w="9525">
            <a:solidFill>
              <a:srgbClr val="0891B2">
                <a:alpha val="45098"/>
              </a:srgbClr>
            </a:solidFill>
            <a:prstDash val="solid"/>
            <a:round/>
            <a:headEnd len="sm" w="sm" type="none"/>
            <a:tailEnd len="sm" w="sm" type="none"/>
          </a:ln>
        </p:spPr>
      </p:cxnSp>
      <p:sp>
        <p:nvSpPr>
          <p:cNvPr id="566" name="Google Shape;566;p21"/>
          <p:cNvSpPr/>
          <p:nvPr/>
        </p:nvSpPr>
        <p:spPr>
          <a:xfrm>
            <a:off x="3575304" y="3163824"/>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0" i="0" lang="en-US" sz="1200" u="none" cap="none" strike="noStrike">
                <a:solidFill>
                  <a:srgbClr val="E8ECFF"/>
                </a:solidFill>
                <a:latin typeface="Calibri"/>
                <a:ea typeface="Calibri"/>
                <a:cs typeface="Calibri"/>
                <a:sym typeface="Calibri"/>
              </a:rPr>
              <a:t>⏱  3–6 months</a:t>
            </a:r>
            <a:endParaRPr b="0" i="0" sz="1200" u="none" cap="none" strike="noStrike">
              <a:solidFill>
                <a:schemeClr val="dk1"/>
              </a:solidFill>
              <a:latin typeface="Calibri"/>
              <a:ea typeface="Calibri"/>
              <a:cs typeface="Calibri"/>
              <a:sym typeface="Calibri"/>
            </a:endParaRPr>
          </a:p>
        </p:txBody>
      </p:sp>
      <p:sp>
        <p:nvSpPr>
          <p:cNvPr id="567" name="Google Shape;567;p21"/>
          <p:cNvSpPr/>
          <p:nvPr/>
        </p:nvSpPr>
        <p:spPr>
          <a:xfrm>
            <a:off x="3575304" y="3456432"/>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  ~25,000 A100s</a:t>
            </a:r>
            <a:endParaRPr b="0" i="0" sz="1200" u="none" cap="none" strike="noStrike">
              <a:solidFill>
                <a:schemeClr val="dk1"/>
              </a:solidFill>
              <a:latin typeface="Calibri"/>
              <a:ea typeface="Calibri"/>
              <a:cs typeface="Calibri"/>
              <a:sym typeface="Calibri"/>
            </a:endParaRPr>
          </a:p>
        </p:txBody>
      </p:sp>
      <p:sp>
        <p:nvSpPr>
          <p:cNvPr id="568" name="Google Shape;568;p21"/>
          <p:cNvSpPr/>
          <p:nvPr/>
        </p:nvSpPr>
        <p:spPr>
          <a:xfrm>
            <a:off x="6318504" y="1847088"/>
            <a:ext cx="2743200" cy="2487168"/>
          </a:xfrm>
          <a:prstGeom prst="roundRect">
            <a:avLst>
              <a:gd fmla="val 3676" name="adj"/>
            </a:avLst>
          </a:prstGeom>
          <a:solidFill>
            <a:srgbClr val="1C2236"/>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6483096" y="1956816"/>
            <a:ext cx="2423160" cy="384048"/>
          </a:xfrm>
          <a:prstGeom prst="roundRect">
            <a:avLst>
              <a:gd fmla="val 14286" name="adj"/>
            </a:avLst>
          </a:prstGeom>
          <a:solidFill>
            <a:srgbClr val="16A34A">
              <a:alpha val="18039"/>
            </a:srgbClr>
          </a:solidFill>
          <a:ln cap="flat" cmpd="sng" w="1270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a:off x="6483096" y="1956816"/>
            <a:ext cx="2423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Llama 2 70B</a:t>
            </a:r>
            <a:endParaRPr b="0" i="0" sz="1400" u="none" cap="none" strike="noStrike">
              <a:solidFill>
                <a:schemeClr val="dk1"/>
              </a:solidFill>
              <a:latin typeface="Calibri"/>
              <a:ea typeface="Calibri"/>
              <a:cs typeface="Calibri"/>
              <a:sym typeface="Calibri"/>
            </a:endParaRPr>
          </a:p>
        </p:txBody>
      </p:sp>
      <p:sp>
        <p:nvSpPr>
          <p:cNvPr id="571" name="Google Shape;571;p21"/>
          <p:cNvSpPr/>
          <p:nvPr/>
        </p:nvSpPr>
        <p:spPr>
          <a:xfrm>
            <a:off x="6428232" y="2414016"/>
            <a:ext cx="2514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~$3 M</a:t>
            </a:r>
            <a:endParaRPr b="0" i="0" sz="2600" u="none" cap="none" strike="noStrike">
              <a:solidFill>
                <a:schemeClr val="dk1"/>
              </a:solidFill>
              <a:latin typeface="Calibri"/>
              <a:ea typeface="Calibri"/>
              <a:cs typeface="Calibri"/>
              <a:sym typeface="Calibri"/>
            </a:endParaRPr>
          </a:p>
        </p:txBody>
      </p:sp>
      <p:cxnSp>
        <p:nvCxnSpPr>
          <p:cNvPr id="572" name="Google Shape;572;p21"/>
          <p:cNvCxnSpPr/>
          <p:nvPr/>
        </p:nvCxnSpPr>
        <p:spPr>
          <a:xfrm>
            <a:off x="6547104" y="3090672"/>
            <a:ext cx="2286000" cy="0"/>
          </a:xfrm>
          <a:prstGeom prst="straightConnector1">
            <a:avLst/>
          </a:prstGeom>
          <a:noFill/>
          <a:ln cap="flat" cmpd="sng" w="9525">
            <a:solidFill>
              <a:srgbClr val="16A34A">
                <a:alpha val="45098"/>
              </a:srgbClr>
            </a:solidFill>
            <a:prstDash val="solid"/>
            <a:round/>
            <a:headEnd len="sm" w="sm" type="none"/>
            <a:tailEnd len="sm" w="sm" type="none"/>
          </a:ln>
        </p:spPr>
      </p:cxnSp>
      <p:sp>
        <p:nvSpPr>
          <p:cNvPr id="573" name="Google Shape;573;p21"/>
          <p:cNvSpPr/>
          <p:nvPr/>
        </p:nvSpPr>
        <p:spPr>
          <a:xfrm>
            <a:off x="6483096" y="3163824"/>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0" i="0" lang="en-US" sz="1200" u="none" cap="none" strike="noStrike">
                <a:solidFill>
                  <a:srgbClr val="E8ECFF"/>
                </a:solidFill>
                <a:latin typeface="Calibri"/>
                <a:ea typeface="Calibri"/>
                <a:cs typeface="Calibri"/>
                <a:sym typeface="Calibri"/>
              </a:rPr>
              <a:t>⏱  ~3 weeks</a:t>
            </a:r>
            <a:endParaRPr b="0" i="0" sz="1200" u="none" cap="none" strike="noStrike">
              <a:solidFill>
                <a:schemeClr val="dk1"/>
              </a:solidFill>
              <a:latin typeface="Calibri"/>
              <a:ea typeface="Calibri"/>
              <a:cs typeface="Calibri"/>
              <a:sym typeface="Calibri"/>
            </a:endParaRPr>
          </a:p>
        </p:txBody>
      </p:sp>
      <p:sp>
        <p:nvSpPr>
          <p:cNvPr id="574" name="Google Shape;574;p21"/>
          <p:cNvSpPr/>
          <p:nvPr/>
        </p:nvSpPr>
        <p:spPr>
          <a:xfrm>
            <a:off x="6483096" y="3456432"/>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  ~2,000 A100s</a:t>
            </a:r>
            <a:endParaRPr b="0" i="0" sz="1200" u="none" cap="none" strike="noStrike">
              <a:solidFill>
                <a:schemeClr val="dk1"/>
              </a:solidFill>
              <a:latin typeface="Calibri"/>
              <a:ea typeface="Calibri"/>
              <a:cs typeface="Calibri"/>
              <a:sym typeface="Calibri"/>
            </a:endParaRPr>
          </a:p>
        </p:txBody>
      </p:sp>
      <p:sp>
        <p:nvSpPr>
          <p:cNvPr id="575" name="Google Shape;575;p21"/>
          <p:cNvSpPr/>
          <p:nvPr/>
        </p:nvSpPr>
        <p:spPr>
          <a:xfrm>
            <a:off x="9226296" y="1847088"/>
            <a:ext cx="2743200" cy="2487168"/>
          </a:xfrm>
          <a:prstGeom prst="roundRect">
            <a:avLst>
              <a:gd fmla="val 3676" name="adj"/>
            </a:avLst>
          </a:prstGeom>
          <a:solidFill>
            <a:srgbClr val="1C2236"/>
          </a:solidFill>
          <a:ln cap="flat" cmpd="sng" w="12700">
            <a:solidFill>
              <a:srgbClr val="D97706">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9390888" y="1956816"/>
            <a:ext cx="2423160" cy="384048"/>
          </a:xfrm>
          <a:prstGeom prst="roundRect">
            <a:avLst>
              <a:gd fmla="val 14286" name="adj"/>
            </a:avLst>
          </a:prstGeom>
          <a:solidFill>
            <a:srgbClr val="D97706">
              <a:alpha val="18039"/>
            </a:srgbClr>
          </a:solidFill>
          <a:ln cap="flat" cmpd="sng" w="12700">
            <a:solidFill>
              <a:srgbClr val="D9770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9390888" y="1956816"/>
            <a:ext cx="2423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US" sz="1400" u="none" cap="none" strike="noStrike">
                <a:solidFill>
                  <a:srgbClr val="D97706"/>
                </a:solidFill>
                <a:latin typeface="Calibri"/>
                <a:ea typeface="Calibri"/>
                <a:cs typeface="Calibri"/>
                <a:sym typeface="Calibri"/>
              </a:rPr>
              <a:t>Claude 3</a:t>
            </a:r>
            <a:endParaRPr b="0" i="0" sz="1400" u="none" cap="none" strike="noStrike">
              <a:solidFill>
                <a:schemeClr val="dk1"/>
              </a:solidFill>
              <a:latin typeface="Calibri"/>
              <a:ea typeface="Calibri"/>
              <a:cs typeface="Calibri"/>
              <a:sym typeface="Calibri"/>
            </a:endParaRPr>
          </a:p>
        </p:txBody>
      </p:sp>
      <p:sp>
        <p:nvSpPr>
          <p:cNvPr id="578" name="Google Shape;578;p21"/>
          <p:cNvSpPr/>
          <p:nvPr/>
        </p:nvSpPr>
        <p:spPr>
          <a:xfrm>
            <a:off x="9336024" y="2414016"/>
            <a:ext cx="2514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~$50–100 M</a:t>
            </a:r>
            <a:endParaRPr b="0" i="0" sz="2600" u="none" cap="none" strike="noStrike">
              <a:solidFill>
                <a:schemeClr val="dk1"/>
              </a:solidFill>
              <a:latin typeface="Calibri"/>
              <a:ea typeface="Calibri"/>
              <a:cs typeface="Calibri"/>
              <a:sym typeface="Calibri"/>
            </a:endParaRPr>
          </a:p>
        </p:txBody>
      </p:sp>
      <p:cxnSp>
        <p:nvCxnSpPr>
          <p:cNvPr id="579" name="Google Shape;579;p21"/>
          <p:cNvCxnSpPr/>
          <p:nvPr/>
        </p:nvCxnSpPr>
        <p:spPr>
          <a:xfrm>
            <a:off x="9454896" y="3090672"/>
            <a:ext cx="2286000" cy="0"/>
          </a:xfrm>
          <a:prstGeom prst="straightConnector1">
            <a:avLst/>
          </a:prstGeom>
          <a:noFill/>
          <a:ln cap="flat" cmpd="sng" w="9525">
            <a:solidFill>
              <a:srgbClr val="D97706">
                <a:alpha val="45098"/>
              </a:srgbClr>
            </a:solidFill>
            <a:prstDash val="solid"/>
            <a:round/>
            <a:headEnd len="sm" w="sm" type="none"/>
            <a:tailEnd len="sm" w="sm" type="none"/>
          </a:ln>
        </p:spPr>
      </p:cxnSp>
      <p:sp>
        <p:nvSpPr>
          <p:cNvPr id="580" name="Google Shape;580;p21"/>
          <p:cNvSpPr/>
          <p:nvPr/>
        </p:nvSpPr>
        <p:spPr>
          <a:xfrm>
            <a:off x="9390888" y="3163824"/>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0" i="0" lang="en-US" sz="1200" u="none" cap="none" strike="noStrike">
                <a:solidFill>
                  <a:srgbClr val="E8ECFF"/>
                </a:solidFill>
                <a:latin typeface="Calibri"/>
                <a:ea typeface="Calibri"/>
                <a:cs typeface="Calibri"/>
                <a:sym typeface="Calibri"/>
              </a:rPr>
              <a:t>⏱  Undisclosed</a:t>
            </a:r>
            <a:endParaRPr b="0" i="0" sz="1200" u="none" cap="none" strike="noStrike">
              <a:solidFill>
                <a:schemeClr val="dk1"/>
              </a:solidFill>
              <a:latin typeface="Calibri"/>
              <a:ea typeface="Calibri"/>
              <a:cs typeface="Calibri"/>
              <a:sym typeface="Calibri"/>
            </a:endParaRPr>
          </a:p>
        </p:txBody>
      </p:sp>
      <p:sp>
        <p:nvSpPr>
          <p:cNvPr id="581" name="Google Shape;581;p21"/>
          <p:cNvSpPr/>
          <p:nvPr/>
        </p:nvSpPr>
        <p:spPr>
          <a:xfrm>
            <a:off x="9390888" y="3456432"/>
            <a:ext cx="2423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  Undisclosed</a:t>
            </a:r>
            <a:endParaRPr b="0" i="0" sz="1200" u="none" cap="none" strike="noStrike">
              <a:solidFill>
                <a:schemeClr val="dk1"/>
              </a:solidFill>
              <a:latin typeface="Calibri"/>
              <a:ea typeface="Calibri"/>
              <a:cs typeface="Calibri"/>
              <a:sym typeface="Calibri"/>
            </a:endParaRPr>
          </a:p>
        </p:txBody>
      </p:sp>
      <p:sp>
        <p:nvSpPr>
          <p:cNvPr id="582" name="Google Shape;582;p21"/>
          <p:cNvSpPr/>
          <p:nvPr/>
        </p:nvSpPr>
        <p:spPr>
          <a:xfrm>
            <a:off x="502920" y="4517136"/>
            <a:ext cx="5440680" cy="1417320"/>
          </a:xfrm>
          <a:prstGeom prst="roundRect">
            <a:avLst>
              <a:gd fmla="val 6452" name="adj"/>
            </a:avLst>
          </a:prstGeom>
          <a:solidFill>
            <a:srgbClr val="1C2236"/>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1"/>
          <p:cNvSpPr/>
          <p:nvPr/>
        </p:nvSpPr>
        <p:spPr>
          <a:xfrm>
            <a:off x="713232" y="4617720"/>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Hardware reality</a:t>
            </a:r>
            <a:endParaRPr b="0" i="0" sz="1300" u="none" cap="none" strike="noStrike">
              <a:solidFill>
                <a:schemeClr val="dk1"/>
              </a:solidFill>
              <a:latin typeface="Calibri"/>
              <a:ea typeface="Calibri"/>
              <a:cs typeface="Calibri"/>
              <a:sym typeface="Calibri"/>
            </a:endParaRPr>
          </a:p>
        </p:txBody>
      </p:sp>
      <p:sp>
        <p:nvSpPr>
          <p:cNvPr id="584" name="Google Shape;584;p21"/>
          <p:cNvSpPr/>
          <p:nvPr/>
        </p:nvSpPr>
        <p:spPr>
          <a:xfrm>
            <a:off x="749808" y="4974336"/>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1" i="0" lang="en-US" sz="1200" u="none" cap="none" strike="noStrike">
                <a:solidFill>
                  <a:srgbClr val="E8ECFF"/>
                </a:solidFill>
                <a:latin typeface="Calibri"/>
                <a:ea typeface="Calibri"/>
                <a:cs typeface="Calibri"/>
                <a:sym typeface="Calibri"/>
              </a:rPr>
              <a:t>•  1× NVIDIA H100 GPU</a:t>
            </a:r>
            <a:endParaRPr b="0" i="0" sz="1200" u="none" cap="none" strike="noStrike">
              <a:solidFill>
                <a:schemeClr val="dk1"/>
              </a:solidFill>
              <a:latin typeface="Calibri"/>
              <a:ea typeface="Calibri"/>
              <a:cs typeface="Calibri"/>
              <a:sym typeface="Calibri"/>
            </a:endParaRPr>
          </a:p>
        </p:txBody>
      </p:sp>
      <p:sp>
        <p:nvSpPr>
          <p:cNvPr id="585" name="Google Shape;585;p21"/>
          <p:cNvSpPr/>
          <p:nvPr/>
        </p:nvSpPr>
        <p:spPr>
          <a:xfrm>
            <a:off x="3200400" y="497433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$30,000 to buy  ·  $3–4/hour to rent</a:t>
            </a:r>
            <a:endParaRPr b="0" i="0" sz="1200" u="none" cap="none" strike="noStrike">
              <a:solidFill>
                <a:schemeClr val="dk1"/>
              </a:solidFill>
              <a:latin typeface="Calibri"/>
              <a:ea typeface="Calibri"/>
              <a:cs typeface="Calibri"/>
              <a:sym typeface="Calibri"/>
            </a:endParaRPr>
          </a:p>
        </p:txBody>
      </p:sp>
      <p:sp>
        <p:nvSpPr>
          <p:cNvPr id="586" name="Google Shape;586;p21"/>
          <p:cNvSpPr/>
          <p:nvPr/>
        </p:nvSpPr>
        <p:spPr>
          <a:xfrm>
            <a:off x="749808" y="5276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1" i="0" lang="en-US" sz="1200" u="none" cap="none" strike="noStrike">
                <a:solidFill>
                  <a:srgbClr val="E8ECFF"/>
                </a:solidFill>
                <a:latin typeface="Calibri"/>
                <a:ea typeface="Calibri"/>
                <a:cs typeface="Calibri"/>
                <a:sym typeface="Calibri"/>
              </a:rPr>
              <a:t>•  GPT-4 scale run</a:t>
            </a:r>
            <a:endParaRPr b="0" i="0" sz="1200" u="none" cap="none" strike="noStrike">
              <a:solidFill>
                <a:schemeClr val="dk1"/>
              </a:solidFill>
              <a:latin typeface="Calibri"/>
              <a:ea typeface="Calibri"/>
              <a:cs typeface="Calibri"/>
              <a:sym typeface="Calibri"/>
            </a:endParaRPr>
          </a:p>
        </p:txBody>
      </p:sp>
      <p:sp>
        <p:nvSpPr>
          <p:cNvPr id="587" name="Google Shape;587;p21"/>
          <p:cNvSpPr/>
          <p:nvPr/>
        </p:nvSpPr>
        <p:spPr>
          <a:xfrm>
            <a:off x="3200400" y="5276088"/>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~25,000 H100s running for months</a:t>
            </a:r>
            <a:endParaRPr b="0" i="0" sz="1200" u="none" cap="none" strike="noStrike">
              <a:solidFill>
                <a:schemeClr val="dk1"/>
              </a:solidFill>
              <a:latin typeface="Calibri"/>
              <a:ea typeface="Calibri"/>
              <a:cs typeface="Calibri"/>
              <a:sym typeface="Calibri"/>
            </a:endParaRPr>
          </a:p>
        </p:txBody>
      </p:sp>
      <p:sp>
        <p:nvSpPr>
          <p:cNvPr id="588" name="Google Shape;588;p21"/>
          <p:cNvSpPr/>
          <p:nvPr/>
        </p:nvSpPr>
        <p:spPr>
          <a:xfrm>
            <a:off x="749808" y="557784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200"/>
              <a:buFont typeface="Calibri"/>
              <a:buNone/>
            </a:pPr>
            <a:r>
              <a:rPr b="1" i="0" lang="en-US" sz="1200" u="none" cap="none" strike="noStrike">
                <a:solidFill>
                  <a:srgbClr val="E8ECFF"/>
                </a:solidFill>
                <a:latin typeface="Calibri"/>
                <a:ea typeface="Calibri"/>
                <a:cs typeface="Calibri"/>
                <a:sym typeface="Calibri"/>
              </a:rPr>
              <a:t>•  Energy</a:t>
            </a:r>
            <a:endParaRPr b="0" i="0" sz="1200" u="none" cap="none" strike="noStrike">
              <a:solidFill>
                <a:schemeClr val="dk1"/>
              </a:solidFill>
              <a:latin typeface="Calibri"/>
              <a:ea typeface="Calibri"/>
              <a:cs typeface="Calibri"/>
              <a:sym typeface="Calibri"/>
            </a:endParaRPr>
          </a:p>
        </p:txBody>
      </p:sp>
      <p:sp>
        <p:nvSpPr>
          <p:cNvPr id="589" name="Google Shape;589;p21"/>
          <p:cNvSpPr/>
          <p:nvPr/>
        </p:nvSpPr>
        <p:spPr>
          <a:xfrm>
            <a:off x="3200400" y="5577840"/>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~Powering 1,000 homes for a year</a:t>
            </a:r>
            <a:endParaRPr b="0" i="0" sz="1200" u="none" cap="none" strike="noStrike">
              <a:solidFill>
                <a:schemeClr val="dk1"/>
              </a:solidFill>
              <a:latin typeface="Calibri"/>
              <a:ea typeface="Calibri"/>
              <a:cs typeface="Calibri"/>
              <a:sym typeface="Calibri"/>
            </a:endParaRPr>
          </a:p>
        </p:txBody>
      </p:sp>
      <p:sp>
        <p:nvSpPr>
          <p:cNvPr id="590" name="Google Shape;590;p21"/>
          <p:cNvSpPr/>
          <p:nvPr/>
        </p:nvSpPr>
        <p:spPr>
          <a:xfrm>
            <a:off x="6172200" y="4517136"/>
            <a:ext cx="5440680" cy="1417320"/>
          </a:xfrm>
          <a:prstGeom prst="roundRect">
            <a:avLst>
              <a:gd fmla="val 6452" name="adj"/>
            </a:avLst>
          </a:prstGeom>
          <a:solidFill>
            <a:srgbClr val="1C2236"/>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1"/>
          <p:cNvSpPr/>
          <p:nvPr/>
        </p:nvSpPr>
        <p:spPr>
          <a:xfrm>
            <a:off x="6382512" y="4617720"/>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What engineers actually do</a:t>
            </a:r>
            <a:endParaRPr b="0" i="0" sz="1300" u="none" cap="none" strike="noStrike">
              <a:solidFill>
                <a:schemeClr val="dk1"/>
              </a:solidFill>
              <a:latin typeface="Calibri"/>
              <a:ea typeface="Calibri"/>
              <a:cs typeface="Calibri"/>
              <a:sym typeface="Calibri"/>
            </a:endParaRPr>
          </a:p>
        </p:txBody>
      </p:sp>
      <p:sp>
        <p:nvSpPr>
          <p:cNvPr id="592" name="Google Shape;592;p21"/>
          <p:cNvSpPr/>
          <p:nvPr/>
        </p:nvSpPr>
        <p:spPr>
          <a:xfrm>
            <a:off x="6382512" y="497433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  API call (inference)</a:t>
            </a:r>
            <a:endParaRPr b="0" i="0" sz="1200" u="none" cap="none" strike="noStrike">
              <a:solidFill>
                <a:schemeClr val="dk1"/>
              </a:solidFill>
              <a:latin typeface="Calibri"/>
              <a:ea typeface="Calibri"/>
              <a:cs typeface="Calibri"/>
              <a:sym typeface="Calibri"/>
            </a:endParaRPr>
          </a:p>
        </p:txBody>
      </p:sp>
      <p:sp>
        <p:nvSpPr>
          <p:cNvPr id="593" name="Google Shape;593;p21"/>
          <p:cNvSpPr/>
          <p:nvPr/>
        </p:nvSpPr>
        <p:spPr>
          <a:xfrm>
            <a:off x="9034272" y="4974336"/>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$0.001–0.01  ·  milliseconds</a:t>
            </a:r>
            <a:endParaRPr b="0" i="0" sz="1200" u="none" cap="none" strike="noStrike">
              <a:solidFill>
                <a:schemeClr val="dk1"/>
              </a:solidFill>
              <a:latin typeface="Calibri"/>
              <a:ea typeface="Calibri"/>
              <a:cs typeface="Calibri"/>
              <a:sym typeface="Calibri"/>
            </a:endParaRPr>
          </a:p>
        </p:txBody>
      </p:sp>
      <p:sp>
        <p:nvSpPr>
          <p:cNvPr id="594" name="Google Shape;594;p21"/>
          <p:cNvSpPr/>
          <p:nvPr/>
        </p:nvSpPr>
        <p:spPr>
          <a:xfrm>
            <a:off x="6382512" y="527608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  Fine-tuning (small)</a:t>
            </a:r>
            <a:endParaRPr b="0" i="0" sz="1200" u="none" cap="none" strike="noStrike">
              <a:solidFill>
                <a:schemeClr val="dk1"/>
              </a:solidFill>
              <a:latin typeface="Calibri"/>
              <a:ea typeface="Calibri"/>
              <a:cs typeface="Calibri"/>
              <a:sym typeface="Calibri"/>
            </a:endParaRPr>
          </a:p>
        </p:txBody>
      </p:sp>
      <p:sp>
        <p:nvSpPr>
          <p:cNvPr id="595" name="Google Shape;595;p21"/>
          <p:cNvSpPr/>
          <p:nvPr/>
        </p:nvSpPr>
        <p:spPr>
          <a:xfrm>
            <a:off x="9034272" y="5276088"/>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$100–$10,000  ·  hours to days</a:t>
            </a:r>
            <a:endParaRPr b="0" i="0" sz="1200" u="none" cap="none" strike="noStrike">
              <a:solidFill>
                <a:schemeClr val="dk1"/>
              </a:solidFill>
              <a:latin typeface="Calibri"/>
              <a:ea typeface="Calibri"/>
              <a:cs typeface="Calibri"/>
              <a:sym typeface="Calibri"/>
            </a:endParaRPr>
          </a:p>
        </p:txBody>
      </p:sp>
      <p:sp>
        <p:nvSpPr>
          <p:cNvPr id="596" name="Google Shape;596;p21"/>
          <p:cNvSpPr/>
          <p:nvPr/>
        </p:nvSpPr>
        <p:spPr>
          <a:xfrm>
            <a:off x="6382512" y="5577840"/>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  Pre-training from scratch</a:t>
            </a:r>
            <a:endParaRPr b="0" i="0" sz="1200" u="none" cap="none" strike="noStrike">
              <a:solidFill>
                <a:schemeClr val="dk1"/>
              </a:solidFill>
              <a:latin typeface="Calibri"/>
              <a:ea typeface="Calibri"/>
              <a:cs typeface="Calibri"/>
              <a:sym typeface="Calibri"/>
            </a:endParaRPr>
          </a:p>
        </p:txBody>
      </p:sp>
      <p:sp>
        <p:nvSpPr>
          <p:cNvPr id="597" name="Google Shape;597;p21"/>
          <p:cNvSpPr/>
          <p:nvPr/>
        </p:nvSpPr>
        <p:spPr>
          <a:xfrm>
            <a:off x="9034272" y="5577840"/>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$1M–$100M+  ·  months (not us!)</a:t>
            </a:r>
            <a:endParaRPr b="0" i="0" sz="1200" u="none" cap="none" strike="noStrike">
              <a:solidFill>
                <a:schemeClr val="dk1"/>
              </a:solidFill>
              <a:latin typeface="Calibri"/>
              <a:ea typeface="Calibri"/>
              <a:cs typeface="Calibri"/>
              <a:sym typeface="Calibri"/>
            </a:endParaRPr>
          </a:p>
        </p:txBody>
      </p:sp>
      <p:sp>
        <p:nvSpPr>
          <p:cNvPr id="598" name="Google Shape;598;p21"/>
          <p:cNvSpPr/>
          <p:nvPr/>
        </p:nvSpPr>
        <p:spPr>
          <a:xfrm>
            <a:off x="502920" y="6053328"/>
            <a:ext cx="11109960" cy="438912"/>
          </a:xfrm>
          <a:prstGeom prst="roundRect">
            <a:avLst>
              <a:gd fmla="val 14583" name="adj"/>
            </a:avLst>
          </a:prstGeom>
          <a:solidFill>
            <a:srgbClr val="D97706">
              <a:alpha val="14117"/>
            </a:srgbClr>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1"/>
          <p:cNvSpPr/>
          <p:nvPr/>
        </p:nvSpPr>
        <p:spPr>
          <a:xfrm>
            <a:off x="713232" y="6099048"/>
            <a:ext cx="1078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CD34D"/>
              </a:buClr>
              <a:buSzPts val="1300"/>
              <a:buFont typeface="Calibri"/>
              <a:buNone/>
            </a:pPr>
            <a:r>
              <a:rPr b="1" i="0" lang="en-US" sz="1300" u="none" cap="none" strike="noStrike">
                <a:solidFill>
                  <a:srgbClr val="FCD34D"/>
                </a:solidFill>
                <a:latin typeface="Calibri"/>
                <a:ea typeface="Calibri"/>
                <a:cs typeface="Calibri"/>
                <a:sym typeface="Calibri"/>
              </a:rPr>
              <a:t>This is why we use APIs — not train from scratch. Pre-training is a one-time cost paid by OpenAI / Anthropic. Inference is what YOU pay: fractions of a cent per call.</a:t>
            </a:r>
            <a:endParaRPr b="0" i="0" sz="1300" u="none" cap="none" strike="noStrike">
              <a:solidFill>
                <a:schemeClr val="dk1"/>
              </a:solidFill>
              <a:latin typeface="Calibri"/>
              <a:ea typeface="Calibri"/>
              <a:cs typeface="Calibri"/>
              <a:sym typeface="Calibri"/>
            </a:endParaRPr>
          </a:p>
        </p:txBody>
      </p:sp>
      <p:sp>
        <p:nvSpPr>
          <p:cNvPr id="600" name="Google Shape;600;p21"/>
          <p:cNvSpPr/>
          <p:nvPr/>
        </p:nvSpPr>
        <p:spPr>
          <a:xfrm>
            <a:off x="0" y="6583680"/>
            <a:ext cx="12191695" cy="274320"/>
          </a:xfrm>
          <a:prstGeom prst="rect">
            <a:avLst/>
          </a:prstGeom>
          <a:solidFill>
            <a:srgbClr val="D97706">
              <a:alpha val="12156"/>
            </a:srgbClr>
          </a:solidFill>
          <a:ln cap="flat" cmpd="sng" w="12700">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602" name="Google Shape;602;p2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19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22"/>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TRAINING · STAGE 1</a:t>
            </a:r>
            <a:endParaRPr b="0" i="0" sz="1200" u="none" cap="none" strike="noStrike">
              <a:solidFill>
                <a:schemeClr val="dk1"/>
              </a:solidFill>
              <a:latin typeface="Calibri"/>
              <a:ea typeface="Calibri"/>
              <a:cs typeface="Calibri"/>
              <a:sym typeface="Calibri"/>
            </a:endParaRPr>
          </a:p>
        </p:txBody>
      </p:sp>
      <p:sp>
        <p:nvSpPr>
          <p:cNvPr id="609" name="Google Shape;609;p22"/>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Pre-training: 'read the internet'</a:t>
            </a:r>
            <a:endParaRPr b="0" i="0" sz="3600" u="none" cap="none" strike="noStrike">
              <a:solidFill>
                <a:schemeClr val="dk1"/>
              </a:solidFill>
              <a:latin typeface="Calibri"/>
              <a:ea typeface="Calibri"/>
              <a:cs typeface="Calibri"/>
              <a:sym typeface="Calibri"/>
            </a:endParaRPr>
          </a:p>
        </p:txBody>
      </p:sp>
      <p:sp>
        <p:nvSpPr>
          <p:cNvPr id="610" name="Google Shape;610;p22"/>
          <p:cNvSpPr/>
          <p:nvPr/>
        </p:nvSpPr>
        <p:spPr>
          <a:xfrm>
            <a:off x="548640" y="2148840"/>
            <a:ext cx="2514600" cy="2286000"/>
          </a:xfrm>
          <a:prstGeom prst="roundRect">
            <a:avLst>
              <a:gd fmla="val 4000" name="adj"/>
            </a:avLst>
          </a:prstGeom>
          <a:solidFill>
            <a:srgbClr val="FFFBEB"/>
          </a:solidFill>
          <a:ln cap="flat" cmpd="sng" w="12700">
            <a:solidFill>
              <a:srgbClr val="D97706">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1508760" y="2331720"/>
            <a:ext cx="512064" cy="512064"/>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p:nvPr/>
        </p:nvSpPr>
        <p:spPr>
          <a:xfrm>
            <a:off x="1508760" y="233172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613" name="Google Shape;613;p22"/>
          <p:cNvSpPr/>
          <p:nvPr/>
        </p:nvSpPr>
        <p:spPr>
          <a:xfrm>
            <a:off x="713232" y="2944368"/>
            <a:ext cx="2194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i="0" lang="en-US" sz="1400" u="none" cap="none" strike="noStrike">
                <a:solidFill>
                  <a:srgbClr val="D97706"/>
                </a:solidFill>
                <a:latin typeface="Calibri"/>
                <a:ea typeface="Calibri"/>
                <a:cs typeface="Calibri"/>
                <a:sym typeface="Calibri"/>
              </a:rPr>
              <a:t>Massive text data</a:t>
            </a:r>
            <a:endParaRPr b="0" i="0" sz="1400" u="none" cap="none" strike="noStrike">
              <a:solidFill>
                <a:schemeClr val="dk1"/>
              </a:solidFill>
              <a:latin typeface="Calibri"/>
              <a:ea typeface="Calibri"/>
              <a:cs typeface="Calibri"/>
              <a:sym typeface="Calibri"/>
            </a:endParaRPr>
          </a:p>
        </p:txBody>
      </p:sp>
      <p:sp>
        <p:nvSpPr>
          <p:cNvPr id="614" name="Google Shape;614;p22"/>
          <p:cNvSpPr/>
          <p:nvPr/>
        </p:nvSpPr>
        <p:spPr>
          <a:xfrm>
            <a:off x="713232" y="3456432"/>
            <a:ext cx="219456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Books, web, code, papers</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 trillions of tokens</a:t>
            </a:r>
            <a:endParaRPr b="0" i="0" sz="1200" u="none" cap="none" strike="noStrike">
              <a:solidFill>
                <a:schemeClr val="dk1"/>
              </a:solidFill>
              <a:latin typeface="Calibri"/>
              <a:ea typeface="Calibri"/>
              <a:cs typeface="Calibri"/>
              <a:sym typeface="Calibri"/>
            </a:endParaRPr>
          </a:p>
        </p:txBody>
      </p:sp>
      <p:cxnSp>
        <p:nvCxnSpPr>
          <p:cNvPr id="615" name="Google Shape;615;p22"/>
          <p:cNvCxnSpPr/>
          <p:nvPr/>
        </p:nvCxnSpPr>
        <p:spPr>
          <a:xfrm>
            <a:off x="3090672" y="3291840"/>
            <a:ext cx="228600" cy="0"/>
          </a:xfrm>
          <a:prstGeom prst="straightConnector1">
            <a:avLst/>
          </a:prstGeom>
          <a:noFill/>
          <a:ln cap="flat" cmpd="sng" w="27925">
            <a:solidFill>
              <a:srgbClr val="CBD5E1"/>
            </a:solidFill>
            <a:prstDash val="solid"/>
            <a:round/>
            <a:headEnd len="sm" w="sm" type="none"/>
            <a:tailEnd len="med" w="med" type="triangle"/>
          </a:ln>
        </p:spPr>
      </p:cxnSp>
      <p:sp>
        <p:nvSpPr>
          <p:cNvPr id="616" name="Google Shape;616;p22"/>
          <p:cNvSpPr/>
          <p:nvPr/>
        </p:nvSpPr>
        <p:spPr>
          <a:xfrm>
            <a:off x="3337560" y="2148840"/>
            <a:ext cx="2514600" cy="2286000"/>
          </a:xfrm>
          <a:prstGeom prst="roundRect">
            <a:avLst>
              <a:gd fmla="val 4000" name="adj"/>
            </a:avLst>
          </a:prstGeom>
          <a:solidFill>
            <a:srgbClr val="EDE9FE"/>
          </a:solidFill>
          <a:ln cap="flat" cmpd="sng" w="12700">
            <a:solidFill>
              <a:srgbClr val="7C3AED">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4297680" y="2331720"/>
            <a:ext cx="512064" cy="512064"/>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a:off x="4297680" y="233172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619" name="Google Shape;619;p22"/>
          <p:cNvSpPr/>
          <p:nvPr/>
        </p:nvSpPr>
        <p:spPr>
          <a:xfrm>
            <a:off x="3502152" y="2944368"/>
            <a:ext cx="2194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Next-token game</a:t>
            </a:r>
            <a:endParaRPr b="0" i="0" sz="1400" u="none" cap="none" strike="noStrike">
              <a:solidFill>
                <a:schemeClr val="dk1"/>
              </a:solidFill>
              <a:latin typeface="Calibri"/>
              <a:ea typeface="Calibri"/>
              <a:cs typeface="Calibri"/>
              <a:sym typeface="Calibri"/>
            </a:endParaRPr>
          </a:p>
        </p:txBody>
      </p:sp>
      <p:sp>
        <p:nvSpPr>
          <p:cNvPr id="620" name="Google Shape;620;p22"/>
          <p:cNvSpPr/>
          <p:nvPr/>
        </p:nvSpPr>
        <p:spPr>
          <a:xfrm>
            <a:off x="3502152" y="3456432"/>
            <a:ext cx="219456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Predict the next token.</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Check. Adjust weights. Repeat.</a:t>
            </a:r>
            <a:endParaRPr b="0" i="0" sz="1200" u="none" cap="none" strike="noStrike">
              <a:solidFill>
                <a:schemeClr val="dk1"/>
              </a:solidFill>
              <a:latin typeface="Calibri"/>
              <a:ea typeface="Calibri"/>
              <a:cs typeface="Calibri"/>
              <a:sym typeface="Calibri"/>
            </a:endParaRPr>
          </a:p>
        </p:txBody>
      </p:sp>
      <p:cxnSp>
        <p:nvCxnSpPr>
          <p:cNvPr id="621" name="Google Shape;621;p22"/>
          <p:cNvCxnSpPr/>
          <p:nvPr/>
        </p:nvCxnSpPr>
        <p:spPr>
          <a:xfrm>
            <a:off x="5879592" y="3291840"/>
            <a:ext cx="228600" cy="0"/>
          </a:xfrm>
          <a:prstGeom prst="straightConnector1">
            <a:avLst/>
          </a:prstGeom>
          <a:noFill/>
          <a:ln cap="flat" cmpd="sng" w="27925">
            <a:solidFill>
              <a:srgbClr val="CBD5E1"/>
            </a:solidFill>
            <a:prstDash val="solid"/>
            <a:round/>
            <a:headEnd len="sm" w="sm" type="none"/>
            <a:tailEnd len="med" w="med" type="triangle"/>
          </a:ln>
        </p:spPr>
      </p:cxnSp>
      <p:sp>
        <p:nvSpPr>
          <p:cNvPr id="622" name="Google Shape;622;p22"/>
          <p:cNvSpPr/>
          <p:nvPr/>
        </p:nvSpPr>
        <p:spPr>
          <a:xfrm>
            <a:off x="6126480" y="2148840"/>
            <a:ext cx="2514600" cy="2286000"/>
          </a:xfrm>
          <a:prstGeom prst="roundRect">
            <a:avLst>
              <a:gd fmla="val 4000" name="adj"/>
            </a:avLst>
          </a:prstGeom>
          <a:solidFill>
            <a:srgbClr val="FFF1F2"/>
          </a:solidFill>
          <a:ln cap="flat" cmpd="sng" w="12700">
            <a:solidFill>
              <a:srgbClr val="E11D48">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
          <p:cNvSpPr/>
          <p:nvPr/>
        </p:nvSpPr>
        <p:spPr>
          <a:xfrm>
            <a:off x="7086600" y="2331720"/>
            <a:ext cx="512064" cy="512064"/>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7086600" y="233172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625" name="Google Shape;625;p22"/>
          <p:cNvSpPr/>
          <p:nvPr/>
        </p:nvSpPr>
        <p:spPr>
          <a:xfrm>
            <a:off x="6291072" y="2944368"/>
            <a:ext cx="2194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Billions of iterations</a:t>
            </a:r>
            <a:endParaRPr b="0" i="0" sz="1400" u="none" cap="none" strike="noStrike">
              <a:solidFill>
                <a:schemeClr val="dk1"/>
              </a:solidFill>
              <a:latin typeface="Calibri"/>
              <a:ea typeface="Calibri"/>
              <a:cs typeface="Calibri"/>
              <a:sym typeface="Calibri"/>
            </a:endParaRPr>
          </a:p>
        </p:txBody>
      </p:sp>
      <p:sp>
        <p:nvSpPr>
          <p:cNvPr id="626" name="Google Shape;626;p22"/>
          <p:cNvSpPr/>
          <p:nvPr/>
        </p:nvSpPr>
        <p:spPr>
          <a:xfrm>
            <a:off x="6291072" y="3456432"/>
            <a:ext cx="219456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Months of training on</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thousands of GPUs</a:t>
            </a:r>
            <a:endParaRPr b="0" i="0" sz="1200" u="none" cap="none" strike="noStrike">
              <a:solidFill>
                <a:schemeClr val="dk1"/>
              </a:solidFill>
              <a:latin typeface="Calibri"/>
              <a:ea typeface="Calibri"/>
              <a:cs typeface="Calibri"/>
              <a:sym typeface="Calibri"/>
            </a:endParaRPr>
          </a:p>
        </p:txBody>
      </p:sp>
      <p:cxnSp>
        <p:nvCxnSpPr>
          <p:cNvPr id="627" name="Google Shape;627;p22"/>
          <p:cNvCxnSpPr/>
          <p:nvPr/>
        </p:nvCxnSpPr>
        <p:spPr>
          <a:xfrm>
            <a:off x="8668512" y="3291840"/>
            <a:ext cx="228600" cy="0"/>
          </a:xfrm>
          <a:prstGeom prst="straightConnector1">
            <a:avLst/>
          </a:prstGeom>
          <a:noFill/>
          <a:ln cap="flat" cmpd="sng" w="27925">
            <a:solidFill>
              <a:srgbClr val="CBD5E1"/>
            </a:solidFill>
            <a:prstDash val="solid"/>
            <a:round/>
            <a:headEnd len="sm" w="sm" type="none"/>
            <a:tailEnd len="med" w="med" type="triangle"/>
          </a:ln>
        </p:spPr>
      </p:cxnSp>
      <p:sp>
        <p:nvSpPr>
          <p:cNvPr id="628" name="Google Shape;628;p22"/>
          <p:cNvSpPr/>
          <p:nvPr/>
        </p:nvSpPr>
        <p:spPr>
          <a:xfrm>
            <a:off x="8915400" y="2148840"/>
            <a:ext cx="2514600" cy="2286000"/>
          </a:xfrm>
          <a:prstGeom prst="roundRect">
            <a:avLst>
              <a:gd fmla="val 4000" name="adj"/>
            </a:avLst>
          </a:prstGeom>
          <a:solidFill>
            <a:srgbClr val="F0FDF4"/>
          </a:solidFill>
          <a:ln cap="flat" cmpd="sng" w="12700">
            <a:solidFill>
              <a:srgbClr val="16A34A">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p:nvPr/>
        </p:nvSpPr>
        <p:spPr>
          <a:xfrm>
            <a:off x="9875520" y="2331720"/>
            <a:ext cx="512064" cy="512064"/>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9875520" y="233172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631" name="Google Shape;631;p22"/>
          <p:cNvSpPr/>
          <p:nvPr/>
        </p:nvSpPr>
        <p:spPr>
          <a:xfrm>
            <a:off x="9079992" y="2944368"/>
            <a:ext cx="2194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Base model</a:t>
            </a:r>
            <a:endParaRPr b="0" i="0" sz="1400" u="none" cap="none" strike="noStrike">
              <a:solidFill>
                <a:schemeClr val="dk1"/>
              </a:solidFill>
              <a:latin typeface="Calibri"/>
              <a:ea typeface="Calibri"/>
              <a:cs typeface="Calibri"/>
              <a:sym typeface="Calibri"/>
            </a:endParaRPr>
          </a:p>
        </p:txBody>
      </p:sp>
      <p:sp>
        <p:nvSpPr>
          <p:cNvPr id="632" name="Google Shape;632;p22"/>
          <p:cNvSpPr/>
          <p:nvPr/>
        </p:nvSpPr>
        <p:spPr>
          <a:xfrm>
            <a:off x="9079992" y="3456432"/>
            <a:ext cx="219456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Knows language, facts,</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code — but not helpful yet</a:t>
            </a:r>
            <a:endParaRPr b="0" i="0" sz="1200" u="none" cap="none" strike="noStrike">
              <a:solidFill>
                <a:schemeClr val="dk1"/>
              </a:solidFill>
              <a:latin typeface="Calibri"/>
              <a:ea typeface="Calibri"/>
              <a:cs typeface="Calibri"/>
              <a:sym typeface="Calibri"/>
            </a:endParaRPr>
          </a:p>
        </p:txBody>
      </p:sp>
      <p:sp>
        <p:nvSpPr>
          <p:cNvPr id="633" name="Google Shape;633;p22"/>
          <p:cNvSpPr/>
          <p:nvPr/>
        </p:nvSpPr>
        <p:spPr>
          <a:xfrm>
            <a:off x="548640" y="4663440"/>
            <a:ext cx="3611880" cy="1371600"/>
          </a:xfrm>
          <a:prstGeom prst="roundRect">
            <a:avLst>
              <a:gd fmla="val 6000"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731520" y="4773168"/>
            <a:ext cx="32461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2200"/>
              <a:buFont typeface="Calibri"/>
              <a:buNone/>
            </a:pPr>
            <a:r>
              <a:rPr b="1" i="0" lang="en-US" sz="2200" u="none" cap="none" strike="noStrike">
                <a:solidFill>
                  <a:srgbClr val="D97706"/>
                </a:solidFill>
                <a:latin typeface="Calibri"/>
                <a:ea typeface="Calibri"/>
                <a:cs typeface="Calibri"/>
                <a:sym typeface="Calibri"/>
              </a:rPr>
              <a:t>~15 trillion</a:t>
            </a:r>
            <a:endParaRPr b="0" i="0" sz="2200" u="none" cap="none" strike="noStrike">
              <a:solidFill>
                <a:schemeClr val="dk1"/>
              </a:solidFill>
              <a:latin typeface="Calibri"/>
              <a:ea typeface="Calibri"/>
              <a:cs typeface="Calibri"/>
              <a:sym typeface="Calibri"/>
            </a:endParaRPr>
          </a:p>
        </p:txBody>
      </p:sp>
      <p:sp>
        <p:nvSpPr>
          <p:cNvPr id="635" name="Google Shape;635;p22"/>
          <p:cNvSpPr/>
          <p:nvPr/>
        </p:nvSpPr>
        <p:spPr>
          <a:xfrm>
            <a:off x="731520" y="5321808"/>
            <a:ext cx="3246120" cy="594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tokens trained on (GPT-4 estimate)</a:t>
            </a:r>
            <a:endParaRPr b="0" i="0" sz="1300" u="none" cap="none" strike="noStrike">
              <a:solidFill>
                <a:schemeClr val="dk1"/>
              </a:solidFill>
              <a:latin typeface="Calibri"/>
              <a:ea typeface="Calibri"/>
              <a:cs typeface="Calibri"/>
              <a:sym typeface="Calibri"/>
            </a:endParaRPr>
          </a:p>
        </p:txBody>
      </p:sp>
      <p:sp>
        <p:nvSpPr>
          <p:cNvPr id="636" name="Google Shape;636;p22"/>
          <p:cNvSpPr/>
          <p:nvPr/>
        </p:nvSpPr>
        <p:spPr>
          <a:xfrm>
            <a:off x="4343400" y="4663440"/>
            <a:ext cx="3611880" cy="1371600"/>
          </a:xfrm>
          <a:prstGeom prst="roundRect">
            <a:avLst>
              <a:gd fmla="val 6000"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p:nvPr/>
        </p:nvSpPr>
        <p:spPr>
          <a:xfrm>
            <a:off x="4526280" y="4773168"/>
            <a:ext cx="32461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200"/>
              <a:buFont typeface="Calibri"/>
              <a:buNone/>
            </a:pPr>
            <a:r>
              <a:rPr b="1" i="0" lang="en-US" sz="2200" u="none" cap="none" strike="noStrike">
                <a:solidFill>
                  <a:srgbClr val="E11D48"/>
                </a:solidFill>
                <a:latin typeface="Calibri"/>
                <a:ea typeface="Calibri"/>
                <a:cs typeface="Calibri"/>
                <a:sym typeface="Calibri"/>
              </a:rPr>
              <a:t>~$100 million+</a:t>
            </a:r>
            <a:endParaRPr b="0" i="0" sz="2200" u="none" cap="none" strike="noStrike">
              <a:solidFill>
                <a:schemeClr val="dk1"/>
              </a:solidFill>
              <a:latin typeface="Calibri"/>
              <a:ea typeface="Calibri"/>
              <a:cs typeface="Calibri"/>
              <a:sym typeface="Calibri"/>
            </a:endParaRPr>
          </a:p>
        </p:txBody>
      </p:sp>
      <p:sp>
        <p:nvSpPr>
          <p:cNvPr id="638" name="Google Shape;638;p22"/>
          <p:cNvSpPr/>
          <p:nvPr/>
        </p:nvSpPr>
        <p:spPr>
          <a:xfrm>
            <a:off x="4526280" y="5321808"/>
            <a:ext cx="3246120" cy="594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cost of a frontier pre-training run</a:t>
            </a:r>
            <a:endParaRPr b="0" i="0" sz="1300" u="none" cap="none" strike="noStrike">
              <a:solidFill>
                <a:schemeClr val="dk1"/>
              </a:solidFill>
              <a:latin typeface="Calibri"/>
              <a:ea typeface="Calibri"/>
              <a:cs typeface="Calibri"/>
              <a:sym typeface="Calibri"/>
            </a:endParaRPr>
          </a:p>
        </p:txBody>
      </p:sp>
      <p:sp>
        <p:nvSpPr>
          <p:cNvPr id="639" name="Google Shape;639;p22"/>
          <p:cNvSpPr/>
          <p:nvPr/>
        </p:nvSpPr>
        <p:spPr>
          <a:xfrm>
            <a:off x="8138160" y="4663440"/>
            <a:ext cx="3611880" cy="1371600"/>
          </a:xfrm>
          <a:prstGeom prst="roundRect">
            <a:avLst>
              <a:gd fmla="val 6000"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2"/>
          <p:cNvSpPr/>
          <p:nvPr/>
        </p:nvSpPr>
        <p:spPr>
          <a:xfrm>
            <a:off x="8321040" y="4773168"/>
            <a:ext cx="32461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2200"/>
              <a:buFont typeface="Calibri"/>
              <a:buNone/>
            </a:pPr>
            <a:r>
              <a:rPr b="1" i="0" lang="en-US" sz="2200" u="none" cap="none" strike="noStrike">
                <a:solidFill>
                  <a:srgbClr val="7C3AED"/>
                </a:solidFill>
                <a:latin typeface="Calibri"/>
                <a:ea typeface="Calibri"/>
                <a:cs typeface="Calibri"/>
                <a:sym typeface="Calibri"/>
              </a:rPr>
              <a:t>Knowledge cutoff</a:t>
            </a:r>
            <a:endParaRPr b="0" i="0" sz="2200" u="none" cap="none" strike="noStrike">
              <a:solidFill>
                <a:schemeClr val="dk1"/>
              </a:solidFill>
              <a:latin typeface="Calibri"/>
              <a:ea typeface="Calibri"/>
              <a:cs typeface="Calibri"/>
              <a:sym typeface="Calibri"/>
            </a:endParaRPr>
          </a:p>
        </p:txBody>
      </p:sp>
      <p:sp>
        <p:nvSpPr>
          <p:cNvPr id="641" name="Google Shape;641;p22"/>
          <p:cNvSpPr/>
          <p:nvPr/>
        </p:nvSpPr>
        <p:spPr>
          <a:xfrm>
            <a:off x="8321040" y="5321808"/>
            <a:ext cx="3246120" cy="594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all pre-training data has a date limit</a:t>
            </a:r>
            <a:endParaRPr b="0" i="0" sz="1300" u="none" cap="none" strike="noStrike">
              <a:solidFill>
                <a:schemeClr val="dk1"/>
              </a:solidFill>
              <a:latin typeface="Calibri"/>
              <a:ea typeface="Calibri"/>
              <a:cs typeface="Calibri"/>
              <a:sym typeface="Calibri"/>
            </a:endParaRPr>
          </a:p>
        </p:txBody>
      </p:sp>
      <p:sp>
        <p:nvSpPr>
          <p:cNvPr id="642" name="Google Shape;642;p22"/>
          <p:cNvSpPr/>
          <p:nvPr/>
        </p:nvSpPr>
        <p:spPr>
          <a:xfrm>
            <a:off x="0" y="6583680"/>
            <a:ext cx="12191695" cy="274320"/>
          </a:xfrm>
          <a:prstGeom prst="rect">
            <a:avLst/>
          </a:prstGeom>
          <a:solidFill>
            <a:srgbClr val="D97706">
              <a:alpha val="12156"/>
            </a:srgbClr>
          </a:solidFill>
          <a:ln cap="flat" cmpd="sng" w="12700">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644" name="Google Shape;644;p2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20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23"/>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TRAINING · STAGE 2</a:t>
            </a:r>
            <a:endParaRPr b="0" i="0" sz="1200" u="none" cap="none" strike="noStrike">
              <a:solidFill>
                <a:schemeClr val="dk1"/>
              </a:solidFill>
              <a:latin typeface="Calibri"/>
              <a:ea typeface="Calibri"/>
              <a:cs typeface="Calibri"/>
              <a:sym typeface="Calibri"/>
            </a:endParaRPr>
          </a:p>
        </p:txBody>
      </p:sp>
      <p:sp>
        <p:nvSpPr>
          <p:cNvPr id="651" name="Google Shape;651;p23"/>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Post-training: 'learn to be helpful'</a:t>
            </a:r>
            <a:endParaRPr b="0" i="0" sz="3600" u="none" cap="none" strike="noStrike">
              <a:solidFill>
                <a:schemeClr val="dk1"/>
              </a:solidFill>
              <a:latin typeface="Calibri"/>
              <a:ea typeface="Calibri"/>
              <a:cs typeface="Calibri"/>
              <a:sym typeface="Calibri"/>
            </a:endParaRPr>
          </a:p>
        </p:txBody>
      </p:sp>
      <p:sp>
        <p:nvSpPr>
          <p:cNvPr id="652" name="Google Shape;652;p23"/>
          <p:cNvSpPr/>
          <p:nvPr/>
        </p:nvSpPr>
        <p:spPr>
          <a:xfrm>
            <a:off x="548640" y="1874520"/>
            <a:ext cx="5257800" cy="4434840"/>
          </a:xfrm>
          <a:prstGeom prst="roundRect">
            <a:avLst>
              <a:gd fmla="val 2062" name="adj"/>
            </a:avLst>
          </a:prstGeom>
          <a:solidFill>
            <a:srgbClr val="FFFBEB"/>
          </a:solidFill>
          <a:ln cap="flat" cmpd="sng" w="12700">
            <a:solidFill>
              <a:srgbClr val="D97706">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3"/>
          <p:cNvSpPr/>
          <p:nvPr/>
        </p:nvSpPr>
        <p:spPr>
          <a:xfrm>
            <a:off x="777240" y="2057400"/>
            <a:ext cx="4754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500"/>
              <a:buFont typeface="Calibri"/>
              <a:buNone/>
            </a:pPr>
            <a:r>
              <a:rPr b="1" i="0" lang="en-US" sz="1500" u="none" cap="none" strike="noStrike">
                <a:solidFill>
                  <a:srgbClr val="D97706"/>
                </a:solidFill>
                <a:latin typeface="Calibri"/>
                <a:ea typeface="Calibri"/>
                <a:cs typeface="Calibri"/>
                <a:sym typeface="Calibri"/>
              </a:rPr>
              <a:t>Base model (after pre-training)</a:t>
            </a:r>
            <a:endParaRPr b="0" i="0" sz="1500" u="none" cap="none" strike="noStrike">
              <a:solidFill>
                <a:schemeClr val="dk1"/>
              </a:solidFill>
              <a:latin typeface="Calibri"/>
              <a:ea typeface="Calibri"/>
              <a:cs typeface="Calibri"/>
              <a:sym typeface="Calibri"/>
            </a:endParaRPr>
          </a:p>
        </p:txBody>
      </p:sp>
      <p:sp>
        <p:nvSpPr>
          <p:cNvPr id="654" name="Google Shape;654;p23"/>
          <p:cNvSpPr/>
          <p:nvPr/>
        </p:nvSpPr>
        <p:spPr>
          <a:xfrm>
            <a:off x="777240" y="2542032"/>
            <a:ext cx="4754880" cy="18288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0000"/>
              </a:buClr>
              <a:buSzPts val="1200"/>
              <a:buFont typeface="Courier New"/>
              <a:buNone/>
            </a:pPr>
            <a:r>
              <a:rPr b="1" i="0" lang="en-US" sz="1200" u="none" cap="none" strike="noStrike">
                <a:solidFill>
                  <a:srgbClr val="000000"/>
                </a:solidFill>
                <a:latin typeface="Courier New"/>
                <a:ea typeface="Courier New"/>
                <a:cs typeface="Courier New"/>
                <a:sym typeface="Courier New"/>
              </a:rPr>
              <a:t>User: </a:t>
            </a:r>
            <a:r>
              <a:rPr b="0" i="0" lang="en-US" sz="1200" u="none" cap="none" strike="noStrike">
                <a:solidFill>
                  <a:srgbClr val="000000"/>
                </a:solidFill>
                <a:latin typeface="Courier New"/>
                <a:ea typeface="Courier New"/>
                <a:cs typeface="Courier New"/>
                <a:sym typeface="Courier New"/>
              </a:rPr>
              <a:t>How do I bake a cake?</a:t>
            </a:r>
            <a:br>
              <a:rPr b="0" i="0" lang="en-US" sz="1200" u="none" cap="none" strike="noStrike">
                <a:solidFill>
                  <a:srgbClr val="000000"/>
                </a:solidFill>
                <a:latin typeface="Courier New"/>
                <a:ea typeface="Courier New"/>
                <a:cs typeface="Courier New"/>
                <a:sym typeface="Courier New"/>
              </a:rPr>
            </a:br>
            <a:r>
              <a:rPr b="1" i="0" lang="en-US" sz="1200" u="none" cap="none" strike="noStrike">
                <a:solidFill>
                  <a:srgbClr val="D97706"/>
                </a:solidFill>
                <a:latin typeface="Courier New"/>
                <a:ea typeface="Courier New"/>
                <a:cs typeface="Courier New"/>
                <a:sym typeface="Courier New"/>
              </a:rPr>
              <a:t>Model: </a:t>
            </a:r>
            <a:r>
              <a:rPr b="0" i="0" lang="en-US" sz="1200" u="none" cap="none" strike="noStrike">
                <a:solidFill>
                  <a:srgbClr val="475569"/>
                </a:solidFill>
                <a:latin typeface="Courier New"/>
                <a:ea typeface="Courier New"/>
                <a:cs typeface="Courier New"/>
                <a:sym typeface="Courier New"/>
              </a:rPr>
              <a:t>How do I bake a cake? What kind of cake? Who is baking it? Is baking a cake different from baking a pie? What is cake? When was cake invented? Many cultures have...</a:t>
            </a:r>
            <a:endParaRPr b="0" i="0" sz="1200" u="none" cap="none" strike="noStrike">
              <a:solidFill>
                <a:schemeClr val="dk1"/>
              </a:solidFill>
              <a:latin typeface="Calibri"/>
              <a:ea typeface="Calibri"/>
              <a:cs typeface="Calibri"/>
              <a:sym typeface="Calibri"/>
            </a:endParaRPr>
          </a:p>
        </p:txBody>
      </p:sp>
      <p:sp>
        <p:nvSpPr>
          <p:cNvPr id="655" name="Google Shape;655;p23"/>
          <p:cNvSpPr/>
          <p:nvPr/>
        </p:nvSpPr>
        <p:spPr>
          <a:xfrm>
            <a:off x="777240" y="4462272"/>
            <a:ext cx="4572000" cy="658368"/>
          </a:xfrm>
          <a:prstGeom prst="roundRect">
            <a:avLst>
              <a:gd fmla="val 9722"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3"/>
          <p:cNvSpPr/>
          <p:nvPr/>
        </p:nvSpPr>
        <p:spPr>
          <a:xfrm>
            <a:off x="822960" y="4498848"/>
            <a:ext cx="448056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Keeps 'completing' text — not helpful!</a:t>
            </a:r>
            <a:endParaRPr b="0" i="0" sz="1300" u="none" cap="none" strike="noStrike">
              <a:solidFill>
                <a:schemeClr val="dk1"/>
              </a:solidFill>
              <a:latin typeface="Calibri"/>
              <a:ea typeface="Calibri"/>
              <a:cs typeface="Calibri"/>
              <a:sym typeface="Calibri"/>
            </a:endParaRPr>
          </a:p>
        </p:txBody>
      </p:sp>
      <p:sp>
        <p:nvSpPr>
          <p:cNvPr id="657" name="Google Shape;657;p23"/>
          <p:cNvSpPr/>
          <p:nvPr/>
        </p:nvSpPr>
        <p:spPr>
          <a:xfrm>
            <a:off x="5961888" y="3200400"/>
            <a:ext cx="640080" cy="9144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RLHF</a:t>
            </a:r>
            <a:endParaRPr b="0" i="0" sz="16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658" name="Google Shape;658;p23"/>
          <p:cNvSpPr/>
          <p:nvPr/>
        </p:nvSpPr>
        <p:spPr>
          <a:xfrm>
            <a:off x="6720840" y="1874520"/>
            <a:ext cx="4919472" cy="4434840"/>
          </a:xfrm>
          <a:prstGeom prst="roundRect">
            <a:avLst>
              <a:gd fmla="val 2062" name="adj"/>
            </a:avLst>
          </a:prstGeom>
          <a:solidFill>
            <a:srgbClr val="F0FDF4"/>
          </a:solidFill>
          <a:ln cap="flat" cmpd="sng" w="12700">
            <a:solidFill>
              <a:srgbClr val="16A34A">
                <a:alpha val="45098"/>
              </a:srgbClr>
            </a:solidFill>
            <a:prstDash val="solid"/>
            <a:round/>
            <a:headEnd len="sm" w="sm" type="none"/>
            <a:tailEnd len="sm" w="sm" type="none"/>
          </a:ln>
          <a:effectLst>
            <a:outerShdw blurRad="127000" rotWithShape="0" algn="bl" dir="54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3"/>
          <p:cNvSpPr/>
          <p:nvPr/>
        </p:nvSpPr>
        <p:spPr>
          <a:xfrm>
            <a:off x="6949440" y="2057400"/>
            <a:ext cx="4480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After post-training (RLHF)</a:t>
            </a:r>
            <a:endParaRPr b="0" i="0" sz="1500" u="none" cap="none" strike="noStrike">
              <a:solidFill>
                <a:schemeClr val="dk1"/>
              </a:solidFill>
              <a:latin typeface="Calibri"/>
              <a:ea typeface="Calibri"/>
              <a:cs typeface="Calibri"/>
              <a:sym typeface="Calibri"/>
            </a:endParaRPr>
          </a:p>
        </p:txBody>
      </p:sp>
      <p:sp>
        <p:nvSpPr>
          <p:cNvPr id="660" name="Google Shape;660;p23"/>
          <p:cNvSpPr/>
          <p:nvPr/>
        </p:nvSpPr>
        <p:spPr>
          <a:xfrm>
            <a:off x="6949440" y="2542032"/>
            <a:ext cx="4480560" cy="18288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0000"/>
              </a:buClr>
              <a:buSzPts val="1200"/>
              <a:buFont typeface="Courier New"/>
              <a:buNone/>
            </a:pPr>
            <a:r>
              <a:rPr b="1" i="0" lang="en-US" sz="1200" u="none" cap="none" strike="noStrike">
                <a:solidFill>
                  <a:srgbClr val="000000"/>
                </a:solidFill>
                <a:latin typeface="Courier New"/>
                <a:ea typeface="Courier New"/>
                <a:cs typeface="Courier New"/>
                <a:sym typeface="Courier New"/>
              </a:rPr>
              <a:t>User: </a:t>
            </a:r>
            <a:r>
              <a:rPr b="0" i="0" lang="en-US" sz="1200" u="none" cap="none" strike="noStrike">
                <a:solidFill>
                  <a:srgbClr val="000000"/>
                </a:solidFill>
                <a:latin typeface="Courier New"/>
                <a:ea typeface="Courier New"/>
                <a:cs typeface="Courier New"/>
                <a:sym typeface="Courier New"/>
              </a:rPr>
              <a:t>How do I bake a cake?</a:t>
            </a:r>
            <a:br>
              <a:rPr b="0" i="0" lang="en-US" sz="1200" u="none" cap="none" strike="noStrike">
                <a:solidFill>
                  <a:srgbClr val="000000"/>
                </a:solidFill>
                <a:latin typeface="Courier New"/>
                <a:ea typeface="Courier New"/>
                <a:cs typeface="Courier New"/>
                <a:sym typeface="Courier New"/>
              </a:rPr>
            </a:br>
            <a:r>
              <a:rPr b="1" i="0" lang="en-US" sz="1200" u="none" cap="none" strike="noStrike">
                <a:solidFill>
                  <a:srgbClr val="16A34A"/>
                </a:solidFill>
                <a:latin typeface="Courier New"/>
                <a:ea typeface="Courier New"/>
                <a:cs typeface="Courier New"/>
                <a:sym typeface="Courier New"/>
              </a:rPr>
              <a:t>Model: </a:t>
            </a:r>
            <a:r>
              <a:rPr b="0" i="0" lang="en-US" sz="1200" u="none" cap="none" strike="noStrike">
                <a:solidFill>
                  <a:srgbClr val="475569"/>
                </a:solidFill>
                <a:latin typeface="Courier New"/>
                <a:ea typeface="Courier New"/>
                <a:cs typeface="Courier New"/>
                <a:sym typeface="Courier New"/>
              </a:rPr>
              <a:t>Here's a simple recipe: 1) Mix flour, sugar, butter... 2) Add eggs and milk... 3) Bake at 180°C for 30 minutes. Would you like a chocolate or vanilla version?</a:t>
            </a:r>
            <a:endParaRPr b="0" i="0" sz="1200" u="none" cap="none" strike="noStrike">
              <a:solidFill>
                <a:schemeClr val="dk1"/>
              </a:solidFill>
              <a:latin typeface="Calibri"/>
              <a:ea typeface="Calibri"/>
              <a:cs typeface="Calibri"/>
              <a:sym typeface="Calibri"/>
            </a:endParaRPr>
          </a:p>
        </p:txBody>
      </p:sp>
      <p:sp>
        <p:nvSpPr>
          <p:cNvPr id="661" name="Google Shape;661;p23"/>
          <p:cNvSpPr/>
          <p:nvPr/>
        </p:nvSpPr>
        <p:spPr>
          <a:xfrm>
            <a:off x="6949440" y="4462272"/>
            <a:ext cx="4480560" cy="658368"/>
          </a:xfrm>
          <a:prstGeom prst="roundRect">
            <a:avLst>
              <a:gd fmla="val 9722"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3"/>
          <p:cNvSpPr/>
          <p:nvPr/>
        </p:nvSpPr>
        <p:spPr>
          <a:xfrm>
            <a:off x="6995160" y="4498848"/>
            <a:ext cx="438912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Follows instructions. Helpful. Refuses harm.</a:t>
            </a:r>
            <a:endParaRPr b="0" i="0" sz="1300" u="none" cap="none" strike="noStrike">
              <a:solidFill>
                <a:schemeClr val="dk1"/>
              </a:solidFill>
              <a:latin typeface="Calibri"/>
              <a:ea typeface="Calibri"/>
              <a:cs typeface="Calibri"/>
              <a:sym typeface="Calibri"/>
            </a:endParaRPr>
          </a:p>
        </p:txBody>
      </p:sp>
      <p:sp>
        <p:nvSpPr>
          <p:cNvPr id="663" name="Google Shape;663;p23"/>
          <p:cNvSpPr/>
          <p:nvPr/>
        </p:nvSpPr>
        <p:spPr>
          <a:xfrm>
            <a:off x="548640" y="6053328"/>
            <a:ext cx="11064240" cy="658368"/>
          </a:xfrm>
          <a:prstGeom prst="roundRect">
            <a:avLst>
              <a:gd fmla="val 12500"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3"/>
          <p:cNvSpPr/>
          <p:nvPr/>
        </p:nvSpPr>
        <p:spPr>
          <a:xfrm>
            <a:off x="777240" y="6108192"/>
            <a:ext cx="10424160" cy="5303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RLHF = Reinforcement Learning from Human Feedback. Humans rank answers (A better than B). The model is trained to prefer ranked-higher outputs — creating the assistant persona, instruction-following, and safety behaviour.</a:t>
            </a:r>
            <a:endParaRPr b="0" i="0" sz="1300" u="none" cap="none" strike="noStrike">
              <a:solidFill>
                <a:schemeClr val="dk1"/>
              </a:solidFill>
              <a:latin typeface="Calibri"/>
              <a:ea typeface="Calibri"/>
              <a:cs typeface="Calibri"/>
              <a:sym typeface="Calibri"/>
            </a:endParaRPr>
          </a:p>
        </p:txBody>
      </p:sp>
      <p:sp>
        <p:nvSpPr>
          <p:cNvPr id="665" name="Google Shape;665;p23"/>
          <p:cNvSpPr/>
          <p:nvPr/>
        </p:nvSpPr>
        <p:spPr>
          <a:xfrm>
            <a:off x="0" y="6583680"/>
            <a:ext cx="12191695" cy="274320"/>
          </a:xfrm>
          <a:prstGeom prst="rect">
            <a:avLst/>
          </a:prstGeom>
          <a:solidFill>
            <a:srgbClr val="16A34A">
              <a:alpha val="12156"/>
            </a:srgbClr>
          </a:solidFill>
          <a:ln cap="flat" cmpd="sng" w="12700">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667" name="Google Shape;667;p2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21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72" name="Shape 672"/>
        <p:cNvGrpSpPr/>
        <p:nvPr/>
      </p:nvGrpSpPr>
      <p:grpSpPr>
        <a:xfrm>
          <a:off x="0" y="0"/>
          <a:ext cx="0" cy="0"/>
          <a:chOff x="0" y="0"/>
          <a:chExt cx="0" cy="0"/>
        </a:xfrm>
      </p:grpSpPr>
      <p:sp>
        <p:nvSpPr>
          <p:cNvPr id="673" name="Google Shape;673;p24"/>
          <p:cNvSpPr/>
          <p:nvPr/>
        </p:nvSpPr>
        <p:spPr>
          <a:xfrm>
            <a:off x="685800" y="1645920"/>
            <a:ext cx="10058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THE BIG CAVEAT</a:t>
            </a:r>
            <a:endParaRPr b="0" i="0" sz="1400" u="none" cap="none" strike="noStrike">
              <a:solidFill>
                <a:schemeClr val="dk1"/>
              </a:solidFill>
              <a:latin typeface="Calibri"/>
              <a:ea typeface="Calibri"/>
              <a:cs typeface="Calibri"/>
              <a:sym typeface="Calibri"/>
            </a:endParaRPr>
          </a:p>
        </p:txBody>
      </p:sp>
      <p:sp>
        <p:nvSpPr>
          <p:cNvPr id="674" name="Google Shape;674;p24"/>
          <p:cNvSpPr/>
          <p:nvPr/>
        </p:nvSpPr>
        <p:spPr>
          <a:xfrm>
            <a:off x="658368" y="2103120"/>
            <a:ext cx="10515600" cy="2286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It predicts plausible.</a:t>
            </a:r>
            <a:endParaRPr b="0" i="0" sz="5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Not true.</a:t>
            </a:r>
            <a:endParaRPr b="0" i="0" sz="5800" u="none" cap="none" strike="noStrike">
              <a:solidFill>
                <a:schemeClr val="dk1"/>
              </a:solidFill>
              <a:latin typeface="Calibri"/>
              <a:ea typeface="Calibri"/>
              <a:cs typeface="Calibri"/>
              <a:sym typeface="Calibri"/>
            </a:endParaRPr>
          </a:p>
        </p:txBody>
      </p:sp>
      <p:sp>
        <p:nvSpPr>
          <p:cNvPr id="675" name="Google Shape;675;p24"/>
          <p:cNvSpPr/>
          <p:nvPr/>
        </p:nvSpPr>
        <p:spPr>
          <a:xfrm>
            <a:off x="685800" y="457200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This is the most important property for engineers to internalise.</a:t>
            </a:r>
            <a:endParaRPr b="0" i="0" sz="2000" u="none" cap="none" strike="noStrike">
              <a:solidFill>
                <a:schemeClr val="dk1"/>
              </a:solidFill>
              <a:latin typeface="Calibri"/>
              <a:ea typeface="Calibri"/>
              <a:cs typeface="Calibri"/>
              <a:sym typeface="Calibri"/>
            </a:endParaRPr>
          </a:p>
        </p:txBody>
      </p:sp>
      <p:sp>
        <p:nvSpPr>
          <p:cNvPr id="676" name="Google Shape;676;p24"/>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678" name="Google Shape;678;p2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22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3" name="Shape 683"/>
        <p:cNvGrpSpPr/>
        <p:nvPr/>
      </p:nvGrpSpPr>
      <p:grpSpPr>
        <a:xfrm>
          <a:off x="0" y="0"/>
          <a:ext cx="0" cy="0"/>
          <a:chOff x="0" y="0"/>
          <a:chExt cx="0" cy="0"/>
        </a:xfrm>
      </p:grpSpPr>
      <p:sp>
        <p:nvSpPr>
          <p:cNvPr id="684" name="Google Shape;684;p25"/>
          <p:cNvSpPr/>
          <p:nvPr/>
        </p:nvSpPr>
        <p:spPr>
          <a:xfrm>
            <a:off x="685800" y="438912"/>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THE BIG CAVEAT — HALLUCINATION</a:t>
            </a:r>
            <a:endParaRPr b="0" i="0" sz="1200" u="none" cap="none" strike="noStrike">
              <a:solidFill>
                <a:schemeClr val="dk1"/>
              </a:solidFill>
              <a:latin typeface="Calibri"/>
              <a:ea typeface="Calibri"/>
              <a:cs typeface="Calibri"/>
              <a:sym typeface="Calibri"/>
            </a:endParaRPr>
          </a:p>
        </p:txBody>
      </p:sp>
      <p:sp>
        <p:nvSpPr>
          <p:cNvPr id="685" name="Google Shape;685;p25"/>
          <p:cNvSpPr/>
          <p:nvPr/>
        </p:nvSpPr>
        <p:spPr>
          <a:xfrm>
            <a:off x="685800" y="749808"/>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Why it makes things up — confidently</a:t>
            </a:r>
            <a:endParaRPr b="0" i="0" sz="3600" u="none" cap="none" strike="noStrike">
              <a:solidFill>
                <a:schemeClr val="dk1"/>
              </a:solidFill>
              <a:latin typeface="Calibri"/>
              <a:ea typeface="Calibri"/>
              <a:cs typeface="Calibri"/>
              <a:sym typeface="Calibri"/>
            </a:endParaRPr>
          </a:p>
        </p:txBody>
      </p:sp>
      <p:sp>
        <p:nvSpPr>
          <p:cNvPr id="686" name="Google Shape;686;p25"/>
          <p:cNvSpPr/>
          <p:nvPr/>
        </p:nvSpPr>
        <p:spPr>
          <a:xfrm>
            <a:off x="685800" y="1664208"/>
            <a:ext cx="109728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600"/>
              <a:buFont typeface="Calibri"/>
              <a:buNone/>
            </a:pPr>
            <a:r>
              <a:rPr b="0" i="0" lang="en-US" sz="1600" u="none" cap="none" strike="noStrike">
                <a:solidFill>
                  <a:srgbClr val="475569"/>
                </a:solidFill>
                <a:latin typeface="Calibri"/>
                <a:ea typeface="Calibri"/>
                <a:cs typeface="Calibri"/>
                <a:sym typeface="Calibri"/>
              </a:rPr>
              <a:t>The model was trained to produce PLAUSIBLE text. Plausible and true usually overlap — but not always. When it doesn't know, it doesn't say 'I don't know'. It generates the most likely-looking text. Which can be fiction.</a:t>
            </a:r>
            <a:endParaRPr b="0" i="0" sz="1600" u="none" cap="none" strike="noStrike">
              <a:solidFill>
                <a:schemeClr val="dk1"/>
              </a:solidFill>
              <a:latin typeface="Calibri"/>
              <a:ea typeface="Calibri"/>
              <a:cs typeface="Calibri"/>
              <a:sym typeface="Calibri"/>
            </a:endParaRPr>
          </a:p>
        </p:txBody>
      </p:sp>
      <p:sp>
        <p:nvSpPr>
          <p:cNvPr id="687" name="Google Shape;687;p25"/>
          <p:cNvSpPr/>
          <p:nvPr/>
        </p:nvSpPr>
        <p:spPr>
          <a:xfrm>
            <a:off x="548640" y="2606040"/>
            <a:ext cx="11064240" cy="1389888"/>
          </a:xfrm>
          <a:prstGeom prst="roundRect">
            <a:avLst>
              <a:gd fmla="val 6579"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5"/>
          <p:cNvSpPr/>
          <p:nvPr/>
        </p:nvSpPr>
        <p:spPr>
          <a:xfrm>
            <a:off x="777240" y="2743200"/>
            <a:ext cx="4572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Example — fake citation:</a:t>
            </a:r>
            <a:endParaRPr b="0" i="0" sz="1400" u="none" cap="none" strike="noStrike">
              <a:solidFill>
                <a:schemeClr val="dk1"/>
              </a:solidFill>
              <a:latin typeface="Calibri"/>
              <a:ea typeface="Calibri"/>
              <a:cs typeface="Calibri"/>
              <a:sym typeface="Calibri"/>
            </a:endParaRPr>
          </a:p>
        </p:txBody>
      </p:sp>
      <p:sp>
        <p:nvSpPr>
          <p:cNvPr id="689" name="Google Shape;689;p25"/>
          <p:cNvSpPr/>
          <p:nvPr/>
        </p:nvSpPr>
        <p:spPr>
          <a:xfrm>
            <a:off x="777240" y="3090672"/>
            <a:ext cx="10424160" cy="8046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Prompt: 'Give me 3 papers on AI ethics in microservices.'  →  Model: "Kumar et al. (2022) 'Ethical Frameworks for Distributed AI Systems', IEEE Transactions... pp. 142–158." — Author, journal, pages are all fabricated. Each token is locally plausible. The whole thing is fiction.</a:t>
            </a:r>
            <a:endParaRPr b="0" i="0" sz="1200" u="none" cap="none" strike="noStrike">
              <a:solidFill>
                <a:schemeClr val="dk1"/>
              </a:solidFill>
              <a:latin typeface="Calibri"/>
              <a:ea typeface="Calibri"/>
              <a:cs typeface="Calibri"/>
              <a:sym typeface="Calibri"/>
            </a:endParaRPr>
          </a:p>
        </p:txBody>
      </p:sp>
      <p:sp>
        <p:nvSpPr>
          <p:cNvPr id="690" name="Google Shape;690;p25"/>
          <p:cNvSpPr/>
          <p:nvPr/>
        </p:nvSpPr>
        <p:spPr>
          <a:xfrm>
            <a:off x="685800" y="4224528"/>
            <a:ext cx="10972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500"/>
              <a:buFont typeface="Calibri"/>
              <a:buNone/>
            </a:pPr>
            <a:r>
              <a:rPr b="1" i="0" lang="en-US" sz="1500" u="none" cap="none" strike="noStrike">
                <a:solidFill>
                  <a:srgbClr val="475569"/>
                </a:solidFill>
                <a:latin typeface="Calibri"/>
                <a:ea typeface="Calibri"/>
                <a:cs typeface="Calibri"/>
                <a:sym typeface="Calibri"/>
              </a:rPr>
              <a:t>The engineering fixes (we build all three in this course):</a:t>
            </a:r>
            <a:endParaRPr b="0" i="0" sz="1500" u="none" cap="none" strike="noStrike">
              <a:solidFill>
                <a:schemeClr val="dk1"/>
              </a:solidFill>
              <a:latin typeface="Calibri"/>
              <a:ea typeface="Calibri"/>
              <a:cs typeface="Calibri"/>
              <a:sym typeface="Calibri"/>
            </a:endParaRPr>
          </a:p>
        </p:txBody>
      </p:sp>
      <p:sp>
        <p:nvSpPr>
          <p:cNvPr id="691" name="Google Shape;691;p25"/>
          <p:cNvSpPr/>
          <p:nvPr/>
        </p:nvSpPr>
        <p:spPr>
          <a:xfrm>
            <a:off x="548640" y="4681728"/>
            <a:ext cx="3611880" cy="1828800"/>
          </a:xfrm>
          <a:prstGeom prst="roundRect">
            <a:avLst>
              <a:gd fmla="val 5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5"/>
          <p:cNvSpPr/>
          <p:nvPr/>
        </p:nvSpPr>
        <p:spPr>
          <a:xfrm>
            <a:off x="749808" y="4800600"/>
            <a:ext cx="47548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693" name="Google Shape;693;p25"/>
          <p:cNvSpPr/>
          <p:nvPr/>
        </p:nvSpPr>
        <p:spPr>
          <a:xfrm>
            <a:off x="1325880" y="4800600"/>
            <a:ext cx="26974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Ground it — RAG</a:t>
            </a:r>
            <a:endParaRPr b="0" i="0" sz="1500" u="none" cap="none" strike="noStrike">
              <a:solidFill>
                <a:schemeClr val="dk1"/>
              </a:solidFill>
              <a:latin typeface="Calibri"/>
              <a:ea typeface="Calibri"/>
              <a:cs typeface="Calibri"/>
              <a:sym typeface="Calibri"/>
            </a:endParaRPr>
          </a:p>
        </p:txBody>
      </p:sp>
      <p:sp>
        <p:nvSpPr>
          <p:cNvPr id="694" name="Google Shape;694;p25"/>
          <p:cNvSpPr/>
          <p:nvPr/>
        </p:nvSpPr>
        <p:spPr>
          <a:xfrm>
            <a:off x="749808" y="5321808"/>
            <a:ext cx="3246120" cy="10789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Feed it real documents at query time. The model answers from what you provide, not from training memory. Week 3.</a:t>
            </a:r>
            <a:endParaRPr b="0" i="0" sz="1300" u="none" cap="none" strike="noStrike">
              <a:solidFill>
                <a:schemeClr val="dk1"/>
              </a:solidFill>
              <a:latin typeface="Calibri"/>
              <a:ea typeface="Calibri"/>
              <a:cs typeface="Calibri"/>
              <a:sym typeface="Calibri"/>
            </a:endParaRPr>
          </a:p>
        </p:txBody>
      </p:sp>
      <p:sp>
        <p:nvSpPr>
          <p:cNvPr id="695" name="Google Shape;695;p25"/>
          <p:cNvSpPr/>
          <p:nvPr/>
        </p:nvSpPr>
        <p:spPr>
          <a:xfrm>
            <a:off x="4343400" y="4681728"/>
            <a:ext cx="3611880" cy="1828800"/>
          </a:xfrm>
          <a:prstGeom prst="roundRect">
            <a:avLst>
              <a:gd fmla="val 5000"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5"/>
          <p:cNvSpPr/>
          <p:nvPr/>
        </p:nvSpPr>
        <p:spPr>
          <a:xfrm>
            <a:off x="4544568" y="4800600"/>
            <a:ext cx="47548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697" name="Google Shape;697;p25"/>
          <p:cNvSpPr/>
          <p:nvPr/>
        </p:nvSpPr>
        <p:spPr>
          <a:xfrm>
            <a:off x="5120640" y="4800600"/>
            <a:ext cx="26974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Tool it — function calling</a:t>
            </a:r>
            <a:endParaRPr b="0" i="0" sz="1500" u="none" cap="none" strike="noStrike">
              <a:solidFill>
                <a:schemeClr val="dk1"/>
              </a:solidFill>
              <a:latin typeface="Calibri"/>
              <a:ea typeface="Calibri"/>
              <a:cs typeface="Calibri"/>
              <a:sym typeface="Calibri"/>
            </a:endParaRPr>
          </a:p>
        </p:txBody>
      </p:sp>
      <p:sp>
        <p:nvSpPr>
          <p:cNvPr id="698" name="Google Shape;698;p25"/>
          <p:cNvSpPr/>
          <p:nvPr/>
        </p:nvSpPr>
        <p:spPr>
          <a:xfrm>
            <a:off x="4544568" y="5321808"/>
            <a:ext cx="3246120" cy="10789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Give it a calculator, a search API, a database lookup. If it needs precision, it uses tools instead of guessing. Sessions 3+4.</a:t>
            </a:r>
            <a:endParaRPr b="0" i="0" sz="1300" u="none" cap="none" strike="noStrike">
              <a:solidFill>
                <a:schemeClr val="dk1"/>
              </a:solidFill>
              <a:latin typeface="Calibri"/>
              <a:ea typeface="Calibri"/>
              <a:cs typeface="Calibri"/>
              <a:sym typeface="Calibri"/>
            </a:endParaRPr>
          </a:p>
        </p:txBody>
      </p:sp>
      <p:sp>
        <p:nvSpPr>
          <p:cNvPr id="699" name="Google Shape;699;p25"/>
          <p:cNvSpPr/>
          <p:nvPr/>
        </p:nvSpPr>
        <p:spPr>
          <a:xfrm>
            <a:off x="8138160" y="4681728"/>
            <a:ext cx="3611880" cy="1828800"/>
          </a:xfrm>
          <a:prstGeom prst="roundRect">
            <a:avLst>
              <a:gd fmla="val 5000"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5"/>
          <p:cNvSpPr/>
          <p:nvPr/>
        </p:nvSpPr>
        <p:spPr>
          <a:xfrm>
            <a:off x="8339328" y="4800600"/>
            <a:ext cx="47548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701" name="Google Shape;701;p25"/>
          <p:cNvSpPr/>
          <p:nvPr/>
        </p:nvSpPr>
        <p:spPr>
          <a:xfrm>
            <a:off x="8915400" y="4800600"/>
            <a:ext cx="26974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Verify it — eval &amp; guardrails</a:t>
            </a:r>
            <a:endParaRPr b="0" i="0" sz="1500" u="none" cap="none" strike="noStrike">
              <a:solidFill>
                <a:schemeClr val="dk1"/>
              </a:solidFill>
              <a:latin typeface="Calibri"/>
              <a:ea typeface="Calibri"/>
              <a:cs typeface="Calibri"/>
              <a:sym typeface="Calibri"/>
            </a:endParaRPr>
          </a:p>
        </p:txBody>
      </p:sp>
      <p:sp>
        <p:nvSpPr>
          <p:cNvPr id="702" name="Google Shape;702;p25"/>
          <p:cNvSpPr/>
          <p:nvPr/>
        </p:nvSpPr>
        <p:spPr>
          <a:xfrm>
            <a:off x="8339328" y="5321808"/>
            <a:ext cx="3246120" cy="10789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Build systems that check model output. Humans review high-stakes answers. Automated tests catch regressions. Week 4.</a:t>
            </a:r>
            <a:endParaRPr b="0" i="0" sz="1300" u="none" cap="none" strike="noStrike">
              <a:solidFill>
                <a:schemeClr val="dk1"/>
              </a:solidFill>
              <a:latin typeface="Calibri"/>
              <a:ea typeface="Calibri"/>
              <a:cs typeface="Calibri"/>
              <a:sym typeface="Calibri"/>
            </a:endParaRPr>
          </a:p>
        </p:txBody>
      </p:sp>
      <p:sp>
        <p:nvSpPr>
          <p:cNvPr id="703" name="Google Shape;703;p25"/>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05" name="Google Shape;705;p2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23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10" name="Shape 710"/>
        <p:cNvGrpSpPr/>
        <p:nvPr/>
      </p:nvGrpSpPr>
      <p:grpSpPr>
        <a:xfrm>
          <a:off x="0" y="0"/>
          <a:ext cx="0" cy="0"/>
          <a:chOff x="0" y="0"/>
          <a:chExt cx="0" cy="0"/>
        </a:xfrm>
      </p:grpSpPr>
      <p:sp>
        <p:nvSpPr>
          <p:cNvPr id="711" name="Google Shape;711;p26"/>
          <p:cNvSpPr/>
          <p:nvPr/>
        </p:nvSpPr>
        <p:spPr>
          <a:xfrm>
            <a:off x="7772400" y="-1097280"/>
            <a:ext cx="6400800" cy="6400800"/>
          </a:xfrm>
          <a:prstGeom prst="ellipse">
            <a:avLst/>
          </a:prstGeom>
          <a:solidFill>
            <a:srgbClr val="DB27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6"/>
          <p:cNvSpPr/>
          <p:nvPr/>
        </p:nvSpPr>
        <p:spPr>
          <a:xfrm>
            <a:off x="7772400" y="-1097280"/>
            <a:ext cx="6400800" cy="6400800"/>
          </a:xfrm>
          <a:prstGeom prst="ellipse">
            <a:avLst/>
          </a:prstGeom>
          <a:solidFill>
            <a:srgbClr val="DB2777">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6"/>
          <p:cNvSpPr/>
          <p:nvPr/>
        </p:nvSpPr>
        <p:spPr>
          <a:xfrm>
            <a:off x="685800" y="137160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A8D4"/>
              </a:buClr>
              <a:buSzPts val="1400"/>
              <a:buFont typeface="Calibri"/>
              <a:buNone/>
            </a:pPr>
            <a:r>
              <a:rPr b="1" i="0" lang="en-US" sz="1400" u="none" cap="none" strike="noStrike">
                <a:solidFill>
                  <a:srgbClr val="F9A8D4"/>
                </a:solidFill>
                <a:latin typeface="Calibri"/>
                <a:ea typeface="Calibri"/>
                <a:cs typeface="Calibri"/>
                <a:sym typeface="Calibri"/>
              </a:rPr>
              <a:t>STUDENT Q&amp;A</a:t>
            </a:r>
            <a:endParaRPr b="0" i="0" sz="1400" u="none" cap="none" strike="noStrike">
              <a:solidFill>
                <a:schemeClr val="dk1"/>
              </a:solidFill>
              <a:latin typeface="Calibri"/>
              <a:ea typeface="Calibri"/>
              <a:cs typeface="Calibri"/>
              <a:sym typeface="Calibri"/>
            </a:endParaRPr>
          </a:p>
        </p:txBody>
      </p:sp>
      <p:sp>
        <p:nvSpPr>
          <p:cNvPr id="714" name="Google Shape;714;p26"/>
          <p:cNvSpPr/>
          <p:nvPr/>
        </p:nvSpPr>
        <p:spPr>
          <a:xfrm>
            <a:off x="658368" y="1828800"/>
            <a:ext cx="8229600" cy="25603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Questions</a:t>
            </a:r>
            <a:endParaRPr b="0" i="0" sz="60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you'll get.</a:t>
            </a:r>
            <a:endParaRPr b="0" i="0" sz="6000" u="none" cap="none" strike="noStrike">
              <a:solidFill>
                <a:schemeClr val="dk1"/>
              </a:solidFill>
              <a:latin typeface="Calibri"/>
              <a:ea typeface="Calibri"/>
              <a:cs typeface="Calibri"/>
              <a:sym typeface="Calibri"/>
            </a:endParaRPr>
          </a:p>
        </p:txBody>
      </p:sp>
      <p:sp>
        <p:nvSpPr>
          <p:cNvPr id="715" name="Google Shape;715;p26"/>
          <p:cNvSpPr/>
          <p:nvPr/>
        </p:nvSpPr>
        <p:spPr>
          <a:xfrm>
            <a:off x="685800" y="461772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10 of the most common — with full instructor answers.</a:t>
            </a:r>
            <a:endParaRPr b="0" i="0" sz="2000" u="none" cap="none" strike="noStrike">
              <a:solidFill>
                <a:schemeClr val="dk1"/>
              </a:solidFill>
              <a:latin typeface="Calibri"/>
              <a:ea typeface="Calibri"/>
              <a:cs typeface="Calibri"/>
              <a:sym typeface="Calibri"/>
            </a:endParaRPr>
          </a:p>
        </p:txBody>
      </p:sp>
      <p:sp>
        <p:nvSpPr>
          <p:cNvPr id="716" name="Google Shape;716;p26"/>
          <p:cNvSpPr/>
          <p:nvPr/>
        </p:nvSpPr>
        <p:spPr>
          <a:xfrm>
            <a:off x="0" y="6583680"/>
            <a:ext cx="12191695" cy="274320"/>
          </a:xfrm>
          <a:prstGeom prst="rect">
            <a:avLst/>
          </a:prstGeom>
          <a:solidFill>
            <a:srgbClr val="DB2777">
              <a:alpha val="12156"/>
            </a:srgbClr>
          </a:solidFill>
          <a:ln cap="flat" cmpd="sng" w="12700">
            <a:solidFill>
              <a:srgbClr val="DB2777">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18" name="Google Shape;718;p2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24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27"/>
          <p:cNvSpPr/>
          <p:nvPr/>
        </p:nvSpPr>
        <p:spPr>
          <a:xfrm>
            <a:off x="502920" y="411480"/>
            <a:ext cx="658368" cy="658368"/>
          </a:xfrm>
          <a:prstGeom prst="roundRect">
            <a:avLst>
              <a:gd fmla="val 11111" name="adj"/>
            </a:avLst>
          </a:prstGeom>
          <a:solidFill>
            <a:srgbClr val="DB2777"/>
          </a:solidFill>
          <a:ln cap="flat" cmpd="sng" w="12700">
            <a:solidFill>
              <a:srgbClr val="DB27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7"/>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Q1</a:t>
            </a:r>
            <a:endParaRPr b="0" i="0" sz="1800" u="none" cap="none" strike="noStrike">
              <a:solidFill>
                <a:schemeClr val="dk1"/>
              </a:solidFill>
              <a:latin typeface="Calibri"/>
              <a:ea typeface="Calibri"/>
              <a:cs typeface="Calibri"/>
              <a:sym typeface="Calibri"/>
            </a:endParaRPr>
          </a:p>
        </p:txBody>
      </p:sp>
      <p:sp>
        <p:nvSpPr>
          <p:cNvPr id="726" name="Google Shape;726;p27"/>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B2777"/>
              </a:buClr>
              <a:buSzPts val="1100"/>
              <a:buFont typeface="Calibri"/>
              <a:buNone/>
            </a:pPr>
            <a:r>
              <a:rPr b="1" i="0" lang="en-US" sz="1100" u="none" cap="none" strike="noStrike">
                <a:solidFill>
                  <a:srgbClr val="DB2777"/>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27" name="Google Shape;727;p27"/>
          <p:cNvSpPr/>
          <p:nvPr/>
        </p:nvSpPr>
        <p:spPr>
          <a:xfrm>
            <a:off x="502920" y="1207008"/>
            <a:ext cx="10789920" cy="1051560"/>
          </a:xfrm>
          <a:prstGeom prst="roundRect">
            <a:avLst>
              <a:gd fmla="val 10435" name="adj"/>
            </a:avLst>
          </a:prstGeom>
          <a:solidFill>
            <a:srgbClr val="FDF2F8"/>
          </a:solidFill>
          <a:ln cap="flat" cmpd="sng" w="12700">
            <a:solidFill>
              <a:srgbClr val="DB2777">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7"/>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B2777"/>
              </a:buClr>
              <a:buSzPts val="2200"/>
              <a:buFont typeface="Calibri"/>
              <a:buNone/>
            </a:pPr>
            <a:r>
              <a:rPr b="1" i="0" lang="en-US" sz="2200" u="none" cap="none" strike="noStrike">
                <a:solidFill>
                  <a:srgbClr val="DB2777"/>
                </a:solidFill>
                <a:latin typeface="Calibri"/>
                <a:ea typeface="Calibri"/>
                <a:cs typeface="Calibri"/>
                <a:sym typeface="Calibri"/>
              </a:rPr>
              <a:t>Is ChatGPT actually conscious? Does it understand what we're saying?</a:t>
            </a:r>
            <a:endParaRPr b="0" i="0" sz="2200" u="none" cap="none" strike="noStrike">
              <a:solidFill>
                <a:schemeClr val="dk1"/>
              </a:solidFill>
              <a:latin typeface="Calibri"/>
              <a:ea typeface="Calibri"/>
              <a:cs typeface="Calibri"/>
              <a:sym typeface="Calibri"/>
            </a:endParaRPr>
          </a:p>
        </p:txBody>
      </p:sp>
      <p:sp>
        <p:nvSpPr>
          <p:cNvPr id="729" name="Google Shape;729;p27"/>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30" name="Google Shape;730;p27"/>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7"/>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No. It processes tokens through mathematical operations — matrix multiplications, attention weights, probability distributions. There is no understanding, consciousness, belief, or experience. It produces text that RESEMBLES understanding because it was trained on text written by beings who do understand. It's a very sophisticated pattern-completion machine. Impressive engineering. Not a mind.</a:t>
            </a:r>
            <a:endParaRPr b="0" i="0" sz="1500" u="none" cap="none" strike="noStrike">
              <a:solidFill>
                <a:schemeClr val="dk1"/>
              </a:solidFill>
              <a:latin typeface="Calibri"/>
              <a:ea typeface="Calibri"/>
              <a:cs typeface="Calibri"/>
              <a:sym typeface="Calibri"/>
            </a:endParaRPr>
          </a:p>
        </p:txBody>
      </p:sp>
      <p:sp>
        <p:nvSpPr>
          <p:cNvPr id="732" name="Google Shape;732;p27"/>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733" name="Google Shape;733;p27"/>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7"/>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Students often arrive with either anthropomorphic ('it understands me') or dismissive ('it's just autocomplete') priors. Both are wrong. The honest answer is: we don't fully know what 'understanding' means, but the architectural picture we drew today — tokens, vectors, attention, probabilities — shows NO mechanism for consciousness. It models text structure, not reality.</a:t>
            </a:r>
            <a:endParaRPr b="0" i="0" sz="1300" u="none" cap="none" strike="noStrike">
              <a:solidFill>
                <a:schemeClr val="dk1"/>
              </a:solidFill>
              <a:latin typeface="Calibri"/>
              <a:ea typeface="Calibri"/>
              <a:cs typeface="Calibri"/>
              <a:sym typeface="Calibri"/>
            </a:endParaRPr>
          </a:p>
        </p:txBody>
      </p:sp>
      <p:sp>
        <p:nvSpPr>
          <p:cNvPr id="735" name="Google Shape;735;p27"/>
          <p:cNvSpPr/>
          <p:nvPr/>
        </p:nvSpPr>
        <p:spPr>
          <a:xfrm>
            <a:off x="0" y="6583680"/>
            <a:ext cx="12191695" cy="274320"/>
          </a:xfrm>
          <a:prstGeom prst="rect">
            <a:avLst/>
          </a:prstGeom>
          <a:solidFill>
            <a:srgbClr val="DB2777">
              <a:alpha val="12156"/>
            </a:srgbClr>
          </a:solidFill>
          <a:ln cap="flat" cmpd="sng" w="12700">
            <a:solidFill>
              <a:srgbClr val="DB2777">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37" name="Google Shape;737;p2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25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2" name="Shape 742"/>
        <p:cNvGrpSpPr/>
        <p:nvPr/>
      </p:nvGrpSpPr>
      <p:grpSpPr>
        <a:xfrm>
          <a:off x="0" y="0"/>
          <a:ext cx="0" cy="0"/>
          <a:chOff x="0" y="0"/>
          <a:chExt cx="0" cy="0"/>
        </a:xfrm>
      </p:grpSpPr>
      <p:sp>
        <p:nvSpPr>
          <p:cNvPr id="743" name="Google Shape;743;p28"/>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Q2</a:t>
            </a:r>
            <a:endParaRPr b="0" i="0" sz="1800" u="none" cap="none" strike="noStrike">
              <a:solidFill>
                <a:schemeClr val="dk1"/>
              </a:solidFill>
              <a:latin typeface="Calibri"/>
              <a:ea typeface="Calibri"/>
              <a:cs typeface="Calibri"/>
              <a:sym typeface="Calibri"/>
            </a:endParaRPr>
          </a:p>
        </p:txBody>
      </p:sp>
      <p:sp>
        <p:nvSpPr>
          <p:cNvPr id="745" name="Google Shape;745;p28"/>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46" name="Google Shape;746;p28"/>
          <p:cNvSpPr/>
          <p:nvPr/>
        </p:nvSpPr>
        <p:spPr>
          <a:xfrm>
            <a:off x="502920" y="1207008"/>
            <a:ext cx="10789920" cy="1051560"/>
          </a:xfrm>
          <a:prstGeom prst="roundRect">
            <a:avLst>
              <a:gd fmla="val 10435"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8"/>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200"/>
              <a:buFont typeface="Calibri"/>
              <a:buNone/>
            </a:pPr>
            <a:r>
              <a:rPr b="1" i="0" lang="en-US" sz="2200" u="none" cap="none" strike="noStrike">
                <a:solidFill>
                  <a:srgbClr val="7C3AED"/>
                </a:solidFill>
                <a:latin typeface="Calibri"/>
                <a:ea typeface="Calibri"/>
                <a:cs typeface="Calibri"/>
                <a:sym typeface="Calibri"/>
              </a:rPr>
              <a:t>Why does it give wrong answers so confidently? Why doesn't it just say 'I don't know'?</a:t>
            </a:r>
            <a:endParaRPr b="0" i="0" sz="2200" u="none" cap="none" strike="noStrike">
              <a:solidFill>
                <a:schemeClr val="dk1"/>
              </a:solidFill>
              <a:latin typeface="Calibri"/>
              <a:ea typeface="Calibri"/>
              <a:cs typeface="Calibri"/>
              <a:sym typeface="Calibri"/>
            </a:endParaRPr>
          </a:p>
        </p:txBody>
      </p:sp>
      <p:sp>
        <p:nvSpPr>
          <p:cNvPr id="748" name="Google Shape;748;p28"/>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49" name="Google Shape;749;p28"/>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Because it was trained to produce plausible text — not to know what it knows vs what it doesn't. Plausibility and truth usually overlap, but not always. The model has no separate 'confidence meter' that checks factual accuracy before outputting. It generates the most likely-looking continuation. When the real answer isn't in its training data, it generates the most plausible-sounding text — which can be fabricated. This is hallucination.</a:t>
            </a:r>
            <a:endParaRPr b="0" i="0" sz="1500" u="none" cap="none" strike="noStrike">
              <a:solidFill>
                <a:schemeClr val="dk1"/>
              </a:solidFill>
              <a:latin typeface="Calibri"/>
              <a:ea typeface="Calibri"/>
              <a:cs typeface="Calibri"/>
              <a:sym typeface="Calibri"/>
            </a:endParaRPr>
          </a:p>
        </p:txBody>
      </p:sp>
      <p:sp>
        <p:nvSpPr>
          <p:cNvPr id="751" name="Google Shape;751;p28"/>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752" name="Google Shape;752;p28"/>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8"/>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Modern models have gotten better at saying 'I'm not sure' through RLHF — human raters penalised overconfident wrong answers. But the underlying mechanism hasn't changed. The fix isn't prompt-hoping — it's architecture: RAG (give it the real data), tools (let it verify), and guardrails (check the output).</a:t>
            </a:r>
            <a:endParaRPr b="0" i="0" sz="1300" u="none" cap="none" strike="noStrike">
              <a:solidFill>
                <a:schemeClr val="dk1"/>
              </a:solidFill>
              <a:latin typeface="Calibri"/>
              <a:ea typeface="Calibri"/>
              <a:cs typeface="Calibri"/>
              <a:sym typeface="Calibri"/>
            </a:endParaRPr>
          </a:p>
        </p:txBody>
      </p:sp>
      <p:sp>
        <p:nvSpPr>
          <p:cNvPr id="754" name="Google Shape;754;p28"/>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56" name="Google Shape;756;p2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26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1" name="Shape 761"/>
        <p:cNvGrpSpPr/>
        <p:nvPr/>
      </p:nvGrpSpPr>
      <p:grpSpPr>
        <a:xfrm>
          <a:off x="0" y="0"/>
          <a:ext cx="0" cy="0"/>
          <a:chOff x="0" y="0"/>
          <a:chExt cx="0" cy="0"/>
        </a:xfrm>
      </p:grpSpPr>
      <p:sp>
        <p:nvSpPr>
          <p:cNvPr id="762" name="Google Shape;762;p29"/>
          <p:cNvSpPr/>
          <p:nvPr/>
        </p:nvSpPr>
        <p:spPr>
          <a:xfrm>
            <a:off x="502920" y="411480"/>
            <a:ext cx="658368" cy="658368"/>
          </a:xfrm>
          <a:prstGeom prst="roundRect">
            <a:avLst>
              <a:gd fmla="val 11111"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9"/>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Q3</a:t>
            </a:r>
            <a:endParaRPr b="0" i="0" sz="1800" u="none" cap="none" strike="noStrike">
              <a:solidFill>
                <a:schemeClr val="dk1"/>
              </a:solidFill>
              <a:latin typeface="Calibri"/>
              <a:ea typeface="Calibri"/>
              <a:cs typeface="Calibri"/>
              <a:sym typeface="Calibri"/>
            </a:endParaRPr>
          </a:p>
        </p:txBody>
      </p:sp>
      <p:sp>
        <p:nvSpPr>
          <p:cNvPr id="764" name="Google Shape;764;p29"/>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65" name="Google Shape;765;p29"/>
          <p:cNvSpPr/>
          <p:nvPr/>
        </p:nvSpPr>
        <p:spPr>
          <a:xfrm>
            <a:off x="502920" y="1207008"/>
            <a:ext cx="10789920" cy="1051560"/>
          </a:xfrm>
          <a:prstGeom prst="roundRect">
            <a:avLst>
              <a:gd fmla="val 10435" name="adj"/>
            </a:avLst>
          </a:prstGeom>
          <a:solidFill>
            <a:srgbClr val="ECFEFF"/>
          </a:solidFill>
          <a:ln cap="flat" cmpd="sng" w="12700">
            <a:solidFill>
              <a:srgbClr val="0891B2">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9"/>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2200"/>
              <a:buFont typeface="Calibri"/>
              <a:buNone/>
            </a:pPr>
            <a:r>
              <a:rPr b="1" i="0" lang="en-US" sz="2200" u="none" cap="none" strike="noStrike">
                <a:solidFill>
                  <a:srgbClr val="0891B2"/>
                </a:solidFill>
                <a:latin typeface="Calibri"/>
                <a:ea typeface="Calibri"/>
                <a:cs typeface="Calibri"/>
                <a:sym typeface="Calibri"/>
              </a:rPr>
              <a:t>How is this different from Google Search? Aren't they doing the same thing?</a:t>
            </a:r>
            <a:endParaRPr b="0" i="0" sz="2200" u="none" cap="none" strike="noStrike">
              <a:solidFill>
                <a:schemeClr val="dk1"/>
              </a:solidFill>
              <a:latin typeface="Calibri"/>
              <a:ea typeface="Calibri"/>
              <a:cs typeface="Calibri"/>
              <a:sym typeface="Calibri"/>
            </a:endParaRPr>
          </a:p>
        </p:txBody>
      </p:sp>
      <p:sp>
        <p:nvSpPr>
          <p:cNvPr id="767" name="Google Shape;767;p29"/>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68" name="Google Shape;768;p29"/>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9"/>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Completely different. Google Search retrieves — it has a massive index of real web pages and returns links to documents that match your query. It doesn't generate anything. An LLM generates — it produces new text by predicting tokens. A vanilla LLM has no internet access, no index, no real-time data. When you 'search' in ChatGPT, it uses a SEPARATE tool call to actually hit the web — then synthesises the results with the LLM. The core model hasn't changed.</a:t>
            </a:r>
            <a:endParaRPr b="0" i="0" sz="1500" u="none" cap="none" strike="noStrike">
              <a:solidFill>
                <a:schemeClr val="dk1"/>
              </a:solidFill>
              <a:latin typeface="Calibri"/>
              <a:ea typeface="Calibri"/>
              <a:cs typeface="Calibri"/>
              <a:sym typeface="Calibri"/>
            </a:endParaRPr>
          </a:p>
        </p:txBody>
      </p:sp>
      <p:sp>
        <p:nvSpPr>
          <p:cNvPr id="770" name="Google Shape;770;p29"/>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771" name="Google Shape;771;p29"/>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9"/>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This distinction matters a lot for their career: RAG (Week 3) is how you combine retrieval (find relevant documents) with generation (synthesise a coherent answer). Engineers who understand both systems can build products that are factually grounded and naturally articulate. Neither Google nor the LLM alone does both well.</a:t>
            </a:r>
            <a:endParaRPr b="0" i="0" sz="1300" u="none" cap="none" strike="noStrike">
              <a:solidFill>
                <a:schemeClr val="dk1"/>
              </a:solidFill>
              <a:latin typeface="Calibri"/>
              <a:ea typeface="Calibri"/>
              <a:cs typeface="Calibri"/>
              <a:sym typeface="Calibri"/>
            </a:endParaRPr>
          </a:p>
        </p:txBody>
      </p:sp>
      <p:sp>
        <p:nvSpPr>
          <p:cNvPr id="773" name="Google Shape;773;p29"/>
          <p:cNvSpPr/>
          <p:nvPr/>
        </p:nvSpPr>
        <p:spPr>
          <a:xfrm>
            <a:off x="0" y="6583680"/>
            <a:ext cx="12191695" cy="274320"/>
          </a:xfrm>
          <a:prstGeom prst="rect">
            <a:avLst/>
          </a:prstGeom>
          <a:solidFill>
            <a:srgbClr val="0891B2">
              <a:alpha val="12156"/>
            </a:srgbClr>
          </a:solidFill>
          <a:ln cap="flat" cmpd="sng" w="12700">
            <a:solidFill>
              <a:srgbClr val="0891B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75" name="Google Shape;775;p2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27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0" name="Shape 780"/>
        <p:cNvGrpSpPr/>
        <p:nvPr/>
      </p:nvGrpSpPr>
      <p:grpSpPr>
        <a:xfrm>
          <a:off x="0" y="0"/>
          <a:ext cx="0" cy="0"/>
          <a:chOff x="0" y="0"/>
          <a:chExt cx="0" cy="0"/>
        </a:xfrm>
      </p:grpSpPr>
      <p:sp>
        <p:nvSpPr>
          <p:cNvPr id="781" name="Google Shape;781;p30"/>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0"/>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Q4</a:t>
            </a:r>
            <a:endParaRPr b="0" i="0" sz="1800" u="none" cap="none" strike="noStrike">
              <a:solidFill>
                <a:schemeClr val="dk1"/>
              </a:solidFill>
              <a:latin typeface="Calibri"/>
              <a:ea typeface="Calibri"/>
              <a:cs typeface="Calibri"/>
              <a:sym typeface="Calibri"/>
            </a:endParaRPr>
          </a:p>
        </p:txBody>
      </p:sp>
      <p:sp>
        <p:nvSpPr>
          <p:cNvPr id="783" name="Google Shape;783;p30"/>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84" name="Google Shape;784;p30"/>
          <p:cNvSpPr/>
          <p:nvPr/>
        </p:nvSpPr>
        <p:spPr>
          <a:xfrm>
            <a:off x="502920" y="1207008"/>
            <a:ext cx="10789920" cy="1051560"/>
          </a:xfrm>
          <a:prstGeom prst="roundRect">
            <a:avLst>
              <a:gd fmla="val 10435"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0"/>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200"/>
              <a:buFont typeface="Calibri"/>
              <a:buNone/>
            </a:pPr>
            <a:r>
              <a:rPr b="1" i="0" lang="en-US" sz="2200" u="none" cap="none" strike="noStrike">
                <a:solidFill>
                  <a:srgbClr val="16A34A"/>
                </a:solidFill>
                <a:latin typeface="Calibri"/>
                <a:ea typeface="Calibri"/>
                <a:cs typeface="Calibri"/>
                <a:sym typeface="Calibri"/>
              </a:rPr>
              <a:t>Can the model learn from our conversation? Does it remember what we told it?</a:t>
            </a:r>
            <a:endParaRPr b="0" i="0" sz="2200" u="none" cap="none" strike="noStrike">
              <a:solidFill>
                <a:schemeClr val="dk1"/>
              </a:solidFill>
              <a:latin typeface="Calibri"/>
              <a:ea typeface="Calibri"/>
              <a:cs typeface="Calibri"/>
              <a:sym typeface="Calibri"/>
            </a:endParaRPr>
          </a:p>
        </p:txBody>
      </p:sp>
      <p:sp>
        <p:nvSpPr>
          <p:cNvPr id="786" name="Google Shape;786;p30"/>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87" name="Google Shape;787;p30"/>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0"/>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Within a single conversation — yes. Everything in the context window (all previous messages) is sent with each new request. So it 'remembers' within the session because that history is literally in its input. But when the conversation ends and you start a new one, it is completely reset. It doesn't update its weights from your conversation. It doesn't 'know' you next time. Any cross-session memory (like Claude's memory feature) is an external system that stores summaries and injects them — not the model learning.</a:t>
            </a:r>
            <a:endParaRPr b="0" i="0" sz="1500" u="none" cap="none" strike="noStrike">
              <a:solidFill>
                <a:schemeClr val="dk1"/>
              </a:solidFill>
              <a:latin typeface="Calibri"/>
              <a:ea typeface="Calibri"/>
              <a:cs typeface="Calibri"/>
              <a:sym typeface="Calibri"/>
            </a:endParaRPr>
          </a:p>
        </p:txBody>
      </p:sp>
      <p:sp>
        <p:nvSpPr>
          <p:cNvPr id="789" name="Google Shape;789;p30"/>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790" name="Google Shape;790;p30"/>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This is a critical point for app developers: you own conversation state. If you build a customer service bot, YOU decide what history to send. Long histories cost more tokens every turn. You'll need trimming or summarisation strategies. Week 4's session management covers this.</a:t>
            </a:r>
            <a:endParaRPr b="0" i="0" sz="1300" u="none" cap="none" strike="noStrike">
              <a:solidFill>
                <a:schemeClr val="dk1"/>
              </a:solidFill>
              <a:latin typeface="Calibri"/>
              <a:ea typeface="Calibri"/>
              <a:cs typeface="Calibri"/>
              <a:sym typeface="Calibri"/>
            </a:endParaRPr>
          </a:p>
        </p:txBody>
      </p:sp>
      <p:sp>
        <p:nvSpPr>
          <p:cNvPr id="792" name="Google Shape;792;p30"/>
          <p:cNvSpPr/>
          <p:nvPr/>
        </p:nvSpPr>
        <p:spPr>
          <a:xfrm>
            <a:off x="0" y="6583680"/>
            <a:ext cx="12191695" cy="274320"/>
          </a:xfrm>
          <a:prstGeom prst="rect">
            <a:avLst/>
          </a:prstGeom>
          <a:solidFill>
            <a:srgbClr val="16A34A">
              <a:alpha val="12156"/>
            </a:srgbClr>
          </a:solidFill>
          <a:ln cap="flat" cmpd="sng" w="12700">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794" name="Google Shape;794;p3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28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9" name="Shape 799"/>
        <p:cNvGrpSpPr/>
        <p:nvPr/>
      </p:nvGrpSpPr>
      <p:grpSpPr>
        <a:xfrm>
          <a:off x="0" y="0"/>
          <a:ext cx="0" cy="0"/>
          <a:chOff x="0" y="0"/>
          <a:chExt cx="0" cy="0"/>
        </a:xfrm>
      </p:grpSpPr>
      <p:sp>
        <p:nvSpPr>
          <p:cNvPr id="800" name="Google Shape;800;p31"/>
          <p:cNvSpPr/>
          <p:nvPr/>
        </p:nvSpPr>
        <p:spPr>
          <a:xfrm>
            <a:off x="502920" y="411480"/>
            <a:ext cx="658368" cy="658368"/>
          </a:xfrm>
          <a:prstGeom prst="roundRect">
            <a:avLst>
              <a:gd fmla="val 11111"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1"/>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Q5</a:t>
            </a:r>
            <a:endParaRPr b="0" i="0" sz="1800" u="none" cap="none" strike="noStrike">
              <a:solidFill>
                <a:schemeClr val="dk1"/>
              </a:solidFill>
              <a:latin typeface="Calibri"/>
              <a:ea typeface="Calibri"/>
              <a:cs typeface="Calibri"/>
              <a:sym typeface="Calibri"/>
            </a:endParaRPr>
          </a:p>
        </p:txBody>
      </p:sp>
      <p:sp>
        <p:nvSpPr>
          <p:cNvPr id="802" name="Google Shape;802;p31"/>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03" name="Google Shape;803;p31"/>
          <p:cNvSpPr/>
          <p:nvPr/>
        </p:nvSpPr>
        <p:spPr>
          <a:xfrm>
            <a:off x="502920" y="1207008"/>
            <a:ext cx="10789920" cy="1051560"/>
          </a:xfrm>
          <a:prstGeom prst="roundRect">
            <a:avLst>
              <a:gd fmla="val 10435"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1"/>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2200"/>
              <a:buFont typeface="Calibri"/>
              <a:buNone/>
            </a:pPr>
            <a:r>
              <a:rPr b="1" i="0" lang="en-US" sz="2200" u="none" cap="none" strike="noStrike">
                <a:solidFill>
                  <a:srgbClr val="D97706"/>
                </a:solidFill>
                <a:latin typeface="Calibri"/>
                <a:ea typeface="Calibri"/>
                <a:cs typeface="Calibri"/>
                <a:sym typeface="Calibri"/>
              </a:rPr>
              <a:t>Why does the same question give a different answer every time I ask it?</a:t>
            </a:r>
            <a:endParaRPr b="0" i="0" sz="2200" u="none" cap="none" strike="noStrike">
              <a:solidFill>
                <a:schemeClr val="dk1"/>
              </a:solidFill>
              <a:latin typeface="Calibri"/>
              <a:ea typeface="Calibri"/>
              <a:cs typeface="Calibri"/>
              <a:sym typeface="Calibri"/>
            </a:endParaRPr>
          </a:p>
        </p:txBody>
      </p:sp>
      <p:sp>
        <p:nvSpPr>
          <p:cNvPr id="805" name="Google Shape;805;p31"/>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06" name="Google Shape;806;p31"/>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1"/>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Sampling + temperature. The model doesn't output one answer — it outputs a probability distribution over all possible next tokens. Temperature controls how strictly it follows the ranking. At temperature &gt; 0, it occasionally picks lower-probability tokens, producing variation. Regenerating gives you a different 'roll of the dice' on the same distribution. Set temperature to 0 and you get the same answer every time (greedy decoding — always take the top token).</a:t>
            </a:r>
            <a:endParaRPr b="0" i="0" sz="1500" u="none" cap="none" strike="noStrike">
              <a:solidFill>
                <a:schemeClr val="dk1"/>
              </a:solidFill>
              <a:latin typeface="Calibri"/>
              <a:ea typeface="Calibri"/>
              <a:cs typeface="Calibri"/>
              <a:sym typeface="Calibri"/>
            </a:endParaRPr>
          </a:p>
        </p:txBody>
      </p:sp>
      <p:sp>
        <p:nvSpPr>
          <p:cNvPr id="808" name="Google Shape;808;p31"/>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809" name="Google Shape;809;p31"/>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Engineering implication: for production systems where consistency matters (classification, extraction, SQL generation), always set temperature to 0 or very low. For creative tasks (marketing copy, brainstorming), higher temperature gives useful variety. The Java API lets you set this per call — they'll do this in Session 3.</a:t>
            </a:r>
            <a:endParaRPr b="0" i="0" sz="1300" u="none" cap="none" strike="noStrike">
              <a:solidFill>
                <a:schemeClr val="dk1"/>
              </a:solidFill>
              <a:latin typeface="Calibri"/>
              <a:ea typeface="Calibri"/>
              <a:cs typeface="Calibri"/>
              <a:sym typeface="Calibri"/>
            </a:endParaRPr>
          </a:p>
        </p:txBody>
      </p:sp>
      <p:sp>
        <p:nvSpPr>
          <p:cNvPr id="811" name="Google Shape;811;p31"/>
          <p:cNvSpPr/>
          <p:nvPr/>
        </p:nvSpPr>
        <p:spPr>
          <a:xfrm>
            <a:off x="0" y="6583680"/>
            <a:ext cx="12191695" cy="274320"/>
          </a:xfrm>
          <a:prstGeom prst="rect">
            <a:avLst/>
          </a:prstGeom>
          <a:solidFill>
            <a:srgbClr val="D97706">
              <a:alpha val="12156"/>
            </a:srgbClr>
          </a:solidFill>
          <a:ln cap="flat" cmpd="sng" w="12700">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813" name="Google Shape;813;p3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29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8" name="Shape 818"/>
        <p:cNvGrpSpPr/>
        <p:nvPr/>
      </p:nvGrpSpPr>
      <p:grpSpPr>
        <a:xfrm>
          <a:off x="0" y="0"/>
          <a:ext cx="0" cy="0"/>
          <a:chOff x="0" y="0"/>
          <a:chExt cx="0" cy="0"/>
        </a:xfrm>
      </p:grpSpPr>
      <p:sp>
        <p:nvSpPr>
          <p:cNvPr id="819" name="Google Shape;819;p32"/>
          <p:cNvSpPr/>
          <p:nvPr/>
        </p:nvSpPr>
        <p:spPr>
          <a:xfrm>
            <a:off x="502920" y="411480"/>
            <a:ext cx="658368" cy="658368"/>
          </a:xfrm>
          <a:prstGeom prst="roundRect">
            <a:avLst>
              <a:gd fmla="val 11111"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2"/>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Q6</a:t>
            </a:r>
            <a:endParaRPr b="0" i="0" sz="1800" u="none" cap="none" strike="noStrike">
              <a:solidFill>
                <a:schemeClr val="dk1"/>
              </a:solidFill>
              <a:latin typeface="Calibri"/>
              <a:ea typeface="Calibri"/>
              <a:cs typeface="Calibri"/>
              <a:sym typeface="Calibri"/>
            </a:endParaRPr>
          </a:p>
        </p:txBody>
      </p:sp>
      <p:sp>
        <p:nvSpPr>
          <p:cNvPr id="821" name="Google Shape;821;p32"/>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100"/>
              <a:buFont typeface="Calibri"/>
              <a:buNone/>
            </a:pPr>
            <a:r>
              <a:rPr b="1" i="0" lang="en-US" sz="1100" u="none" cap="none" strike="noStrike">
                <a:solidFill>
                  <a:srgbClr val="E11D48"/>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22" name="Google Shape;822;p32"/>
          <p:cNvSpPr/>
          <p:nvPr/>
        </p:nvSpPr>
        <p:spPr>
          <a:xfrm>
            <a:off x="502920" y="1207008"/>
            <a:ext cx="10789920" cy="1051560"/>
          </a:xfrm>
          <a:prstGeom prst="roundRect">
            <a:avLst>
              <a:gd fmla="val 10435"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2"/>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2200"/>
              <a:buFont typeface="Calibri"/>
              <a:buNone/>
            </a:pPr>
            <a:r>
              <a:rPr b="1" i="0" lang="en-US" sz="2200" u="none" cap="none" strike="noStrike">
                <a:solidFill>
                  <a:srgbClr val="E11D48"/>
                </a:solidFill>
                <a:latin typeface="Calibri"/>
                <a:ea typeface="Calibri"/>
                <a:cs typeface="Calibri"/>
                <a:sym typeface="Calibri"/>
              </a:rPr>
              <a:t>How big is the model physically? What hardware is actually running this?</a:t>
            </a:r>
            <a:endParaRPr b="0" i="0" sz="2200" u="none" cap="none" strike="noStrike">
              <a:solidFill>
                <a:schemeClr val="dk1"/>
              </a:solidFill>
              <a:latin typeface="Calibri"/>
              <a:ea typeface="Calibri"/>
              <a:cs typeface="Calibri"/>
              <a:sym typeface="Calibri"/>
            </a:endParaRPr>
          </a:p>
        </p:txBody>
      </p:sp>
      <p:sp>
        <p:nvSpPr>
          <p:cNvPr id="824" name="Google Shape;824;p32"/>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25" name="Google Shape;825;p32"/>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2"/>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A large frontier model (like GPT-4 or Claude Sonnet) has tens to hundreds of billions of parameters — each is a 16-bit or 32-bit floating-point number. That's hundreds of gigabytes of data just for the weights. Running inference requires loading all weights into GPU VRAM. Frontier models need clusters of high-end GPUs (H100 or A100, costing $30,000–$50,000 each). That's why it's API-only for us — nobody runs GPT-4 on a laptop. Local models (Week 3: Ollama) are quantised down to 4–8 bits so they fit in consumer hardware.</a:t>
            </a:r>
            <a:endParaRPr b="0" i="0" sz="1500" u="none" cap="none" strike="noStrike">
              <a:solidFill>
                <a:schemeClr val="dk1"/>
              </a:solidFill>
              <a:latin typeface="Calibri"/>
              <a:ea typeface="Calibri"/>
              <a:cs typeface="Calibri"/>
              <a:sym typeface="Calibri"/>
            </a:endParaRPr>
          </a:p>
        </p:txBody>
      </p:sp>
      <p:sp>
        <p:nvSpPr>
          <p:cNvPr id="827" name="Google Shape;827;p32"/>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828" name="Google Shape;828;p32"/>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The Ollama session in Week 3 will make this tangible — students will run a 7B-parameter model locally on their laptop. That's only possible because of quantisation (compressing 32-bit weights to 4-bit), which shrinks the file to ~4–8 GB. Trade-off: some quality loss. This size/quality/cost triangle is a real engineering decision they'll face.</a:t>
            </a:r>
            <a:endParaRPr b="0" i="0" sz="1300" u="none" cap="none" strike="noStrike">
              <a:solidFill>
                <a:schemeClr val="dk1"/>
              </a:solidFill>
              <a:latin typeface="Calibri"/>
              <a:ea typeface="Calibri"/>
              <a:cs typeface="Calibri"/>
              <a:sym typeface="Calibri"/>
            </a:endParaRPr>
          </a:p>
        </p:txBody>
      </p:sp>
      <p:sp>
        <p:nvSpPr>
          <p:cNvPr id="830" name="Google Shape;830;p32"/>
          <p:cNvSpPr/>
          <p:nvPr/>
        </p:nvSpPr>
        <p:spPr>
          <a:xfrm>
            <a:off x="0" y="6583680"/>
            <a:ext cx="12191695" cy="274320"/>
          </a:xfrm>
          <a:prstGeom prst="rect">
            <a:avLst/>
          </a:prstGeom>
          <a:solidFill>
            <a:srgbClr val="E11D48">
              <a:alpha val="12156"/>
            </a:srgbClr>
          </a:solidFill>
          <a:ln cap="flat" cmpd="sng" w="12700">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832" name="Google Shape;832;p3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30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7" name="Shape 837"/>
        <p:cNvGrpSpPr/>
        <p:nvPr/>
      </p:nvGrpSpPr>
      <p:grpSpPr>
        <a:xfrm>
          <a:off x="0" y="0"/>
          <a:ext cx="0" cy="0"/>
          <a:chOff x="0" y="0"/>
          <a:chExt cx="0" cy="0"/>
        </a:xfrm>
      </p:grpSpPr>
      <p:sp>
        <p:nvSpPr>
          <p:cNvPr id="838" name="Google Shape;838;p33"/>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3"/>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Q7</a:t>
            </a:r>
            <a:endParaRPr b="0" i="0" sz="1800" u="none" cap="none" strike="noStrike">
              <a:solidFill>
                <a:schemeClr val="dk1"/>
              </a:solidFill>
              <a:latin typeface="Calibri"/>
              <a:ea typeface="Calibri"/>
              <a:cs typeface="Calibri"/>
              <a:sym typeface="Calibri"/>
            </a:endParaRPr>
          </a:p>
        </p:txBody>
      </p:sp>
      <p:sp>
        <p:nvSpPr>
          <p:cNvPr id="840" name="Google Shape;840;p33"/>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41" name="Google Shape;841;p33"/>
          <p:cNvSpPr/>
          <p:nvPr/>
        </p:nvSpPr>
        <p:spPr>
          <a:xfrm>
            <a:off x="502920" y="1207008"/>
            <a:ext cx="10789920" cy="1051560"/>
          </a:xfrm>
          <a:prstGeom prst="roundRect">
            <a:avLst>
              <a:gd fmla="val 10435"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200"/>
              <a:buFont typeface="Calibri"/>
              <a:buNone/>
            </a:pPr>
            <a:r>
              <a:rPr b="1" i="0" lang="en-US" sz="2200" u="none" cap="none" strike="noStrike">
                <a:solidFill>
                  <a:srgbClr val="7C3AED"/>
                </a:solidFill>
                <a:latin typeface="Calibri"/>
                <a:ea typeface="Calibri"/>
                <a:cs typeface="Calibri"/>
                <a:sym typeface="Calibri"/>
              </a:rPr>
              <a:t>Is there a limit to how much text I can send in one message? What happens if I hit it?</a:t>
            </a:r>
            <a:endParaRPr b="0" i="0" sz="2200" u="none" cap="none" strike="noStrike">
              <a:solidFill>
                <a:schemeClr val="dk1"/>
              </a:solidFill>
              <a:latin typeface="Calibri"/>
              <a:ea typeface="Calibri"/>
              <a:cs typeface="Calibri"/>
              <a:sym typeface="Calibri"/>
            </a:endParaRPr>
          </a:p>
        </p:txBody>
      </p:sp>
      <p:sp>
        <p:nvSpPr>
          <p:cNvPr id="843" name="Google Shape;843;p33"/>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44" name="Google Shape;844;p33"/>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3"/>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Yes — the context window. Every model has a maximum number of tokens it can process in one request: input + output combined. GPT-4o: 128k tokens (~96,000 words). Claude Sonnet: 200k tokens (~150,000 words). If you exceed it, the API returns an error. If you're NEAR it, the model may 'forget' the beginning of the conversation (because earlier messages are truncated). Context window size also determines inference cost and speed — larger context = more compute per token generated.</a:t>
            </a:r>
            <a:endParaRPr b="0" i="0" sz="1500" u="none" cap="none" strike="noStrike">
              <a:solidFill>
                <a:schemeClr val="dk1"/>
              </a:solidFill>
              <a:latin typeface="Calibri"/>
              <a:ea typeface="Calibri"/>
              <a:cs typeface="Calibri"/>
              <a:sym typeface="Calibri"/>
            </a:endParaRPr>
          </a:p>
        </p:txBody>
      </p:sp>
      <p:sp>
        <p:nvSpPr>
          <p:cNvPr id="846" name="Google Shape;846;p33"/>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847" name="Google Shape;847;p33"/>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3"/>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In the Conversations API session (Session 4), they'll see token counts grow every turn. The practical lesson: don't send full conversation history blindly. Summarise when it gets long. For RAG (Week 3), the retrieved chunks go INTO the context window — so chunk count × chunk size must fit. This is a real production engineering constraint.</a:t>
            </a:r>
            <a:endParaRPr b="0" i="0" sz="1300" u="none" cap="none" strike="noStrike">
              <a:solidFill>
                <a:schemeClr val="dk1"/>
              </a:solidFill>
              <a:latin typeface="Calibri"/>
              <a:ea typeface="Calibri"/>
              <a:cs typeface="Calibri"/>
              <a:sym typeface="Calibri"/>
            </a:endParaRPr>
          </a:p>
        </p:txBody>
      </p:sp>
      <p:sp>
        <p:nvSpPr>
          <p:cNvPr id="849" name="Google Shape;849;p33"/>
          <p:cNvSpPr/>
          <p:nvPr/>
        </p:nvSpPr>
        <p:spPr>
          <a:xfrm>
            <a:off x="0" y="6583680"/>
            <a:ext cx="12191695" cy="274320"/>
          </a:xfrm>
          <a:prstGeom prst="rect">
            <a:avLst/>
          </a:prstGeom>
          <a:solidFill>
            <a:srgbClr val="7C3AED">
              <a:alpha val="12156"/>
            </a:srgbClr>
          </a:solidFill>
          <a:ln cap="flat" cmpd="sng" w="12700">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851" name="Google Shape;851;p3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31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6" name="Shape 856"/>
        <p:cNvGrpSpPr/>
        <p:nvPr/>
      </p:nvGrpSpPr>
      <p:grpSpPr>
        <a:xfrm>
          <a:off x="0" y="0"/>
          <a:ext cx="0" cy="0"/>
          <a:chOff x="0" y="0"/>
          <a:chExt cx="0" cy="0"/>
        </a:xfrm>
      </p:grpSpPr>
      <p:sp>
        <p:nvSpPr>
          <p:cNvPr id="857" name="Google Shape;857;p34"/>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4"/>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Q8</a:t>
            </a:r>
            <a:endParaRPr b="0" i="0" sz="1800" u="none" cap="none" strike="noStrike">
              <a:solidFill>
                <a:schemeClr val="dk1"/>
              </a:solidFill>
              <a:latin typeface="Calibri"/>
              <a:ea typeface="Calibri"/>
              <a:cs typeface="Calibri"/>
              <a:sym typeface="Calibri"/>
            </a:endParaRPr>
          </a:p>
        </p:txBody>
      </p:sp>
      <p:sp>
        <p:nvSpPr>
          <p:cNvPr id="859" name="Google Shape;859;p34"/>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60" name="Google Shape;860;p34"/>
          <p:cNvSpPr/>
          <p:nvPr/>
        </p:nvSpPr>
        <p:spPr>
          <a:xfrm>
            <a:off x="502920" y="1207008"/>
            <a:ext cx="10789920" cy="1051560"/>
          </a:xfrm>
          <a:prstGeom prst="roundRect">
            <a:avLst>
              <a:gd fmla="val 10435"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4"/>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200"/>
              <a:buFont typeface="Calibri"/>
              <a:buNone/>
            </a:pPr>
            <a:r>
              <a:rPr b="1" i="0" lang="en-US" sz="2200" u="none" cap="none" strike="noStrike">
                <a:solidFill>
                  <a:srgbClr val="16A34A"/>
                </a:solidFill>
                <a:latin typeface="Calibri"/>
                <a:ea typeface="Calibri"/>
                <a:cs typeface="Calibri"/>
                <a:sym typeface="Calibri"/>
              </a:rPr>
              <a:t>Is AI going to replace software developers? Should I even be learning Java?</a:t>
            </a:r>
            <a:endParaRPr b="0" i="0" sz="2200" u="none" cap="none" strike="noStrike">
              <a:solidFill>
                <a:schemeClr val="dk1"/>
              </a:solidFill>
              <a:latin typeface="Calibri"/>
              <a:ea typeface="Calibri"/>
              <a:cs typeface="Calibri"/>
              <a:sym typeface="Calibri"/>
            </a:endParaRPr>
          </a:p>
        </p:txBody>
      </p:sp>
      <p:sp>
        <p:nvSpPr>
          <p:cNvPr id="862" name="Google Shape;862;p34"/>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63" name="Google Shape;863;p34"/>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4"/>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Not replace — transform. Developers who understand AI systems are building the tools that less-informed developers will use. The 'replaced' developer is one who treats AI as a black box. The 'empowered' developer is one who can architect a system with LLMs, RAG, agents, and tools — which is what this course teaches. Java and Spring Boot remain relevant: they're the backend that runs the AI systems. Claude Code can write functions; a senior engineer decides the architecture, evaluates quality, and ships the product.</a:t>
            </a:r>
            <a:endParaRPr b="0" i="0" sz="1500" u="none" cap="none" strike="noStrike">
              <a:solidFill>
                <a:schemeClr val="dk1"/>
              </a:solidFill>
              <a:latin typeface="Calibri"/>
              <a:ea typeface="Calibri"/>
              <a:cs typeface="Calibri"/>
              <a:sym typeface="Calibri"/>
            </a:endParaRPr>
          </a:p>
        </p:txBody>
      </p:sp>
      <p:sp>
        <p:nvSpPr>
          <p:cNvPr id="865" name="Google Shape;865;p34"/>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 FOR INSTRUCTOR</a:t>
            </a:r>
            <a:endParaRPr b="0" i="0" sz="1000" u="none" cap="none" strike="noStrike">
              <a:solidFill>
                <a:schemeClr val="dk1"/>
              </a:solidFill>
              <a:latin typeface="Calibri"/>
              <a:ea typeface="Calibri"/>
              <a:cs typeface="Calibri"/>
              <a:sym typeface="Calibri"/>
            </a:endParaRPr>
          </a:p>
        </p:txBody>
      </p:sp>
      <p:sp>
        <p:nvSpPr>
          <p:cNvPr id="866" name="Google Shape;866;p34"/>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4"/>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This is the right moment to say: 'The developers being most disrupted are those doing rote, copy-paste coding with no system-level thinking. The developers thriving are those who can design complex systems — AI amplifies that skill. That's why we're teaching AI + architecture together, not just how to call an API.'</a:t>
            </a:r>
            <a:endParaRPr b="0" i="0" sz="1300" u="none" cap="none" strike="noStrike">
              <a:solidFill>
                <a:schemeClr val="dk1"/>
              </a:solidFill>
              <a:latin typeface="Calibri"/>
              <a:ea typeface="Calibri"/>
              <a:cs typeface="Calibri"/>
              <a:sym typeface="Calibri"/>
            </a:endParaRPr>
          </a:p>
        </p:txBody>
      </p:sp>
      <p:sp>
        <p:nvSpPr>
          <p:cNvPr id="868" name="Google Shape;868;p34"/>
          <p:cNvSpPr/>
          <p:nvPr/>
        </p:nvSpPr>
        <p:spPr>
          <a:xfrm>
            <a:off x="0" y="6583680"/>
            <a:ext cx="12191695" cy="274320"/>
          </a:xfrm>
          <a:prstGeom prst="rect">
            <a:avLst/>
          </a:prstGeom>
          <a:solidFill>
            <a:srgbClr val="16A34A">
              <a:alpha val="12156"/>
            </a:srgbClr>
          </a:solidFill>
          <a:ln cap="flat" cmpd="sng" w="12700">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1  ·  How LLMs Actually Work</a:t>
            </a:r>
            <a:endParaRPr b="0" i="0" sz="900" u="none" cap="none" strike="noStrike">
              <a:solidFill>
                <a:schemeClr val="dk1"/>
              </a:solidFill>
              <a:latin typeface="Calibri"/>
              <a:ea typeface="Calibri"/>
              <a:cs typeface="Calibri"/>
              <a:sym typeface="Calibri"/>
            </a:endParaRPr>
          </a:p>
        </p:txBody>
      </p:sp>
      <p:sp>
        <p:nvSpPr>
          <p:cNvPr id="870" name="Google Shape;870;p3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32 / 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