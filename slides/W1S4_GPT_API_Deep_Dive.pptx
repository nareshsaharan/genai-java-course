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Ask who has used ChatGPT through the website. (All hands.) Now ask: who has called it from Java code? (Few or none.) Say: 'Today we bridge that gap. By end of session, your Java code will be talking to the same AI engine as ChatGPT — and streaming the replies live.' Show the 5-box architecture diagram on the next slide to set expectations.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architecture becomes the capstone. Every box here is a step in the Voice Task Manager. Walk through it left to right: 'User speaks → JavaScript sends POST → Spring Boot calls OpenAI → tokens stream back → user hears the reply.' Today we build the middle 3 boxes.</a:t>
            </a:r>
            <a:endParaRPr/>
          </a:p>
        </p:txBody>
      </p:sp>
      <p:sp>
        <p:nvSpPr>
          <p:cNvPr id="41" name="Google Shape;4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2 minutes here. Students WILL find Assistants API tutorials via Google. They need to know those are teaching a dead end. The good news: the Responses API we use today is actually SIMPLER — no threads, no runs, no hosted state to manage. You own the conversation list, which gives you full control.</a:t>
            </a:r>
            <a:endParaRPr/>
          </a:p>
        </p:txBody>
      </p:sp>
      <p:sp>
        <p:nvSpPr>
          <p:cNvPr id="92" name="Google Shape;9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The SDK is like a translator — it turns Java method calls into the HTTPS requests the OpenAI API expects, and translates the JSON responses back into Java objects. Without it, you'd write 50+ lines of boilerplate for each API call.</a:t>
            </a:r>
            <a:endParaRPr/>
          </a:p>
        </p:txBody>
      </p:sp>
      <p:sp>
        <p:nvSpPr>
          <p:cNvPr id="122" name="Google Shape;12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Create a new Maven project in IntelliJ. Add the dependency. Run mvn dependency:tree in terminal. Show students the exact output — they should see 4.39.1. The version check step catches the #1 mistake (wrong library) before any code is written.</a:t>
            </a:r>
            <a:endParaRPr/>
          </a:p>
        </p:txBody>
      </p:sp>
      <p:sp>
        <p:nvSpPr>
          <p:cNvPr id="136" name="Google Shape;13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Type this from scratch — don't paste. Let students watch the builder pattern emerge chain by chain. Run it. Show the output and the token count. Ask: 'Who can guess how much that call cost?' ($0.15 per million tokens × maybe 150 tokens = about $0.0000225 — less than a fraction of a paise!) This builds intuition for API economics.</a:t>
            </a:r>
            <a:endParaRPr/>
          </a:p>
        </p:txBody>
      </p:sp>
      <p:sp>
        <p:nvSpPr>
          <p:cNvPr id="182" name="Google Shape;18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Now that we can make a call, let's understand the shape of the conversation. Every API call is a list of messages. Each message has a role. Understanding these 3 roles is the foundation of everything in this course.</a:t>
            </a:r>
            <a:endParaRPr/>
          </a:p>
        </p:txBody>
      </p:sp>
      <p:sp>
        <p:nvSpPr>
          <p:cNvPr id="224" name="Google Shape;22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cooking to explain roles — everyone knows cooking. SYSTEM = the restaurant's rulebook (permanent). USER = what each customer orders (changes every time). ASSISTANT = what the waiter said before (needed for memory). These everyday analogies make the three roles stick immediately.</a:t>
            </a:r>
            <a:endParaRPr/>
          </a:p>
        </p:txBody>
      </p:sp>
      <p:sp>
        <p:nvSpPr>
          <p:cNvPr id="238" name="Google Shape;23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Run this, introduce yourself, then ask in turn 3 'What is my name?' — it remembers! Then intentionally skip Step 3 and show the AI completely forgetting. The 'before/after forgetting' demo is memorable. Draw the 3 steps on the whiteboard as you code them.</a:t>
            </a:r>
            <a:endParaRPr/>
          </a:p>
        </p:txBody>
      </p:sp>
      <p:sp>
        <p:nvSpPr>
          <p:cNvPr id="272" name="Google Shape;27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'Have you ever watched someone type a message live in WhatsApp? That 3-dot bubble, then words appearing? That's streaming. We're going to make our Spring Boot app do the same thing with AI responses.'</a:t>
            </a:r>
            <a:endParaRPr/>
          </a:p>
        </p:txBody>
      </p:sp>
      <p:sp>
        <p:nvSpPr>
          <p:cNvPr id="316" name="Google Shape;31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idea: open two browser tabs. One with a non-streaming endpoint (everything appears after 8s). One with streaming (words appear immediately). Show both on projector. The class always reacts strongly. Ask: 'Which one would you want in YOUR app?' This is why streaming is non-negotiable in production chat UIs.</a:t>
            </a:r>
            <a:endParaRPr/>
          </a:p>
        </p:txBody>
      </p:sp>
      <p:sp>
        <p:nvSpPr>
          <p:cNvPr id="330" name="Google Shape;3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run .create() first, show the 5-second wait. Then switch to .stream() — same prompt, words appear one by one. The difference is dramatic and immediate. Students often cheer when they see it work. Point to System.out.flush() and say: 'This one line is the difference between beautiful streaming and words appearing in random chunks.'</a:t>
            </a:r>
            <a:endParaRPr/>
          </a:p>
        </p:txBody>
      </p:sp>
      <p:sp>
        <p:nvSpPr>
          <p:cNvPr id="373" name="Google Shape;37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So far the AI only knows what's in its training data. What if the user asks for today's weather, or a live stock price? The AI can't fetch live data — but it can ask YOUR Java code to fetch it and use that data to answer.</a:t>
            </a:r>
            <a:endParaRPr/>
          </a:p>
        </p:txBody>
      </p:sp>
      <p:sp>
        <p:nvSpPr>
          <p:cNvPr id="428" name="Google Shape;42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Draw this on the whiteboard. The 3 turns are the most important concept in tool calling. Students think the AI 'runs' their code — it doesn't. It 'asks' your code to run. You're the middleman. This is like a supervisor delegating a task: the AI (supervisor) tells you (worker) what to look up, you get it, and the AI writes the answer using what you found.</a:t>
            </a:r>
            <a:endParaRPr/>
          </a:p>
        </p:txBody>
      </p:sp>
      <p:sp>
        <p:nvSpPr>
          <p:cNvPr id="442" name="Google Shape;44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Lab extension idea: Ask students to add a second tool — getCurrentDate() that returns today's date. Then ask the AI 'Add a task due next Friday' — the model will first call getCurrentDate() to know what day it is, then calculate next Friday, then call addTask. This multi-tool chaining is the 'aha moment' for agentic AI.</a:t>
            </a:r>
            <a:endParaRPr/>
          </a:p>
        </p:txBody>
      </p:sp>
      <p:sp>
        <p:nvSpPr>
          <p:cNvPr id="474" name="Google Shape;47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We've been printing AI responses as plain text. But in a real app, you need structured data — a Java object you can store, display, or process. Structured output is how you get that.</a:t>
            </a:r>
            <a:endParaRPr/>
          </a:p>
        </p:txBody>
      </p:sp>
      <p:sp>
        <p:nvSpPr>
          <p:cNvPr id="524" name="Google Shape;5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 Movie example because every student knows movies — no Java expertise needed to understand what the data means. After the demo, ask: 'How would you change this to extract a Restaurant record instead? {name, city, cuisine, priceRange}?' Students can answer immediately, showing they understood the pattern.</a:t>
            </a:r>
            <a:endParaRPr/>
          </a:p>
        </p:txBody>
      </p:sp>
      <p:sp>
        <p:nvSpPr>
          <p:cNvPr id="538" name="Google Shape;53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cost calculation is always eye-opening. A typical student session: 50 API calls × 200 tokens avg = 10,000 tokens × $0.00000015 = $0.0015. Less than a quarter paise! This reassures students who worry about cost. The real risk is loops: if you accidentally call the API in an infinite loop, THAT is expensive. Set a dashboard limit before class.</a:t>
            </a:r>
            <a:endParaRPr/>
          </a:p>
        </p:txBody>
      </p:sp>
      <p:sp>
        <p:nvSpPr>
          <p:cNvPr id="585" name="Google Shape;58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 plan: 1) spring.io/initializr — Spring Web + Spring WebFlux. 2) Add openai-java 4.39.1 to pom. 3) ChatController with @GetMapping (TEXT_EVENT_STREAM). 4) Return Flux&lt;String&gt;. 5) curl -N 'localhost:8080/api/chat?q=Hello'. Expected: tokens stream to terminal one by one.</a:t>
            </a:r>
            <a:br>
              <a:rPr lang="en-US"/>
            </a:br>
            <a:br>
              <a:rPr lang="en-US"/>
            </a:br>
            <a:r>
              <a:rPr lang="en-US"/>
              <a:t>Time: 20-25 minutes. If short on time, start from a skeleton project.</a:t>
            </a:r>
            <a:endParaRPr/>
          </a:p>
        </p:txBody>
      </p:sp>
      <p:sp>
        <p:nvSpPr>
          <p:cNvPr id="619" name="Google Shape;61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Type this live, don't paste. Pause at Flux&lt;String&gt; and explain: 'Flux is a stream of items. Each item is one AI token. Spring sends each item to the browser as an SSE event.' Run curl first (faster to test), then add the JavaScript frontend as a bonus. Students should see tokens streaming character by character in the terminal.</a:t>
            </a:r>
            <a:endParaRPr/>
          </a:p>
        </p:txBody>
      </p:sp>
      <p:sp>
        <p:nvSpPr>
          <p:cNvPr id="641" name="Google Shape;64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architecture left to right. 'You already know how to build the GPT-4o box (today). Whisper is just another API call — audio file in, text out. TTS is text in, audio out. You're 3 API calls away from a complete voice assistant. That's Session 5.'</a:t>
            </a:r>
            <a:endParaRPr/>
          </a:p>
        </p:txBody>
      </p:sp>
      <p:sp>
        <p:nvSpPr>
          <p:cNvPr id="691" name="Google Shape;69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tests multi-turn (Session concept 2). B tests tool calling. C tests structured output. D tests streaming + cost awareness. A and D are quick wins — students who finish fast should try B or C. Walk the room. The most valuable moment: when a student's tool call actually works for the first time and they see the AI use their Java function. Celebrate that moment.</a:t>
            </a:r>
            <a:endParaRPr/>
          </a:p>
        </p:txBody>
      </p:sp>
      <p:sp>
        <p:nvSpPr>
          <p:cNvPr id="729" name="Google Shape;72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0" name="Google Shape;77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 name="Google Shape;77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0" name="Google Shape;79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8" name="Google Shape;80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 name="Google Shape;80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7" name="Google Shape;82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6" name="Google Shape;84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7" name="Google Shape;84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6" name="Google Shape;86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15" name="Shape 15"/>
        <p:cNvGrpSpPr/>
        <p:nvPr/>
      </p:nvGrpSpPr>
      <p:grpSpPr>
        <a:xfrm>
          <a:off x="0" y="0"/>
          <a:ext cx="0" cy="0"/>
          <a:chOff x="0" y="0"/>
          <a:chExt cx="0" cy="0"/>
        </a:xfrm>
      </p:grpSpPr>
      <p:sp>
        <p:nvSpPr>
          <p:cNvPr id="16" name="Google Shape;16;p3"/>
          <p:cNvSpPr/>
          <p:nvPr/>
        </p:nvSpPr>
        <p:spPr>
          <a:xfrm>
            <a:off x="8046720" y="-1645920"/>
            <a:ext cx="6400800" cy="6400800"/>
          </a:xfrm>
          <a:prstGeom prst="ellipse">
            <a:avLst/>
          </a:prstGeom>
          <a:solidFill>
            <a:srgbClr val="7C3AED">
              <a:alpha val="1019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3"/>
          <p:cNvSpPr/>
          <p:nvPr/>
        </p:nvSpPr>
        <p:spPr>
          <a:xfrm>
            <a:off x="9601200" y="4114800"/>
            <a:ext cx="3657600" cy="3657600"/>
          </a:xfrm>
          <a:prstGeom prst="ellipse">
            <a:avLst/>
          </a:prstGeom>
          <a:solidFill>
            <a:srgbClr val="16A34A">
              <a:alpha val="901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3"/>
          <p:cNvSpPr/>
          <p:nvPr/>
        </p:nvSpPr>
        <p:spPr>
          <a:xfrm>
            <a:off x="685800" y="10972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1300"/>
              <a:buFont typeface="Calibri"/>
              <a:buNone/>
            </a:pPr>
            <a:r>
              <a:rPr b="1" lang="en-US" sz="1300">
                <a:solidFill>
                  <a:srgbClr val="C4B5FD"/>
                </a:solidFill>
                <a:latin typeface="Calibri"/>
                <a:ea typeface="Calibri"/>
                <a:cs typeface="Calibri"/>
                <a:sym typeface="Calibri"/>
              </a:rPr>
              <a:t>WEEK 1  ·  SESSION 3</a:t>
            </a:r>
            <a:endParaRPr sz="1300">
              <a:solidFill>
                <a:schemeClr val="dk1"/>
              </a:solidFill>
              <a:latin typeface="Calibri"/>
              <a:ea typeface="Calibri"/>
              <a:cs typeface="Calibri"/>
              <a:sym typeface="Calibri"/>
            </a:endParaRPr>
          </a:p>
        </p:txBody>
      </p:sp>
      <p:sp>
        <p:nvSpPr>
          <p:cNvPr id="19" name="Google Shape;19;p3"/>
          <p:cNvSpPr/>
          <p:nvPr/>
        </p:nvSpPr>
        <p:spPr>
          <a:xfrm>
            <a:off x="658368" y="1481328"/>
            <a:ext cx="8686800" cy="256032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6400"/>
              <a:buFont typeface="Calibri"/>
              <a:buNone/>
            </a:pPr>
            <a:r>
              <a:rPr b="1" lang="en-US" sz="6400">
                <a:solidFill>
                  <a:srgbClr val="FFFFFF"/>
                </a:solidFill>
                <a:latin typeface="Calibri"/>
                <a:ea typeface="Calibri"/>
                <a:cs typeface="Calibri"/>
                <a:sym typeface="Calibri"/>
              </a:rPr>
              <a:t>GPT API</a:t>
            </a:r>
            <a:endParaRPr sz="6400">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6400"/>
              <a:buFont typeface="Calibri"/>
              <a:buNone/>
            </a:pPr>
            <a:r>
              <a:rPr b="1" lang="en-US" sz="6400">
                <a:solidFill>
                  <a:srgbClr val="FFFFFF"/>
                </a:solidFill>
                <a:latin typeface="Calibri"/>
                <a:ea typeface="Calibri"/>
                <a:cs typeface="Calibri"/>
                <a:sym typeface="Calibri"/>
              </a:rPr>
              <a:t>Deep Dive</a:t>
            </a:r>
            <a:endParaRPr sz="6400">
              <a:solidFill>
                <a:schemeClr val="dk1"/>
              </a:solidFill>
              <a:latin typeface="Calibri"/>
              <a:ea typeface="Calibri"/>
              <a:cs typeface="Calibri"/>
              <a:sym typeface="Calibri"/>
            </a:endParaRPr>
          </a:p>
        </p:txBody>
      </p:sp>
      <p:sp>
        <p:nvSpPr>
          <p:cNvPr id="20" name="Google Shape;20;p3"/>
          <p:cNvSpPr/>
          <p:nvPr/>
        </p:nvSpPr>
        <p:spPr>
          <a:xfrm>
            <a:off x="685800" y="4114800"/>
            <a:ext cx="86868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3000"/>
              <a:buFont typeface="Calibri"/>
              <a:buNone/>
            </a:pPr>
            <a:r>
              <a:rPr b="1" i="1" lang="en-US" sz="3000">
                <a:solidFill>
                  <a:srgbClr val="C4B5FD"/>
                </a:solidFill>
                <a:latin typeface="Calibri"/>
                <a:ea typeface="Calibri"/>
                <a:cs typeface="Calibri"/>
                <a:sym typeface="Calibri"/>
              </a:rPr>
              <a:t>with Java</a:t>
            </a:r>
            <a:endParaRPr sz="3000">
              <a:solidFill>
                <a:schemeClr val="dk1"/>
              </a:solidFill>
              <a:latin typeface="Calibri"/>
              <a:ea typeface="Calibri"/>
              <a:cs typeface="Calibri"/>
              <a:sym typeface="Calibri"/>
            </a:endParaRPr>
          </a:p>
        </p:txBody>
      </p:sp>
      <p:sp>
        <p:nvSpPr>
          <p:cNvPr id="21" name="Google Shape;21;p3"/>
          <p:cNvSpPr/>
          <p:nvPr/>
        </p:nvSpPr>
        <p:spPr>
          <a:xfrm>
            <a:off x="685800" y="4892040"/>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700"/>
              <a:buFont typeface="Calibri"/>
              <a:buNone/>
            </a:pPr>
            <a:r>
              <a:rPr lang="en-US" sz="1700">
                <a:solidFill>
                  <a:srgbClr val="8B92B8"/>
                </a:solidFill>
                <a:latin typeface="Calibri"/>
                <a:ea typeface="Calibri"/>
                <a:cs typeface="Calibri"/>
                <a:sym typeface="Calibri"/>
              </a:rPr>
              <a:t>From zero to a streaming Spring Boot AI endpoint — step by step with simple examples.</a:t>
            </a:r>
            <a:endParaRPr sz="1700">
              <a:solidFill>
                <a:schemeClr val="dk1"/>
              </a:solidFill>
              <a:latin typeface="Calibri"/>
              <a:ea typeface="Calibri"/>
              <a:cs typeface="Calibri"/>
              <a:sym typeface="Calibri"/>
            </a:endParaRPr>
          </a:p>
        </p:txBody>
      </p:sp>
      <p:sp>
        <p:nvSpPr>
          <p:cNvPr id="22" name="Google Shape;22;p3"/>
          <p:cNvSpPr/>
          <p:nvPr/>
        </p:nvSpPr>
        <p:spPr>
          <a:xfrm>
            <a:off x="685800" y="5687568"/>
            <a:ext cx="2020824" cy="438912"/>
          </a:xfrm>
          <a:prstGeom prst="roundRect">
            <a:avLst>
              <a:gd fmla="val 14583" name="adj"/>
            </a:avLst>
          </a:prstGeom>
          <a:solidFill>
            <a:srgbClr val="211B30"/>
          </a:solidFill>
          <a:ln cap="flat" cmpd="sng" w="12700">
            <a:solidFill>
              <a:srgbClr val="7C3AED">
                <a:alpha val="5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3"/>
          <p:cNvSpPr/>
          <p:nvPr/>
        </p:nvSpPr>
        <p:spPr>
          <a:xfrm>
            <a:off x="685800" y="5687568"/>
            <a:ext cx="2020824"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100"/>
              <a:buFont typeface="Calibri"/>
              <a:buNone/>
            </a:pPr>
            <a:r>
              <a:rPr b="1" lang="en-US" sz="1100">
                <a:solidFill>
                  <a:srgbClr val="7C3AED"/>
                </a:solidFill>
                <a:latin typeface="Calibri"/>
                <a:ea typeface="Calibri"/>
                <a:cs typeface="Calibri"/>
                <a:sym typeface="Calibri"/>
              </a:rPr>
              <a:t>openai-java SDK</a:t>
            </a:r>
            <a:endParaRPr sz="1100">
              <a:solidFill>
                <a:schemeClr val="dk1"/>
              </a:solidFill>
              <a:latin typeface="Calibri"/>
              <a:ea typeface="Calibri"/>
              <a:cs typeface="Calibri"/>
              <a:sym typeface="Calibri"/>
            </a:endParaRPr>
          </a:p>
        </p:txBody>
      </p:sp>
      <p:sp>
        <p:nvSpPr>
          <p:cNvPr id="24" name="Google Shape;24;p3"/>
          <p:cNvSpPr/>
          <p:nvPr/>
        </p:nvSpPr>
        <p:spPr>
          <a:xfrm>
            <a:off x="2834640" y="5687568"/>
            <a:ext cx="1805026" cy="438912"/>
          </a:xfrm>
          <a:prstGeom prst="roundRect">
            <a:avLst>
              <a:gd fmla="val 14583" name="adj"/>
            </a:avLst>
          </a:prstGeom>
          <a:solidFill>
            <a:srgbClr val="211B30"/>
          </a:solidFill>
          <a:ln cap="flat" cmpd="sng" w="12700">
            <a:solidFill>
              <a:srgbClr val="0891B2">
                <a:alpha val="5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3"/>
          <p:cNvSpPr/>
          <p:nvPr/>
        </p:nvSpPr>
        <p:spPr>
          <a:xfrm>
            <a:off x="2834640" y="5687568"/>
            <a:ext cx="180502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100"/>
              <a:buFont typeface="Calibri"/>
              <a:buNone/>
            </a:pPr>
            <a:r>
              <a:rPr b="1" lang="en-US" sz="1100">
                <a:solidFill>
                  <a:srgbClr val="0891B2"/>
                </a:solidFill>
                <a:latin typeface="Calibri"/>
                <a:ea typeface="Calibri"/>
                <a:cs typeface="Calibri"/>
                <a:sym typeface="Calibri"/>
              </a:rPr>
              <a:t>Responses API</a:t>
            </a:r>
            <a:endParaRPr sz="1100">
              <a:solidFill>
                <a:schemeClr val="dk1"/>
              </a:solidFill>
              <a:latin typeface="Calibri"/>
              <a:ea typeface="Calibri"/>
              <a:cs typeface="Calibri"/>
              <a:sym typeface="Calibri"/>
            </a:endParaRPr>
          </a:p>
        </p:txBody>
      </p:sp>
      <p:sp>
        <p:nvSpPr>
          <p:cNvPr id="26" name="Google Shape;26;p3"/>
          <p:cNvSpPr/>
          <p:nvPr/>
        </p:nvSpPr>
        <p:spPr>
          <a:xfrm>
            <a:off x="4767682" y="5687568"/>
            <a:ext cx="1373429" cy="438912"/>
          </a:xfrm>
          <a:prstGeom prst="roundRect">
            <a:avLst>
              <a:gd fmla="val 14583" name="adj"/>
            </a:avLst>
          </a:prstGeom>
          <a:solidFill>
            <a:srgbClr val="211B30"/>
          </a:solidFill>
          <a:ln cap="flat" cmpd="sng" w="12700">
            <a:solidFill>
              <a:srgbClr val="16A34A">
                <a:alpha val="5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3"/>
          <p:cNvSpPr/>
          <p:nvPr/>
        </p:nvSpPr>
        <p:spPr>
          <a:xfrm>
            <a:off x="4767682" y="5687568"/>
            <a:ext cx="1373429"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100"/>
              <a:buFont typeface="Calibri"/>
              <a:buNone/>
            </a:pPr>
            <a:r>
              <a:rPr b="1" lang="en-US" sz="1100">
                <a:solidFill>
                  <a:srgbClr val="16A34A"/>
                </a:solidFill>
                <a:latin typeface="Calibri"/>
                <a:ea typeface="Calibri"/>
                <a:cs typeface="Calibri"/>
                <a:sym typeface="Calibri"/>
              </a:rPr>
              <a:t>Streaming</a:t>
            </a:r>
            <a:endParaRPr sz="1100">
              <a:solidFill>
                <a:schemeClr val="dk1"/>
              </a:solidFill>
              <a:latin typeface="Calibri"/>
              <a:ea typeface="Calibri"/>
              <a:cs typeface="Calibri"/>
              <a:sym typeface="Calibri"/>
            </a:endParaRPr>
          </a:p>
        </p:txBody>
      </p:sp>
      <p:sp>
        <p:nvSpPr>
          <p:cNvPr id="28" name="Google Shape;28;p3"/>
          <p:cNvSpPr/>
          <p:nvPr/>
        </p:nvSpPr>
        <p:spPr>
          <a:xfrm>
            <a:off x="6269126" y="5687568"/>
            <a:ext cx="1697126" cy="438912"/>
          </a:xfrm>
          <a:prstGeom prst="roundRect">
            <a:avLst>
              <a:gd fmla="val 14583" name="adj"/>
            </a:avLst>
          </a:prstGeom>
          <a:solidFill>
            <a:srgbClr val="211B30"/>
          </a:solidFill>
          <a:ln cap="flat" cmpd="sng" w="12700">
            <a:solidFill>
              <a:srgbClr val="D97706">
                <a:alpha val="5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3"/>
          <p:cNvSpPr/>
          <p:nvPr/>
        </p:nvSpPr>
        <p:spPr>
          <a:xfrm>
            <a:off x="6269126" y="5687568"/>
            <a:ext cx="169712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100"/>
              <a:buFont typeface="Calibri"/>
              <a:buNone/>
            </a:pPr>
            <a:r>
              <a:rPr b="1" lang="en-US" sz="1100">
                <a:solidFill>
                  <a:srgbClr val="D97706"/>
                </a:solidFill>
                <a:latin typeface="Calibri"/>
                <a:ea typeface="Calibri"/>
                <a:cs typeface="Calibri"/>
                <a:sym typeface="Calibri"/>
              </a:rPr>
              <a:t>Tool Calling</a:t>
            </a:r>
            <a:endParaRPr sz="1100">
              <a:solidFill>
                <a:schemeClr val="dk1"/>
              </a:solidFill>
              <a:latin typeface="Calibri"/>
              <a:ea typeface="Calibri"/>
              <a:cs typeface="Calibri"/>
              <a:sym typeface="Calibri"/>
            </a:endParaRPr>
          </a:p>
        </p:txBody>
      </p:sp>
      <p:sp>
        <p:nvSpPr>
          <p:cNvPr id="30" name="Google Shape;30;p3"/>
          <p:cNvSpPr/>
          <p:nvPr/>
        </p:nvSpPr>
        <p:spPr>
          <a:xfrm>
            <a:off x="8094269" y="5687568"/>
            <a:ext cx="2236622" cy="438912"/>
          </a:xfrm>
          <a:prstGeom prst="roundRect">
            <a:avLst>
              <a:gd fmla="val 14583" name="adj"/>
            </a:avLst>
          </a:prstGeom>
          <a:solidFill>
            <a:srgbClr val="211B30"/>
          </a:solidFill>
          <a:ln cap="flat" cmpd="sng" w="12700">
            <a:solidFill>
              <a:srgbClr val="E11D48">
                <a:alpha val="5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p3"/>
          <p:cNvSpPr/>
          <p:nvPr/>
        </p:nvSpPr>
        <p:spPr>
          <a:xfrm>
            <a:off x="8094269" y="5687568"/>
            <a:ext cx="223662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1D48"/>
              </a:buClr>
              <a:buSzPts val="1100"/>
              <a:buFont typeface="Calibri"/>
              <a:buNone/>
            </a:pPr>
            <a:r>
              <a:rPr b="1" lang="en-US" sz="1100">
                <a:solidFill>
                  <a:srgbClr val="E11D48"/>
                </a:solidFill>
                <a:latin typeface="Calibri"/>
                <a:ea typeface="Calibri"/>
                <a:cs typeface="Calibri"/>
                <a:sym typeface="Calibri"/>
              </a:rPr>
              <a:t>Structured Output</a:t>
            </a:r>
            <a:endParaRPr sz="1100">
              <a:solidFill>
                <a:schemeClr val="dk1"/>
              </a:solidFill>
              <a:latin typeface="Calibri"/>
              <a:ea typeface="Calibri"/>
              <a:cs typeface="Calibri"/>
              <a:sym typeface="Calibri"/>
            </a:endParaRPr>
          </a:p>
        </p:txBody>
      </p:sp>
      <p:sp>
        <p:nvSpPr>
          <p:cNvPr id="32" name="Google Shape;32;p3"/>
          <p:cNvSpPr/>
          <p:nvPr/>
        </p:nvSpPr>
        <p:spPr>
          <a:xfrm>
            <a:off x="10458907" y="5687568"/>
            <a:ext cx="1589227" cy="438912"/>
          </a:xfrm>
          <a:prstGeom prst="roundRect">
            <a:avLst>
              <a:gd fmla="val 14583" name="adj"/>
            </a:avLst>
          </a:prstGeom>
          <a:solidFill>
            <a:srgbClr val="211B30"/>
          </a:solidFill>
          <a:ln cap="flat" cmpd="sng" w="12700">
            <a:solidFill>
              <a:srgbClr val="EA580C">
                <a:alpha val="5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3"/>
          <p:cNvSpPr/>
          <p:nvPr/>
        </p:nvSpPr>
        <p:spPr>
          <a:xfrm>
            <a:off x="10458907" y="5687568"/>
            <a:ext cx="1589227"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A580C"/>
              </a:buClr>
              <a:buSzPts val="1100"/>
              <a:buFont typeface="Calibri"/>
              <a:buNone/>
            </a:pPr>
            <a:r>
              <a:rPr b="1" lang="en-US" sz="1100">
                <a:solidFill>
                  <a:srgbClr val="EA580C"/>
                </a:solidFill>
                <a:latin typeface="Calibri"/>
                <a:ea typeface="Calibri"/>
                <a:cs typeface="Calibri"/>
                <a:sym typeface="Calibri"/>
              </a:rPr>
              <a:t>Spring Boot</a:t>
            </a:r>
            <a:endParaRPr sz="1100">
              <a:solidFill>
                <a:schemeClr val="dk1"/>
              </a:solidFill>
              <a:latin typeface="Calibri"/>
              <a:ea typeface="Calibri"/>
              <a:cs typeface="Calibri"/>
              <a:sym typeface="Calibri"/>
            </a:endParaRPr>
          </a:p>
        </p:txBody>
      </p:sp>
      <p:sp>
        <p:nvSpPr>
          <p:cNvPr id="34" name="Google Shape;34;p3"/>
          <p:cNvSpPr/>
          <p:nvPr/>
        </p:nvSpPr>
        <p:spPr>
          <a:xfrm>
            <a:off x="685800" y="6291072"/>
            <a:ext cx="8229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300"/>
              <a:buFont typeface="Calibri"/>
              <a:buNone/>
            </a:pPr>
            <a:r>
              <a:rPr i="1" lang="en-US" sz="1300">
                <a:solidFill>
                  <a:srgbClr val="8B92B8"/>
                </a:solidFill>
                <a:latin typeface="Calibri"/>
                <a:ea typeface="Calibri"/>
                <a:cs typeface="Calibri"/>
                <a:sym typeface="Calibri"/>
              </a:rPr>
              <a:t>SDK version 4.41.0  ·  Responses API first  ·  4 demos  ·  beginner-friendly</a:t>
            </a:r>
            <a:endParaRPr sz="1300">
              <a:solidFill>
                <a:schemeClr val="dk1"/>
              </a:solidFill>
              <a:latin typeface="Calibri"/>
              <a:ea typeface="Calibri"/>
              <a:cs typeface="Calibri"/>
              <a:sym typeface="Calibri"/>
            </a:endParaRPr>
          </a:p>
        </p:txBody>
      </p:sp>
      <p:sp>
        <p:nvSpPr>
          <p:cNvPr id="35" name="Google Shape;35;p3"/>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37" name="Google Shape;37;p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1 / 29</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 name="Shape 42"/>
        <p:cNvGrpSpPr/>
        <p:nvPr/>
      </p:nvGrpSpPr>
      <p:grpSpPr>
        <a:xfrm>
          <a:off x="0" y="0"/>
          <a:ext cx="0" cy="0"/>
          <a:chOff x="0" y="0"/>
          <a:chExt cx="0" cy="0"/>
        </a:xfrm>
      </p:grpSpPr>
      <p:sp>
        <p:nvSpPr>
          <p:cNvPr id="43" name="Google Shape;43;p4"/>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lang="en-US" sz="1200">
                <a:solidFill>
                  <a:srgbClr val="7C3AED"/>
                </a:solidFill>
                <a:latin typeface="Calibri"/>
                <a:ea typeface="Calibri"/>
                <a:cs typeface="Calibri"/>
                <a:sym typeface="Calibri"/>
              </a:rPr>
              <a:t>WHAT YOU WILL BUILD TODAY</a:t>
            </a:r>
            <a:endParaRPr sz="1200">
              <a:solidFill>
                <a:schemeClr val="dk1"/>
              </a:solidFill>
              <a:latin typeface="Calibri"/>
              <a:ea typeface="Calibri"/>
              <a:cs typeface="Calibri"/>
              <a:sym typeface="Calibri"/>
            </a:endParaRPr>
          </a:p>
        </p:txBody>
      </p:sp>
      <p:sp>
        <p:nvSpPr>
          <p:cNvPr id="44" name="Google Shape;44;p4"/>
          <p:cNvSpPr/>
          <p:nvPr/>
        </p:nvSpPr>
        <p:spPr>
          <a:xfrm>
            <a:off x="685800" y="749808"/>
            <a:ext cx="10789920" cy="11155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000"/>
              <a:buFont typeface="Calibri"/>
              <a:buNone/>
            </a:pPr>
            <a:r>
              <a:rPr b="1" lang="en-US" sz="3000">
                <a:solidFill>
                  <a:srgbClr val="475569"/>
                </a:solidFill>
                <a:latin typeface="Calibri"/>
                <a:ea typeface="Calibri"/>
                <a:cs typeface="Calibri"/>
                <a:sym typeface="Calibri"/>
              </a:rPr>
              <a:t>A streaming AI chat endpoint in Spring Boot.</a:t>
            </a:r>
            <a:endParaRPr sz="3000">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75569"/>
              </a:buClr>
              <a:buSzPts val="3000"/>
              <a:buFont typeface="Calibri"/>
              <a:buNone/>
            </a:pPr>
            <a:r>
              <a:rPr b="1" lang="en-US" sz="3000">
                <a:solidFill>
                  <a:srgbClr val="475569"/>
                </a:solidFill>
                <a:latin typeface="Calibri"/>
                <a:ea typeface="Calibri"/>
                <a:cs typeface="Calibri"/>
                <a:sym typeface="Calibri"/>
              </a:rPr>
              <a:t>From scratch. Step by step.</a:t>
            </a:r>
            <a:endParaRPr sz="3000">
              <a:solidFill>
                <a:schemeClr val="dk1"/>
              </a:solidFill>
              <a:latin typeface="Calibri"/>
              <a:ea typeface="Calibri"/>
              <a:cs typeface="Calibri"/>
              <a:sym typeface="Calibri"/>
            </a:endParaRPr>
          </a:p>
        </p:txBody>
      </p:sp>
      <p:sp>
        <p:nvSpPr>
          <p:cNvPr id="45" name="Google Shape;45;p4"/>
          <p:cNvSpPr/>
          <p:nvPr/>
        </p:nvSpPr>
        <p:spPr>
          <a:xfrm>
            <a:off x="502920" y="2743200"/>
            <a:ext cx="2212848" cy="1417320"/>
          </a:xfrm>
          <a:prstGeom prst="roundRect">
            <a:avLst>
              <a:gd fmla="val 5806" name="adj"/>
            </a:avLst>
          </a:prstGeom>
          <a:solidFill>
            <a:srgbClr val="F8FAFC"/>
          </a:solidFill>
          <a:ln cap="flat" cmpd="sng" w="19050">
            <a:solidFill>
              <a:srgbClr val="7C3AED">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4"/>
          <p:cNvSpPr/>
          <p:nvPr/>
        </p:nvSpPr>
        <p:spPr>
          <a:xfrm>
            <a:off x="640080" y="2926080"/>
            <a:ext cx="196596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C3AED"/>
              </a:buClr>
              <a:buSzPts val="1300"/>
              <a:buFont typeface="Calibri"/>
              <a:buNone/>
            </a:pPr>
            <a:r>
              <a:rPr b="1" lang="en-US" sz="1300">
                <a:solidFill>
                  <a:srgbClr val="7C3AED"/>
                </a:solidFill>
                <a:latin typeface="Calibri"/>
                <a:ea typeface="Calibri"/>
                <a:cs typeface="Calibri"/>
                <a:sym typeface="Calibri"/>
              </a:rPr>
              <a:t>Browser /</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7C3AED"/>
              </a:buClr>
              <a:buSzPts val="1300"/>
              <a:buFont typeface="Calibri"/>
              <a:buNone/>
            </a:pPr>
            <a:r>
              <a:rPr b="1" lang="en-US" sz="1300">
                <a:solidFill>
                  <a:srgbClr val="7C3AED"/>
                </a:solidFill>
                <a:latin typeface="Calibri"/>
                <a:ea typeface="Calibri"/>
                <a:cs typeface="Calibri"/>
                <a:sym typeface="Calibri"/>
              </a:rPr>
              <a:t>JavaScript</a:t>
            </a:r>
            <a:endParaRPr sz="1300">
              <a:solidFill>
                <a:schemeClr val="dk1"/>
              </a:solidFill>
              <a:latin typeface="Calibri"/>
              <a:ea typeface="Calibri"/>
              <a:cs typeface="Calibri"/>
              <a:sym typeface="Calibri"/>
            </a:endParaRPr>
          </a:p>
        </p:txBody>
      </p:sp>
      <p:sp>
        <p:nvSpPr>
          <p:cNvPr id="47" name="Google Shape;47;p4"/>
          <p:cNvSpPr/>
          <p:nvPr/>
        </p:nvSpPr>
        <p:spPr>
          <a:xfrm>
            <a:off x="640080" y="3767328"/>
            <a:ext cx="1965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i="1" lang="en-US" sz="1000">
                <a:solidFill>
                  <a:srgbClr val="8B92B8"/>
                </a:solidFill>
                <a:latin typeface="Calibri"/>
                <a:ea typeface="Calibri"/>
                <a:cs typeface="Calibri"/>
                <a:sym typeface="Calibri"/>
              </a:rPr>
              <a:t>POST /api/chat</a:t>
            </a:r>
            <a:endParaRPr sz="1000">
              <a:solidFill>
                <a:schemeClr val="dk1"/>
              </a:solidFill>
              <a:latin typeface="Calibri"/>
              <a:ea typeface="Calibri"/>
              <a:cs typeface="Calibri"/>
              <a:sym typeface="Calibri"/>
            </a:endParaRPr>
          </a:p>
        </p:txBody>
      </p:sp>
      <p:cxnSp>
        <p:nvCxnSpPr>
          <p:cNvPr id="48" name="Google Shape;48;p4"/>
          <p:cNvCxnSpPr/>
          <p:nvPr/>
        </p:nvCxnSpPr>
        <p:spPr>
          <a:xfrm>
            <a:off x="2743200" y="3438144"/>
            <a:ext cx="438912" cy="0"/>
          </a:xfrm>
          <a:prstGeom prst="straightConnector1">
            <a:avLst/>
          </a:prstGeom>
          <a:noFill/>
          <a:ln cap="flat" cmpd="sng" w="25400">
            <a:solidFill>
              <a:srgbClr val="7C3AED"/>
            </a:solidFill>
            <a:prstDash val="solid"/>
            <a:round/>
            <a:headEnd len="sm" w="sm" type="none"/>
            <a:tailEnd len="med" w="med" type="triangle"/>
          </a:ln>
        </p:spPr>
      </p:cxnSp>
      <p:sp>
        <p:nvSpPr>
          <p:cNvPr id="49" name="Google Shape;49;p4"/>
          <p:cNvSpPr/>
          <p:nvPr/>
        </p:nvSpPr>
        <p:spPr>
          <a:xfrm>
            <a:off x="2880360" y="2743200"/>
            <a:ext cx="2212848" cy="1417320"/>
          </a:xfrm>
          <a:prstGeom prst="roundRect">
            <a:avLst>
              <a:gd fmla="val 5806" name="adj"/>
            </a:avLst>
          </a:prstGeom>
          <a:solidFill>
            <a:srgbClr val="F8FAFC"/>
          </a:solidFill>
          <a:ln cap="flat" cmpd="sng" w="19050">
            <a:solidFill>
              <a:srgbClr val="0891B2">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4"/>
          <p:cNvSpPr/>
          <p:nvPr/>
        </p:nvSpPr>
        <p:spPr>
          <a:xfrm>
            <a:off x="3017520" y="2926080"/>
            <a:ext cx="196596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891B2"/>
              </a:buClr>
              <a:buSzPts val="1300"/>
              <a:buFont typeface="Calibri"/>
              <a:buNone/>
            </a:pPr>
            <a:r>
              <a:rPr b="1" lang="en-US" sz="1300">
                <a:solidFill>
                  <a:srgbClr val="0891B2"/>
                </a:solidFill>
                <a:latin typeface="Calibri"/>
                <a:ea typeface="Calibri"/>
                <a:cs typeface="Calibri"/>
                <a:sym typeface="Calibri"/>
              </a:rPr>
              <a:t>Spring Boot</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891B2"/>
              </a:buClr>
              <a:buSzPts val="1300"/>
              <a:buFont typeface="Calibri"/>
              <a:buNone/>
            </a:pPr>
            <a:r>
              <a:rPr b="1" lang="en-US" sz="1300">
                <a:solidFill>
                  <a:srgbClr val="0891B2"/>
                </a:solidFill>
                <a:latin typeface="Calibri"/>
                <a:ea typeface="Calibri"/>
                <a:cs typeface="Calibri"/>
                <a:sym typeface="Calibri"/>
              </a:rPr>
              <a:t>Controller</a:t>
            </a:r>
            <a:endParaRPr sz="1300">
              <a:solidFill>
                <a:schemeClr val="dk1"/>
              </a:solidFill>
              <a:latin typeface="Calibri"/>
              <a:ea typeface="Calibri"/>
              <a:cs typeface="Calibri"/>
              <a:sym typeface="Calibri"/>
            </a:endParaRPr>
          </a:p>
        </p:txBody>
      </p:sp>
      <p:sp>
        <p:nvSpPr>
          <p:cNvPr id="51" name="Google Shape;51;p4"/>
          <p:cNvSpPr/>
          <p:nvPr/>
        </p:nvSpPr>
        <p:spPr>
          <a:xfrm>
            <a:off x="3017520" y="3767328"/>
            <a:ext cx="1965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i="1" lang="en-US" sz="1000">
                <a:solidFill>
                  <a:srgbClr val="8B92B8"/>
                </a:solidFill>
                <a:latin typeface="Calibri"/>
                <a:ea typeface="Calibri"/>
                <a:cs typeface="Calibri"/>
                <a:sym typeface="Calibri"/>
              </a:rPr>
              <a:t>/api/chat endpoint</a:t>
            </a:r>
            <a:endParaRPr sz="1000">
              <a:solidFill>
                <a:schemeClr val="dk1"/>
              </a:solidFill>
              <a:latin typeface="Calibri"/>
              <a:ea typeface="Calibri"/>
              <a:cs typeface="Calibri"/>
              <a:sym typeface="Calibri"/>
            </a:endParaRPr>
          </a:p>
        </p:txBody>
      </p:sp>
      <p:cxnSp>
        <p:nvCxnSpPr>
          <p:cNvPr id="52" name="Google Shape;52;p4"/>
          <p:cNvCxnSpPr/>
          <p:nvPr/>
        </p:nvCxnSpPr>
        <p:spPr>
          <a:xfrm>
            <a:off x="5120640" y="3438144"/>
            <a:ext cx="438912" cy="0"/>
          </a:xfrm>
          <a:prstGeom prst="straightConnector1">
            <a:avLst/>
          </a:prstGeom>
          <a:noFill/>
          <a:ln cap="flat" cmpd="sng" w="25400">
            <a:solidFill>
              <a:srgbClr val="0891B2"/>
            </a:solidFill>
            <a:prstDash val="solid"/>
            <a:round/>
            <a:headEnd len="sm" w="sm" type="none"/>
            <a:tailEnd len="med" w="med" type="triangle"/>
          </a:ln>
        </p:spPr>
      </p:cxnSp>
      <p:sp>
        <p:nvSpPr>
          <p:cNvPr id="53" name="Google Shape;53;p4"/>
          <p:cNvSpPr/>
          <p:nvPr/>
        </p:nvSpPr>
        <p:spPr>
          <a:xfrm>
            <a:off x="5257800" y="2743200"/>
            <a:ext cx="2212848" cy="1417320"/>
          </a:xfrm>
          <a:prstGeom prst="roundRect">
            <a:avLst>
              <a:gd fmla="val 5806" name="adj"/>
            </a:avLst>
          </a:prstGeom>
          <a:solidFill>
            <a:srgbClr val="F8FAFC"/>
          </a:solidFill>
          <a:ln cap="flat" cmpd="sng" w="19050">
            <a:solidFill>
              <a:srgbClr val="16A34A">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4"/>
          <p:cNvSpPr/>
          <p:nvPr/>
        </p:nvSpPr>
        <p:spPr>
          <a:xfrm>
            <a:off x="5394960" y="2926080"/>
            <a:ext cx="196596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6A34A"/>
              </a:buClr>
              <a:buSzPts val="1300"/>
              <a:buFont typeface="Calibri"/>
              <a:buNone/>
            </a:pPr>
            <a:r>
              <a:rPr b="1" lang="en-US" sz="1300">
                <a:solidFill>
                  <a:srgbClr val="16A34A"/>
                </a:solidFill>
                <a:latin typeface="Calibri"/>
                <a:ea typeface="Calibri"/>
                <a:cs typeface="Calibri"/>
                <a:sym typeface="Calibri"/>
              </a:rPr>
              <a:t>openai-java</a:t>
            </a:r>
            <a:br>
              <a:rPr b="1" lang="en-US" sz="1300">
                <a:solidFill>
                  <a:srgbClr val="16A34A"/>
                </a:solidFill>
                <a:latin typeface="Calibri"/>
                <a:ea typeface="Calibri"/>
                <a:cs typeface="Calibri"/>
                <a:sym typeface="Calibri"/>
              </a:rPr>
            </a:br>
            <a:r>
              <a:rPr b="1" lang="en-US" sz="1300">
                <a:solidFill>
                  <a:srgbClr val="16A34A"/>
                </a:solidFill>
                <a:latin typeface="Calibri"/>
                <a:ea typeface="Calibri"/>
                <a:cs typeface="Calibri"/>
                <a:sym typeface="Calibri"/>
              </a:rPr>
              <a:t>SDK v4.41.0</a:t>
            </a:r>
            <a:endParaRPr sz="1300">
              <a:solidFill>
                <a:schemeClr val="dk1"/>
              </a:solidFill>
              <a:latin typeface="Calibri"/>
              <a:ea typeface="Calibri"/>
              <a:cs typeface="Calibri"/>
              <a:sym typeface="Calibri"/>
            </a:endParaRPr>
          </a:p>
        </p:txBody>
      </p:sp>
      <p:sp>
        <p:nvSpPr>
          <p:cNvPr id="55" name="Google Shape;55;p4"/>
          <p:cNvSpPr/>
          <p:nvPr/>
        </p:nvSpPr>
        <p:spPr>
          <a:xfrm>
            <a:off x="5394960" y="3767328"/>
            <a:ext cx="1965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i="1" lang="en-US" sz="1000">
                <a:solidFill>
                  <a:srgbClr val="8B92B8"/>
                </a:solidFill>
                <a:latin typeface="Calibri"/>
                <a:ea typeface="Calibri"/>
                <a:cs typeface="Calibri"/>
                <a:sym typeface="Calibri"/>
              </a:rPr>
              <a:t>Official library</a:t>
            </a:r>
            <a:endParaRPr sz="1000">
              <a:solidFill>
                <a:schemeClr val="dk1"/>
              </a:solidFill>
              <a:latin typeface="Calibri"/>
              <a:ea typeface="Calibri"/>
              <a:cs typeface="Calibri"/>
              <a:sym typeface="Calibri"/>
            </a:endParaRPr>
          </a:p>
        </p:txBody>
      </p:sp>
      <p:cxnSp>
        <p:nvCxnSpPr>
          <p:cNvPr id="56" name="Google Shape;56;p4"/>
          <p:cNvCxnSpPr/>
          <p:nvPr/>
        </p:nvCxnSpPr>
        <p:spPr>
          <a:xfrm>
            <a:off x="7498080" y="3438144"/>
            <a:ext cx="438912" cy="0"/>
          </a:xfrm>
          <a:prstGeom prst="straightConnector1">
            <a:avLst/>
          </a:prstGeom>
          <a:noFill/>
          <a:ln cap="flat" cmpd="sng" w="25400">
            <a:solidFill>
              <a:srgbClr val="16A34A"/>
            </a:solidFill>
            <a:prstDash val="solid"/>
            <a:round/>
            <a:headEnd len="sm" w="sm" type="none"/>
            <a:tailEnd len="med" w="med" type="triangle"/>
          </a:ln>
        </p:spPr>
      </p:cxnSp>
      <p:sp>
        <p:nvSpPr>
          <p:cNvPr id="57" name="Google Shape;57;p4"/>
          <p:cNvSpPr/>
          <p:nvPr/>
        </p:nvSpPr>
        <p:spPr>
          <a:xfrm>
            <a:off x="7635240" y="2743200"/>
            <a:ext cx="2212848" cy="1417320"/>
          </a:xfrm>
          <a:prstGeom prst="roundRect">
            <a:avLst>
              <a:gd fmla="val 5806" name="adj"/>
            </a:avLst>
          </a:prstGeom>
          <a:solidFill>
            <a:srgbClr val="F8FAFC"/>
          </a:solidFill>
          <a:ln cap="flat" cmpd="sng" w="19050">
            <a:solidFill>
              <a:srgbClr val="D97706">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4"/>
          <p:cNvSpPr/>
          <p:nvPr/>
        </p:nvSpPr>
        <p:spPr>
          <a:xfrm>
            <a:off x="7772400" y="2926080"/>
            <a:ext cx="196596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D97706"/>
              </a:buClr>
              <a:buSzPts val="1300"/>
              <a:buFont typeface="Calibri"/>
              <a:buNone/>
            </a:pPr>
            <a:r>
              <a:rPr b="1" lang="en-US" sz="1300">
                <a:solidFill>
                  <a:srgbClr val="D97706"/>
                </a:solidFill>
                <a:latin typeface="Calibri"/>
                <a:ea typeface="Calibri"/>
                <a:cs typeface="Calibri"/>
                <a:sym typeface="Calibri"/>
              </a:rPr>
              <a:t>OpenAI</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7706"/>
              </a:buClr>
              <a:buSzPts val="1300"/>
              <a:buFont typeface="Calibri"/>
              <a:buNone/>
            </a:pPr>
            <a:r>
              <a:rPr b="1" lang="en-US" sz="1300">
                <a:solidFill>
                  <a:srgbClr val="D97706"/>
                </a:solidFill>
                <a:latin typeface="Calibri"/>
                <a:ea typeface="Calibri"/>
                <a:cs typeface="Calibri"/>
                <a:sym typeface="Calibri"/>
              </a:rPr>
              <a:t>Responses API</a:t>
            </a:r>
            <a:endParaRPr sz="1300">
              <a:solidFill>
                <a:schemeClr val="dk1"/>
              </a:solidFill>
              <a:latin typeface="Calibri"/>
              <a:ea typeface="Calibri"/>
              <a:cs typeface="Calibri"/>
              <a:sym typeface="Calibri"/>
            </a:endParaRPr>
          </a:p>
        </p:txBody>
      </p:sp>
      <p:sp>
        <p:nvSpPr>
          <p:cNvPr id="59" name="Google Shape;59;p4"/>
          <p:cNvSpPr/>
          <p:nvPr/>
        </p:nvSpPr>
        <p:spPr>
          <a:xfrm>
            <a:off x="7772400" y="3767328"/>
            <a:ext cx="1965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i="1" lang="en-US" sz="1000">
                <a:solidFill>
                  <a:srgbClr val="8B92B8"/>
                </a:solidFill>
                <a:latin typeface="Calibri"/>
                <a:ea typeface="Calibri"/>
                <a:cs typeface="Calibri"/>
                <a:sym typeface="Calibri"/>
              </a:rPr>
              <a:t>low-cost model</a:t>
            </a:r>
            <a:br>
              <a:rPr i="1" lang="en-US" sz="1000">
                <a:solidFill>
                  <a:srgbClr val="8B92B8"/>
                </a:solidFill>
                <a:latin typeface="Calibri"/>
                <a:ea typeface="Calibri"/>
                <a:cs typeface="Calibri"/>
                <a:sym typeface="Calibri"/>
              </a:rPr>
            </a:br>
            <a:r>
              <a:rPr i="1" lang="en-US" sz="1000">
                <a:solidFill>
                  <a:srgbClr val="8B92B8"/>
                </a:solidFill>
                <a:latin typeface="Calibri"/>
                <a:ea typeface="Calibri"/>
                <a:cs typeface="Calibri"/>
                <a:sym typeface="Calibri"/>
              </a:rPr>
              <a:t>from config</a:t>
            </a:r>
            <a:endParaRPr sz="1000">
              <a:solidFill>
                <a:schemeClr val="dk1"/>
              </a:solidFill>
              <a:latin typeface="Calibri"/>
              <a:ea typeface="Calibri"/>
              <a:cs typeface="Calibri"/>
              <a:sym typeface="Calibri"/>
            </a:endParaRPr>
          </a:p>
        </p:txBody>
      </p:sp>
      <p:cxnSp>
        <p:nvCxnSpPr>
          <p:cNvPr id="60" name="Google Shape;60;p4"/>
          <p:cNvCxnSpPr/>
          <p:nvPr/>
        </p:nvCxnSpPr>
        <p:spPr>
          <a:xfrm>
            <a:off x="9875520" y="3438144"/>
            <a:ext cx="438912" cy="0"/>
          </a:xfrm>
          <a:prstGeom prst="straightConnector1">
            <a:avLst/>
          </a:prstGeom>
          <a:noFill/>
          <a:ln cap="flat" cmpd="sng" w="25400">
            <a:solidFill>
              <a:srgbClr val="D97706"/>
            </a:solidFill>
            <a:prstDash val="solid"/>
            <a:round/>
            <a:headEnd len="sm" w="sm" type="none"/>
            <a:tailEnd len="med" w="med" type="triangle"/>
          </a:ln>
        </p:spPr>
      </p:cxnSp>
      <p:sp>
        <p:nvSpPr>
          <p:cNvPr id="61" name="Google Shape;61;p4"/>
          <p:cNvSpPr/>
          <p:nvPr/>
        </p:nvSpPr>
        <p:spPr>
          <a:xfrm>
            <a:off x="10012680" y="2743200"/>
            <a:ext cx="2212848" cy="1417320"/>
          </a:xfrm>
          <a:prstGeom prst="roundRect">
            <a:avLst>
              <a:gd fmla="val 5806" name="adj"/>
            </a:avLst>
          </a:prstGeom>
          <a:solidFill>
            <a:srgbClr val="F8FAFC"/>
          </a:solidFill>
          <a:ln cap="flat" cmpd="sng" w="19050">
            <a:solidFill>
              <a:srgbClr val="E11D48">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4"/>
          <p:cNvSpPr/>
          <p:nvPr/>
        </p:nvSpPr>
        <p:spPr>
          <a:xfrm>
            <a:off x="10149840" y="2926080"/>
            <a:ext cx="196596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11D48"/>
              </a:buClr>
              <a:buSzPts val="1300"/>
              <a:buFont typeface="Calibri"/>
              <a:buNone/>
            </a:pPr>
            <a:r>
              <a:rPr b="1" lang="en-US" sz="1300">
                <a:solidFill>
                  <a:srgbClr val="E11D48"/>
                </a:solidFill>
                <a:latin typeface="Calibri"/>
                <a:ea typeface="Calibri"/>
                <a:cs typeface="Calibri"/>
                <a:sym typeface="Calibri"/>
              </a:rPr>
              <a:t>Streaming</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11D48"/>
              </a:buClr>
              <a:buSzPts val="1300"/>
              <a:buFont typeface="Calibri"/>
              <a:buNone/>
            </a:pPr>
            <a:r>
              <a:rPr b="1" lang="en-US" sz="1300">
                <a:solidFill>
                  <a:srgbClr val="E11D48"/>
                </a:solidFill>
                <a:latin typeface="Calibri"/>
                <a:ea typeface="Calibri"/>
                <a:cs typeface="Calibri"/>
                <a:sym typeface="Calibri"/>
              </a:rPr>
              <a:t>Tokens</a:t>
            </a:r>
            <a:endParaRPr sz="1300">
              <a:solidFill>
                <a:schemeClr val="dk1"/>
              </a:solidFill>
              <a:latin typeface="Calibri"/>
              <a:ea typeface="Calibri"/>
              <a:cs typeface="Calibri"/>
              <a:sym typeface="Calibri"/>
            </a:endParaRPr>
          </a:p>
        </p:txBody>
      </p:sp>
      <p:sp>
        <p:nvSpPr>
          <p:cNvPr id="63" name="Google Shape;63;p4"/>
          <p:cNvSpPr/>
          <p:nvPr/>
        </p:nvSpPr>
        <p:spPr>
          <a:xfrm>
            <a:off x="10149840" y="3767328"/>
            <a:ext cx="1965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i="1" lang="en-US" sz="1000">
                <a:solidFill>
                  <a:srgbClr val="8B92B8"/>
                </a:solidFill>
                <a:latin typeface="Calibri"/>
                <a:ea typeface="Calibri"/>
                <a:cs typeface="Calibri"/>
                <a:sym typeface="Calibri"/>
              </a:rPr>
              <a:t>Words arrive live</a:t>
            </a:r>
            <a:endParaRPr sz="1000">
              <a:solidFill>
                <a:schemeClr val="dk1"/>
              </a:solidFill>
              <a:latin typeface="Calibri"/>
              <a:ea typeface="Calibri"/>
              <a:cs typeface="Calibri"/>
              <a:sym typeface="Calibri"/>
            </a:endParaRPr>
          </a:p>
        </p:txBody>
      </p:sp>
      <p:sp>
        <p:nvSpPr>
          <p:cNvPr id="64" name="Google Shape;64;p4"/>
          <p:cNvSpPr/>
          <p:nvPr/>
        </p:nvSpPr>
        <p:spPr>
          <a:xfrm>
            <a:off x="502920" y="4370832"/>
            <a:ext cx="2743200" cy="1508760"/>
          </a:xfrm>
          <a:prstGeom prst="roundRect">
            <a:avLst>
              <a:gd fmla="val 5455" name="adj"/>
            </a:avLst>
          </a:prstGeom>
          <a:solidFill>
            <a:srgbClr val="F8FAFC"/>
          </a:solidFill>
          <a:ln cap="flat" cmpd="sng" w="12700">
            <a:solidFill>
              <a:srgbClr val="7C3AED">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4"/>
          <p:cNvSpPr/>
          <p:nvPr/>
        </p:nvSpPr>
        <p:spPr>
          <a:xfrm>
            <a:off x="685800" y="4553712"/>
            <a:ext cx="411480" cy="411480"/>
          </a:xfrm>
          <a:prstGeom prst="ellipse">
            <a:avLst/>
          </a:prstGeom>
          <a:solidFill>
            <a:srgbClr val="7C3AE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4"/>
          <p:cNvSpPr/>
          <p:nvPr/>
        </p:nvSpPr>
        <p:spPr>
          <a:xfrm>
            <a:off x="685800" y="4553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1</a:t>
            </a:r>
            <a:endParaRPr sz="1500">
              <a:solidFill>
                <a:schemeClr val="dk1"/>
              </a:solidFill>
              <a:latin typeface="Calibri"/>
              <a:ea typeface="Calibri"/>
              <a:cs typeface="Calibri"/>
              <a:sym typeface="Calibri"/>
            </a:endParaRPr>
          </a:p>
        </p:txBody>
      </p:sp>
      <p:sp>
        <p:nvSpPr>
          <p:cNvPr id="67" name="Google Shape;67;p4"/>
          <p:cNvSpPr/>
          <p:nvPr/>
        </p:nvSpPr>
        <p:spPr>
          <a:xfrm>
            <a:off x="1234440" y="4553712"/>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500"/>
              <a:buFont typeface="Calibri"/>
              <a:buNone/>
            </a:pPr>
            <a:r>
              <a:rPr b="1" lang="en-US" sz="1500">
                <a:solidFill>
                  <a:srgbClr val="7C3AED"/>
                </a:solidFill>
                <a:latin typeface="Calibri"/>
                <a:ea typeface="Calibri"/>
                <a:cs typeface="Calibri"/>
                <a:sym typeface="Calibri"/>
              </a:rPr>
              <a:t>SDK setup</a:t>
            </a:r>
            <a:endParaRPr sz="1500">
              <a:solidFill>
                <a:schemeClr val="dk1"/>
              </a:solidFill>
              <a:latin typeface="Calibri"/>
              <a:ea typeface="Calibri"/>
              <a:cs typeface="Calibri"/>
              <a:sym typeface="Calibri"/>
            </a:endParaRPr>
          </a:p>
        </p:txBody>
      </p:sp>
      <p:sp>
        <p:nvSpPr>
          <p:cNvPr id="68" name="Google Shape;68;p4"/>
          <p:cNvSpPr/>
          <p:nvPr/>
        </p:nvSpPr>
        <p:spPr>
          <a:xfrm>
            <a:off x="685800" y="5029200"/>
            <a:ext cx="2450592" cy="713232"/>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Add Maven dep, set API key, write first call</a:t>
            </a:r>
            <a:endParaRPr sz="1200">
              <a:solidFill>
                <a:schemeClr val="dk1"/>
              </a:solidFill>
              <a:latin typeface="Calibri"/>
              <a:ea typeface="Calibri"/>
              <a:cs typeface="Calibri"/>
              <a:sym typeface="Calibri"/>
            </a:endParaRPr>
          </a:p>
        </p:txBody>
      </p:sp>
      <p:sp>
        <p:nvSpPr>
          <p:cNvPr id="69" name="Google Shape;69;p4"/>
          <p:cNvSpPr/>
          <p:nvPr/>
        </p:nvSpPr>
        <p:spPr>
          <a:xfrm>
            <a:off x="3429000" y="4370832"/>
            <a:ext cx="2743200" cy="1508760"/>
          </a:xfrm>
          <a:prstGeom prst="roundRect">
            <a:avLst>
              <a:gd fmla="val 5455" name="adj"/>
            </a:avLst>
          </a:prstGeom>
          <a:solidFill>
            <a:srgbClr val="F8FAFC"/>
          </a:solidFill>
          <a:ln cap="flat" cmpd="sng" w="12700">
            <a:solidFill>
              <a:srgbClr val="0891B2">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4"/>
          <p:cNvSpPr/>
          <p:nvPr/>
        </p:nvSpPr>
        <p:spPr>
          <a:xfrm>
            <a:off x="3611880" y="4553712"/>
            <a:ext cx="411480" cy="411480"/>
          </a:xfrm>
          <a:prstGeom prst="ellipse">
            <a:avLst/>
          </a:prstGeom>
          <a:solidFill>
            <a:srgbClr val="0891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4"/>
          <p:cNvSpPr/>
          <p:nvPr/>
        </p:nvSpPr>
        <p:spPr>
          <a:xfrm>
            <a:off x="3611880" y="4553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2</a:t>
            </a:r>
            <a:endParaRPr sz="1500">
              <a:solidFill>
                <a:schemeClr val="dk1"/>
              </a:solidFill>
              <a:latin typeface="Calibri"/>
              <a:ea typeface="Calibri"/>
              <a:cs typeface="Calibri"/>
              <a:sym typeface="Calibri"/>
            </a:endParaRPr>
          </a:p>
        </p:txBody>
      </p:sp>
      <p:sp>
        <p:nvSpPr>
          <p:cNvPr id="72" name="Google Shape;72;p4"/>
          <p:cNvSpPr/>
          <p:nvPr/>
        </p:nvSpPr>
        <p:spPr>
          <a:xfrm>
            <a:off x="4160520" y="4553712"/>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500"/>
              <a:buFont typeface="Calibri"/>
              <a:buNone/>
            </a:pPr>
            <a:r>
              <a:rPr b="1" lang="en-US" sz="1500">
                <a:solidFill>
                  <a:srgbClr val="0891B2"/>
                </a:solidFill>
                <a:latin typeface="Calibri"/>
                <a:ea typeface="Calibri"/>
                <a:cs typeface="Calibri"/>
                <a:sym typeface="Calibri"/>
              </a:rPr>
              <a:t>Responses API</a:t>
            </a:r>
            <a:endParaRPr sz="1500">
              <a:solidFill>
                <a:schemeClr val="dk1"/>
              </a:solidFill>
              <a:latin typeface="Calibri"/>
              <a:ea typeface="Calibri"/>
              <a:cs typeface="Calibri"/>
              <a:sym typeface="Calibri"/>
            </a:endParaRPr>
          </a:p>
        </p:txBody>
      </p:sp>
      <p:sp>
        <p:nvSpPr>
          <p:cNvPr id="73" name="Google Shape;73;p4"/>
          <p:cNvSpPr/>
          <p:nvPr/>
        </p:nvSpPr>
        <p:spPr>
          <a:xfrm>
            <a:off x="3611880" y="5029200"/>
            <a:ext cx="2450592" cy="713232"/>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Responses API</a:t>
            </a:r>
            <a:endParaRPr sz="1200">
              <a:solidFill>
                <a:schemeClr val="dk1"/>
              </a:solidFill>
              <a:latin typeface="Calibri"/>
              <a:ea typeface="Calibri"/>
              <a:cs typeface="Calibri"/>
              <a:sym typeface="Calibri"/>
            </a:endParaRPr>
          </a:p>
        </p:txBody>
      </p:sp>
      <p:sp>
        <p:nvSpPr>
          <p:cNvPr id="74" name="Google Shape;74;p4"/>
          <p:cNvSpPr/>
          <p:nvPr/>
        </p:nvSpPr>
        <p:spPr>
          <a:xfrm>
            <a:off x="6355080" y="4370832"/>
            <a:ext cx="2743200" cy="1508760"/>
          </a:xfrm>
          <a:prstGeom prst="roundRect">
            <a:avLst>
              <a:gd fmla="val 5455" name="adj"/>
            </a:avLst>
          </a:prstGeom>
          <a:solidFill>
            <a:srgbClr val="F8FAFC"/>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4"/>
          <p:cNvSpPr/>
          <p:nvPr/>
        </p:nvSpPr>
        <p:spPr>
          <a:xfrm>
            <a:off x="6537960" y="4553712"/>
            <a:ext cx="411480" cy="411480"/>
          </a:xfrm>
          <a:prstGeom prst="ellipse">
            <a:avLst/>
          </a:prstGeom>
          <a:solidFill>
            <a:srgbClr val="16A3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4"/>
          <p:cNvSpPr/>
          <p:nvPr/>
        </p:nvSpPr>
        <p:spPr>
          <a:xfrm>
            <a:off x="6537960" y="4553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3</a:t>
            </a:r>
            <a:endParaRPr sz="1500">
              <a:solidFill>
                <a:schemeClr val="dk1"/>
              </a:solidFill>
              <a:latin typeface="Calibri"/>
              <a:ea typeface="Calibri"/>
              <a:cs typeface="Calibri"/>
              <a:sym typeface="Calibri"/>
            </a:endParaRPr>
          </a:p>
        </p:txBody>
      </p:sp>
      <p:sp>
        <p:nvSpPr>
          <p:cNvPr id="77" name="Google Shape;77;p4"/>
          <p:cNvSpPr/>
          <p:nvPr/>
        </p:nvSpPr>
        <p:spPr>
          <a:xfrm>
            <a:off x="7086600" y="4553712"/>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500"/>
              <a:buFont typeface="Calibri"/>
              <a:buNone/>
            </a:pPr>
            <a:r>
              <a:rPr b="1" lang="en-US" sz="1500">
                <a:solidFill>
                  <a:srgbClr val="16A34A"/>
                </a:solidFill>
                <a:latin typeface="Calibri"/>
                <a:ea typeface="Calibri"/>
                <a:cs typeface="Calibri"/>
                <a:sym typeface="Calibri"/>
              </a:rPr>
              <a:t>Streaming + Tools</a:t>
            </a:r>
            <a:endParaRPr sz="1500">
              <a:solidFill>
                <a:schemeClr val="dk1"/>
              </a:solidFill>
              <a:latin typeface="Calibri"/>
              <a:ea typeface="Calibri"/>
              <a:cs typeface="Calibri"/>
              <a:sym typeface="Calibri"/>
            </a:endParaRPr>
          </a:p>
        </p:txBody>
      </p:sp>
      <p:sp>
        <p:nvSpPr>
          <p:cNvPr id="78" name="Google Shape;78;p4"/>
          <p:cNvSpPr/>
          <p:nvPr/>
        </p:nvSpPr>
        <p:spPr>
          <a:xfrm>
            <a:off x="6537960" y="5029200"/>
            <a:ext cx="2450592" cy="713232"/>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Streaming first, tools later</a:t>
            </a:r>
            <a:endParaRPr sz="1200">
              <a:solidFill>
                <a:schemeClr val="dk1"/>
              </a:solidFill>
              <a:latin typeface="Calibri"/>
              <a:ea typeface="Calibri"/>
              <a:cs typeface="Calibri"/>
              <a:sym typeface="Calibri"/>
            </a:endParaRPr>
          </a:p>
        </p:txBody>
      </p:sp>
      <p:sp>
        <p:nvSpPr>
          <p:cNvPr id="79" name="Google Shape;79;p4"/>
          <p:cNvSpPr/>
          <p:nvPr/>
        </p:nvSpPr>
        <p:spPr>
          <a:xfrm>
            <a:off x="9281160" y="4370832"/>
            <a:ext cx="2743200" cy="1508760"/>
          </a:xfrm>
          <a:prstGeom prst="roundRect">
            <a:avLst>
              <a:gd fmla="val 5455" name="adj"/>
            </a:avLst>
          </a:prstGeom>
          <a:solidFill>
            <a:srgbClr val="F8FAFC"/>
          </a:solidFill>
          <a:ln cap="flat" cmpd="sng" w="12700">
            <a:solidFill>
              <a:srgbClr val="D97706">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4"/>
          <p:cNvSpPr/>
          <p:nvPr/>
        </p:nvSpPr>
        <p:spPr>
          <a:xfrm>
            <a:off x="9464040" y="4553712"/>
            <a:ext cx="411480" cy="411480"/>
          </a:xfrm>
          <a:prstGeom prst="ellipse">
            <a:avLst/>
          </a:prstGeom>
          <a:solidFill>
            <a:srgbClr val="D9770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4"/>
          <p:cNvSpPr/>
          <p:nvPr/>
        </p:nvSpPr>
        <p:spPr>
          <a:xfrm>
            <a:off x="9464040" y="4553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4</a:t>
            </a:r>
            <a:endParaRPr sz="1500">
              <a:solidFill>
                <a:schemeClr val="dk1"/>
              </a:solidFill>
              <a:latin typeface="Calibri"/>
              <a:ea typeface="Calibri"/>
              <a:cs typeface="Calibri"/>
              <a:sym typeface="Calibri"/>
            </a:endParaRPr>
          </a:p>
        </p:txBody>
      </p:sp>
      <p:sp>
        <p:nvSpPr>
          <p:cNvPr id="82" name="Google Shape;82;p4"/>
          <p:cNvSpPr/>
          <p:nvPr/>
        </p:nvSpPr>
        <p:spPr>
          <a:xfrm>
            <a:off x="10012680" y="4553712"/>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500"/>
              <a:buFont typeface="Calibri"/>
              <a:buNone/>
            </a:pPr>
            <a:r>
              <a:rPr b="1" lang="en-US" sz="1500">
                <a:solidFill>
                  <a:srgbClr val="D97706"/>
                </a:solidFill>
                <a:latin typeface="Calibri"/>
                <a:ea typeface="Calibri"/>
                <a:cs typeface="Calibri"/>
                <a:sym typeface="Calibri"/>
              </a:rPr>
              <a:t>Structured output</a:t>
            </a:r>
            <a:endParaRPr sz="1500">
              <a:solidFill>
                <a:schemeClr val="dk1"/>
              </a:solidFill>
              <a:latin typeface="Calibri"/>
              <a:ea typeface="Calibri"/>
              <a:cs typeface="Calibri"/>
              <a:sym typeface="Calibri"/>
            </a:endParaRPr>
          </a:p>
        </p:txBody>
      </p:sp>
      <p:sp>
        <p:nvSpPr>
          <p:cNvPr id="83" name="Google Shape;83;p4"/>
          <p:cNvSpPr/>
          <p:nvPr/>
        </p:nvSpPr>
        <p:spPr>
          <a:xfrm>
            <a:off x="9464040" y="5029200"/>
            <a:ext cx="2450592" cy="713232"/>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Typed Java classes, not fragile strings</a:t>
            </a:r>
            <a:endParaRPr sz="1200">
              <a:solidFill>
                <a:schemeClr val="dk1"/>
              </a:solidFill>
              <a:latin typeface="Calibri"/>
              <a:ea typeface="Calibri"/>
              <a:cs typeface="Calibri"/>
              <a:sym typeface="Calibri"/>
            </a:endParaRPr>
          </a:p>
        </p:txBody>
      </p:sp>
      <p:sp>
        <p:nvSpPr>
          <p:cNvPr id="84" name="Google Shape;84;p4"/>
          <p:cNvSpPr/>
          <p:nvPr/>
        </p:nvSpPr>
        <p:spPr>
          <a:xfrm>
            <a:off x="502920" y="5989320"/>
            <a:ext cx="11109960" cy="502920"/>
          </a:xfrm>
          <a:prstGeom prst="roundRect">
            <a:avLst>
              <a:gd fmla="val 14545" name="adj"/>
            </a:avLst>
          </a:prstGeom>
          <a:solidFill>
            <a:srgbClr val="EDE9FE"/>
          </a:solidFill>
          <a:ln cap="flat" cmpd="sng" w="12700">
            <a:solidFill>
              <a:srgbClr val="7C3AED">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4"/>
          <p:cNvSpPr/>
          <p:nvPr/>
        </p:nvSpPr>
        <p:spPr>
          <a:xfrm>
            <a:off x="713232" y="6062472"/>
            <a:ext cx="10652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400"/>
              <a:buFont typeface="Calibri"/>
              <a:buNone/>
            </a:pPr>
            <a:r>
              <a:rPr b="1" lang="en-US" sz="1400">
                <a:solidFill>
                  <a:srgbClr val="7C3AED"/>
                </a:solidFill>
                <a:latin typeface="Calibri"/>
                <a:ea typeface="Calibri"/>
                <a:cs typeface="Calibri"/>
                <a:sym typeface="Calibri"/>
              </a:rPr>
              <a:t>Prerequisite: Java 21+, Maven 3.9+, IntelliJ open, OPENAI_API_KEY exported in your terminal</a:t>
            </a:r>
            <a:endParaRPr sz="1400">
              <a:solidFill>
                <a:schemeClr val="dk1"/>
              </a:solidFill>
              <a:latin typeface="Calibri"/>
              <a:ea typeface="Calibri"/>
              <a:cs typeface="Calibri"/>
              <a:sym typeface="Calibri"/>
            </a:endParaRPr>
          </a:p>
        </p:txBody>
      </p:sp>
      <p:sp>
        <p:nvSpPr>
          <p:cNvPr id="86" name="Google Shape;86;p4"/>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88" name="Google Shape;88;p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2 / 29</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93" name="Shape 93"/>
        <p:cNvGrpSpPr/>
        <p:nvPr/>
      </p:nvGrpSpPr>
      <p:grpSpPr>
        <a:xfrm>
          <a:off x="0" y="0"/>
          <a:ext cx="0" cy="0"/>
          <a:chOff x="0" y="0"/>
          <a:chExt cx="0" cy="0"/>
        </a:xfrm>
      </p:grpSpPr>
      <p:sp>
        <p:nvSpPr>
          <p:cNvPr id="94" name="Google Shape;94;p5"/>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200"/>
              <a:buFont typeface="Calibri"/>
              <a:buNone/>
            </a:pPr>
            <a:r>
              <a:rPr b="1" lang="en-US" sz="1200">
                <a:solidFill>
                  <a:srgbClr val="FDA4AF"/>
                </a:solidFill>
                <a:latin typeface="Calibri"/>
                <a:ea typeface="Calibri"/>
                <a:cs typeface="Calibri"/>
                <a:sym typeface="Calibri"/>
              </a:rPr>
              <a:t>IMPORTANT — READ BEFORE WRITING A SINGLE LINE OF CODE</a:t>
            </a:r>
            <a:endParaRPr sz="1200">
              <a:solidFill>
                <a:schemeClr val="dk1"/>
              </a:solidFill>
              <a:latin typeface="Calibri"/>
              <a:ea typeface="Calibri"/>
              <a:cs typeface="Calibri"/>
              <a:sym typeface="Calibri"/>
            </a:endParaRPr>
          </a:p>
        </p:txBody>
      </p:sp>
      <p:sp>
        <p:nvSpPr>
          <p:cNvPr id="95" name="Google Shape;95;p5"/>
          <p:cNvSpPr/>
          <p:nvPr/>
        </p:nvSpPr>
        <p:spPr>
          <a:xfrm>
            <a:off x="685800" y="777240"/>
            <a:ext cx="10789920" cy="137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8ECFF"/>
              </a:buClr>
              <a:buSzPts val="3400"/>
              <a:buFont typeface="Calibri"/>
              <a:buNone/>
            </a:pPr>
            <a:r>
              <a:rPr b="1" lang="en-US" sz="3400">
                <a:solidFill>
                  <a:srgbClr val="E8ECFF"/>
                </a:solidFill>
                <a:latin typeface="Calibri"/>
                <a:ea typeface="Calibri"/>
                <a:cs typeface="Calibri"/>
                <a:sym typeface="Calibri"/>
              </a:rPr>
              <a:t>The Assistants API is deprecated.</a:t>
            </a:r>
            <a:endParaRPr sz="3400">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CFF"/>
              </a:buClr>
              <a:buSzPts val="3400"/>
              <a:buFont typeface="Calibri"/>
              <a:buNone/>
            </a:pPr>
            <a:r>
              <a:rPr b="1" lang="en-US" sz="3400">
                <a:solidFill>
                  <a:srgbClr val="E8ECFF"/>
                </a:solidFill>
                <a:latin typeface="Calibri"/>
                <a:ea typeface="Calibri"/>
                <a:cs typeface="Calibri"/>
                <a:sym typeface="Calibri"/>
              </a:rPr>
              <a:t>We are NOT teaching it.</a:t>
            </a:r>
            <a:endParaRPr sz="3400">
              <a:solidFill>
                <a:schemeClr val="dk1"/>
              </a:solidFill>
              <a:latin typeface="Calibri"/>
              <a:ea typeface="Calibri"/>
              <a:cs typeface="Calibri"/>
              <a:sym typeface="Calibri"/>
            </a:endParaRPr>
          </a:p>
        </p:txBody>
      </p:sp>
      <p:sp>
        <p:nvSpPr>
          <p:cNvPr id="96" name="Google Shape;96;p5"/>
          <p:cNvSpPr/>
          <p:nvPr/>
        </p:nvSpPr>
        <p:spPr>
          <a:xfrm>
            <a:off x="502920" y="2331720"/>
            <a:ext cx="11109960" cy="1298448"/>
          </a:xfrm>
          <a:prstGeom prst="roundRect">
            <a:avLst>
              <a:gd fmla="val 7042" name="adj"/>
            </a:avLst>
          </a:prstGeom>
          <a:solidFill>
            <a:srgbClr val="2D1020"/>
          </a:solidFill>
          <a:ln cap="flat" cmpd="sng" w="19050">
            <a:solidFill>
              <a:srgbClr val="E11D48">
                <a:alpha val="7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5"/>
          <p:cNvSpPr/>
          <p:nvPr/>
        </p:nvSpPr>
        <p:spPr>
          <a:xfrm>
            <a:off x="749808" y="2487168"/>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2000"/>
              <a:buFont typeface="Calibri"/>
              <a:buNone/>
            </a:pPr>
            <a:r>
              <a:rPr b="1" lang="en-US" sz="2000">
                <a:solidFill>
                  <a:srgbClr val="E11D48"/>
                </a:solidFill>
                <a:latin typeface="Calibri"/>
                <a:ea typeface="Calibri"/>
                <a:cs typeface="Calibri"/>
                <a:sym typeface="Calibri"/>
              </a:rPr>
              <a:t>SHUTDOWN DATE: August 26, 2026</a:t>
            </a:r>
            <a:endParaRPr sz="2000">
              <a:solidFill>
                <a:schemeClr val="dk1"/>
              </a:solidFill>
              <a:latin typeface="Calibri"/>
              <a:ea typeface="Calibri"/>
              <a:cs typeface="Calibri"/>
              <a:sym typeface="Calibri"/>
            </a:endParaRPr>
          </a:p>
        </p:txBody>
      </p:sp>
      <p:sp>
        <p:nvSpPr>
          <p:cNvPr id="98" name="Google Shape;98;p5"/>
          <p:cNvSpPr/>
          <p:nvPr/>
        </p:nvSpPr>
        <p:spPr>
          <a:xfrm>
            <a:off x="749808" y="2834640"/>
            <a:ext cx="10515600" cy="685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FDA4AF"/>
              </a:buClr>
              <a:buSzPts val="1500"/>
              <a:buFont typeface="Calibri"/>
              <a:buNone/>
            </a:pPr>
            <a:r>
              <a:rPr lang="en-US" sz="1500">
                <a:solidFill>
                  <a:srgbClr val="FDA4AF"/>
                </a:solidFill>
                <a:latin typeface="Calibri"/>
                <a:ea typeface="Calibri"/>
                <a:cs typeface="Calibri"/>
                <a:sym typeface="Calibri"/>
              </a:rPr>
              <a:t>OpenAI recommends the Responses API as the primary API for model interaction. Any tutorial showing Assistants, Threads, or Runs is old for new projects.</a:t>
            </a:r>
            <a:endParaRPr sz="1500">
              <a:solidFill>
                <a:schemeClr val="dk1"/>
              </a:solidFill>
              <a:latin typeface="Calibri"/>
              <a:ea typeface="Calibri"/>
              <a:cs typeface="Calibri"/>
              <a:sym typeface="Calibri"/>
            </a:endParaRPr>
          </a:p>
        </p:txBody>
      </p:sp>
      <p:sp>
        <p:nvSpPr>
          <p:cNvPr id="99" name="Google Shape;99;p5"/>
          <p:cNvSpPr/>
          <p:nvPr/>
        </p:nvSpPr>
        <p:spPr>
          <a:xfrm>
            <a:off x="685800" y="3858768"/>
            <a:ext cx="4572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00"/>
              <a:buFont typeface="Calibri"/>
              <a:buNone/>
            </a:pPr>
            <a:r>
              <a:rPr b="1" lang="en-US" sz="1300">
                <a:solidFill>
                  <a:srgbClr val="D97706"/>
                </a:solidFill>
                <a:latin typeface="Calibri"/>
                <a:ea typeface="Calibri"/>
                <a:cs typeface="Calibri"/>
                <a:sym typeface="Calibri"/>
              </a:rPr>
              <a:t>MIGRATION — what replaced what:</a:t>
            </a:r>
            <a:endParaRPr sz="1300">
              <a:solidFill>
                <a:schemeClr val="dk1"/>
              </a:solidFill>
              <a:latin typeface="Calibri"/>
              <a:ea typeface="Calibri"/>
              <a:cs typeface="Calibri"/>
              <a:sym typeface="Calibri"/>
            </a:endParaRPr>
          </a:p>
        </p:txBody>
      </p:sp>
      <p:sp>
        <p:nvSpPr>
          <p:cNvPr id="100" name="Google Shape;100;p5"/>
          <p:cNvSpPr/>
          <p:nvPr/>
        </p:nvSpPr>
        <p:spPr>
          <a:xfrm>
            <a:off x="594360" y="4279392"/>
            <a:ext cx="5074920" cy="365760"/>
          </a:xfrm>
          <a:prstGeom prst="roundRect">
            <a:avLst>
              <a:gd fmla="val 12500" name="adj"/>
            </a:avLst>
          </a:prstGeom>
          <a:solidFill>
            <a:srgbClr val="2D1020"/>
          </a:solidFill>
          <a:ln cap="flat" cmpd="sng" w="12700">
            <a:solidFill>
              <a:srgbClr val="4B15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5"/>
          <p:cNvSpPr/>
          <p:nvPr/>
        </p:nvSpPr>
        <p:spPr>
          <a:xfrm>
            <a:off x="749808" y="4325112"/>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200"/>
              <a:buFont typeface="Courier New"/>
              <a:buNone/>
            </a:pPr>
            <a:r>
              <a:rPr lang="en-US" sz="1200">
                <a:solidFill>
                  <a:srgbClr val="FDA4AF"/>
                </a:solidFill>
                <a:latin typeface="Courier New"/>
                <a:ea typeface="Courier New"/>
                <a:cs typeface="Courier New"/>
                <a:sym typeface="Courier New"/>
              </a:rPr>
              <a:t>Old: Assistant (stored config)</a:t>
            </a:r>
            <a:endParaRPr sz="1200">
              <a:solidFill>
                <a:schemeClr val="dk1"/>
              </a:solidFill>
              <a:latin typeface="Calibri"/>
              <a:ea typeface="Calibri"/>
              <a:cs typeface="Calibri"/>
              <a:sym typeface="Calibri"/>
            </a:endParaRPr>
          </a:p>
        </p:txBody>
      </p:sp>
      <p:sp>
        <p:nvSpPr>
          <p:cNvPr id="102" name="Google Shape;102;p5"/>
          <p:cNvSpPr/>
          <p:nvPr/>
        </p:nvSpPr>
        <p:spPr>
          <a:xfrm>
            <a:off x="5760720" y="4325112"/>
            <a:ext cx="457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400"/>
              <a:buFont typeface="Calibri"/>
              <a:buNone/>
            </a:pPr>
            <a:r>
              <a:rPr b="1" lang="en-US" sz="1400">
                <a:solidFill>
                  <a:srgbClr val="D97706"/>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103" name="Google Shape;103;p5"/>
          <p:cNvSpPr/>
          <p:nvPr/>
        </p:nvSpPr>
        <p:spPr>
          <a:xfrm>
            <a:off x="6309360" y="4325112"/>
            <a:ext cx="5029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EFAC"/>
              </a:buClr>
              <a:buSzPts val="1200"/>
              <a:buFont typeface="Courier New"/>
              <a:buNone/>
            </a:pPr>
            <a:r>
              <a:rPr lang="en-US" sz="1200">
                <a:solidFill>
                  <a:srgbClr val="86EFAC"/>
                </a:solidFill>
                <a:latin typeface="Courier New"/>
                <a:ea typeface="Courier New"/>
                <a:cs typeface="Courier New"/>
                <a:sym typeface="Courier New"/>
              </a:rPr>
              <a:t>New: system prompt in every request</a:t>
            </a:r>
            <a:endParaRPr sz="1200">
              <a:solidFill>
                <a:schemeClr val="dk1"/>
              </a:solidFill>
              <a:latin typeface="Calibri"/>
              <a:ea typeface="Calibri"/>
              <a:cs typeface="Calibri"/>
              <a:sym typeface="Calibri"/>
            </a:endParaRPr>
          </a:p>
        </p:txBody>
      </p:sp>
      <p:sp>
        <p:nvSpPr>
          <p:cNvPr id="104" name="Google Shape;104;p5"/>
          <p:cNvSpPr/>
          <p:nvPr/>
        </p:nvSpPr>
        <p:spPr>
          <a:xfrm>
            <a:off x="594360" y="4700016"/>
            <a:ext cx="5074920" cy="365760"/>
          </a:xfrm>
          <a:prstGeom prst="roundRect">
            <a:avLst>
              <a:gd fmla="val 12500" name="adj"/>
            </a:avLst>
          </a:prstGeom>
          <a:solidFill>
            <a:srgbClr val="2D1020"/>
          </a:solidFill>
          <a:ln cap="flat" cmpd="sng" w="12700">
            <a:solidFill>
              <a:srgbClr val="4B15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5"/>
          <p:cNvSpPr/>
          <p:nvPr/>
        </p:nvSpPr>
        <p:spPr>
          <a:xfrm>
            <a:off x="749808" y="4745736"/>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200"/>
              <a:buFont typeface="Courier New"/>
              <a:buNone/>
            </a:pPr>
            <a:r>
              <a:rPr lang="en-US" sz="1200">
                <a:solidFill>
                  <a:srgbClr val="FDA4AF"/>
                </a:solidFill>
                <a:latin typeface="Courier New"/>
                <a:ea typeface="Courier New"/>
                <a:cs typeface="Courier New"/>
                <a:sym typeface="Courier New"/>
              </a:rPr>
              <a:t>Old: Thread (hosted session)</a:t>
            </a:r>
            <a:endParaRPr sz="1200">
              <a:solidFill>
                <a:schemeClr val="dk1"/>
              </a:solidFill>
              <a:latin typeface="Calibri"/>
              <a:ea typeface="Calibri"/>
              <a:cs typeface="Calibri"/>
              <a:sym typeface="Calibri"/>
            </a:endParaRPr>
          </a:p>
        </p:txBody>
      </p:sp>
      <p:sp>
        <p:nvSpPr>
          <p:cNvPr id="106" name="Google Shape;106;p5"/>
          <p:cNvSpPr/>
          <p:nvPr/>
        </p:nvSpPr>
        <p:spPr>
          <a:xfrm>
            <a:off x="5760720" y="4745736"/>
            <a:ext cx="457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400"/>
              <a:buFont typeface="Calibri"/>
              <a:buNone/>
            </a:pPr>
            <a:r>
              <a:rPr b="1" lang="en-US" sz="1400">
                <a:solidFill>
                  <a:srgbClr val="D97706"/>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107" name="Google Shape;107;p5"/>
          <p:cNvSpPr/>
          <p:nvPr/>
        </p:nvSpPr>
        <p:spPr>
          <a:xfrm>
            <a:off x="6309360" y="4745736"/>
            <a:ext cx="5029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EFAC"/>
              </a:buClr>
              <a:buSzPts val="1200"/>
              <a:buFont typeface="Courier New"/>
              <a:buNone/>
            </a:pPr>
            <a:r>
              <a:rPr lang="en-US" sz="1200">
                <a:solidFill>
                  <a:srgbClr val="86EFAC"/>
                </a:solidFill>
                <a:latin typeface="Courier New"/>
                <a:ea typeface="Courier New"/>
                <a:cs typeface="Courier New"/>
                <a:sym typeface="Courier New"/>
              </a:rPr>
              <a:t>New: previous_response_id OR your own small history</a:t>
            </a:r>
            <a:endParaRPr sz="1200">
              <a:solidFill>
                <a:schemeClr val="dk1"/>
              </a:solidFill>
              <a:latin typeface="Calibri"/>
              <a:ea typeface="Calibri"/>
              <a:cs typeface="Calibri"/>
              <a:sym typeface="Calibri"/>
            </a:endParaRPr>
          </a:p>
        </p:txBody>
      </p:sp>
      <p:sp>
        <p:nvSpPr>
          <p:cNvPr id="108" name="Google Shape;108;p5"/>
          <p:cNvSpPr/>
          <p:nvPr/>
        </p:nvSpPr>
        <p:spPr>
          <a:xfrm>
            <a:off x="594360" y="5120640"/>
            <a:ext cx="5074920" cy="365760"/>
          </a:xfrm>
          <a:prstGeom prst="roundRect">
            <a:avLst>
              <a:gd fmla="val 12500" name="adj"/>
            </a:avLst>
          </a:prstGeom>
          <a:solidFill>
            <a:srgbClr val="2D1020"/>
          </a:solidFill>
          <a:ln cap="flat" cmpd="sng" w="12700">
            <a:solidFill>
              <a:srgbClr val="4B15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5"/>
          <p:cNvSpPr/>
          <p:nvPr/>
        </p:nvSpPr>
        <p:spPr>
          <a:xfrm>
            <a:off x="749808" y="5166360"/>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200"/>
              <a:buFont typeface="Courier New"/>
              <a:buNone/>
            </a:pPr>
            <a:r>
              <a:rPr lang="en-US" sz="1200">
                <a:solidFill>
                  <a:srgbClr val="FDA4AF"/>
                </a:solidFill>
                <a:latin typeface="Courier New"/>
                <a:ea typeface="Courier New"/>
                <a:cs typeface="Courier New"/>
                <a:sym typeface="Courier New"/>
              </a:rPr>
              <a:t>Old: Run (hosted execution)</a:t>
            </a:r>
            <a:endParaRPr sz="1200">
              <a:solidFill>
                <a:schemeClr val="dk1"/>
              </a:solidFill>
              <a:latin typeface="Calibri"/>
              <a:ea typeface="Calibri"/>
              <a:cs typeface="Calibri"/>
              <a:sym typeface="Calibri"/>
            </a:endParaRPr>
          </a:p>
        </p:txBody>
      </p:sp>
      <p:sp>
        <p:nvSpPr>
          <p:cNvPr id="110" name="Google Shape;110;p5"/>
          <p:cNvSpPr/>
          <p:nvPr/>
        </p:nvSpPr>
        <p:spPr>
          <a:xfrm>
            <a:off x="5760720" y="5166360"/>
            <a:ext cx="457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400"/>
              <a:buFont typeface="Calibri"/>
              <a:buNone/>
            </a:pPr>
            <a:r>
              <a:rPr b="1" lang="en-US" sz="1400">
                <a:solidFill>
                  <a:srgbClr val="D97706"/>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111" name="Google Shape;111;p5"/>
          <p:cNvSpPr/>
          <p:nvPr/>
        </p:nvSpPr>
        <p:spPr>
          <a:xfrm>
            <a:off x="6309360" y="5166360"/>
            <a:ext cx="5029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EFAC"/>
              </a:buClr>
              <a:buSzPts val="1200"/>
              <a:buFont typeface="Courier New"/>
              <a:buNone/>
            </a:pPr>
            <a:r>
              <a:rPr lang="en-US" sz="1200">
                <a:solidFill>
                  <a:srgbClr val="86EFAC"/>
                </a:solidFill>
                <a:latin typeface="Courier New"/>
                <a:ea typeface="Courier New"/>
                <a:cs typeface="Courier New"/>
                <a:sym typeface="Courier New"/>
              </a:rPr>
              <a:t>New: client.responses().create(...)</a:t>
            </a:r>
            <a:endParaRPr sz="1200">
              <a:solidFill>
                <a:schemeClr val="dk1"/>
              </a:solidFill>
              <a:latin typeface="Calibri"/>
              <a:ea typeface="Calibri"/>
              <a:cs typeface="Calibri"/>
              <a:sym typeface="Calibri"/>
            </a:endParaRPr>
          </a:p>
        </p:txBody>
      </p:sp>
      <p:sp>
        <p:nvSpPr>
          <p:cNvPr id="112" name="Google Shape;112;p5"/>
          <p:cNvSpPr/>
          <p:nvPr/>
        </p:nvSpPr>
        <p:spPr>
          <a:xfrm>
            <a:off x="594360" y="5541264"/>
            <a:ext cx="5074920" cy="365760"/>
          </a:xfrm>
          <a:prstGeom prst="roundRect">
            <a:avLst>
              <a:gd fmla="val 12500" name="adj"/>
            </a:avLst>
          </a:prstGeom>
          <a:solidFill>
            <a:srgbClr val="2D1020"/>
          </a:solidFill>
          <a:ln cap="flat" cmpd="sng" w="12700">
            <a:solidFill>
              <a:srgbClr val="4B15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5"/>
          <p:cNvSpPr/>
          <p:nvPr/>
        </p:nvSpPr>
        <p:spPr>
          <a:xfrm>
            <a:off x="749808" y="5586984"/>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A4AF"/>
              </a:buClr>
              <a:buSzPts val="1200"/>
              <a:buFont typeface="Courier New"/>
              <a:buNone/>
            </a:pPr>
            <a:r>
              <a:rPr lang="en-US" sz="1200">
                <a:solidFill>
                  <a:srgbClr val="FDA4AF"/>
                </a:solidFill>
                <a:latin typeface="Courier New"/>
                <a:ea typeface="Courier New"/>
                <a:cs typeface="Courier New"/>
                <a:sym typeface="Courier New"/>
              </a:rPr>
              <a:t>Old: Hosted file search</a:t>
            </a:r>
            <a:endParaRPr sz="1200">
              <a:solidFill>
                <a:schemeClr val="dk1"/>
              </a:solidFill>
              <a:latin typeface="Calibri"/>
              <a:ea typeface="Calibri"/>
              <a:cs typeface="Calibri"/>
              <a:sym typeface="Calibri"/>
            </a:endParaRPr>
          </a:p>
        </p:txBody>
      </p:sp>
      <p:sp>
        <p:nvSpPr>
          <p:cNvPr id="114" name="Google Shape;114;p5"/>
          <p:cNvSpPr/>
          <p:nvPr/>
        </p:nvSpPr>
        <p:spPr>
          <a:xfrm>
            <a:off x="5760720" y="5586984"/>
            <a:ext cx="457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400"/>
              <a:buFont typeface="Calibri"/>
              <a:buNone/>
            </a:pPr>
            <a:r>
              <a:rPr b="1" lang="en-US" sz="1400">
                <a:solidFill>
                  <a:srgbClr val="D97706"/>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115" name="Google Shape;115;p5"/>
          <p:cNvSpPr/>
          <p:nvPr/>
        </p:nvSpPr>
        <p:spPr>
          <a:xfrm>
            <a:off x="6309360" y="5586984"/>
            <a:ext cx="5029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EFAC"/>
              </a:buClr>
              <a:buSzPts val="1200"/>
              <a:buFont typeface="Courier New"/>
              <a:buNone/>
            </a:pPr>
            <a:r>
              <a:rPr lang="en-US" sz="1200">
                <a:solidFill>
                  <a:srgbClr val="86EFAC"/>
                </a:solidFill>
                <a:latin typeface="Courier New"/>
                <a:ea typeface="Courier New"/>
                <a:cs typeface="Courier New"/>
                <a:sym typeface="Courier New"/>
              </a:rPr>
              <a:t>New: tools on the Responses request</a:t>
            </a:r>
            <a:endParaRPr sz="1200">
              <a:solidFill>
                <a:schemeClr val="dk1"/>
              </a:solidFill>
              <a:latin typeface="Calibri"/>
              <a:ea typeface="Calibri"/>
              <a:cs typeface="Calibri"/>
              <a:sym typeface="Calibri"/>
            </a:endParaRPr>
          </a:p>
        </p:txBody>
      </p:sp>
      <p:sp>
        <p:nvSpPr>
          <p:cNvPr id="116" name="Google Shape;116;p5"/>
          <p:cNvSpPr/>
          <p:nvPr/>
        </p:nvSpPr>
        <p:spPr>
          <a:xfrm>
            <a:off x="0" y="6583680"/>
            <a:ext cx="12191695" cy="274320"/>
          </a:xfrm>
          <a:prstGeom prst="rect">
            <a:avLst/>
          </a:prstGeom>
          <a:solidFill>
            <a:srgbClr val="E11D48">
              <a:alpha val="12156"/>
            </a:srgbClr>
          </a:solidFill>
          <a:ln cap="flat" cmpd="sng" w="12700">
            <a:solidFill>
              <a:srgbClr val="E11D48">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118" name="Google Shape;118;p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3 / 29</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123" name="Shape 123"/>
        <p:cNvGrpSpPr/>
        <p:nvPr/>
      </p:nvGrpSpPr>
      <p:grpSpPr>
        <a:xfrm>
          <a:off x="0" y="0"/>
          <a:ext cx="0" cy="0"/>
          <a:chOff x="0" y="0"/>
          <a:chExt cx="0" cy="0"/>
        </a:xfrm>
      </p:grpSpPr>
      <p:sp>
        <p:nvSpPr>
          <p:cNvPr id="124" name="Google Shape;124;p6"/>
          <p:cNvSpPr/>
          <p:nvPr/>
        </p:nvSpPr>
        <p:spPr>
          <a:xfrm>
            <a:off x="6583680" y="-182880"/>
            <a:ext cx="64008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21000"/>
              <a:buFont typeface="Calibri"/>
              <a:buNone/>
            </a:pPr>
            <a:r>
              <a:rPr b="1" lang="en-US" sz="21000">
                <a:solidFill>
                  <a:srgbClr val="7C3AED"/>
                </a:solidFill>
                <a:latin typeface="Calibri"/>
                <a:ea typeface="Calibri"/>
                <a:cs typeface="Calibri"/>
                <a:sym typeface="Calibri"/>
              </a:rPr>
              <a:t>SDK</a:t>
            </a:r>
            <a:endParaRPr sz="21000">
              <a:solidFill>
                <a:schemeClr val="dk1"/>
              </a:solidFill>
              <a:latin typeface="Calibri"/>
              <a:ea typeface="Calibri"/>
              <a:cs typeface="Calibri"/>
              <a:sym typeface="Calibri"/>
            </a:endParaRPr>
          </a:p>
        </p:txBody>
      </p:sp>
      <p:sp>
        <p:nvSpPr>
          <p:cNvPr id="125" name="Google Shape;125;p6"/>
          <p:cNvSpPr/>
          <p:nvPr/>
        </p:nvSpPr>
        <p:spPr>
          <a:xfrm>
            <a:off x="475488" y="804672"/>
            <a:ext cx="749808" cy="749808"/>
          </a:xfrm>
          <a:prstGeom prst="roundRect">
            <a:avLst>
              <a:gd fmla="val 12195" name="adj"/>
            </a:avLst>
          </a:prstGeom>
          <a:solidFill>
            <a:srgbClr val="7C3AED"/>
          </a:solidFill>
          <a:ln cap="flat" cmpd="sng" w="12700">
            <a:solidFill>
              <a:srgbClr val="7C3A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6"/>
          <p:cNvSpPr/>
          <p:nvPr/>
        </p:nvSpPr>
        <p:spPr>
          <a:xfrm>
            <a:off x="475488" y="804672"/>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600"/>
              <a:buFont typeface="Calibri"/>
              <a:buNone/>
            </a:pPr>
            <a:r>
              <a:rPr lang="en-US" sz="2600">
                <a:solidFill>
                  <a:srgbClr val="000000"/>
                </a:solidFill>
                <a:latin typeface="Calibri"/>
                <a:ea typeface="Calibri"/>
                <a:cs typeface="Calibri"/>
                <a:sym typeface="Calibri"/>
              </a:rPr>
              <a:t>⚙</a:t>
            </a:r>
            <a:endParaRPr sz="2600">
              <a:solidFill>
                <a:schemeClr val="dk1"/>
              </a:solidFill>
              <a:latin typeface="Calibri"/>
              <a:ea typeface="Calibri"/>
              <a:cs typeface="Calibri"/>
              <a:sym typeface="Calibri"/>
            </a:endParaRPr>
          </a:p>
        </p:txBody>
      </p:sp>
      <p:sp>
        <p:nvSpPr>
          <p:cNvPr id="127" name="Google Shape;127;p6"/>
          <p:cNvSpPr/>
          <p:nvPr/>
        </p:nvSpPr>
        <p:spPr>
          <a:xfrm>
            <a:off x="1371600" y="841248"/>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300"/>
              <a:buFont typeface="Calibri"/>
              <a:buNone/>
            </a:pPr>
            <a:r>
              <a:rPr b="1" lang="en-US" sz="1300">
                <a:solidFill>
                  <a:srgbClr val="7C3AED"/>
                </a:solidFill>
                <a:latin typeface="Calibri"/>
                <a:ea typeface="Calibri"/>
                <a:cs typeface="Calibri"/>
                <a:sym typeface="Calibri"/>
              </a:rPr>
              <a:t>SECTION</a:t>
            </a:r>
            <a:endParaRPr sz="1300">
              <a:solidFill>
                <a:schemeClr val="dk1"/>
              </a:solidFill>
              <a:latin typeface="Calibri"/>
              <a:ea typeface="Calibri"/>
              <a:cs typeface="Calibri"/>
              <a:sym typeface="Calibri"/>
            </a:endParaRPr>
          </a:p>
        </p:txBody>
      </p:sp>
      <p:sp>
        <p:nvSpPr>
          <p:cNvPr id="128" name="Google Shape;128;p6"/>
          <p:cNvSpPr/>
          <p:nvPr/>
        </p:nvSpPr>
        <p:spPr>
          <a:xfrm>
            <a:off x="685800" y="1417320"/>
            <a:ext cx="9144000" cy="192024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SDK</a:t>
            </a:r>
            <a:endParaRPr sz="5400">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Setup</a:t>
            </a:r>
            <a:endParaRPr sz="5400">
              <a:solidFill>
                <a:schemeClr val="dk1"/>
              </a:solidFill>
              <a:latin typeface="Calibri"/>
              <a:ea typeface="Calibri"/>
              <a:cs typeface="Calibri"/>
              <a:sym typeface="Calibri"/>
            </a:endParaRPr>
          </a:p>
        </p:txBody>
      </p:sp>
      <p:sp>
        <p:nvSpPr>
          <p:cNvPr id="129" name="Google Shape;129;p6"/>
          <p:cNvSpPr/>
          <p:nvPr/>
        </p:nvSpPr>
        <p:spPr>
          <a:xfrm>
            <a:off x="685800" y="3493008"/>
            <a:ext cx="91440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lang="en-US" sz="2000">
                <a:solidFill>
                  <a:srgbClr val="8B92B8"/>
                </a:solidFill>
                <a:latin typeface="Calibri"/>
                <a:ea typeface="Calibri"/>
                <a:cs typeface="Calibri"/>
                <a:sym typeface="Calibri"/>
              </a:rPr>
              <a:t>Install the official openai-java library, configure your key, write your first request.</a:t>
            </a:r>
            <a:endParaRPr sz="2000">
              <a:solidFill>
                <a:schemeClr val="dk1"/>
              </a:solidFill>
              <a:latin typeface="Calibri"/>
              <a:ea typeface="Calibri"/>
              <a:cs typeface="Calibri"/>
              <a:sym typeface="Calibri"/>
            </a:endParaRPr>
          </a:p>
        </p:txBody>
      </p:sp>
      <p:sp>
        <p:nvSpPr>
          <p:cNvPr id="130" name="Google Shape;130;p6"/>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132" name="Google Shape;132;p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4 / 29</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7"/>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lang="en-US" sz="1200">
                <a:solidFill>
                  <a:srgbClr val="7C3AED"/>
                </a:solidFill>
                <a:latin typeface="Calibri"/>
                <a:ea typeface="Calibri"/>
                <a:cs typeface="Calibri"/>
                <a:sym typeface="Calibri"/>
              </a:rPr>
              <a:t>SECTION 1 · SDK SETUP — ADD THE DEPENDENCY AND CONFIGURE YOUR KEY</a:t>
            </a:r>
            <a:endParaRPr sz="1200">
              <a:solidFill>
                <a:schemeClr val="dk1"/>
              </a:solidFill>
              <a:latin typeface="Calibri"/>
              <a:ea typeface="Calibri"/>
              <a:cs typeface="Calibri"/>
              <a:sym typeface="Calibri"/>
            </a:endParaRPr>
          </a:p>
        </p:txBody>
      </p:sp>
      <p:sp>
        <p:nvSpPr>
          <p:cNvPr id="139" name="Google Shape;139;p7"/>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600"/>
              <a:buFont typeface="Calibri"/>
              <a:buNone/>
            </a:pPr>
            <a:r>
              <a:rPr b="1" lang="en-US" sz="3600">
                <a:solidFill>
                  <a:srgbClr val="475569"/>
                </a:solidFill>
                <a:latin typeface="Calibri"/>
                <a:ea typeface="Calibri"/>
                <a:cs typeface="Calibri"/>
                <a:sym typeface="Calibri"/>
              </a:rPr>
              <a:t>Three steps before the first API call</a:t>
            </a:r>
            <a:endParaRPr sz="3600">
              <a:solidFill>
                <a:schemeClr val="dk1"/>
              </a:solidFill>
              <a:latin typeface="Calibri"/>
              <a:ea typeface="Calibri"/>
              <a:cs typeface="Calibri"/>
              <a:sym typeface="Calibri"/>
            </a:endParaRPr>
          </a:p>
        </p:txBody>
      </p:sp>
      <p:sp>
        <p:nvSpPr>
          <p:cNvPr id="140" name="Google Shape;140;p7"/>
          <p:cNvSpPr/>
          <p:nvPr/>
        </p:nvSpPr>
        <p:spPr>
          <a:xfrm>
            <a:off x="502920" y="1847088"/>
            <a:ext cx="5687568" cy="3547872"/>
          </a:xfrm>
          <a:prstGeom prst="roundRect">
            <a:avLst>
              <a:gd fmla="val 2577"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7"/>
          <p:cNvSpPr/>
          <p:nvPr/>
        </p:nvSpPr>
        <p:spPr>
          <a:xfrm>
            <a:off x="502920" y="1847088"/>
            <a:ext cx="5687568" cy="365760"/>
          </a:xfrm>
          <a:prstGeom prst="roundRect">
            <a:avLst>
              <a:gd fmla="val 25000" name="adj"/>
            </a:avLst>
          </a:prstGeom>
          <a:solidFill>
            <a:srgbClr val="1F2937"/>
          </a:solidFill>
          <a:ln cap="flat" cmpd="sng" w="12700">
            <a:solidFill>
              <a:srgbClr val="37415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7"/>
          <p:cNvSpPr/>
          <p:nvPr/>
        </p:nvSpPr>
        <p:spPr>
          <a:xfrm>
            <a:off x="667512" y="1947672"/>
            <a:ext cx="155448" cy="155448"/>
          </a:xfrm>
          <a:prstGeom prst="ellipse">
            <a:avLst/>
          </a:prstGeom>
          <a:solidFill>
            <a:srgbClr val="E11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7"/>
          <p:cNvSpPr/>
          <p:nvPr/>
        </p:nvSpPr>
        <p:spPr>
          <a:xfrm>
            <a:off x="905256" y="1947672"/>
            <a:ext cx="155448" cy="155448"/>
          </a:xfrm>
          <a:prstGeom prst="ellipse">
            <a:avLst/>
          </a:prstGeom>
          <a:solidFill>
            <a:srgbClr val="F59E0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7"/>
          <p:cNvSpPr/>
          <p:nvPr/>
        </p:nvSpPr>
        <p:spPr>
          <a:xfrm>
            <a:off x="1143000" y="1947672"/>
            <a:ext cx="155448" cy="155448"/>
          </a:xfrm>
          <a:prstGeom prst="ellipse">
            <a:avLst/>
          </a:prstGeom>
          <a:solidFill>
            <a:srgbClr val="16A3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7"/>
          <p:cNvSpPr/>
          <p:nvPr/>
        </p:nvSpPr>
        <p:spPr>
          <a:xfrm>
            <a:off x="1417320" y="1911096"/>
            <a:ext cx="463600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lang="en-US" sz="1050">
                <a:solidFill>
                  <a:srgbClr val="9CA3AF"/>
                </a:solidFill>
                <a:latin typeface="Courier New"/>
                <a:ea typeface="Courier New"/>
                <a:cs typeface="Courier New"/>
                <a:sym typeface="Courier New"/>
              </a:rPr>
              <a:t>pom.xml</a:t>
            </a:r>
            <a:endParaRPr sz="1050">
              <a:solidFill>
                <a:schemeClr val="dk1"/>
              </a:solidFill>
              <a:latin typeface="Calibri"/>
              <a:ea typeface="Calibri"/>
              <a:cs typeface="Calibri"/>
              <a:sym typeface="Calibri"/>
            </a:endParaRPr>
          </a:p>
        </p:txBody>
      </p:sp>
      <p:sp>
        <p:nvSpPr>
          <p:cNvPr id="146" name="Google Shape;146;p7"/>
          <p:cNvSpPr/>
          <p:nvPr/>
        </p:nvSpPr>
        <p:spPr>
          <a:xfrm>
            <a:off x="704088" y="2304288"/>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147" name="Google Shape;147;p7"/>
          <p:cNvSpPr/>
          <p:nvPr/>
        </p:nvSpPr>
        <p:spPr>
          <a:xfrm>
            <a:off x="704088" y="2540625"/>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&lt;!-- Step 1: Add the OFFICIAL SDK (use latest 4.x) --&gt;</a:t>
            </a:r>
            <a:endParaRPr sz="1050">
              <a:solidFill>
                <a:schemeClr val="dk1"/>
              </a:solidFill>
              <a:latin typeface="Calibri"/>
              <a:ea typeface="Calibri"/>
              <a:cs typeface="Calibri"/>
              <a:sym typeface="Calibri"/>
            </a:endParaRPr>
          </a:p>
        </p:txBody>
      </p:sp>
      <p:sp>
        <p:nvSpPr>
          <p:cNvPr id="148" name="Google Shape;148;p7"/>
          <p:cNvSpPr/>
          <p:nvPr/>
        </p:nvSpPr>
        <p:spPr>
          <a:xfrm>
            <a:off x="704088" y="2776962"/>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&lt;</a:t>
            </a:r>
            <a:r>
              <a:rPr lang="en-US" sz="1050">
                <a:solidFill>
                  <a:srgbClr val="C4B5FD"/>
                </a:solidFill>
                <a:latin typeface="Courier New"/>
                <a:ea typeface="Courier New"/>
                <a:cs typeface="Courier New"/>
                <a:sym typeface="Courier New"/>
              </a:rPr>
              <a:t>dependency</a:t>
            </a:r>
            <a:r>
              <a:rPr lang="en-US" sz="1050">
                <a:solidFill>
                  <a:srgbClr val="E5E7EB"/>
                </a:solidFill>
                <a:latin typeface="Courier New"/>
                <a:ea typeface="Courier New"/>
                <a:cs typeface="Courier New"/>
                <a:sym typeface="Courier New"/>
              </a:rPr>
              <a:t>&gt;</a:t>
            </a:r>
            <a:endParaRPr sz="1050">
              <a:solidFill>
                <a:schemeClr val="dk1"/>
              </a:solidFill>
              <a:latin typeface="Calibri"/>
              <a:ea typeface="Calibri"/>
              <a:cs typeface="Calibri"/>
              <a:sym typeface="Calibri"/>
            </a:endParaRPr>
          </a:p>
        </p:txBody>
      </p:sp>
      <p:sp>
        <p:nvSpPr>
          <p:cNvPr id="149" name="Google Shape;149;p7"/>
          <p:cNvSpPr/>
          <p:nvPr/>
        </p:nvSpPr>
        <p:spPr>
          <a:xfrm>
            <a:off x="704088" y="3013300"/>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  &lt;</a:t>
            </a:r>
            <a:r>
              <a:rPr lang="en-US" sz="1050">
                <a:solidFill>
                  <a:srgbClr val="C4B5FD"/>
                </a:solidFill>
                <a:latin typeface="Courier New"/>
                <a:ea typeface="Courier New"/>
                <a:cs typeface="Courier New"/>
                <a:sym typeface="Courier New"/>
              </a:rPr>
              <a:t>groupId</a:t>
            </a:r>
            <a:r>
              <a:rPr lang="en-US" sz="1050">
                <a:solidFill>
                  <a:srgbClr val="E5E7EB"/>
                </a:solidFill>
                <a:latin typeface="Courier New"/>
                <a:ea typeface="Courier New"/>
                <a:cs typeface="Courier New"/>
                <a:sym typeface="Courier New"/>
              </a:rPr>
              <a:t>&gt;</a:t>
            </a:r>
            <a:r>
              <a:rPr lang="en-US" sz="1050">
                <a:solidFill>
                  <a:srgbClr val="86EFAC"/>
                </a:solidFill>
                <a:latin typeface="Courier New"/>
                <a:ea typeface="Courier New"/>
                <a:cs typeface="Courier New"/>
                <a:sym typeface="Courier New"/>
              </a:rPr>
              <a:t>com.openai</a:t>
            </a:r>
            <a:r>
              <a:rPr lang="en-US" sz="1050">
                <a:solidFill>
                  <a:srgbClr val="E5E7EB"/>
                </a:solidFill>
                <a:latin typeface="Courier New"/>
                <a:ea typeface="Courier New"/>
                <a:cs typeface="Courier New"/>
                <a:sym typeface="Courier New"/>
              </a:rPr>
              <a:t>&lt;/</a:t>
            </a:r>
            <a:r>
              <a:rPr lang="en-US" sz="1050">
                <a:solidFill>
                  <a:srgbClr val="C4B5FD"/>
                </a:solidFill>
                <a:latin typeface="Courier New"/>
                <a:ea typeface="Courier New"/>
                <a:cs typeface="Courier New"/>
                <a:sym typeface="Courier New"/>
              </a:rPr>
              <a:t>groupId</a:t>
            </a:r>
            <a:r>
              <a:rPr lang="en-US" sz="1050">
                <a:solidFill>
                  <a:srgbClr val="E5E7EB"/>
                </a:solidFill>
                <a:latin typeface="Courier New"/>
                <a:ea typeface="Courier New"/>
                <a:cs typeface="Courier New"/>
                <a:sym typeface="Courier New"/>
              </a:rPr>
              <a:t>&gt;</a:t>
            </a:r>
            <a:endParaRPr sz="1050">
              <a:solidFill>
                <a:schemeClr val="dk1"/>
              </a:solidFill>
              <a:latin typeface="Calibri"/>
              <a:ea typeface="Calibri"/>
              <a:cs typeface="Calibri"/>
              <a:sym typeface="Calibri"/>
            </a:endParaRPr>
          </a:p>
        </p:txBody>
      </p:sp>
      <p:sp>
        <p:nvSpPr>
          <p:cNvPr id="150" name="Google Shape;150;p7"/>
          <p:cNvSpPr/>
          <p:nvPr/>
        </p:nvSpPr>
        <p:spPr>
          <a:xfrm>
            <a:off x="704088" y="3249637"/>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  &lt;</a:t>
            </a:r>
            <a:r>
              <a:rPr lang="en-US" sz="1050">
                <a:solidFill>
                  <a:srgbClr val="C4B5FD"/>
                </a:solidFill>
                <a:latin typeface="Courier New"/>
                <a:ea typeface="Courier New"/>
                <a:cs typeface="Courier New"/>
                <a:sym typeface="Courier New"/>
              </a:rPr>
              <a:t>artifactId</a:t>
            </a:r>
            <a:r>
              <a:rPr lang="en-US" sz="1050">
                <a:solidFill>
                  <a:srgbClr val="E5E7EB"/>
                </a:solidFill>
                <a:latin typeface="Courier New"/>
                <a:ea typeface="Courier New"/>
                <a:cs typeface="Courier New"/>
                <a:sym typeface="Courier New"/>
              </a:rPr>
              <a:t>&gt;</a:t>
            </a:r>
            <a:r>
              <a:rPr lang="en-US" sz="1050">
                <a:solidFill>
                  <a:srgbClr val="86EFAC"/>
                </a:solidFill>
                <a:latin typeface="Courier New"/>
                <a:ea typeface="Courier New"/>
                <a:cs typeface="Courier New"/>
                <a:sym typeface="Courier New"/>
              </a:rPr>
              <a:t>openai-java</a:t>
            </a:r>
            <a:r>
              <a:rPr lang="en-US" sz="1050">
                <a:solidFill>
                  <a:srgbClr val="E5E7EB"/>
                </a:solidFill>
                <a:latin typeface="Courier New"/>
                <a:ea typeface="Courier New"/>
                <a:cs typeface="Courier New"/>
                <a:sym typeface="Courier New"/>
              </a:rPr>
              <a:t>&lt;/</a:t>
            </a:r>
            <a:r>
              <a:rPr lang="en-US" sz="1050">
                <a:solidFill>
                  <a:srgbClr val="C4B5FD"/>
                </a:solidFill>
                <a:latin typeface="Courier New"/>
                <a:ea typeface="Courier New"/>
                <a:cs typeface="Courier New"/>
                <a:sym typeface="Courier New"/>
              </a:rPr>
              <a:t>artifactId</a:t>
            </a:r>
            <a:r>
              <a:rPr lang="en-US" sz="1050">
                <a:solidFill>
                  <a:srgbClr val="E5E7EB"/>
                </a:solidFill>
                <a:latin typeface="Courier New"/>
                <a:ea typeface="Courier New"/>
                <a:cs typeface="Courier New"/>
                <a:sym typeface="Courier New"/>
              </a:rPr>
              <a:t>&gt;</a:t>
            </a:r>
            <a:endParaRPr sz="1050">
              <a:solidFill>
                <a:schemeClr val="dk1"/>
              </a:solidFill>
              <a:latin typeface="Calibri"/>
              <a:ea typeface="Calibri"/>
              <a:cs typeface="Calibri"/>
              <a:sym typeface="Calibri"/>
            </a:endParaRPr>
          </a:p>
        </p:txBody>
      </p:sp>
      <p:sp>
        <p:nvSpPr>
          <p:cNvPr id="151" name="Google Shape;151;p7"/>
          <p:cNvSpPr/>
          <p:nvPr/>
        </p:nvSpPr>
        <p:spPr>
          <a:xfrm>
            <a:off x="704088" y="3485974"/>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&lt;version&gt;4.41.0&lt;/version&gt;</a:t>
            </a:r>
            <a:endParaRPr sz="1050">
              <a:solidFill>
                <a:schemeClr val="dk1"/>
              </a:solidFill>
              <a:latin typeface="Calibri"/>
              <a:ea typeface="Calibri"/>
              <a:cs typeface="Calibri"/>
              <a:sym typeface="Calibri"/>
            </a:endParaRPr>
          </a:p>
        </p:txBody>
      </p:sp>
      <p:sp>
        <p:nvSpPr>
          <p:cNvPr id="152" name="Google Shape;152;p7"/>
          <p:cNvSpPr/>
          <p:nvPr/>
        </p:nvSpPr>
        <p:spPr>
          <a:xfrm>
            <a:off x="704088" y="3722311"/>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&lt;/</a:t>
            </a:r>
            <a:r>
              <a:rPr lang="en-US" sz="1050">
                <a:solidFill>
                  <a:srgbClr val="C4B5FD"/>
                </a:solidFill>
                <a:latin typeface="Courier New"/>
                <a:ea typeface="Courier New"/>
                <a:cs typeface="Courier New"/>
                <a:sym typeface="Courier New"/>
              </a:rPr>
              <a:t>dependency</a:t>
            </a:r>
            <a:r>
              <a:rPr lang="en-US" sz="1050">
                <a:solidFill>
                  <a:srgbClr val="E5E7EB"/>
                </a:solidFill>
                <a:latin typeface="Courier New"/>
                <a:ea typeface="Courier New"/>
                <a:cs typeface="Courier New"/>
                <a:sym typeface="Courier New"/>
              </a:rPr>
              <a:t>&gt;</a:t>
            </a:r>
            <a:endParaRPr sz="1050">
              <a:solidFill>
                <a:schemeClr val="dk1"/>
              </a:solidFill>
              <a:latin typeface="Calibri"/>
              <a:ea typeface="Calibri"/>
              <a:cs typeface="Calibri"/>
              <a:sym typeface="Calibri"/>
            </a:endParaRPr>
          </a:p>
        </p:txBody>
      </p:sp>
      <p:sp>
        <p:nvSpPr>
          <p:cNvPr id="153" name="Google Shape;153;p7"/>
          <p:cNvSpPr/>
          <p:nvPr/>
        </p:nvSpPr>
        <p:spPr>
          <a:xfrm>
            <a:off x="704088" y="3958649"/>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154" name="Google Shape;154;p7"/>
          <p:cNvSpPr/>
          <p:nvPr/>
        </p:nvSpPr>
        <p:spPr>
          <a:xfrm>
            <a:off x="704088" y="4194986"/>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&lt;!-- Step 2: Jackson for JSON (included, but good to know) --&gt;</a:t>
            </a:r>
            <a:endParaRPr sz="1050">
              <a:solidFill>
                <a:schemeClr val="dk1"/>
              </a:solidFill>
              <a:latin typeface="Calibri"/>
              <a:ea typeface="Calibri"/>
              <a:cs typeface="Calibri"/>
              <a:sym typeface="Calibri"/>
            </a:endParaRPr>
          </a:p>
        </p:txBody>
      </p:sp>
      <p:sp>
        <p:nvSpPr>
          <p:cNvPr id="155" name="Google Shape;155;p7"/>
          <p:cNvSpPr/>
          <p:nvPr/>
        </p:nvSpPr>
        <p:spPr>
          <a:xfrm>
            <a:off x="704088" y="4431323"/>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&lt;</a:t>
            </a:r>
            <a:r>
              <a:rPr lang="en-US" sz="1050">
                <a:solidFill>
                  <a:srgbClr val="C4B5FD"/>
                </a:solidFill>
                <a:latin typeface="Courier New"/>
                <a:ea typeface="Courier New"/>
                <a:cs typeface="Courier New"/>
                <a:sym typeface="Courier New"/>
              </a:rPr>
              <a:t>dependency</a:t>
            </a:r>
            <a:r>
              <a:rPr lang="en-US" sz="1050">
                <a:solidFill>
                  <a:srgbClr val="E5E7EB"/>
                </a:solidFill>
                <a:latin typeface="Courier New"/>
                <a:ea typeface="Courier New"/>
                <a:cs typeface="Courier New"/>
                <a:sym typeface="Courier New"/>
              </a:rPr>
              <a:t>&gt;</a:t>
            </a:r>
            <a:endParaRPr sz="1050">
              <a:solidFill>
                <a:schemeClr val="dk1"/>
              </a:solidFill>
              <a:latin typeface="Calibri"/>
              <a:ea typeface="Calibri"/>
              <a:cs typeface="Calibri"/>
              <a:sym typeface="Calibri"/>
            </a:endParaRPr>
          </a:p>
        </p:txBody>
      </p:sp>
      <p:sp>
        <p:nvSpPr>
          <p:cNvPr id="156" name="Google Shape;156;p7"/>
          <p:cNvSpPr/>
          <p:nvPr/>
        </p:nvSpPr>
        <p:spPr>
          <a:xfrm>
            <a:off x="704088" y="4667660"/>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  &lt;</a:t>
            </a:r>
            <a:r>
              <a:rPr lang="en-US" sz="1050">
                <a:solidFill>
                  <a:srgbClr val="C4B5FD"/>
                </a:solidFill>
                <a:latin typeface="Courier New"/>
                <a:ea typeface="Courier New"/>
                <a:cs typeface="Courier New"/>
                <a:sym typeface="Courier New"/>
              </a:rPr>
              <a:t>groupId</a:t>
            </a:r>
            <a:r>
              <a:rPr lang="en-US" sz="1050">
                <a:solidFill>
                  <a:srgbClr val="E5E7EB"/>
                </a:solidFill>
                <a:latin typeface="Courier New"/>
                <a:ea typeface="Courier New"/>
                <a:cs typeface="Courier New"/>
                <a:sym typeface="Courier New"/>
              </a:rPr>
              <a:t>&gt;</a:t>
            </a:r>
            <a:r>
              <a:rPr lang="en-US" sz="1050">
                <a:solidFill>
                  <a:srgbClr val="86EFAC"/>
                </a:solidFill>
                <a:latin typeface="Courier New"/>
                <a:ea typeface="Courier New"/>
                <a:cs typeface="Courier New"/>
                <a:sym typeface="Courier New"/>
              </a:rPr>
              <a:t>com.fasterxml.jackson.core</a:t>
            </a:r>
            <a:r>
              <a:rPr lang="en-US" sz="1050">
                <a:solidFill>
                  <a:srgbClr val="E5E7EB"/>
                </a:solidFill>
                <a:latin typeface="Courier New"/>
                <a:ea typeface="Courier New"/>
                <a:cs typeface="Courier New"/>
                <a:sym typeface="Courier New"/>
              </a:rPr>
              <a:t>&lt;/</a:t>
            </a:r>
            <a:r>
              <a:rPr lang="en-US" sz="1050">
                <a:solidFill>
                  <a:srgbClr val="C4B5FD"/>
                </a:solidFill>
                <a:latin typeface="Courier New"/>
                <a:ea typeface="Courier New"/>
                <a:cs typeface="Courier New"/>
                <a:sym typeface="Courier New"/>
              </a:rPr>
              <a:t>groupId</a:t>
            </a:r>
            <a:r>
              <a:rPr lang="en-US" sz="1050">
                <a:solidFill>
                  <a:srgbClr val="E5E7EB"/>
                </a:solidFill>
                <a:latin typeface="Courier New"/>
                <a:ea typeface="Courier New"/>
                <a:cs typeface="Courier New"/>
                <a:sym typeface="Courier New"/>
              </a:rPr>
              <a:t>&gt;</a:t>
            </a:r>
            <a:endParaRPr sz="1050">
              <a:solidFill>
                <a:schemeClr val="dk1"/>
              </a:solidFill>
              <a:latin typeface="Calibri"/>
              <a:ea typeface="Calibri"/>
              <a:cs typeface="Calibri"/>
              <a:sym typeface="Calibri"/>
            </a:endParaRPr>
          </a:p>
        </p:txBody>
      </p:sp>
      <p:sp>
        <p:nvSpPr>
          <p:cNvPr id="157" name="Google Shape;157;p7"/>
          <p:cNvSpPr/>
          <p:nvPr/>
        </p:nvSpPr>
        <p:spPr>
          <a:xfrm>
            <a:off x="704088" y="4903998"/>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  &lt;</a:t>
            </a:r>
            <a:r>
              <a:rPr lang="en-US" sz="1050">
                <a:solidFill>
                  <a:srgbClr val="C4B5FD"/>
                </a:solidFill>
                <a:latin typeface="Courier New"/>
                <a:ea typeface="Courier New"/>
                <a:cs typeface="Courier New"/>
                <a:sym typeface="Courier New"/>
              </a:rPr>
              <a:t>artifactId</a:t>
            </a:r>
            <a:r>
              <a:rPr lang="en-US" sz="1050">
                <a:solidFill>
                  <a:srgbClr val="E5E7EB"/>
                </a:solidFill>
                <a:latin typeface="Courier New"/>
                <a:ea typeface="Courier New"/>
                <a:cs typeface="Courier New"/>
                <a:sym typeface="Courier New"/>
              </a:rPr>
              <a:t>&gt;</a:t>
            </a:r>
            <a:r>
              <a:rPr lang="en-US" sz="1050">
                <a:solidFill>
                  <a:srgbClr val="86EFAC"/>
                </a:solidFill>
                <a:latin typeface="Courier New"/>
                <a:ea typeface="Courier New"/>
                <a:cs typeface="Courier New"/>
                <a:sym typeface="Courier New"/>
              </a:rPr>
              <a:t>jackson-databind</a:t>
            </a:r>
            <a:r>
              <a:rPr lang="en-US" sz="1050">
                <a:solidFill>
                  <a:srgbClr val="E5E7EB"/>
                </a:solidFill>
                <a:latin typeface="Courier New"/>
                <a:ea typeface="Courier New"/>
                <a:cs typeface="Courier New"/>
                <a:sym typeface="Courier New"/>
              </a:rPr>
              <a:t>&lt;/</a:t>
            </a:r>
            <a:r>
              <a:rPr lang="en-US" sz="1050">
                <a:solidFill>
                  <a:srgbClr val="C4B5FD"/>
                </a:solidFill>
                <a:latin typeface="Courier New"/>
                <a:ea typeface="Courier New"/>
                <a:cs typeface="Courier New"/>
                <a:sym typeface="Courier New"/>
              </a:rPr>
              <a:t>artifactId</a:t>
            </a:r>
            <a:r>
              <a:rPr lang="en-US" sz="1050">
                <a:solidFill>
                  <a:srgbClr val="E5E7EB"/>
                </a:solidFill>
                <a:latin typeface="Courier New"/>
                <a:ea typeface="Courier New"/>
                <a:cs typeface="Courier New"/>
                <a:sym typeface="Courier New"/>
              </a:rPr>
              <a:t>&gt;</a:t>
            </a:r>
            <a:endParaRPr sz="1050">
              <a:solidFill>
                <a:schemeClr val="dk1"/>
              </a:solidFill>
              <a:latin typeface="Calibri"/>
              <a:ea typeface="Calibri"/>
              <a:cs typeface="Calibri"/>
              <a:sym typeface="Calibri"/>
            </a:endParaRPr>
          </a:p>
        </p:txBody>
      </p:sp>
      <p:sp>
        <p:nvSpPr>
          <p:cNvPr id="158" name="Google Shape;158;p7"/>
          <p:cNvSpPr/>
          <p:nvPr/>
        </p:nvSpPr>
        <p:spPr>
          <a:xfrm>
            <a:off x="704088" y="5140335"/>
            <a:ext cx="5367528" cy="2363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&lt;/</a:t>
            </a:r>
            <a:r>
              <a:rPr lang="en-US" sz="1050">
                <a:solidFill>
                  <a:srgbClr val="C4B5FD"/>
                </a:solidFill>
                <a:latin typeface="Courier New"/>
                <a:ea typeface="Courier New"/>
                <a:cs typeface="Courier New"/>
                <a:sym typeface="Courier New"/>
              </a:rPr>
              <a:t>dependency</a:t>
            </a:r>
            <a:r>
              <a:rPr lang="en-US" sz="1050">
                <a:solidFill>
                  <a:srgbClr val="E5E7EB"/>
                </a:solidFill>
                <a:latin typeface="Courier New"/>
                <a:ea typeface="Courier New"/>
                <a:cs typeface="Courier New"/>
                <a:sym typeface="Courier New"/>
              </a:rPr>
              <a:t>&gt;</a:t>
            </a:r>
            <a:endParaRPr sz="1050">
              <a:solidFill>
                <a:schemeClr val="dk1"/>
              </a:solidFill>
              <a:latin typeface="Calibri"/>
              <a:ea typeface="Calibri"/>
              <a:cs typeface="Calibri"/>
              <a:sym typeface="Calibri"/>
            </a:endParaRPr>
          </a:p>
        </p:txBody>
      </p:sp>
      <p:sp>
        <p:nvSpPr>
          <p:cNvPr id="159" name="Google Shape;159;p7"/>
          <p:cNvSpPr/>
          <p:nvPr/>
        </p:nvSpPr>
        <p:spPr>
          <a:xfrm>
            <a:off x="6355080" y="1847088"/>
            <a:ext cx="5321808" cy="1078992"/>
          </a:xfrm>
          <a:prstGeom prst="roundRect">
            <a:avLst>
              <a:gd fmla="val 7627" name="adj"/>
            </a:avLst>
          </a:prstGeom>
          <a:solidFill>
            <a:srgbClr val="F8FAFC"/>
          </a:solidFill>
          <a:ln cap="flat" cmpd="sng" w="12700">
            <a:solidFill>
              <a:srgbClr val="7C3AED">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7"/>
          <p:cNvSpPr/>
          <p:nvPr/>
        </p:nvSpPr>
        <p:spPr>
          <a:xfrm>
            <a:off x="6510528" y="2176272"/>
            <a:ext cx="384048" cy="384048"/>
          </a:xfrm>
          <a:prstGeom prst="ellipse">
            <a:avLst/>
          </a:prstGeom>
          <a:solidFill>
            <a:srgbClr val="7C3AE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7"/>
          <p:cNvSpPr/>
          <p:nvPr/>
        </p:nvSpPr>
        <p:spPr>
          <a:xfrm>
            <a:off x="6510528" y="21762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162" name="Google Shape;162;p7"/>
          <p:cNvSpPr/>
          <p:nvPr/>
        </p:nvSpPr>
        <p:spPr>
          <a:xfrm>
            <a:off x="7022592" y="1938528"/>
            <a:ext cx="44988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300"/>
              <a:buFont typeface="Calibri"/>
              <a:buNone/>
            </a:pPr>
            <a:r>
              <a:rPr b="1" lang="en-US" sz="1300">
                <a:solidFill>
                  <a:srgbClr val="7C3AED"/>
                </a:solidFill>
                <a:latin typeface="Calibri"/>
                <a:ea typeface="Calibri"/>
                <a:cs typeface="Calibri"/>
                <a:sym typeface="Calibri"/>
              </a:rPr>
              <a:t>Always check the latest version</a:t>
            </a:r>
            <a:endParaRPr sz="1300">
              <a:solidFill>
                <a:schemeClr val="dk1"/>
              </a:solidFill>
              <a:latin typeface="Calibri"/>
              <a:ea typeface="Calibri"/>
              <a:cs typeface="Calibri"/>
              <a:sym typeface="Calibri"/>
            </a:endParaRPr>
          </a:p>
        </p:txBody>
      </p:sp>
      <p:sp>
        <p:nvSpPr>
          <p:cNvPr id="163" name="Google Shape;163;p7"/>
          <p:cNvSpPr/>
          <p:nvPr/>
        </p:nvSpPr>
        <p:spPr>
          <a:xfrm>
            <a:off x="7022592" y="2350008"/>
            <a:ext cx="4498848"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Check Maven Central for latest 4.x. Use 4.41.0 for this deck, but keep version easy to update.</a:t>
            </a:r>
            <a:endParaRPr sz="1100">
              <a:solidFill>
                <a:schemeClr val="dk1"/>
              </a:solidFill>
              <a:latin typeface="Calibri"/>
              <a:ea typeface="Calibri"/>
              <a:cs typeface="Calibri"/>
              <a:sym typeface="Calibri"/>
            </a:endParaRPr>
          </a:p>
        </p:txBody>
      </p:sp>
      <p:sp>
        <p:nvSpPr>
          <p:cNvPr id="164" name="Google Shape;164;p7"/>
          <p:cNvSpPr/>
          <p:nvPr/>
        </p:nvSpPr>
        <p:spPr>
          <a:xfrm>
            <a:off x="6355080" y="3017520"/>
            <a:ext cx="5321808" cy="1078992"/>
          </a:xfrm>
          <a:prstGeom prst="roundRect">
            <a:avLst>
              <a:gd fmla="val 7627" name="adj"/>
            </a:avLst>
          </a:prstGeom>
          <a:solidFill>
            <a:srgbClr val="F8FAFC"/>
          </a:solidFill>
          <a:ln cap="flat" cmpd="sng" w="12700">
            <a:solidFill>
              <a:srgbClr val="0891B2">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7"/>
          <p:cNvSpPr/>
          <p:nvPr/>
        </p:nvSpPr>
        <p:spPr>
          <a:xfrm>
            <a:off x="6510528" y="3346704"/>
            <a:ext cx="384048" cy="384048"/>
          </a:xfrm>
          <a:prstGeom prst="ellipse">
            <a:avLst/>
          </a:prstGeom>
          <a:solidFill>
            <a:srgbClr val="0891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7"/>
          <p:cNvSpPr/>
          <p:nvPr/>
        </p:nvSpPr>
        <p:spPr>
          <a:xfrm>
            <a:off x="6510528" y="334670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2</a:t>
            </a:r>
            <a:endParaRPr sz="1400">
              <a:solidFill>
                <a:schemeClr val="dk1"/>
              </a:solidFill>
              <a:latin typeface="Calibri"/>
              <a:ea typeface="Calibri"/>
              <a:cs typeface="Calibri"/>
              <a:sym typeface="Calibri"/>
            </a:endParaRPr>
          </a:p>
        </p:txBody>
      </p:sp>
      <p:sp>
        <p:nvSpPr>
          <p:cNvPr id="167" name="Google Shape;167;p7"/>
          <p:cNvSpPr/>
          <p:nvPr/>
        </p:nvSpPr>
        <p:spPr>
          <a:xfrm>
            <a:off x="7022592" y="3108960"/>
            <a:ext cx="44988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300"/>
              <a:buFont typeface="Calibri"/>
              <a:buNone/>
            </a:pPr>
            <a:r>
              <a:rPr b="1" lang="en-US" sz="1300">
                <a:solidFill>
                  <a:srgbClr val="0891B2"/>
                </a:solidFill>
                <a:latin typeface="Calibri"/>
                <a:ea typeface="Calibri"/>
                <a:cs typeface="Calibri"/>
                <a:sym typeface="Calibri"/>
              </a:rPr>
              <a:t>Never hardcode your API key</a:t>
            </a:r>
            <a:endParaRPr sz="1300">
              <a:solidFill>
                <a:schemeClr val="dk1"/>
              </a:solidFill>
              <a:latin typeface="Calibri"/>
              <a:ea typeface="Calibri"/>
              <a:cs typeface="Calibri"/>
              <a:sym typeface="Calibri"/>
            </a:endParaRPr>
          </a:p>
        </p:txBody>
      </p:sp>
      <p:sp>
        <p:nvSpPr>
          <p:cNvPr id="168" name="Google Shape;168;p7"/>
          <p:cNvSpPr/>
          <p:nvPr/>
        </p:nvSpPr>
        <p:spPr>
          <a:xfrm>
            <a:off x="7022592" y="3520440"/>
            <a:ext cx="4498848"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export OPENAI_API_KEY=sk-...</a:t>
            </a:r>
            <a:endParaRPr sz="11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The SDK reads this automatically. No key in code = no accidental commits to GitHub.</a:t>
            </a:r>
            <a:endParaRPr sz="1100">
              <a:solidFill>
                <a:schemeClr val="dk1"/>
              </a:solidFill>
              <a:latin typeface="Calibri"/>
              <a:ea typeface="Calibri"/>
              <a:cs typeface="Calibri"/>
              <a:sym typeface="Calibri"/>
            </a:endParaRPr>
          </a:p>
        </p:txBody>
      </p:sp>
      <p:sp>
        <p:nvSpPr>
          <p:cNvPr id="169" name="Google Shape;169;p7"/>
          <p:cNvSpPr/>
          <p:nvPr/>
        </p:nvSpPr>
        <p:spPr>
          <a:xfrm>
            <a:off x="6355080" y="4187952"/>
            <a:ext cx="5321808" cy="1078992"/>
          </a:xfrm>
          <a:prstGeom prst="roundRect">
            <a:avLst>
              <a:gd fmla="val 7627" name="adj"/>
            </a:avLst>
          </a:prstGeom>
          <a:solidFill>
            <a:srgbClr val="F8FAFC"/>
          </a:solidFill>
          <a:ln cap="flat" cmpd="sng" w="12700">
            <a:solidFill>
              <a:srgbClr val="E11D48">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7"/>
          <p:cNvSpPr/>
          <p:nvPr/>
        </p:nvSpPr>
        <p:spPr>
          <a:xfrm>
            <a:off x="6510528" y="4517136"/>
            <a:ext cx="384048" cy="384048"/>
          </a:xfrm>
          <a:prstGeom prst="ellipse">
            <a:avLst/>
          </a:prstGeom>
          <a:solidFill>
            <a:srgbClr val="E11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7"/>
          <p:cNvSpPr/>
          <p:nvPr/>
        </p:nvSpPr>
        <p:spPr>
          <a:xfrm>
            <a:off x="6510528" y="451713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3</a:t>
            </a:r>
            <a:endParaRPr sz="1400">
              <a:solidFill>
                <a:schemeClr val="dk1"/>
              </a:solidFill>
              <a:latin typeface="Calibri"/>
              <a:ea typeface="Calibri"/>
              <a:cs typeface="Calibri"/>
              <a:sym typeface="Calibri"/>
            </a:endParaRPr>
          </a:p>
        </p:txBody>
      </p:sp>
      <p:sp>
        <p:nvSpPr>
          <p:cNvPr id="172" name="Google Shape;172;p7"/>
          <p:cNvSpPr/>
          <p:nvPr/>
        </p:nvSpPr>
        <p:spPr>
          <a:xfrm>
            <a:off x="7022592" y="4279392"/>
            <a:ext cx="44988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300"/>
              <a:buFont typeface="Calibri"/>
              <a:buNone/>
            </a:pPr>
            <a:r>
              <a:rPr b="1" lang="en-US" sz="1300">
                <a:solidFill>
                  <a:srgbClr val="E11D48"/>
                </a:solidFill>
                <a:latin typeface="Calibri"/>
                <a:ea typeface="Calibri"/>
                <a:cs typeface="Calibri"/>
                <a:sym typeface="Calibri"/>
              </a:rPr>
              <a:t>Avoid the old community library</a:t>
            </a:r>
            <a:endParaRPr sz="1300">
              <a:solidFill>
                <a:schemeClr val="dk1"/>
              </a:solidFill>
              <a:latin typeface="Calibri"/>
              <a:ea typeface="Calibri"/>
              <a:cs typeface="Calibri"/>
              <a:sym typeface="Calibri"/>
            </a:endParaRPr>
          </a:p>
        </p:txBody>
      </p:sp>
      <p:sp>
        <p:nvSpPr>
          <p:cNvPr id="173" name="Google Shape;173;p7"/>
          <p:cNvSpPr/>
          <p:nvPr/>
        </p:nvSpPr>
        <p:spPr>
          <a:xfrm>
            <a:off x="7022592" y="4690872"/>
            <a:ext cx="4498848"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If you see com.theokanning in any tutorial, skip it. That library is unmaintained. Always use com.openai (the official one).</a:t>
            </a:r>
            <a:endParaRPr sz="1100">
              <a:solidFill>
                <a:schemeClr val="dk1"/>
              </a:solidFill>
              <a:latin typeface="Calibri"/>
              <a:ea typeface="Calibri"/>
              <a:cs typeface="Calibri"/>
              <a:sym typeface="Calibri"/>
            </a:endParaRPr>
          </a:p>
        </p:txBody>
      </p:sp>
      <p:sp>
        <p:nvSpPr>
          <p:cNvPr id="174" name="Google Shape;174;p7"/>
          <p:cNvSpPr/>
          <p:nvPr/>
        </p:nvSpPr>
        <p:spPr>
          <a:xfrm>
            <a:off x="502920" y="5486400"/>
            <a:ext cx="11109960" cy="713232"/>
          </a:xfrm>
          <a:prstGeom prst="roundRect">
            <a:avLst>
              <a:gd fmla="val 10256" name="adj"/>
            </a:avLst>
          </a:prstGeom>
          <a:solidFill>
            <a:srgbClr val="EDE9FE"/>
          </a:solidFill>
          <a:ln cap="flat" cmpd="sng" w="12700">
            <a:solidFill>
              <a:srgbClr val="7C3AED">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7"/>
          <p:cNvSpPr/>
          <p:nvPr/>
        </p:nvSpPr>
        <p:spPr>
          <a:xfrm>
            <a:off x="713232" y="5559552"/>
            <a:ext cx="10607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300"/>
              <a:buFont typeface="Calibri"/>
              <a:buNone/>
            </a:pPr>
            <a:r>
              <a:rPr b="1" lang="en-US" sz="1300">
                <a:solidFill>
                  <a:srgbClr val="7C3AED"/>
                </a:solidFill>
                <a:latin typeface="Calibri"/>
                <a:ea typeface="Calibri"/>
                <a:cs typeface="Calibri"/>
                <a:sym typeface="Calibri"/>
              </a:rPr>
              <a:t>Version check: Run mvn dependency:tree | grep openai. You should see com.openai:openai-java, not com.theokanning.</a:t>
            </a:r>
            <a:endParaRPr sz="1300">
              <a:solidFill>
                <a:schemeClr val="dk1"/>
              </a:solidFill>
              <a:latin typeface="Calibri"/>
              <a:ea typeface="Calibri"/>
              <a:cs typeface="Calibri"/>
              <a:sym typeface="Calibri"/>
            </a:endParaRPr>
          </a:p>
        </p:txBody>
      </p:sp>
      <p:sp>
        <p:nvSpPr>
          <p:cNvPr id="176" name="Google Shape;176;p7"/>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178" name="Google Shape;178;p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5 / 29</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8"/>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lang="en-US" sz="1200">
                <a:solidFill>
                  <a:srgbClr val="7C3AED"/>
                </a:solidFill>
                <a:latin typeface="Calibri"/>
                <a:ea typeface="Calibri"/>
                <a:cs typeface="Calibri"/>
                <a:sym typeface="Calibri"/>
              </a:rPr>
              <a:t>SECTION 1 · SDK SETUP — YOUR VERY FIRST API CALL</a:t>
            </a:r>
            <a:endParaRPr sz="1200">
              <a:solidFill>
                <a:schemeClr val="dk1"/>
              </a:solidFill>
              <a:latin typeface="Calibri"/>
              <a:ea typeface="Calibri"/>
              <a:cs typeface="Calibri"/>
              <a:sym typeface="Calibri"/>
            </a:endParaRPr>
          </a:p>
        </p:txBody>
      </p:sp>
      <p:sp>
        <p:nvSpPr>
          <p:cNvPr id="185" name="Google Shape;185;p8"/>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600"/>
              <a:buFont typeface="Calibri"/>
              <a:buNone/>
            </a:pPr>
            <a:r>
              <a:rPr b="1" lang="en-US" sz="3600">
                <a:solidFill>
                  <a:srgbClr val="475569"/>
                </a:solidFill>
                <a:latin typeface="Calibri"/>
                <a:ea typeface="Calibri"/>
                <a:cs typeface="Calibri"/>
                <a:sym typeface="Calibri"/>
              </a:rPr>
              <a:t>Hello, Responses API — first Java call</a:t>
            </a:r>
            <a:endParaRPr sz="3600">
              <a:solidFill>
                <a:schemeClr val="dk1"/>
              </a:solidFill>
              <a:latin typeface="Calibri"/>
              <a:ea typeface="Calibri"/>
              <a:cs typeface="Calibri"/>
              <a:sym typeface="Calibri"/>
            </a:endParaRPr>
          </a:p>
        </p:txBody>
      </p:sp>
      <p:sp>
        <p:nvSpPr>
          <p:cNvPr id="186" name="Google Shape;186;p8"/>
          <p:cNvSpPr/>
          <p:nvPr/>
        </p:nvSpPr>
        <p:spPr>
          <a:xfrm>
            <a:off x="502920" y="1847088"/>
            <a:ext cx="6931152" cy="4480560"/>
          </a:xfrm>
          <a:prstGeom prst="roundRect">
            <a:avLst>
              <a:gd fmla="val 2041"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8"/>
          <p:cNvSpPr/>
          <p:nvPr/>
        </p:nvSpPr>
        <p:spPr>
          <a:xfrm>
            <a:off x="502920" y="1847088"/>
            <a:ext cx="6931152" cy="365760"/>
          </a:xfrm>
          <a:prstGeom prst="roundRect">
            <a:avLst>
              <a:gd fmla="val 25000" name="adj"/>
            </a:avLst>
          </a:prstGeom>
          <a:solidFill>
            <a:srgbClr val="1F2937"/>
          </a:solidFill>
          <a:ln cap="flat" cmpd="sng" w="12700">
            <a:solidFill>
              <a:srgbClr val="37415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8"/>
          <p:cNvSpPr/>
          <p:nvPr/>
        </p:nvSpPr>
        <p:spPr>
          <a:xfrm>
            <a:off x="667512" y="1947672"/>
            <a:ext cx="155448" cy="155448"/>
          </a:xfrm>
          <a:prstGeom prst="ellipse">
            <a:avLst/>
          </a:prstGeom>
          <a:solidFill>
            <a:srgbClr val="E11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8"/>
          <p:cNvSpPr/>
          <p:nvPr/>
        </p:nvSpPr>
        <p:spPr>
          <a:xfrm>
            <a:off x="905256" y="1947672"/>
            <a:ext cx="155448" cy="155448"/>
          </a:xfrm>
          <a:prstGeom prst="ellipse">
            <a:avLst/>
          </a:prstGeom>
          <a:solidFill>
            <a:srgbClr val="F59E0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8"/>
          <p:cNvSpPr/>
          <p:nvPr/>
        </p:nvSpPr>
        <p:spPr>
          <a:xfrm>
            <a:off x="1143000" y="1947672"/>
            <a:ext cx="155448" cy="155448"/>
          </a:xfrm>
          <a:prstGeom prst="ellipse">
            <a:avLst/>
          </a:prstGeom>
          <a:solidFill>
            <a:srgbClr val="16A3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8"/>
          <p:cNvSpPr/>
          <p:nvPr/>
        </p:nvSpPr>
        <p:spPr>
          <a:xfrm>
            <a:off x="1417320" y="1911096"/>
            <a:ext cx="587959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lang="en-US" sz="1050">
                <a:solidFill>
                  <a:srgbClr val="9CA3AF"/>
                </a:solidFill>
                <a:latin typeface="Courier New"/>
                <a:ea typeface="Courier New"/>
                <a:cs typeface="Courier New"/>
                <a:sym typeface="Courier New"/>
              </a:rPr>
              <a:t>FirstCall.java</a:t>
            </a:r>
            <a:endParaRPr sz="1050">
              <a:solidFill>
                <a:schemeClr val="dk1"/>
              </a:solidFill>
              <a:latin typeface="Calibri"/>
              <a:ea typeface="Calibri"/>
              <a:cs typeface="Calibri"/>
              <a:sym typeface="Calibri"/>
            </a:endParaRPr>
          </a:p>
        </p:txBody>
      </p:sp>
      <p:sp>
        <p:nvSpPr>
          <p:cNvPr id="192" name="Google Shape;192;p8"/>
          <p:cNvSpPr/>
          <p:nvPr/>
        </p:nvSpPr>
        <p:spPr>
          <a:xfrm>
            <a:off x="704088" y="2304288"/>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Step 1: Create client from OPENAI_API_KEY</a:t>
            </a:r>
            <a:endParaRPr sz="1050">
              <a:solidFill>
                <a:schemeClr val="dk1"/>
              </a:solidFill>
              <a:latin typeface="Calibri"/>
              <a:ea typeface="Calibri"/>
              <a:cs typeface="Calibri"/>
              <a:sym typeface="Calibri"/>
            </a:endParaRPr>
          </a:p>
        </p:txBody>
      </p:sp>
      <p:sp>
        <p:nvSpPr>
          <p:cNvPr id="193" name="Google Shape;193;p8"/>
          <p:cNvSpPr/>
          <p:nvPr/>
        </p:nvSpPr>
        <p:spPr>
          <a:xfrm>
            <a:off x="704088" y="2526792"/>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var client = OpenAIOkHttpClient.fromEnv();</a:t>
            </a:r>
            <a:endParaRPr sz="1050">
              <a:solidFill>
                <a:schemeClr val="dk1"/>
              </a:solidFill>
              <a:latin typeface="Calibri"/>
              <a:ea typeface="Calibri"/>
              <a:cs typeface="Calibri"/>
              <a:sym typeface="Calibri"/>
            </a:endParaRPr>
          </a:p>
        </p:txBody>
      </p:sp>
      <p:sp>
        <p:nvSpPr>
          <p:cNvPr id="194" name="Google Shape;194;p8"/>
          <p:cNvSpPr/>
          <p:nvPr/>
        </p:nvSpPr>
        <p:spPr>
          <a:xfrm>
            <a:off x="704088" y="2749296"/>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195" name="Google Shape;195;p8"/>
          <p:cNvSpPr/>
          <p:nvPr/>
        </p:nvSpPr>
        <p:spPr>
          <a:xfrm>
            <a:off x="704088" y="2971800"/>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Step 2: Build a Responses API request</a:t>
            </a:r>
            <a:endParaRPr sz="1050">
              <a:solidFill>
                <a:schemeClr val="dk1"/>
              </a:solidFill>
              <a:latin typeface="Calibri"/>
              <a:ea typeface="Calibri"/>
              <a:cs typeface="Calibri"/>
              <a:sym typeface="Calibri"/>
            </a:endParaRPr>
          </a:p>
        </p:txBody>
      </p:sp>
      <p:sp>
        <p:nvSpPr>
          <p:cNvPr id="196" name="Google Shape;196;p8"/>
          <p:cNvSpPr/>
          <p:nvPr/>
        </p:nvSpPr>
        <p:spPr>
          <a:xfrm>
            <a:off x="704088" y="3194304"/>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var params = ResponseCreateParams.builder()</a:t>
            </a:r>
            <a:endParaRPr sz="1050">
              <a:solidFill>
                <a:schemeClr val="dk1"/>
              </a:solidFill>
              <a:latin typeface="Calibri"/>
              <a:ea typeface="Calibri"/>
              <a:cs typeface="Calibri"/>
              <a:sym typeface="Calibri"/>
            </a:endParaRPr>
          </a:p>
        </p:txBody>
      </p:sp>
      <p:sp>
        <p:nvSpPr>
          <p:cNvPr id="197" name="Google Shape;197;p8"/>
          <p:cNvSpPr/>
          <p:nvPr/>
        </p:nvSpPr>
        <p:spPr>
          <a:xfrm>
            <a:off x="704088" y="3416808"/>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.model(ChatModel.GPT_4O_MINI)</a:t>
            </a:r>
            <a:endParaRPr sz="1050">
              <a:solidFill>
                <a:schemeClr val="dk1"/>
              </a:solidFill>
              <a:latin typeface="Calibri"/>
              <a:ea typeface="Calibri"/>
              <a:cs typeface="Calibri"/>
              <a:sym typeface="Calibri"/>
            </a:endParaRPr>
          </a:p>
        </p:txBody>
      </p:sp>
      <p:sp>
        <p:nvSpPr>
          <p:cNvPr id="198" name="Google Shape;198;p8"/>
          <p:cNvSpPr/>
          <p:nvPr/>
        </p:nvSpPr>
        <p:spPr>
          <a:xfrm>
            <a:off x="704088" y="3639312"/>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.instructions("You are a fun Java tutor.")</a:t>
            </a:r>
            <a:endParaRPr sz="1050">
              <a:solidFill>
                <a:schemeClr val="dk1"/>
              </a:solidFill>
              <a:latin typeface="Calibri"/>
              <a:ea typeface="Calibri"/>
              <a:cs typeface="Calibri"/>
              <a:sym typeface="Calibri"/>
            </a:endParaRPr>
          </a:p>
        </p:txBody>
      </p:sp>
      <p:sp>
        <p:nvSpPr>
          <p:cNvPr id="199" name="Google Shape;199;p8"/>
          <p:cNvSpPr/>
          <p:nvPr/>
        </p:nvSpPr>
        <p:spPr>
          <a:xfrm>
            <a:off x="704088" y="3861816"/>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.input("Give me one surprising Java fact.")</a:t>
            </a:r>
            <a:endParaRPr sz="1050">
              <a:solidFill>
                <a:schemeClr val="dk1"/>
              </a:solidFill>
              <a:latin typeface="Calibri"/>
              <a:ea typeface="Calibri"/>
              <a:cs typeface="Calibri"/>
              <a:sym typeface="Calibri"/>
            </a:endParaRPr>
          </a:p>
        </p:txBody>
      </p:sp>
      <p:sp>
        <p:nvSpPr>
          <p:cNvPr id="200" name="Google Shape;200;p8"/>
          <p:cNvSpPr/>
          <p:nvPr/>
        </p:nvSpPr>
        <p:spPr>
          <a:xfrm>
            <a:off x="704088" y="4084320"/>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.maxOutputTokens(120)</a:t>
            </a:r>
            <a:endParaRPr sz="1050">
              <a:solidFill>
                <a:schemeClr val="dk1"/>
              </a:solidFill>
              <a:latin typeface="Calibri"/>
              <a:ea typeface="Calibri"/>
              <a:cs typeface="Calibri"/>
              <a:sym typeface="Calibri"/>
            </a:endParaRPr>
          </a:p>
        </p:txBody>
      </p:sp>
      <p:sp>
        <p:nvSpPr>
          <p:cNvPr id="201" name="Google Shape;201;p8"/>
          <p:cNvSpPr/>
          <p:nvPr/>
        </p:nvSpPr>
        <p:spPr>
          <a:xfrm>
            <a:off x="704088" y="4306824"/>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.build();</a:t>
            </a:r>
            <a:endParaRPr sz="1050">
              <a:solidFill>
                <a:schemeClr val="dk1"/>
              </a:solidFill>
              <a:latin typeface="Calibri"/>
              <a:ea typeface="Calibri"/>
              <a:cs typeface="Calibri"/>
              <a:sym typeface="Calibri"/>
            </a:endParaRPr>
          </a:p>
        </p:txBody>
      </p:sp>
      <p:sp>
        <p:nvSpPr>
          <p:cNvPr id="202" name="Google Shape;202;p8"/>
          <p:cNvSpPr/>
          <p:nvPr/>
        </p:nvSpPr>
        <p:spPr>
          <a:xfrm>
            <a:off x="704088" y="4529328"/>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203" name="Google Shape;203;p8"/>
          <p:cNvSpPr/>
          <p:nvPr/>
        </p:nvSpPr>
        <p:spPr>
          <a:xfrm>
            <a:off x="704088" y="4751832"/>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204" name="Google Shape;204;p8"/>
          <p:cNvSpPr/>
          <p:nvPr/>
        </p:nvSpPr>
        <p:spPr>
          <a:xfrm>
            <a:off x="704088" y="4974336"/>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Step 3: Send request</a:t>
            </a:r>
            <a:endParaRPr sz="1050">
              <a:solidFill>
                <a:schemeClr val="dk1"/>
              </a:solidFill>
              <a:latin typeface="Calibri"/>
              <a:ea typeface="Calibri"/>
              <a:cs typeface="Calibri"/>
              <a:sym typeface="Calibri"/>
            </a:endParaRPr>
          </a:p>
        </p:txBody>
      </p:sp>
      <p:sp>
        <p:nvSpPr>
          <p:cNvPr id="205" name="Google Shape;205;p8"/>
          <p:cNvSpPr/>
          <p:nvPr/>
        </p:nvSpPr>
        <p:spPr>
          <a:xfrm>
            <a:off x="704088" y="5196840"/>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Response response = client.responses().create(params);</a:t>
            </a:r>
            <a:endParaRPr sz="1050">
              <a:solidFill>
                <a:schemeClr val="dk1"/>
              </a:solidFill>
              <a:latin typeface="Calibri"/>
              <a:ea typeface="Calibri"/>
              <a:cs typeface="Calibri"/>
              <a:sym typeface="Calibri"/>
            </a:endParaRPr>
          </a:p>
        </p:txBody>
      </p:sp>
      <p:sp>
        <p:nvSpPr>
          <p:cNvPr id="206" name="Google Shape;206;p8"/>
          <p:cNvSpPr/>
          <p:nvPr/>
        </p:nvSpPr>
        <p:spPr>
          <a:xfrm>
            <a:off x="704088" y="5419344"/>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System.out.println(response);</a:t>
            </a:r>
            <a:endParaRPr sz="1050">
              <a:solidFill>
                <a:schemeClr val="dk1"/>
              </a:solidFill>
              <a:latin typeface="Calibri"/>
              <a:ea typeface="Calibri"/>
              <a:cs typeface="Calibri"/>
              <a:sym typeface="Calibri"/>
            </a:endParaRPr>
          </a:p>
        </p:txBody>
      </p:sp>
      <p:sp>
        <p:nvSpPr>
          <p:cNvPr id="207" name="Google Shape;207;p8"/>
          <p:cNvSpPr/>
          <p:nvPr/>
        </p:nvSpPr>
        <p:spPr>
          <a:xfrm>
            <a:off x="704088" y="5641848"/>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208" name="Google Shape;208;p8"/>
          <p:cNvSpPr/>
          <p:nvPr/>
        </p:nvSpPr>
        <p:spPr>
          <a:xfrm>
            <a:off x="704088" y="5864352"/>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Step 4: In Spring demo, we stream text deltas</a:t>
            </a:r>
            <a:endParaRPr sz="1050">
              <a:solidFill>
                <a:schemeClr val="dk1"/>
              </a:solidFill>
              <a:latin typeface="Calibri"/>
              <a:ea typeface="Calibri"/>
              <a:cs typeface="Calibri"/>
              <a:sym typeface="Calibri"/>
            </a:endParaRPr>
          </a:p>
        </p:txBody>
      </p:sp>
      <p:sp>
        <p:nvSpPr>
          <p:cNvPr id="209" name="Google Shape;209;p8"/>
          <p:cNvSpPr/>
          <p:nvPr/>
        </p:nvSpPr>
        <p:spPr>
          <a:xfrm>
            <a:off x="704088" y="6086856"/>
            <a:ext cx="6611112" cy="222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System.out.println(response);</a:t>
            </a:r>
            <a:endParaRPr sz="1050">
              <a:solidFill>
                <a:schemeClr val="dk1"/>
              </a:solidFill>
              <a:latin typeface="Calibri"/>
              <a:ea typeface="Calibri"/>
              <a:cs typeface="Calibri"/>
              <a:sym typeface="Calibri"/>
            </a:endParaRPr>
          </a:p>
        </p:txBody>
      </p:sp>
      <p:sp>
        <p:nvSpPr>
          <p:cNvPr id="210" name="Google Shape;210;p8"/>
          <p:cNvSpPr/>
          <p:nvPr/>
        </p:nvSpPr>
        <p:spPr>
          <a:xfrm>
            <a:off x="7571232" y="2029968"/>
            <a:ext cx="4370832" cy="457200"/>
          </a:xfrm>
          <a:prstGeom prst="roundRect">
            <a:avLst>
              <a:gd fmla="val 14000" name="adj"/>
            </a:avLst>
          </a:prstGeom>
          <a:solidFill>
            <a:srgbClr val="F8FAFC"/>
          </a:solidFill>
          <a:ln cap="flat" cmpd="sng" w="12700">
            <a:solidFill>
              <a:srgbClr val="7C3AED">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8"/>
          <p:cNvSpPr/>
          <p:nvPr/>
        </p:nvSpPr>
        <p:spPr>
          <a:xfrm>
            <a:off x="7717536" y="2029968"/>
            <a:ext cx="4169664"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1100"/>
              <a:buFont typeface="Calibri"/>
              <a:buNone/>
            </a:pPr>
            <a:r>
              <a:rPr b="1" lang="en-US" sz="1100">
                <a:solidFill>
                  <a:srgbClr val="7C3AED"/>
                </a:solidFill>
                <a:latin typeface="Calibri"/>
                <a:ea typeface="Calibri"/>
                <a:cs typeface="Calibri"/>
                <a:sym typeface="Calibri"/>
              </a:rPr>
              <a:t>◀  fromEnv() reads OPENAI_API_KEY — no key in code</a:t>
            </a:r>
            <a:endParaRPr sz="1100">
              <a:solidFill>
                <a:schemeClr val="dk1"/>
              </a:solidFill>
              <a:latin typeface="Calibri"/>
              <a:ea typeface="Calibri"/>
              <a:cs typeface="Calibri"/>
              <a:sym typeface="Calibri"/>
            </a:endParaRPr>
          </a:p>
        </p:txBody>
      </p:sp>
      <p:sp>
        <p:nvSpPr>
          <p:cNvPr id="212" name="Google Shape;212;p8"/>
          <p:cNvSpPr/>
          <p:nvPr/>
        </p:nvSpPr>
        <p:spPr>
          <a:xfrm>
            <a:off x="7571232" y="3127248"/>
            <a:ext cx="4370832" cy="457200"/>
          </a:xfrm>
          <a:prstGeom prst="roundRect">
            <a:avLst>
              <a:gd fmla="val 14000" name="adj"/>
            </a:avLst>
          </a:prstGeom>
          <a:solidFill>
            <a:srgbClr val="F8FAFC"/>
          </a:solidFill>
          <a:ln cap="flat" cmpd="sng" w="12700">
            <a:solidFill>
              <a:srgbClr val="0891B2">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8"/>
          <p:cNvSpPr/>
          <p:nvPr/>
        </p:nvSpPr>
        <p:spPr>
          <a:xfrm>
            <a:off x="7717536" y="3127248"/>
            <a:ext cx="4169664"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1100"/>
              <a:buFont typeface="Calibri"/>
              <a:buNone/>
            </a:pPr>
            <a:r>
              <a:rPr b="1" lang="en-US" sz="1100">
                <a:solidFill>
                  <a:srgbClr val="0891B2"/>
                </a:solidFill>
                <a:latin typeface="Calibri"/>
                <a:ea typeface="Calibri"/>
                <a:cs typeface="Calibri"/>
                <a:sym typeface="Calibri"/>
              </a:rPr>
              <a:t>◀  GPT_4O_MINI = low-cost learning model</a:t>
            </a:r>
            <a:endParaRPr sz="1100">
              <a:solidFill>
                <a:schemeClr val="dk1"/>
              </a:solidFill>
              <a:latin typeface="Calibri"/>
              <a:ea typeface="Calibri"/>
              <a:cs typeface="Calibri"/>
              <a:sym typeface="Calibri"/>
            </a:endParaRPr>
          </a:p>
        </p:txBody>
      </p:sp>
      <p:sp>
        <p:nvSpPr>
          <p:cNvPr id="214" name="Google Shape;214;p8"/>
          <p:cNvSpPr/>
          <p:nvPr/>
        </p:nvSpPr>
        <p:spPr>
          <a:xfrm>
            <a:off x="7571232" y="4343400"/>
            <a:ext cx="4370832" cy="457200"/>
          </a:xfrm>
          <a:prstGeom prst="roundRect">
            <a:avLst>
              <a:gd fmla="val 14000" name="adj"/>
            </a:avLst>
          </a:prstGeom>
          <a:solidFill>
            <a:srgbClr val="F8FAFC"/>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8"/>
          <p:cNvSpPr/>
          <p:nvPr/>
        </p:nvSpPr>
        <p:spPr>
          <a:xfrm>
            <a:off x="7717536" y="4343400"/>
            <a:ext cx="4169664"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100"/>
              <a:buFont typeface="Calibri"/>
              <a:buNone/>
            </a:pPr>
            <a:r>
              <a:rPr b="1" lang="en-US" sz="1100">
                <a:solidFill>
                  <a:srgbClr val="16A34A"/>
                </a:solidFill>
                <a:latin typeface="Calibri"/>
                <a:ea typeface="Calibri"/>
                <a:cs typeface="Calibri"/>
                <a:sym typeface="Calibri"/>
              </a:rPr>
              <a:t>◀  maxOutputTokens limits response length and cost</a:t>
            </a:r>
            <a:endParaRPr sz="1100">
              <a:solidFill>
                <a:schemeClr val="dk1"/>
              </a:solidFill>
              <a:latin typeface="Calibri"/>
              <a:ea typeface="Calibri"/>
              <a:cs typeface="Calibri"/>
              <a:sym typeface="Calibri"/>
            </a:endParaRPr>
          </a:p>
        </p:txBody>
      </p:sp>
      <p:sp>
        <p:nvSpPr>
          <p:cNvPr id="216" name="Google Shape;216;p8"/>
          <p:cNvSpPr/>
          <p:nvPr/>
        </p:nvSpPr>
        <p:spPr>
          <a:xfrm>
            <a:off x="7571232" y="5468112"/>
            <a:ext cx="4370832" cy="457200"/>
          </a:xfrm>
          <a:prstGeom prst="roundRect">
            <a:avLst>
              <a:gd fmla="val 14000" name="adj"/>
            </a:avLst>
          </a:prstGeom>
          <a:solidFill>
            <a:srgbClr val="F8FAFC"/>
          </a:solidFill>
          <a:ln cap="flat" cmpd="sng" w="12700">
            <a:solidFill>
              <a:srgbClr val="D97706">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8"/>
          <p:cNvSpPr/>
          <p:nvPr/>
        </p:nvSpPr>
        <p:spPr>
          <a:xfrm>
            <a:off x="7717536" y="5468112"/>
            <a:ext cx="4169664"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7706"/>
              </a:buClr>
              <a:buSzPts val="1100"/>
              <a:buFont typeface="Calibri"/>
              <a:buNone/>
            </a:pPr>
            <a:r>
              <a:rPr b="1" lang="en-US" sz="1100">
                <a:solidFill>
                  <a:srgbClr val="D97706"/>
                </a:solidFill>
                <a:latin typeface="Calibri"/>
                <a:ea typeface="Calibri"/>
                <a:cs typeface="Calibri"/>
                <a:sym typeface="Calibri"/>
              </a:rPr>
              <a:t>◀  Responses API is the primary direction for new apps</a:t>
            </a:r>
            <a:endParaRPr sz="1100">
              <a:solidFill>
                <a:schemeClr val="dk1"/>
              </a:solidFill>
              <a:latin typeface="Calibri"/>
              <a:ea typeface="Calibri"/>
              <a:cs typeface="Calibri"/>
              <a:sym typeface="Calibri"/>
            </a:endParaRPr>
          </a:p>
        </p:txBody>
      </p:sp>
      <p:sp>
        <p:nvSpPr>
          <p:cNvPr id="218" name="Google Shape;218;p8"/>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220" name="Google Shape;220;p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6 / 29</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225" name="Shape 225"/>
        <p:cNvGrpSpPr/>
        <p:nvPr/>
      </p:nvGrpSpPr>
      <p:grpSpPr>
        <a:xfrm>
          <a:off x="0" y="0"/>
          <a:ext cx="0" cy="0"/>
          <a:chOff x="0" y="0"/>
          <a:chExt cx="0" cy="0"/>
        </a:xfrm>
      </p:grpSpPr>
      <p:sp>
        <p:nvSpPr>
          <p:cNvPr id="226" name="Google Shape;226;p9"/>
          <p:cNvSpPr/>
          <p:nvPr/>
        </p:nvSpPr>
        <p:spPr>
          <a:xfrm>
            <a:off x="6583680" y="-182880"/>
            <a:ext cx="64008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21000"/>
              <a:buFont typeface="Calibri"/>
              <a:buNone/>
            </a:pPr>
            <a:r>
              <a:rPr b="1" lang="en-US" sz="21000">
                <a:solidFill>
                  <a:srgbClr val="0891B2"/>
                </a:solidFill>
                <a:latin typeface="Calibri"/>
                <a:ea typeface="Calibri"/>
                <a:cs typeface="Calibri"/>
                <a:sym typeface="Calibri"/>
              </a:rPr>
              <a:t>Response</a:t>
            </a:r>
            <a:endParaRPr sz="21000">
              <a:solidFill>
                <a:schemeClr val="dk1"/>
              </a:solidFill>
              <a:latin typeface="Calibri"/>
              <a:ea typeface="Calibri"/>
              <a:cs typeface="Calibri"/>
              <a:sym typeface="Calibri"/>
            </a:endParaRPr>
          </a:p>
        </p:txBody>
      </p:sp>
      <p:sp>
        <p:nvSpPr>
          <p:cNvPr id="227" name="Google Shape;227;p9"/>
          <p:cNvSpPr/>
          <p:nvPr/>
        </p:nvSpPr>
        <p:spPr>
          <a:xfrm>
            <a:off x="475488" y="804672"/>
            <a:ext cx="749808" cy="749808"/>
          </a:xfrm>
          <a:prstGeom prst="roundRect">
            <a:avLst>
              <a:gd fmla="val 12195" name="adj"/>
            </a:avLst>
          </a:prstGeom>
          <a:solidFill>
            <a:srgbClr val="0891B2"/>
          </a:solidFill>
          <a:ln cap="flat" cmpd="sng" w="12700">
            <a:solidFill>
              <a:srgbClr val="0891B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9"/>
          <p:cNvSpPr/>
          <p:nvPr/>
        </p:nvSpPr>
        <p:spPr>
          <a:xfrm>
            <a:off x="475488" y="804672"/>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600"/>
              <a:buFont typeface="Calibri"/>
              <a:buNone/>
            </a:pPr>
            <a:r>
              <a:rPr lang="en-US" sz="2600">
                <a:solidFill>
                  <a:srgbClr val="000000"/>
                </a:solidFill>
                <a:latin typeface="Calibri"/>
                <a:ea typeface="Calibri"/>
                <a:cs typeface="Calibri"/>
                <a:sym typeface="Calibri"/>
              </a:rPr>
              <a:t>🔄</a:t>
            </a:r>
            <a:endParaRPr sz="2600">
              <a:solidFill>
                <a:schemeClr val="dk1"/>
              </a:solidFill>
              <a:latin typeface="Calibri"/>
              <a:ea typeface="Calibri"/>
              <a:cs typeface="Calibri"/>
              <a:sym typeface="Calibri"/>
            </a:endParaRPr>
          </a:p>
        </p:txBody>
      </p:sp>
      <p:sp>
        <p:nvSpPr>
          <p:cNvPr id="229" name="Google Shape;229;p9"/>
          <p:cNvSpPr/>
          <p:nvPr/>
        </p:nvSpPr>
        <p:spPr>
          <a:xfrm>
            <a:off x="1371600" y="841248"/>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300"/>
              <a:buFont typeface="Calibri"/>
              <a:buNone/>
            </a:pPr>
            <a:r>
              <a:rPr b="1" lang="en-US" sz="1300">
                <a:solidFill>
                  <a:srgbClr val="0891B2"/>
                </a:solidFill>
                <a:latin typeface="Calibri"/>
                <a:ea typeface="Calibri"/>
                <a:cs typeface="Calibri"/>
                <a:sym typeface="Calibri"/>
              </a:rPr>
              <a:t>SECTION</a:t>
            </a:r>
            <a:endParaRPr sz="1300">
              <a:solidFill>
                <a:schemeClr val="dk1"/>
              </a:solidFill>
              <a:latin typeface="Calibri"/>
              <a:ea typeface="Calibri"/>
              <a:cs typeface="Calibri"/>
              <a:sym typeface="Calibri"/>
            </a:endParaRPr>
          </a:p>
        </p:txBody>
      </p:sp>
      <p:sp>
        <p:nvSpPr>
          <p:cNvPr id="230" name="Google Shape;230;p9"/>
          <p:cNvSpPr/>
          <p:nvPr/>
        </p:nvSpPr>
        <p:spPr>
          <a:xfrm>
            <a:off x="685800" y="1417320"/>
            <a:ext cx="9144000" cy="192024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Responses</a:t>
            </a:r>
            <a:endParaRPr sz="5400">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API</a:t>
            </a:r>
            <a:endParaRPr sz="5400">
              <a:solidFill>
                <a:schemeClr val="dk1"/>
              </a:solidFill>
              <a:latin typeface="Calibri"/>
              <a:ea typeface="Calibri"/>
              <a:cs typeface="Calibri"/>
              <a:sym typeface="Calibri"/>
            </a:endParaRPr>
          </a:p>
        </p:txBody>
      </p:sp>
      <p:sp>
        <p:nvSpPr>
          <p:cNvPr id="231" name="Google Shape;231;p9"/>
          <p:cNvSpPr/>
          <p:nvPr/>
        </p:nvSpPr>
        <p:spPr>
          <a:xfrm>
            <a:off x="685800" y="3493008"/>
            <a:ext cx="91440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lang="en-US" sz="2000">
                <a:solidFill>
                  <a:srgbClr val="8B92B8"/>
                </a:solidFill>
                <a:latin typeface="Calibri"/>
                <a:ea typeface="Calibri"/>
                <a:cs typeface="Calibri"/>
                <a:sym typeface="Calibri"/>
              </a:rPr>
              <a:t>The anatomy of a request and response — roles, messages, usage, and conversation.</a:t>
            </a:r>
            <a:endParaRPr sz="2000">
              <a:solidFill>
                <a:schemeClr val="dk1"/>
              </a:solidFill>
              <a:latin typeface="Calibri"/>
              <a:ea typeface="Calibri"/>
              <a:cs typeface="Calibri"/>
              <a:sym typeface="Calibri"/>
            </a:endParaRPr>
          </a:p>
        </p:txBody>
      </p:sp>
      <p:sp>
        <p:nvSpPr>
          <p:cNvPr id="232" name="Google Shape;232;p9"/>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234" name="Google Shape;234;p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7 / 29</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0"/>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Calibri"/>
              <a:buNone/>
            </a:pPr>
            <a:r>
              <a:rPr b="1" lang="en-US" sz="1200">
                <a:solidFill>
                  <a:srgbClr val="0891B2"/>
                </a:solidFill>
                <a:latin typeface="Calibri"/>
                <a:ea typeface="Calibri"/>
                <a:cs typeface="Calibri"/>
                <a:sym typeface="Calibri"/>
              </a:rPr>
              <a:t>SECTION 2 · RESPONSES API — THE 3 MESSAGE ROLES</a:t>
            </a:r>
            <a:endParaRPr sz="1200">
              <a:solidFill>
                <a:schemeClr val="dk1"/>
              </a:solidFill>
              <a:latin typeface="Calibri"/>
              <a:ea typeface="Calibri"/>
              <a:cs typeface="Calibri"/>
              <a:sym typeface="Calibri"/>
            </a:endParaRPr>
          </a:p>
        </p:txBody>
      </p:sp>
      <p:sp>
        <p:nvSpPr>
          <p:cNvPr id="241" name="Google Shape;241;p10"/>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lang="en-US" sz="3400">
                <a:solidFill>
                  <a:srgbClr val="475569"/>
                </a:solidFill>
                <a:latin typeface="Calibri"/>
                <a:ea typeface="Calibri"/>
                <a:cs typeface="Calibri"/>
                <a:sym typeface="Calibri"/>
              </a:rPr>
              <a:t>Three roles. Every API call is a list of messages.</a:t>
            </a:r>
            <a:endParaRPr sz="3400">
              <a:solidFill>
                <a:schemeClr val="dk1"/>
              </a:solidFill>
              <a:latin typeface="Calibri"/>
              <a:ea typeface="Calibri"/>
              <a:cs typeface="Calibri"/>
              <a:sym typeface="Calibri"/>
            </a:endParaRPr>
          </a:p>
        </p:txBody>
      </p:sp>
      <p:sp>
        <p:nvSpPr>
          <p:cNvPr id="242" name="Google Shape;242;p10"/>
          <p:cNvSpPr/>
          <p:nvPr/>
        </p:nvSpPr>
        <p:spPr>
          <a:xfrm>
            <a:off x="502920" y="1874520"/>
            <a:ext cx="11109960" cy="1389888"/>
          </a:xfrm>
          <a:prstGeom prst="roundRect">
            <a:avLst>
              <a:gd fmla="val 6579" name="adj"/>
            </a:avLst>
          </a:prstGeom>
          <a:solidFill>
            <a:srgbClr val="EDE9FE"/>
          </a:solidFill>
          <a:ln cap="flat" cmpd="sng" w="19050">
            <a:solidFill>
              <a:srgbClr val="7C3AED">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0"/>
          <p:cNvSpPr/>
          <p:nvPr/>
        </p:nvSpPr>
        <p:spPr>
          <a:xfrm>
            <a:off x="502920" y="1874520"/>
            <a:ext cx="1207008" cy="1389888"/>
          </a:xfrm>
          <a:prstGeom prst="roundRect">
            <a:avLst>
              <a:gd fmla="val 7576" name="adj"/>
            </a:avLst>
          </a:prstGeom>
          <a:solidFill>
            <a:srgbClr val="7C3AED"/>
          </a:solidFill>
          <a:ln cap="flat" cmpd="sng" w="12700">
            <a:solidFill>
              <a:srgbClr val="7C3A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0"/>
          <p:cNvSpPr/>
          <p:nvPr/>
        </p:nvSpPr>
        <p:spPr>
          <a:xfrm>
            <a:off x="502920" y="2221992"/>
            <a:ext cx="120700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400"/>
              <a:buFont typeface="Calibri"/>
              <a:buNone/>
            </a:pPr>
            <a:r>
              <a:rPr lang="en-US" sz="2400">
                <a:solidFill>
                  <a:srgbClr val="000000"/>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245" name="Google Shape;245;p10"/>
          <p:cNvSpPr/>
          <p:nvPr/>
        </p:nvSpPr>
        <p:spPr>
          <a:xfrm>
            <a:off x="1810512" y="1965960"/>
            <a:ext cx="18288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800"/>
              <a:buFont typeface="Calibri"/>
              <a:buNone/>
            </a:pPr>
            <a:r>
              <a:rPr b="1" lang="en-US" sz="1800">
                <a:solidFill>
                  <a:srgbClr val="7C3AED"/>
                </a:solidFill>
                <a:latin typeface="Calibri"/>
                <a:ea typeface="Calibri"/>
                <a:cs typeface="Calibri"/>
                <a:sym typeface="Calibri"/>
              </a:rPr>
              <a:t>SYSTEM</a:t>
            </a:r>
            <a:endParaRPr sz="1800">
              <a:solidFill>
                <a:schemeClr val="dk1"/>
              </a:solidFill>
              <a:latin typeface="Calibri"/>
              <a:ea typeface="Calibri"/>
              <a:cs typeface="Calibri"/>
              <a:sym typeface="Calibri"/>
            </a:endParaRPr>
          </a:p>
        </p:txBody>
      </p:sp>
      <p:sp>
        <p:nvSpPr>
          <p:cNvPr id="246" name="Google Shape;246;p10"/>
          <p:cNvSpPr/>
          <p:nvPr/>
        </p:nvSpPr>
        <p:spPr>
          <a:xfrm>
            <a:off x="1810512" y="2331720"/>
            <a:ext cx="34747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i="1" lang="en-US" sz="1200">
                <a:solidFill>
                  <a:srgbClr val="8B92B8"/>
                </a:solidFill>
                <a:latin typeface="Calibri"/>
                <a:ea typeface="Calibri"/>
                <a:cs typeface="Calibri"/>
                <a:sym typeface="Calibri"/>
              </a:rPr>
              <a:t>Set once. Defines who the AI should be and what rules to follow.</a:t>
            </a:r>
            <a:endParaRPr sz="1200">
              <a:solidFill>
                <a:schemeClr val="dk1"/>
              </a:solidFill>
              <a:latin typeface="Calibri"/>
              <a:ea typeface="Calibri"/>
              <a:cs typeface="Calibri"/>
              <a:sym typeface="Calibri"/>
            </a:endParaRPr>
          </a:p>
        </p:txBody>
      </p:sp>
      <p:sp>
        <p:nvSpPr>
          <p:cNvPr id="247" name="Google Shape;247;p10"/>
          <p:cNvSpPr/>
          <p:nvPr/>
        </p:nvSpPr>
        <p:spPr>
          <a:xfrm>
            <a:off x="5376672" y="1984248"/>
            <a:ext cx="4892040"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""You are a friendly cooking assistant. Only answer questions about food and recipes.""</a:t>
            </a:r>
            <a:endParaRPr sz="1100">
              <a:solidFill>
                <a:schemeClr val="dk1"/>
              </a:solidFill>
              <a:latin typeface="Calibri"/>
              <a:ea typeface="Calibri"/>
              <a:cs typeface="Calibri"/>
              <a:sym typeface="Calibri"/>
            </a:endParaRPr>
          </a:p>
        </p:txBody>
      </p:sp>
      <p:sp>
        <p:nvSpPr>
          <p:cNvPr id="248" name="Google Shape;248;p10"/>
          <p:cNvSpPr/>
          <p:nvPr/>
        </p:nvSpPr>
        <p:spPr>
          <a:xfrm>
            <a:off x="5376672" y="2697480"/>
            <a:ext cx="4892040" cy="475488"/>
          </a:xfrm>
          <a:prstGeom prst="roundRect">
            <a:avLst>
              <a:gd fmla="val 11538" name="adj"/>
            </a:avLst>
          </a:prstGeom>
          <a:solidFill>
            <a:srgbClr val="7C3AED"/>
          </a:solidFill>
          <a:ln cap="flat" cmpd="sng" w="12700">
            <a:solidFill>
              <a:srgbClr val="7C3AED">
                <a:alpha val="14117"/>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0"/>
          <p:cNvSpPr/>
          <p:nvPr/>
        </p:nvSpPr>
        <p:spPr>
          <a:xfrm>
            <a:off x="5532120" y="2752344"/>
            <a:ext cx="4709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alibri"/>
              <a:buNone/>
            </a:pPr>
            <a:r>
              <a:rPr i="1" lang="en-US" sz="1100">
                <a:solidFill>
                  <a:srgbClr val="7C3AED"/>
                </a:solidFill>
                <a:latin typeface="Calibri"/>
                <a:ea typeface="Calibri"/>
                <a:cs typeface="Calibri"/>
                <a:sym typeface="Calibri"/>
              </a:rPr>
              <a:t>Tip: Think of this as the AI's job description. It applies to every message in the conversation.</a:t>
            </a:r>
            <a:endParaRPr sz="1100">
              <a:solidFill>
                <a:schemeClr val="dk1"/>
              </a:solidFill>
              <a:latin typeface="Calibri"/>
              <a:ea typeface="Calibri"/>
              <a:cs typeface="Calibri"/>
              <a:sym typeface="Calibri"/>
            </a:endParaRPr>
          </a:p>
        </p:txBody>
      </p:sp>
      <p:sp>
        <p:nvSpPr>
          <p:cNvPr id="250" name="Google Shape;250;p10"/>
          <p:cNvSpPr/>
          <p:nvPr/>
        </p:nvSpPr>
        <p:spPr>
          <a:xfrm>
            <a:off x="502920" y="3383280"/>
            <a:ext cx="11109960" cy="1389888"/>
          </a:xfrm>
          <a:prstGeom prst="roundRect">
            <a:avLst>
              <a:gd fmla="val 6579" name="adj"/>
            </a:avLst>
          </a:prstGeom>
          <a:solidFill>
            <a:srgbClr val="ECFEFF"/>
          </a:solidFill>
          <a:ln cap="flat" cmpd="sng" w="19050">
            <a:solidFill>
              <a:srgbClr val="0891B2">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0"/>
          <p:cNvSpPr/>
          <p:nvPr/>
        </p:nvSpPr>
        <p:spPr>
          <a:xfrm>
            <a:off x="502920" y="3383280"/>
            <a:ext cx="1207008" cy="1389888"/>
          </a:xfrm>
          <a:prstGeom prst="roundRect">
            <a:avLst>
              <a:gd fmla="val 7576" name="adj"/>
            </a:avLst>
          </a:prstGeom>
          <a:solidFill>
            <a:srgbClr val="0891B2"/>
          </a:solidFill>
          <a:ln cap="flat" cmpd="sng" w="12700">
            <a:solidFill>
              <a:srgbClr val="0891B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0"/>
          <p:cNvSpPr/>
          <p:nvPr/>
        </p:nvSpPr>
        <p:spPr>
          <a:xfrm>
            <a:off x="502920" y="3730752"/>
            <a:ext cx="120700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400"/>
              <a:buFont typeface="Calibri"/>
              <a:buNone/>
            </a:pPr>
            <a:r>
              <a:rPr lang="en-US" sz="2400">
                <a:solidFill>
                  <a:srgbClr val="000000"/>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253" name="Google Shape;253;p10"/>
          <p:cNvSpPr/>
          <p:nvPr/>
        </p:nvSpPr>
        <p:spPr>
          <a:xfrm>
            <a:off x="1810512" y="3474720"/>
            <a:ext cx="18288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800"/>
              <a:buFont typeface="Calibri"/>
              <a:buNone/>
            </a:pPr>
            <a:r>
              <a:rPr b="1" lang="en-US" sz="1800">
                <a:solidFill>
                  <a:srgbClr val="0891B2"/>
                </a:solidFill>
                <a:latin typeface="Calibri"/>
                <a:ea typeface="Calibri"/>
                <a:cs typeface="Calibri"/>
                <a:sym typeface="Calibri"/>
              </a:rPr>
              <a:t>USER</a:t>
            </a:r>
            <a:endParaRPr sz="1800">
              <a:solidFill>
                <a:schemeClr val="dk1"/>
              </a:solidFill>
              <a:latin typeface="Calibri"/>
              <a:ea typeface="Calibri"/>
              <a:cs typeface="Calibri"/>
              <a:sym typeface="Calibri"/>
            </a:endParaRPr>
          </a:p>
        </p:txBody>
      </p:sp>
      <p:sp>
        <p:nvSpPr>
          <p:cNvPr id="254" name="Google Shape;254;p10"/>
          <p:cNvSpPr/>
          <p:nvPr/>
        </p:nvSpPr>
        <p:spPr>
          <a:xfrm>
            <a:off x="1810512" y="3840480"/>
            <a:ext cx="34747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i="1" lang="en-US" sz="1200">
                <a:solidFill>
                  <a:srgbClr val="8B92B8"/>
                </a:solidFill>
                <a:latin typeface="Calibri"/>
                <a:ea typeface="Calibri"/>
                <a:cs typeface="Calibri"/>
                <a:sym typeface="Calibri"/>
              </a:rPr>
              <a:t>Every turn. What the user says — their question or request.</a:t>
            </a:r>
            <a:endParaRPr sz="1200">
              <a:solidFill>
                <a:schemeClr val="dk1"/>
              </a:solidFill>
              <a:latin typeface="Calibri"/>
              <a:ea typeface="Calibri"/>
              <a:cs typeface="Calibri"/>
              <a:sym typeface="Calibri"/>
            </a:endParaRPr>
          </a:p>
        </p:txBody>
      </p:sp>
      <p:sp>
        <p:nvSpPr>
          <p:cNvPr id="255" name="Google Shape;255;p10"/>
          <p:cNvSpPr/>
          <p:nvPr/>
        </p:nvSpPr>
        <p:spPr>
          <a:xfrm>
            <a:off x="5376672" y="3493008"/>
            <a:ext cx="4892040"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""I have eggs, tomatoes, and cheese. What can I make for breakfast?""</a:t>
            </a:r>
            <a:endParaRPr sz="1100">
              <a:solidFill>
                <a:schemeClr val="dk1"/>
              </a:solidFill>
              <a:latin typeface="Calibri"/>
              <a:ea typeface="Calibri"/>
              <a:cs typeface="Calibri"/>
              <a:sym typeface="Calibri"/>
            </a:endParaRPr>
          </a:p>
        </p:txBody>
      </p:sp>
      <p:sp>
        <p:nvSpPr>
          <p:cNvPr id="256" name="Google Shape;256;p10"/>
          <p:cNvSpPr/>
          <p:nvPr/>
        </p:nvSpPr>
        <p:spPr>
          <a:xfrm>
            <a:off x="5376672" y="4206240"/>
            <a:ext cx="4892040" cy="475488"/>
          </a:xfrm>
          <a:prstGeom prst="roundRect">
            <a:avLst>
              <a:gd fmla="val 11538" name="adj"/>
            </a:avLst>
          </a:prstGeom>
          <a:solidFill>
            <a:srgbClr val="0891B2"/>
          </a:solidFill>
          <a:ln cap="flat" cmpd="sng" w="12700">
            <a:solidFill>
              <a:srgbClr val="0891B2">
                <a:alpha val="14117"/>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0"/>
          <p:cNvSpPr/>
          <p:nvPr/>
        </p:nvSpPr>
        <p:spPr>
          <a:xfrm>
            <a:off x="5532120" y="4261104"/>
            <a:ext cx="4709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00"/>
              <a:buFont typeface="Calibri"/>
              <a:buNone/>
            </a:pPr>
            <a:r>
              <a:rPr i="1" lang="en-US" sz="1100">
                <a:solidFill>
                  <a:srgbClr val="0891B2"/>
                </a:solidFill>
                <a:latin typeface="Calibri"/>
                <a:ea typeface="Calibri"/>
                <a:cs typeface="Calibri"/>
                <a:sym typeface="Calibri"/>
              </a:rPr>
              <a:t>Tip: In your Java app, this is built at runtime from what the user typed or spoke.</a:t>
            </a:r>
            <a:endParaRPr sz="1100">
              <a:solidFill>
                <a:schemeClr val="dk1"/>
              </a:solidFill>
              <a:latin typeface="Calibri"/>
              <a:ea typeface="Calibri"/>
              <a:cs typeface="Calibri"/>
              <a:sym typeface="Calibri"/>
            </a:endParaRPr>
          </a:p>
        </p:txBody>
      </p:sp>
      <p:sp>
        <p:nvSpPr>
          <p:cNvPr id="258" name="Google Shape;258;p10"/>
          <p:cNvSpPr/>
          <p:nvPr/>
        </p:nvSpPr>
        <p:spPr>
          <a:xfrm>
            <a:off x="502920" y="4892040"/>
            <a:ext cx="11109960" cy="1389888"/>
          </a:xfrm>
          <a:prstGeom prst="roundRect">
            <a:avLst>
              <a:gd fmla="val 6579" name="adj"/>
            </a:avLst>
          </a:prstGeom>
          <a:solidFill>
            <a:srgbClr val="F0FDF4"/>
          </a:solidFill>
          <a:ln cap="flat" cmpd="sng" w="19050">
            <a:solidFill>
              <a:srgbClr val="16A34A">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0"/>
          <p:cNvSpPr/>
          <p:nvPr/>
        </p:nvSpPr>
        <p:spPr>
          <a:xfrm>
            <a:off x="502920" y="4892040"/>
            <a:ext cx="1207008" cy="1389888"/>
          </a:xfrm>
          <a:prstGeom prst="roundRect">
            <a:avLst>
              <a:gd fmla="val 7576" name="adj"/>
            </a:avLst>
          </a:prstGeom>
          <a:solidFill>
            <a:srgbClr val="16A34A"/>
          </a:solidFill>
          <a:ln cap="flat" cmpd="sng" w="12700">
            <a:solidFill>
              <a:srgbClr val="16A3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0"/>
          <p:cNvSpPr/>
          <p:nvPr/>
        </p:nvSpPr>
        <p:spPr>
          <a:xfrm>
            <a:off x="502920" y="5239512"/>
            <a:ext cx="120700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400"/>
              <a:buFont typeface="Calibri"/>
              <a:buNone/>
            </a:pPr>
            <a:r>
              <a:rPr lang="en-US" sz="2400">
                <a:solidFill>
                  <a:srgbClr val="000000"/>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261" name="Google Shape;261;p10"/>
          <p:cNvSpPr/>
          <p:nvPr/>
        </p:nvSpPr>
        <p:spPr>
          <a:xfrm>
            <a:off x="1810512" y="4983480"/>
            <a:ext cx="18288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800"/>
              <a:buFont typeface="Calibri"/>
              <a:buNone/>
            </a:pPr>
            <a:r>
              <a:rPr b="1" lang="en-US" sz="1800">
                <a:solidFill>
                  <a:srgbClr val="16A34A"/>
                </a:solidFill>
                <a:latin typeface="Calibri"/>
                <a:ea typeface="Calibri"/>
                <a:cs typeface="Calibri"/>
                <a:sym typeface="Calibri"/>
              </a:rPr>
              <a:t>ASSISTANT</a:t>
            </a:r>
            <a:endParaRPr sz="1800">
              <a:solidFill>
                <a:schemeClr val="dk1"/>
              </a:solidFill>
              <a:latin typeface="Calibri"/>
              <a:ea typeface="Calibri"/>
              <a:cs typeface="Calibri"/>
              <a:sym typeface="Calibri"/>
            </a:endParaRPr>
          </a:p>
        </p:txBody>
      </p:sp>
      <p:sp>
        <p:nvSpPr>
          <p:cNvPr id="262" name="Google Shape;262;p10"/>
          <p:cNvSpPr/>
          <p:nvPr/>
        </p:nvSpPr>
        <p:spPr>
          <a:xfrm>
            <a:off x="1810512" y="5349240"/>
            <a:ext cx="34747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i="1" lang="en-US" sz="1200">
                <a:solidFill>
                  <a:srgbClr val="8B92B8"/>
                </a:solidFill>
                <a:latin typeface="Calibri"/>
                <a:ea typeface="Calibri"/>
                <a:cs typeface="Calibri"/>
                <a:sym typeface="Calibri"/>
              </a:rPr>
              <a:t>The model's previous replies. Must be kept for multi-turn memory.</a:t>
            </a:r>
            <a:endParaRPr sz="1200">
              <a:solidFill>
                <a:schemeClr val="dk1"/>
              </a:solidFill>
              <a:latin typeface="Calibri"/>
              <a:ea typeface="Calibri"/>
              <a:cs typeface="Calibri"/>
              <a:sym typeface="Calibri"/>
            </a:endParaRPr>
          </a:p>
        </p:txBody>
      </p:sp>
      <p:sp>
        <p:nvSpPr>
          <p:cNvPr id="263" name="Google Shape;263;p10"/>
          <p:cNvSpPr/>
          <p:nvPr/>
        </p:nvSpPr>
        <p:spPr>
          <a:xfrm>
            <a:off x="5376672" y="5001768"/>
            <a:ext cx="4892040"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""You can make a classic omelette! Here's how: whisk 2 eggs, add salt...""</a:t>
            </a:r>
            <a:endParaRPr sz="1100">
              <a:solidFill>
                <a:schemeClr val="dk1"/>
              </a:solidFill>
              <a:latin typeface="Calibri"/>
              <a:ea typeface="Calibri"/>
              <a:cs typeface="Calibri"/>
              <a:sym typeface="Calibri"/>
            </a:endParaRPr>
          </a:p>
        </p:txBody>
      </p:sp>
      <p:sp>
        <p:nvSpPr>
          <p:cNvPr id="264" name="Google Shape;264;p10"/>
          <p:cNvSpPr/>
          <p:nvPr/>
        </p:nvSpPr>
        <p:spPr>
          <a:xfrm>
            <a:off x="5376672" y="5715000"/>
            <a:ext cx="4892040" cy="475488"/>
          </a:xfrm>
          <a:prstGeom prst="roundRect">
            <a:avLst>
              <a:gd fmla="val 11538" name="adj"/>
            </a:avLst>
          </a:prstGeom>
          <a:solidFill>
            <a:srgbClr val="16A34A"/>
          </a:solidFill>
          <a:ln cap="flat" cmpd="sng" w="12700">
            <a:solidFill>
              <a:srgbClr val="16A34A">
                <a:alpha val="14117"/>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0"/>
          <p:cNvSpPr/>
          <p:nvPr/>
        </p:nvSpPr>
        <p:spPr>
          <a:xfrm>
            <a:off x="5532120" y="5769864"/>
            <a:ext cx="4709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i="1" lang="en-US" sz="1100">
                <a:solidFill>
                  <a:srgbClr val="16A34A"/>
                </a:solidFill>
                <a:latin typeface="Calibri"/>
                <a:ea typeface="Calibri"/>
                <a:cs typeface="Calibri"/>
                <a:sym typeface="Calibri"/>
              </a:rPr>
              <a:t>Tip: For memory, either pass previous_response_id or keep a small history yourself.</a:t>
            </a:r>
            <a:endParaRPr sz="1100">
              <a:solidFill>
                <a:schemeClr val="dk1"/>
              </a:solidFill>
              <a:latin typeface="Calibri"/>
              <a:ea typeface="Calibri"/>
              <a:cs typeface="Calibri"/>
              <a:sym typeface="Calibri"/>
            </a:endParaRPr>
          </a:p>
        </p:txBody>
      </p:sp>
      <p:sp>
        <p:nvSpPr>
          <p:cNvPr id="266" name="Google Shape;266;p10"/>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268" name="Google Shape;268;p1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8 / 29</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sp>
        <p:nvSpPr>
          <p:cNvPr id="274" name="Google Shape;274;p11"/>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Calibri"/>
              <a:buNone/>
            </a:pPr>
            <a:r>
              <a:rPr b="1" lang="en-US" sz="1200">
                <a:solidFill>
                  <a:srgbClr val="0891B2"/>
                </a:solidFill>
                <a:latin typeface="Calibri"/>
                <a:ea typeface="Calibri"/>
                <a:cs typeface="Calibri"/>
                <a:sym typeface="Calibri"/>
              </a:rPr>
              <a:t>SECTION 2 · RESPONSES API — MULTI-TURN: THE AI THAT REMEMBERS YOU</a:t>
            </a:r>
            <a:endParaRPr sz="1200">
              <a:solidFill>
                <a:schemeClr val="dk1"/>
              </a:solidFill>
              <a:latin typeface="Calibri"/>
              <a:ea typeface="Calibri"/>
              <a:cs typeface="Calibri"/>
              <a:sym typeface="Calibri"/>
            </a:endParaRPr>
          </a:p>
        </p:txBody>
      </p:sp>
      <p:sp>
        <p:nvSpPr>
          <p:cNvPr id="275" name="Google Shape;275;p11"/>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200"/>
              <a:buFont typeface="Calibri"/>
              <a:buNone/>
            </a:pPr>
            <a:r>
              <a:rPr b="1" lang="en-US" sz="3200">
                <a:solidFill>
                  <a:srgbClr val="475569"/>
                </a:solidFill>
                <a:latin typeface="Calibri"/>
                <a:ea typeface="Calibri"/>
                <a:cs typeface="Calibri"/>
                <a:sym typeface="Calibri"/>
              </a:rPr>
              <a:t>Responses API can remember by linking response IDs.</a:t>
            </a:r>
            <a:endParaRPr sz="3200">
              <a:solidFill>
                <a:schemeClr val="dk1"/>
              </a:solidFill>
              <a:latin typeface="Calibri"/>
              <a:ea typeface="Calibri"/>
              <a:cs typeface="Calibri"/>
              <a:sym typeface="Calibri"/>
            </a:endParaRPr>
          </a:p>
        </p:txBody>
      </p:sp>
      <p:sp>
        <p:nvSpPr>
          <p:cNvPr id="276" name="Google Shape;276;p11"/>
          <p:cNvSpPr/>
          <p:nvPr/>
        </p:nvSpPr>
        <p:spPr>
          <a:xfrm>
            <a:off x="502920" y="1847088"/>
            <a:ext cx="6784848" cy="4572000"/>
          </a:xfrm>
          <a:prstGeom prst="roundRect">
            <a:avLst>
              <a:gd fmla="val 2000"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1"/>
          <p:cNvSpPr/>
          <p:nvPr/>
        </p:nvSpPr>
        <p:spPr>
          <a:xfrm>
            <a:off x="502920" y="1847088"/>
            <a:ext cx="6784848" cy="365760"/>
          </a:xfrm>
          <a:prstGeom prst="roundRect">
            <a:avLst>
              <a:gd fmla="val 25000" name="adj"/>
            </a:avLst>
          </a:prstGeom>
          <a:solidFill>
            <a:srgbClr val="1F2937"/>
          </a:solidFill>
          <a:ln cap="flat" cmpd="sng" w="12700">
            <a:solidFill>
              <a:srgbClr val="37415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1"/>
          <p:cNvSpPr/>
          <p:nvPr/>
        </p:nvSpPr>
        <p:spPr>
          <a:xfrm>
            <a:off x="667512" y="1947672"/>
            <a:ext cx="155448" cy="155448"/>
          </a:xfrm>
          <a:prstGeom prst="ellipse">
            <a:avLst/>
          </a:prstGeom>
          <a:solidFill>
            <a:srgbClr val="E11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1"/>
          <p:cNvSpPr/>
          <p:nvPr/>
        </p:nvSpPr>
        <p:spPr>
          <a:xfrm>
            <a:off x="905256" y="1947672"/>
            <a:ext cx="155448" cy="155448"/>
          </a:xfrm>
          <a:prstGeom prst="ellipse">
            <a:avLst/>
          </a:prstGeom>
          <a:solidFill>
            <a:srgbClr val="F59E0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1"/>
          <p:cNvSpPr/>
          <p:nvPr/>
        </p:nvSpPr>
        <p:spPr>
          <a:xfrm>
            <a:off x="1143000" y="1947672"/>
            <a:ext cx="155448" cy="155448"/>
          </a:xfrm>
          <a:prstGeom prst="ellipse">
            <a:avLst/>
          </a:prstGeom>
          <a:solidFill>
            <a:srgbClr val="16A3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1"/>
          <p:cNvSpPr/>
          <p:nvPr/>
        </p:nvSpPr>
        <p:spPr>
          <a:xfrm>
            <a:off x="1417320" y="1911096"/>
            <a:ext cx="573328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lang="en-US" sz="1050">
                <a:solidFill>
                  <a:srgbClr val="9CA3AF"/>
                </a:solidFill>
                <a:latin typeface="Courier New"/>
                <a:ea typeface="Courier New"/>
                <a:cs typeface="Courier New"/>
                <a:sym typeface="Courier New"/>
              </a:rPr>
              <a:t>ConversationDemo.java</a:t>
            </a:r>
            <a:endParaRPr sz="1050">
              <a:solidFill>
                <a:schemeClr val="dk1"/>
              </a:solidFill>
              <a:latin typeface="Calibri"/>
              <a:ea typeface="Calibri"/>
              <a:cs typeface="Calibri"/>
              <a:sym typeface="Calibri"/>
            </a:endParaRPr>
          </a:p>
        </p:txBody>
      </p:sp>
      <p:sp>
        <p:nvSpPr>
          <p:cNvPr id="282" name="Google Shape;282;p11"/>
          <p:cNvSpPr/>
          <p:nvPr/>
        </p:nvSpPr>
        <p:spPr>
          <a:xfrm>
            <a:off x="704088" y="2304288"/>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Simple memory with previous_response_id</a:t>
            </a:r>
            <a:endParaRPr sz="1050">
              <a:solidFill>
                <a:schemeClr val="dk1"/>
              </a:solidFill>
              <a:latin typeface="Calibri"/>
              <a:ea typeface="Calibri"/>
              <a:cs typeface="Calibri"/>
              <a:sym typeface="Calibri"/>
            </a:endParaRPr>
          </a:p>
        </p:txBody>
      </p:sp>
      <p:sp>
        <p:nvSpPr>
          <p:cNvPr id="283" name="Google Shape;283;p11"/>
          <p:cNvSpPr/>
          <p:nvPr/>
        </p:nvSpPr>
        <p:spPr>
          <a:xfrm>
            <a:off x="704088" y="2509114"/>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Store only the last response ID for the next turn.</a:t>
            </a:r>
            <a:endParaRPr sz="1050">
              <a:solidFill>
                <a:schemeClr val="dk1"/>
              </a:solidFill>
              <a:latin typeface="Calibri"/>
              <a:ea typeface="Calibri"/>
              <a:cs typeface="Calibri"/>
              <a:sym typeface="Calibri"/>
            </a:endParaRPr>
          </a:p>
        </p:txBody>
      </p:sp>
      <p:sp>
        <p:nvSpPr>
          <p:cNvPr id="284" name="Google Shape;284;p11"/>
          <p:cNvSpPr/>
          <p:nvPr/>
        </p:nvSpPr>
        <p:spPr>
          <a:xfrm>
            <a:off x="704088" y="2713939"/>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285" name="Google Shape;285;p11"/>
          <p:cNvSpPr/>
          <p:nvPr/>
        </p:nvSpPr>
        <p:spPr>
          <a:xfrm>
            <a:off x="704088" y="2918765"/>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String previousId = null;</a:t>
            </a:r>
            <a:endParaRPr sz="1050">
              <a:solidFill>
                <a:schemeClr val="dk1"/>
              </a:solidFill>
              <a:latin typeface="Calibri"/>
              <a:ea typeface="Calibri"/>
              <a:cs typeface="Calibri"/>
              <a:sym typeface="Calibri"/>
            </a:endParaRPr>
          </a:p>
        </p:txBody>
      </p:sp>
      <p:sp>
        <p:nvSpPr>
          <p:cNvPr id="286" name="Google Shape;286;p11"/>
          <p:cNvSpPr/>
          <p:nvPr/>
        </p:nvSpPr>
        <p:spPr>
          <a:xfrm>
            <a:off x="704088" y="3123590"/>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String rules = "You are a friendly beginner tutor.";</a:t>
            </a:r>
            <a:endParaRPr sz="1050">
              <a:solidFill>
                <a:schemeClr val="dk1"/>
              </a:solidFill>
              <a:latin typeface="Calibri"/>
              <a:ea typeface="Calibri"/>
              <a:cs typeface="Calibri"/>
              <a:sym typeface="Calibri"/>
            </a:endParaRPr>
          </a:p>
        </p:txBody>
      </p:sp>
      <p:sp>
        <p:nvSpPr>
          <p:cNvPr id="287" name="Google Shape;287;p11"/>
          <p:cNvSpPr/>
          <p:nvPr/>
        </p:nvSpPr>
        <p:spPr>
          <a:xfrm>
            <a:off x="704088" y="3328416"/>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288" name="Google Shape;288;p11"/>
          <p:cNvSpPr/>
          <p:nvPr/>
        </p:nvSpPr>
        <p:spPr>
          <a:xfrm>
            <a:off x="704088" y="3533242"/>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Each user turn</a:t>
            </a:r>
            <a:endParaRPr sz="1050">
              <a:solidFill>
                <a:schemeClr val="dk1"/>
              </a:solidFill>
              <a:latin typeface="Calibri"/>
              <a:ea typeface="Calibri"/>
              <a:cs typeface="Calibri"/>
              <a:sym typeface="Calibri"/>
            </a:endParaRPr>
          </a:p>
        </p:txBody>
      </p:sp>
      <p:sp>
        <p:nvSpPr>
          <p:cNvPr id="289" name="Google Shape;289;p11"/>
          <p:cNvSpPr/>
          <p:nvPr/>
        </p:nvSpPr>
        <p:spPr>
          <a:xfrm>
            <a:off x="704088" y="3738067"/>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var builder = ResponseCreateParams.builder()</a:t>
            </a:r>
            <a:endParaRPr sz="1050">
              <a:solidFill>
                <a:schemeClr val="dk1"/>
              </a:solidFill>
              <a:latin typeface="Calibri"/>
              <a:ea typeface="Calibri"/>
              <a:cs typeface="Calibri"/>
              <a:sym typeface="Calibri"/>
            </a:endParaRPr>
          </a:p>
        </p:txBody>
      </p:sp>
      <p:sp>
        <p:nvSpPr>
          <p:cNvPr id="290" name="Google Shape;290;p11"/>
          <p:cNvSpPr/>
          <p:nvPr/>
        </p:nvSpPr>
        <p:spPr>
          <a:xfrm>
            <a:off x="704088" y="3942893"/>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.model(ChatModel.GPT_4O_MINI)</a:t>
            </a:r>
            <a:endParaRPr sz="1050">
              <a:solidFill>
                <a:schemeClr val="dk1"/>
              </a:solidFill>
              <a:latin typeface="Calibri"/>
              <a:ea typeface="Calibri"/>
              <a:cs typeface="Calibri"/>
              <a:sym typeface="Calibri"/>
            </a:endParaRPr>
          </a:p>
        </p:txBody>
      </p:sp>
      <p:sp>
        <p:nvSpPr>
          <p:cNvPr id="291" name="Google Shape;291;p11"/>
          <p:cNvSpPr/>
          <p:nvPr/>
        </p:nvSpPr>
        <p:spPr>
          <a:xfrm>
            <a:off x="704088" y="4147718"/>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292" name="Google Shape;292;p11"/>
          <p:cNvSpPr/>
          <p:nvPr/>
        </p:nvSpPr>
        <p:spPr>
          <a:xfrm>
            <a:off x="704088" y="4352544"/>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.instructions(rules)</a:t>
            </a:r>
            <a:endParaRPr sz="1050">
              <a:solidFill>
                <a:schemeClr val="dk1"/>
              </a:solidFill>
              <a:latin typeface="Calibri"/>
              <a:ea typeface="Calibri"/>
              <a:cs typeface="Calibri"/>
              <a:sym typeface="Calibri"/>
            </a:endParaRPr>
          </a:p>
        </p:txBody>
      </p:sp>
      <p:sp>
        <p:nvSpPr>
          <p:cNvPr id="293" name="Google Shape;293;p11"/>
          <p:cNvSpPr/>
          <p:nvPr/>
        </p:nvSpPr>
        <p:spPr>
          <a:xfrm>
            <a:off x="704088" y="4557370"/>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.input(userInput);</a:t>
            </a:r>
            <a:endParaRPr sz="1050">
              <a:solidFill>
                <a:schemeClr val="dk1"/>
              </a:solidFill>
              <a:latin typeface="Calibri"/>
              <a:ea typeface="Calibri"/>
              <a:cs typeface="Calibri"/>
              <a:sym typeface="Calibri"/>
            </a:endParaRPr>
          </a:p>
        </p:txBody>
      </p:sp>
      <p:sp>
        <p:nvSpPr>
          <p:cNvPr id="294" name="Google Shape;294;p11"/>
          <p:cNvSpPr/>
          <p:nvPr/>
        </p:nvSpPr>
        <p:spPr>
          <a:xfrm>
            <a:off x="704088" y="4762195"/>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if (previousId != null)</a:t>
            </a:r>
            <a:endParaRPr sz="1050">
              <a:solidFill>
                <a:schemeClr val="dk1"/>
              </a:solidFill>
              <a:latin typeface="Calibri"/>
              <a:ea typeface="Calibri"/>
              <a:cs typeface="Calibri"/>
              <a:sym typeface="Calibri"/>
            </a:endParaRPr>
          </a:p>
        </p:txBody>
      </p:sp>
      <p:sp>
        <p:nvSpPr>
          <p:cNvPr id="295" name="Google Shape;295;p11"/>
          <p:cNvSpPr/>
          <p:nvPr/>
        </p:nvSpPr>
        <p:spPr>
          <a:xfrm>
            <a:off x="704088" y="4967021"/>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builder.previousResponseId(previousId);</a:t>
            </a:r>
            <a:endParaRPr sz="1050">
              <a:solidFill>
                <a:schemeClr val="dk1"/>
              </a:solidFill>
              <a:latin typeface="Calibri"/>
              <a:ea typeface="Calibri"/>
              <a:cs typeface="Calibri"/>
              <a:sym typeface="Calibri"/>
            </a:endParaRPr>
          </a:p>
        </p:txBody>
      </p:sp>
      <p:sp>
        <p:nvSpPr>
          <p:cNvPr id="296" name="Google Shape;296;p11"/>
          <p:cNvSpPr/>
          <p:nvPr/>
        </p:nvSpPr>
        <p:spPr>
          <a:xfrm>
            <a:off x="704088" y="5171846"/>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Response response = client.responses().create(builder.build());</a:t>
            </a:r>
            <a:endParaRPr sz="1050">
              <a:solidFill>
                <a:schemeClr val="dk1"/>
              </a:solidFill>
              <a:latin typeface="Calibri"/>
              <a:ea typeface="Calibri"/>
              <a:cs typeface="Calibri"/>
              <a:sym typeface="Calibri"/>
            </a:endParaRPr>
          </a:p>
        </p:txBody>
      </p:sp>
      <p:sp>
        <p:nvSpPr>
          <p:cNvPr id="297" name="Google Shape;297;p11"/>
          <p:cNvSpPr/>
          <p:nvPr/>
        </p:nvSpPr>
        <p:spPr>
          <a:xfrm>
            <a:off x="704088" y="5376672"/>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298" name="Google Shape;298;p11"/>
          <p:cNvSpPr/>
          <p:nvPr/>
        </p:nvSpPr>
        <p:spPr>
          <a:xfrm>
            <a:off x="704088" y="5581498"/>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299" name="Google Shape;299;p11"/>
          <p:cNvSpPr/>
          <p:nvPr/>
        </p:nvSpPr>
        <p:spPr>
          <a:xfrm>
            <a:off x="704088" y="5786323"/>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Save response ID for next message</a:t>
            </a:r>
            <a:endParaRPr sz="1050">
              <a:solidFill>
                <a:schemeClr val="dk1"/>
              </a:solidFill>
              <a:latin typeface="Calibri"/>
              <a:ea typeface="Calibri"/>
              <a:cs typeface="Calibri"/>
              <a:sym typeface="Calibri"/>
            </a:endParaRPr>
          </a:p>
        </p:txBody>
      </p:sp>
      <p:sp>
        <p:nvSpPr>
          <p:cNvPr id="300" name="Google Shape;300;p11"/>
          <p:cNvSpPr/>
          <p:nvPr/>
        </p:nvSpPr>
        <p:spPr>
          <a:xfrm>
            <a:off x="704088" y="5991149"/>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previousId = response.id();</a:t>
            </a:r>
            <a:endParaRPr sz="1050">
              <a:solidFill>
                <a:schemeClr val="dk1"/>
              </a:solidFill>
              <a:latin typeface="Calibri"/>
              <a:ea typeface="Calibri"/>
              <a:cs typeface="Calibri"/>
              <a:sym typeface="Calibri"/>
            </a:endParaRPr>
          </a:p>
        </p:txBody>
      </p:sp>
      <p:sp>
        <p:nvSpPr>
          <p:cNvPr id="301" name="Google Shape;301;p11"/>
          <p:cNvSpPr/>
          <p:nvPr/>
        </p:nvSpPr>
        <p:spPr>
          <a:xfrm>
            <a:off x="704088" y="6195974"/>
            <a:ext cx="6464808" cy="2048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 Next turn can use the earlier context</a:t>
            </a:r>
            <a:endParaRPr sz="1050">
              <a:solidFill>
                <a:schemeClr val="dk1"/>
              </a:solidFill>
              <a:latin typeface="Calibri"/>
              <a:ea typeface="Calibri"/>
              <a:cs typeface="Calibri"/>
              <a:sym typeface="Calibri"/>
            </a:endParaRPr>
          </a:p>
        </p:txBody>
      </p:sp>
      <p:sp>
        <p:nvSpPr>
          <p:cNvPr id="302" name="Google Shape;302;p11"/>
          <p:cNvSpPr/>
          <p:nvPr/>
        </p:nvSpPr>
        <p:spPr>
          <a:xfrm>
            <a:off x="7406640" y="2852928"/>
            <a:ext cx="4572000" cy="457200"/>
          </a:xfrm>
          <a:prstGeom prst="roundRect">
            <a:avLst>
              <a:gd fmla="val 14000" name="adj"/>
            </a:avLst>
          </a:prstGeom>
          <a:solidFill>
            <a:srgbClr val="F8FAFC"/>
          </a:solidFill>
          <a:ln cap="flat" cmpd="sng" w="12700">
            <a:solidFill>
              <a:srgbClr val="7C3AED">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1"/>
          <p:cNvSpPr/>
          <p:nvPr/>
        </p:nvSpPr>
        <p:spPr>
          <a:xfrm>
            <a:off x="7552944" y="2852928"/>
            <a:ext cx="4370832"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1100"/>
              <a:buFont typeface="Calibri"/>
              <a:buNone/>
            </a:pPr>
            <a:r>
              <a:rPr b="1" lang="en-US" sz="1100">
                <a:solidFill>
                  <a:srgbClr val="7C3AED"/>
                </a:solidFill>
                <a:latin typeface="Calibri"/>
                <a:ea typeface="Calibri"/>
                <a:cs typeface="Calibri"/>
                <a:sym typeface="Calibri"/>
              </a:rPr>
              <a:t>◀  Keep only what you need — context costs money</a:t>
            </a:r>
            <a:endParaRPr sz="1100">
              <a:solidFill>
                <a:schemeClr val="dk1"/>
              </a:solidFill>
              <a:latin typeface="Calibri"/>
              <a:ea typeface="Calibri"/>
              <a:cs typeface="Calibri"/>
              <a:sym typeface="Calibri"/>
            </a:endParaRPr>
          </a:p>
        </p:txBody>
      </p:sp>
      <p:sp>
        <p:nvSpPr>
          <p:cNvPr id="304" name="Google Shape;304;p11"/>
          <p:cNvSpPr/>
          <p:nvPr/>
        </p:nvSpPr>
        <p:spPr>
          <a:xfrm>
            <a:off x="7406640" y="3977640"/>
            <a:ext cx="4572000" cy="457200"/>
          </a:xfrm>
          <a:prstGeom prst="roundRect">
            <a:avLst>
              <a:gd fmla="val 14000" name="adj"/>
            </a:avLst>
          </a:prstGeom>
          <a:solidFill>
            <a:srgbClr val="F8FAFC"/>
          </a:solidFill>
          <a:ln cap="flat" cmpd="sng" w="12700">
            <a:solidFill>
              <a:srgbClr val="0891B2">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11"/>
          <p:cNvSpPr/>
          <p:nvPr/>
        </p:nvSpPr>
        <p:spPr>
          <a:xfrm>
            <a:off x="7552944" y="3977640"/>
            <a:ext cx="4370832"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1100"/>
              <a:buFont typeface="Calibri"/>
              <a:buNone/>
            </a:pPr>
            <a:r>
              <a:rPr b="1" lang="en-US" sz="1100">
                <a:solidFill>
                  <a:srgbClr val="0891B2"/>
                </a:solidFill>
                <a:latin typeface="Calibri"/>
                <a:ea typeface="Calibri"/>
                <a:cs typeface="Calibri"/>
                <a:sym typeface="Calibri"/>
              </a:rPr>
              <a:t>◀  previousResponseId links turns without resending everything</a:t>
            </a:r>
            <a:endParaRPr sz="1100">
              <a:solidFill>
                <a:schemeClr val="dk1"/>
              </a:solidFill>
              <a:latin typeface="Calibri"/>
              <a:ea typeface="Calibri"/>
              <a:cs typeface="Calibri"/>
              <a:sym typeface="Calibri"/>
            </a:endParaRPr>
          </a:p>
        </p:txBody>
      </p:sp>
      <p:sp>
        <p:nvSpPr>
          <p:cNvPr id="306" name="Google Shape;306;p11"/>
          <p:cNvSpPr/>
          <p:nvPr/>
        </p:nvSpPr>
        <p:spPr>
          <a:xfrm>
            <a:off x="7406640" y="5257800"/>
            <a:ext cx="4572000" cy="457200"/>
          </a:xfrm>
          <a:prstGeom prst="roundRect">
            <a:avLst>
              <a:gd fmla="val 14000" name="adj"/>
            </a:avLst>
          </a:prstGeom>
          <a:solidFill>
            <a:srgbClr val="F8FAFC"/>
          </a:solidFill>
          <a:ln cap="flat" cmpd="sng" w="12700">
            <a:solidFill>
              <a:srgbClr val="E11D48">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11"/>
          <p:cNvSpPr/>
          <p:nvPr/>
        </p:nvSpPr>
        <p:spPr>
          <a:xfrm>
            <a:off x="7552944" y="5257800"/>
            <a:ext cx="4370832"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1100"/>
              <a:buFont typeface="Calibri"/>
              <a:buNone/>
            </a:pPr>
            <a:r>
              <a:rPr b="1" lang="en-US" sz="1100">
                <a:solidFill>
                  <a:srgbClr val="E11D48"/>
                </a:solidFill>
                <a:latin typeface="Calibri"/>
                <a:ea typeface="Calibri"/>
                <a:cs typeface="Calibri"/>
                <a:sym typeface="Calibri"/>
              </a:rPr>
              <a:t>◀  For full control, you can still store your own short history</a:t>
            </a:r>
            <a:endParaRPr sz="1100">
              <a:solidFill>
                <a:schemeClr val="dk1"/>
              </a:solidFill>
              <a:latin typeface="Calibri"/>
              <a:ea typeface="Calibri"/>
              <a:cs typeface="Calibri"/>
              <a:sym typeface="Calibri"/>
            </a:endParaRPr>
          </a:p>
        </p:txBody>
      </p:sp>
      <p:sp>
        <p:nvSpPr>
          <p:cNvPr id="308" name="Google Shape;308;p11"/>
          <p:cNvSpPr/>
          <p:nvPr/>
        </p:nvSpPr>
        <p:spPr>
          <a:xfrm>
            <a:off x="7406640" y="5833872"/>
            <a:ext cx="4572000" cy="566928"/>
          </a:xfrm>
          <a:prstGeom prst="roundRect">
            <a:avLst>
              <a:gd fmla="val 14516"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1"/>
          <p:cNvSpPr/>
          <p:nvPr/>
        </p:nvSpPr>
        <p:spPr>
          <a:xfrm>
            <a:off x="7571232" y="5907024"/>
            <a:ext cx="4251960" cy="42062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1D48"/>
              </a:buClr>
              <a:buSzPts val="1200"/>
              <a:buFont typeface="Calibri"/>
              <a:buNone/>
            </a:pPr>
            <a:r>
              <a:rPr lang="en-US" sz="1200">
                <a:solidFill>
                  <a:srgbClr val="E11D48"/>
                </a:solidFill>
                <a:latin typeface="Calibri"/>
                <a:ea typeface="Calibri"/>
                <a:cs typeface="Calibri"/>
                <a:sym typeface="Calibri"/>
              </a:rPr>
              <a:t>Cost tip: do not resend 50 old messages. Summarize or trim long chats.</a:t>
            </a:r>
            <a:endParaRPr sz="1200">
              <a:solidFill>
                <a:schemeClr val="dk1"/>
              </a:solidFill>
              <a:latin typeface="Calibri"/>
              <a:ea typeface="Calibri"/>
              <a:cs typeface="Calibri"/>
              <a:sym typeface="Calibri"/>
            </a:endParaRPr>
          </a:p>
        </p:txBody>
      </p:sp>
      <p:sp>
        <p:nvSpPr>
          <p:cNvPr id="310" name="Google Shape;310;p11"/>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312" name="Google Shape;312;p1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9 / 29</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317" name="Shape 317"/>
        <p:cNvGrpSpPr/>
        <p:nvPr/>
      </p:nvGrpSpPr>
      <p:grpSpPr>
        <a:xfrm>
          <a:off x="0" y="0"/>
          <a:ext cx="0" cy="0"/>
          <a:chOff x="0" y="0"/>
          <a:chExt cx="0" cy="0"/>
        </a:xfrm>
      </p:grpSpPr>
      <p:sp>
        <p:nvSpPr>
          <p:cNvPr id="318" name="Google Shape;318;p12"/>
          <p:cNvSpPr/>
          <p:nvPr/>
        </p:nvSpPr>
        <p:spPr>
          <a:xfrm>
            <a:off x="6583680" y="-182880"/>
            <a:ext cx="64008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1000"/>
              <a:buFont typeface="Calibri"/>
              <a:buNone/>
            </a:pPr>
            <a:r>
              <a:rPr b="1" lang="en-US" sz="21000">
                <a:solidFill>
                  <a:srgbClr val="16A34A"/>
                </a:solidFill>
                <a:latin typeface="Calibri"/>
                <a:ea typeface="Calibri"/>
                <a:cs typeface="Calibri"/>
                <a:sym typeface="Calibri"/>
              </a:rPr>
              <a:t>Streamin</a:t>
            </a:r>
            <a:endParaRPr sz="21000">
              <a:solidFill>
                <a:schemeClr val="dk1"/>
              </a:solidFill>
              <a:latin typeface="Calibri"/>
              <a:ea typeface="Calibri"/>
              <a:cs typeface="Calibri"/>
              <a:sym typeface="Calibri"/>
            </a:endParaRPr>
          </a:p>
        </p:txBody>
      </p:sp>
      <p:sp>
        <p:nvSpPr>
          <p:cNvPr id="319" name="Google Shape;319;p12"/>
          <p:cNvSpPr/>
          <p:nvPr/>
        </p:nvSpPr>
        <p:spPr>
          <a:xfrm>
            <a:off x="475488" y="804672"/>
            <a:ext cx="749808" cy="749808"/>
          </a:xfrm>
          <a:prstGeom prst="roundRect">
            <a:avLst>
              <a:gd fmla="val 12195" name="adj"/>
            </a:avLst>
          </a:prstGeom>
          <a:solidFill>
            <a:srgbClr val="16A34A"/>
          </a:solidFill>
          <a:ln cap="flat" cmpd="sng" w="12700">
            <a:solidFill>
              <a:srgbClr val="16A3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2"/>
          <p:cNvSpPr/>
          <p:nvPr/>
        </p:nvSpPr>
        <p:spPr>
          <a:xfrm>
            <a:off x="475488" y="804672"/>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600"/>
              <a:buFont typeface="Calibri"/>
              <a:buNone/>
            </a:pPr>
            <a:r>
              <a:rPr lang="en-US" sz="2600">
                <a:solidFill>
                  <a:srgbClr val="000000"/>
                </a:solidFill>
                <a:latin typeface="Calibri"/>
                <a:ea typeface="Calibri"/>
                <a:cs typeface="Calibri"/>
                <a:sym typeface="Calibri"/>
              </a:rPr>
              <a:t>⚡</a:t>
            </a:r>
            <a:endParaRPr sz="2600">
              <a:solidFill>
                <a:schemeClr val="dk1"/>
              </a:solidFill>
              <a:latin typeface="Calibri"/>
              <a:ea typeface="Calibri"/>
              <a:cs typeface="Calibri"/>
              <a:sym typeface="Calibri"/>
            </a:endParaRPr>
          </a:p>
        </p:txBody>
      </p:sp>
      <p:sp>
        <p:nvSpPr>
          <p:cNvPr id="321" name="Google Shape;321;p12"/>
          <p:cNvSpPr/>
          <p:nvPr/>
        </p:nvSpPr>
        <p:spPr>
          <a:xfrm>
            <a:off x="1371600" y="841248"/>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00"/>
              <a:buFont typeface="Calibri"/>
              <a:buNone/>
            </a:pPr>
            <a:r>
              <a:rPr b="1" lang="en-US" sz="1300">
                <a:solidFill>
                  <a:srgbClr val="16A34A"/>
                </a:solidFill>
                <a:latin typeface="Calibri"/>
                <a:ea typeface="Calibri"/>
                <a:cs typeface="Calibri"/>
                <a:sym typeface="Calibri"/>
              </a:rPr>
              <a:t>SECTION</a:t>
            </a:r>
            <a:endParaRPr sz="1300">
              <a:solidFill>
                <a:schemeClr val="dk1"/>
              </a:solidFill>
              <a:latin typeface="Calibri"/>
              <a:ea typeface="Calibri"/>
              <a:cs typeface="Calibri"/>
              <a:sym typeface="Calibri"/>
            </a:endParaRPr>
          </a:p>
        </p:txBody>
      </p:sp>
      <p:sp>
        <p:nvSpPr>
          <p:cNvPr id="322" name="Google Shape;322;p12"/>
          <p:cNvSpPr/>
          <p:nvPr/>
        </p:nvSpPr>
        <p:spPr>
          <a:xfrm>
            <a:off x="685800" y="1417320"/>
            <a:ext cx="9144000" cy="192024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Streaming</a:t>
            </a:r>
            <a:endParaRPr sz="5400">
              <a:solidFill>
                <a:schemeClr val="dk1"/>
              </a:solidFill>
              <a:latin typeface="Calibri"/>
              <a:ea typeface="Calibri"/>
              <a:cs typeface="Calibri"/>
              <a:sym typeface="Calibri"/>
            </a:endParaRPr>
          </a:p>
        </p:txBody>
      </p:sp>
      <p:sp>
        <p:nvSpPr>
          <p:cNvPr id="323" name="Google Shape;323;p12"/>
          <p:cNvSpPr/>
          <p:nvPr/>
        </p:nvSpPr>
        <p:spPr>
          <a:xfrm>
            <a:off x="685800" y="3493008"/>
            <a:ext cx="91440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lang="en-US" sz="2000">
                <a:solidFill>
                  <a:srgbClr val="8B92B8"/>
                </a:solidFill>
                <a:latin typeface="Calibri"/>
                <a:ea typeface="Calibri"/>
                <a:cs typeface="Calibri"/>
                <a:sym typeface="Calibri"/>
              </a:rPr>
              <a:t>Tokens arrive one by one — live. Don't wait for the full response. Show it as it arrives.</a:t>
            </a:r>
            <a:endParaRPr sz="2000">
              <a:solidFill>
                <a:schemeClr val="dk1"/>
              </a:solidFill>
              <a:latin typeface="Calibri"/>
              <a:ea typeface="Calibri"/>
              <a:cs typeface="Calibri"/>
              <a:sym typeface="Calibri"/>
            </a:endParaRPr>
          </a:p>
        </p:txBody>
      </p:sp>
      <p:sp>
        <p:nvSpPr>
          <p:cNvPr id="324" name="Google Shape;324;p12"/>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2"/>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326" name="Google Shape;326;p12"/>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10 / 29</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13"/>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lang="en-US" sz="1200">
                <a:solidFill>
                  <a:srgbClr val="16A34A"/>
                </a:solidFill>
                <a:latin typeface="Calibri"/>
                <a:ea typeface="Calibri"/>
                <a:cs typeface="Calibri"/>
                <a:sym typeface="Calibri"/>
              </a:rPr>
              <a:t>SECTION 3 · STREAMING — WHY IT MAKES YOUR APP FEEL ALIVE</a:t>
            </a:r>
            <a:endParaRPr sz="1200">
              <a:solidFill>
                <a:schemeClr val="dk1"/>
              </a:solidFill>
              <a:latin typeface="Calibri"/>
              <a:ea typeface="Calibri"/>
              <a:cs typeface="Calibri"/>
              <a:sym typeface="Calibri"/>
            </a:endParaRPr>
          </a:p>
        </p:txBody>
      </p:sp>
      <p:sp>
        <p:nvSpPr>
          <p:cNvPr id="333" name="Google Shape;333;p13"/>
          <p:cNvSpPr/>
          <p:nvPr/>
        </p:nvSpPr>
        <p:spPr>
          <a:xfrm>
            <a:off x="685800" y="749808"/>
            <a:ext cx="10789920" cy="11155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lang="en-US" sz="3400">
                <a:solidFill>
                  <a:srgbClr val="475569"/>
                </a:solidFill>
                <a:latin typeface="Calibri"/>
                <a:ea typeface="Calibri"/>
                <a:cs typeface="Calibri"/>
                <a:sym typeface="Calibri"/>
              </a:rPr>
              <a:t>Waiting 8 seconds feels broken.</a:t>
            </a:r>
            <a:endParaRPr sz="3400">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75569"/>
              </a:buClr>
              <a:buSzPts val="3400"/>
              <a:buFont typeface="Calibri"/>
              <a:buNone/>
            </a:pPr>
            <a:r>
              <a:rPr b="1" lang="en-US" sz="3400">
                <a:solidFill>
                  <a:srgbClr val="475569"/>
                </a:solidFill>
                <a:latin typeface="Calibri"/>
                <a:ea typeface="Calibri"/>
                <a:cs typeface="Calibri"/>
                <a:sym typeface="Calibri"/>
              </a:rPr>
              <a:t>Streaming feels instant.</a:t>
            </a:r>
            <a:endParaRPr sz="3400">
              <a:solidFill>
                <a:schemeClr val="dk1"/>
              </a:solidFill>
              <a:latin typeface="Calibri"/>
              <a:ea typeface="Calibri"/>
              <a:cs typeface="Calibri"/>
              <a:sym typeface="Calibri"/>
            </a:endParaRPr>
          </a:p>
        </p:txBody>
      </p:sp>
      <p:sp>
        <p:nvSpPr>
          <p:cNvPr id="334" name="Google Shape;334;p13"/>
          <p:cNvSpPr/>
          <p:nvPr/>
        </p:nvSpPr>
        <p:spPr>
          <a:xfrm>
            <a:off x="502920" y="2057400"/>
            <a:ext cx="5257800" cy="2852928"/>
          </a:xfrm>
          <a:prstGeom prst="roundRect">
            <a:avLst>
              <a:gd fmla="val 3205" name="adj"/>
            </a:avLst>
          </a:prstGeom>
          <a:solidFill>
            <a:srgbClr val="FFF1F2"/>
          </a:solidFill>
          <a:ln cap="flat" cmpd="sng" w="12700">
            <a:solidFill>
              <a:srgbClr val="E11D48">
                <a:alpha val="50196"/>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13"/>
          <p:cNvSpPr/>
          <p:nvPr/>
        </p:nvSpPr>
        <p:spPr>
          <a:xfrm>
            <a:off x="713232" y="2194560"/>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lang="en-US" sz="1200">
                <a:solidFill>
                  <a:srgbClr val="E11D48"/>
                </a:solidFill>
                <a:latin typeface="Calibri"/>
                <a:ea typeface="Calibri"/>
                <a:cs typeface="Calibri"/>
                <a:sym typeface="Calibri"/>
              </a:rPr>
              <a:t>WITHOUT STREAMING</a:t>
            </a:r>
            <a:endParaRPr sz="1200">
              <a:solidFill>
                <a:schemeClr val="dk1"/>
              </a:solidFill>
              <a:latin typeface="Calibri"/>
              <a:ea typeface="Calibri"/>
              <a:cs typeface="Calibri"/>
              <a:sym typeface="Calibri"/>
            </a:endParaRPr>
          </a:p>
        </p:txBody>
      </p:sp>
      <p:sp>
        <p:nvSpPr>
          <p:cNvPr id="336" name="Google Shape;336;p13"/>
          <p:cNvSpPr/>
          <p:nvPr/>
        </p:nvSpPr>
        <p:spPr>
          <a:xfrm>
            <a:off x="713232" y="2633472"/>
            <a:ext cx="960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ourier New"/>
              <a:buNone/>
            </a:pPr>
            <a:r>
              <a:rPr b="1" lang="en-US" sz="1200">
                <a:solidFill>
                  <a:srgbClr val="E11D48"/>
                </a:solidFill>
                <a:latin typeface="Courier New"/>
                <a:ea typeface="Courier New"/>
                <a:cs typeface="Courier New"/>
                <a:sym typeface="Courier New"/>
              </a:rPr>
              <a:t>⌛ 0 seconds</a:t>
            </a:r>
            <a:endParaRPr sz="1200">
              <a:solidFill>
                <a:schemeClr val="dk1"/>
              </a:solidFill>
              <a:latin typeface="Calibri"/>
              <a:ea typeface="Calibri"/>
              <a:cs typeface="Calibri"/>
              <a:sym typeface="Calibri"/>
            </a:endParaRPr>
          </a:p>
        </p:txBody>
      </p:sp>
      <p:sp>
        <p:nvSpPr>
          <p:cNvPr id="337" name="Google Shape;337;p13"/>
          <p:cNvSpPr/>
          <p:nvPr/>
        </p:nvSpPr>
        <p:spPr>
          <a:xfrm>
            <a:off x="1755648" y="2633472"/>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User clicks Send. Blank white screen.</a:t>
            </a:r>
            <a:endParaRPr sz="1200">
              <a:solidFill>
                <a:schemeClr val="dk1"/>
              </a:solidFill>
              <a:latin typeface="Calibri"/>
              <a:ea typeface="Calibri"/>
              <a:cs typeface="Calibri"/>
              <a:sym typeface="Calibri"/>
            </a:endParaRPr>
          </a:p>
        </p:txBody>
      </p:sp>
      <p:sp>
        <p:nvSpPr>
          <p:cNvPr id="338" name="Google Shape;338;p13"/>
          <p:cNvSpPr/>
          <p:nvPr/>
        </p:nvSpPr>
        <p:spPr>
          <a:xfrm>
            <a:off x="713232" y="3017520"/>
            <a:ext cx="960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ourier New"/>
              <a:buNone/>
            </a:pPr>
            <a:r>
              <a:rPr b="1" lang="en-US" sz="1200">
                <a:solidFill>
                  <a:srgbClr val="E11D48"/>
                </a:solidFill>
                <a:latin typeface="Courier New"/>
                <a:ea typeface="Courier New"/>
                <a:cs typeface="Courier New"/>
                <a:sym typeface="Courier New"/>
              </a:rPr>
              <a:t>⌛ 2 seconds</a:t>
            </a:r>
            <a:endParaRPr sz="1200">
              <a:solidFill>
                <a:schemeClr val="dk1"/>
              </a:solidFill>
              <a:latin typeface="Calibri"/>
              <a:ea typeface="Calibri"/>
              <a:cs typeface="Calibri"/>
              <a:sym typeface="Calibri"/>
            </a:endParaRPr>
          </a:p>
        </p:txBody>
      </p:sp>
      <p:sp>
        <p:nvSpPr>
          <p:cNvPr id="339" name="Google Shape;339;p13"/>
          <p:cNvSpPr/>
          <p:nvPr/>
        </p:nvSpPr>
        <p:spPr>
          <a:xfrm>
            <a:off x="1755648" y="301752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Still blank. Is it broken?</a:t>
            </a:r>
            <a:endParaRPr sz="1200">
              <a:solidFill>
                <a:schemeClr val="dk1"/>
              </a:solidFill>
              <a:latin typeface="Calibri"/>
              <a:ea typeface="Calibri"/>
              <a:cs typeface="Calibri"/>
              <a:sym typeface="Calibri"/>
            </a:endParaRPr>
          </a:p>
        </p:txBody>
      </p:sp>
      <p:sp>
        <p:nvSpPr>
          <p:cNvPr id="340" name="Google Shape;340;p13"/>
          <p:cNvSpPr/>
          <p:nvPr/>
        </p:nvSpPr>
        <p:spPr>
          <a:xfrm>
            <a:off x="713232" y="3401568"/>
            <a:ext cx="960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ourier New"/>
              <a:buNone/>
            </a:pPr>
            <a:r>
              <a:rPr b="1" lang="en-US" sz="1200">
                <a:solidFill>
                  <a:srgbClr val="E11D48"/>
                </a:solidFill>
                <a:latin typeface="Courier New"/>
                <a:ea typeface="Courier New"/>
                <a:cs typeface="Courier New"/>
                <a:sym typeface="Courier New"/>
              </a:rPr>
              <a:t>⌛ 6 seconds</a:t>
            </a:r>
            <a:endParaRPr sz="1200">
              <a:solidFill>
                <a:schemeClr val="dk1"/>
              </a:solidFill>
              <a:latin typeface="Calibri"/>
              <a:ea typeface="Calibri"/>
              <a:cs typeface="Calibri"/>
              <a:sym typeface="Calibri"/>
            </a:endParaRPr>
          </a:p>
        </p:txBody>
      </p:sp>
      <p:sp>
        <p:nvSpPr>
          <p:cNvPr id="341" name="Google Shape;341;p13"/>
          <p:cNvSpPr/>
          <p:nvPr/>
        </p:nvSpPr>
        <p:spPr>
          <a:xfrm>
            <a:off x="1755648" y="3401568"/>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Still nothing. User hits refresh.</a:t>
            </a:r>
            <a:endParaRPr sz="1200">
              <a:solidFill>
                <a:schemeClr val="dk1"/>
              </a:solidFill>
              <a:latin typeface="Calibri"/>
              <a:ea typeface="Calibri"/>
              <a:cs typeface="Calibri"/>
              <a:sym typeface="Calibri"/>
            </a:endParaRPr>
          </a:p>
        </p:txBody>
      </p:sp>
      <p:sp>
        <p:nvSpPr>
          <p:cNvPr id="342" name="Google Shape;342;p13"/>
          <p:cNvSpPr/>
          <p:nvPr/>
        </p:nvSpPr>
        <p:spPr>
          <a:xfrm>
            <a:off x="713232" y="3785616"/>
            <a:ext cx="960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ourier New"/>
              <a:buNone/>
            </a:pPr>
            <a:r>
              <a:rPr b="1" lang="en-US" sz="1200">
                <a:solidFill>
                  <a:srgbClr val="E11D48"/>
                </a:solidFill>
                <a:latin typeface="Courier New"/>
                <a:ea typeface="Courier New"/>
                <a:cs typeface="Courier New"/>
                <a:sym typeface="Courier New"/>
              </a:rPr>
              <a:t>⌛ 8 seconds</a:t>
            </a:r>
            <a:endParaRPr sz="1200">
              <a:solidFill>
                <a:schemeClr val="dk1"/>
              </a:solidFill>
              <a:latin typeface="Calibri"/>
              <a:ea typeface="Calibri"/>
              <a:cs typeface="Calibri"/>
              <a:sym typeface="Calibri"/>
            </a:endParaRPr>
          </a:p>
        </p:txBody>
      </p:sp>
      <p:sp>
        <p:nvSpPr>
          <p:cNvPr id="343" name="Google Shape;343;p13"/>
          <p:cNvSpPr/>
          <p:nvPr/>
        </p:nvSpPr>
        <p:spPr>
          <a:xfrm>
            <a:off x="1755648" y="3785616"/>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All 500 words appear at once. Too late!</a:t>
            </a:r>
            <a:endParaRPr sz="1200">
              <a:solidFill>
                <a:schemeClr val="dk1"/>
              </a:solidFill>
              <a:latin typeface="Calibri"/>
              <a:ea typeface="Calibri"/>
              <a:cs typeface="Calibri"/>
              <a:sym typeface="Calibri"/>
            </a:endParaRPr>
          </a:p>
        </p:txBody>
      </p:sp>
      <p:sp>
        <p:nvSpPr>
          <p:cNvPr id="344" name="Google Shape;344;p13"/>
          <p:cNvSpPr/>
          <p:nvPr/>
        </p:nvSpPr>
        <p:spPr>
          <a:xfrm>
            <a:off x="713232" y="4169664"/>
            <a:ext cx="960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ourier New"/>
              <a:buNone/>
            </a:pPr>
            <a:r>
              <a:rPr b="1" lang="en-US" sz="1200">
                <a:solidFill>
                  <a:srgbClr val="E11D48"/>
                </a:solidFill>
                <a:latin typeface="Courier New"/>
                <a:ea typeface="Courier New"/>
                <a:cs typeface="Courier New"/>
                <a:sym typeface="Courier New"/>
              </a:rPr>
              <a:t>😩</a:t>
            </a:r>
            <a:endParaRPr sz="1200">
              <a:solidFill>
                <a:schemeClr val="dk1"/>
              </a:solidFill>
              <a:latin typeface="Calibri"/>
              <a:ea typeface="Calibri"/>
              <a:cs typeface="Calibri"/>
              <a:sym typeface="Calibri"/>
            </a:endParaRPr>
          </a:p>
        </p:txBody>
      </p:sp>
      <p:sp>
        <p:nvSpPr>
          <p:cNvPr id="345" name="Google Shape;345;p13"/>
          <p:cNvSpPr/>
          <p:nvPr/>
        </p:nvSpPr>
        <p:spPr>
          <a:xfrm>
            <a:off x="1755648" y="4169664"/>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User already left the page.</a:t>
            </a:r>
            <a:endParaRPr sz="1200">
              <a:solidFill>
                <a:schemeClr val="dk1"/>
              </a:solidFill>
              <a:latin typeface="Calibri"/>
              <a:ea typeface="Calibri"/>
              <a:cs typeface="Calibri"/>
              <a:sym typeface="Calibri"/>
            </a:endParaRPr>
          </a:p>
        </p:txBody>
      </p:sp>
      <p:sp>
        <p:nvSpPr>
          <p:cNvPr id="346" name="Google Shape;346;p13"/>
          <p:cNvSpPr/>
          <p:nvPr/>
        </p:nvSpPr>
        <p:spPr>
          <a:xfrm>
            <a:off x="6126480" y="2057400"/>
            <a:ext cx="5349240" cy="2852928"/>
          </a:xfrm>
          <a:prstGeom prst="roundRect">
            <a:avLst>
              <a:gd fmla="val 3205" name="adj"/>
            </a:avLst>
          </a:prstGeom>
          <a:solidFill>
            <a:srgbClr val="F0FDF4"/>
          </a:solidFill>
          <a:ln cap="flat" cmpd="sng" w="12700">
            <a:solidFill>
              <a:srgbClr val="16A34A">
                <a:alpha val="50196"/>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3"/>
          <p:cNvSpPr/>
          <p:nvPr/>
        </p:nvSpPr>
        <p:spPr>
          <a:xfrm>
            <a:off x="6327648" y="2194560"/>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lang="en-US" sz="1200">
                <a:solidFill>
                  <a:srgbClr val="16A34A"/>
                </a:solidFill>
                <a:latin typeface="Calibri"/>
                <a:ea typeface="Calibri"/>
                <a:cs typeface="Calibri"/>
                <a:sym typeface="Calibri"/>
              </a:rPr>
              <a:t>WITH STREAMING</a:t>
            </a:r>
            <a:endParaRPr sz="1200">
              <a:solidFill>
                <a:schemeClr val="dk1"/>
              </a:solidFill>
              <a:latin typeface="Calibri"/>
              <a:ea typeface="Calibri"/>
              <a:cs typeface="Calibri"/>
              <a:sym typeface="Calibri"/>
            </a:endParaRPr>
          </a:p>
        </p:txBody>
      </p:sp>
      <p:sp>
        <p:nvSpPr>
          <p:cNvPr id="348" name="Google Shape;348;p13"/>
          <p:cNvSpPr/>
          <p:nvPr/>
        </p:nvSpPr>
        <p:spPr>
          <a:xfrm>
            <a:off x="6327648" y="2633472"/>
            <a:ext cx="960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ourier New"/>
              <a:buNone/>
            </a:pPr>
            <a:r>
              <a:rPr b="1" lang="en-US" sz="1200">
                <a:solidFill>
                  <a:srgbClr val="16A34A"/>
                </a:solidFill>
                <a:latin typeface="Courier New"/>
                <a:ea typeface="Courier New"/>
                <a:cs typeface="Courier New"/>
                <a:sym typeface="Courier New"/>
              </a:rPr>
              <a:t>✅ 0.2 seconds</a:t>
            </a:r>
            <a:endParaRPr sz="1200">
              <a:solidFill>
                <a:schemeClr val="dk1"/>
              </a:solidFill>
              <a:latin typeface="Calibri"/>
              <a:ea typeface="Calibri"/>
              <a:cs typeface="Calibri"/>
              <a:sym typeface="Calibri"/>
            </a:endParaRPr>
          </a:p>
        </p:txBody>
      </p:sp>
      <p:sp>
        <p:nvSpPr>
          <p:cNvPr id="349" name="Google Shape;349;p13"/>
          <p:cNvSpPr/>
          <p:nvPr/>
        </p:nvSpPr>
        <p:spPr>
          <a:xfrm>
            <a:off x="7360920" y="2633472"/>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First word appears. User starts reading.</a:t>
            </a:r>
            <a:endParaRPr sz="1200">
              <a:solidFill>
                <a:schemeClr val="dk1"/>
              </a:solidFill>
              <a:latin typeface="Calibri"/>
              <a:ea typeface="Calibri"/>
              <a:cs typeface="Calibri"/>
              <a:sym typeface="Calibri"/>
            </a:endParaRPr>
          </a:p>
        </p:txBody>
      </p:sp>
      <p:sp>
        <p:nvSpPr>
          <p:cNvPr id="350" name="Google Shape;350;p13"/>
          <p:cNvSpPr/>
          <p:nvPr/>
        </p:nvSpPr>
        <p:spPr>
          <a:xfrm>
            <a:off x="6327648" y="3017520"/>
            <a:ext cx="960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ourier New"/>
              <a:buNone/>
            </a:pPr>
            <a:r>
              <a:rPr b="1" lang="en-US" sz="1200">
                <a:solidFill>
                  <a:srgbClr val="16A34A"/>
                </a:solidFill>
                <a:latin typeface="Courier New"/>
                <a:ea typeface="Courier New"/>
                <a:cs typeface="Courier New"/>
                <a:sym typeface="Courier New"/>
              </a:rPr>
              <a:t>✅ 0.5 seconds</a:t>
            </a:r>
            <a:endParaRPr sz="1200">
              <a:solidFill>
                <a:schemeClr val="dk1"/>
              </a:solidFill>
              <a:latin typeface="Calibri"/>
              <a:ea typeface="Calibri"/>
              <a:cs typeface="Calibri"/>
              <a:sym typeface="Calibri"/>
            </a:endParaRPr>
          </a:p>
        </p:txBody>
      </p:sp>
      <p:sp>
        <p:nvSpPr>
          <p:cNvPr id="351" name="Google Shape;351;p13"/>
          <p:cNvSpPr/>
          <p:nvPr/>
        </p:nvSpPr>
        <p:spPr>
          <a:xfrm>
            <a:off x="7360920" y="3017520"/>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More words. User is already engaged.</a:t>
            </a:r>
            <a:endParaRPr sz="1200">
              <a:solidFill>
                <a:schemeClr val="dk1"/>
              </a:solidFill>
              <a:latin typeface="Calibri"/>
              <a:ea typeface="Calibri"/>
              <a:cs typeface="Calibri"/>
              <a:sym typeface="Calibri"/>
            </a:endParaRPr>
          </a:p>
        </p:txBody>
      </p:sp>
      <p:sp>
        <p:nvSpPr>
          <p:cNvPr id="352" name="Google Shape;352;p13"/>
          <p:cNvSpPr/>
          <p:nvPr/>
        </p:nvSpPr>
        <p:spPr>
          <a:xfrm>
            <a:off x="6327648" y="3401568"/>
            <a:ext cx="960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ourier New"/>
              <a:buNone/>
            </a:pPr>
            <a:r>
              <a:rPr b="1" lang="en-US" sz="1200">
                <a:solidFill>
                  <a:srgbClr val="16A34A"/>
                </a:solidFill>
                <a:latin typeface="Courier New"/>
                <a:ea typeface="Courier New"/>
                <a:cs typeface="Courier New"/>
                <a:sym typeface="Courier New"/>
              </a:rPr>
              <a:t>✅ 2 seconds</a:t>
            </a:r>
            <a:endParaRPr sz="1200">
              <a:solidFill>
                <a:schemeClr val="dk1"/>
              </a:solidFill>
              <a:latin typeface="Calibri"/>
              <a:ea typeface="Calibri"/>
              <a:cs typeface="Calibri"/>
              <a:sym typeface="Calibri"/>
            </a:endParaRPr>
          </a:p>
        </p:txBody>
      </p:sp>
      <p:sp>
        <p:nvSpPr>
          <p:cNvPr id="353" name="Google Shape;353;p13"/>
          <p:cNvSpPr/>
          <p:nvPr/>
        </p:nvSpPr>
        <p:spPr>
          <a:xfrm>
            <a:off x="7360920" y="3401568"/>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Half the answer is visible.</a:t>
            </a:r>
            <a:endParaRPr sz="1200">
              <a:solidFill>
                <a:schemeClr val="dk1"/>
              </a:solidFill>
              <a:latin typeface="Calibri"/>
              <a:ea typeface="Calibri"/>
              <a:cs typeface="Calibri"/>
              <a:sym typeface="Calibri"/>
            </a:endParaRPr>
          </a:p>
        </p:txBody>
      </p:sp>
      <p:sp>
        <p:nvSpPr>
          <p:cNvPr id="354" name="Google Shape;354;p13"/>
          <p:cNvSpPr/>
          <p:nvPr/>
        </p:nvSpPr>
        <p:spPr>
          <a:xfrm>
            <a:off x="6327648" y="3785616"/>
            <a:ext cx="960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ourier New"/>
              <a:buNone/>
            </a:pPr>
            <a:r>
              <a:rPr b="1" lang="en-US" sz="1200">
                <a:solidFill>
                  <a:srgbClr val="16A34A"/>
                </a:solidFill>
                <a:latin typeface="Courier New"/>
                <a:ea typeface="Courier New"/>
                <a:cs typeface="Courier New"/>
                <a:sym typeface="Courier New"/>
              </a:rPr>
              <a:t>✅ 8 seconds</a:t>
            </a:r>
            <a:endParaRPr sz="1200">
              <a:solidFill>
                <a:schemeClr val="dk1"/>
              </a:solidFill>
              <a:latin typeface="Calibri"/>
              <a:ea typeface="Calibri"/>
              <a:cs typeface="Calibri"/>
              <a:sym typeface="Calibri"/>
            </a:endParaRPr>
          </a:p>
        </p:txBody>
      </p:sp>
      <p:sp>
        <p:nvSpPr>
          <p:cNvPr id="355" name="Google Shape;355;p13"/>
          <p:cNvSpPr/>
          <p:nvPr/>
        </p:nvSpPr>
        <p:spPr>
          <a:xfrm>
            <a:off x="7360920" y="3785616"/>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Last word arrives. User has read everything.</a:t>
            </a:r>
            <a:endParaRPr sz="1200">
              <a:solidFill>
                <a:schemeClr val="dk1"/>
              </a:solidFill>
              <a:latin typeface="Calibri"/>
              <a:ea typeface="Calibri"/>
              <a:cs typeface="Calibri"/>
              <a:sym typeface="Calibri"/>
            </a:endParaRPr>
          </a:p>
        </p:txBody>
      </p:sp>
      <p:sp>
        <p:nvSpPr>
          <p:cNvPr id="356" name="Google Shape;356;p13"/>
          <p:cNvSpPr/>
          <p:nvPr/>
        </p:nvSpPr>
        <p:spPr>
          <a:xfrm>
            <a:off x="6327648" y="4169664"/>
            <a:ext cx="960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ourier New"/>
              <a:buNone/>
            </a:pPr>
            <a:r>
              <a:rPr b="1" lang="en-US" sz="1200">
                <a:solidFill>
                  <a:srgbClr val="16A34A"/>
                </a:solidFill>
                <a:latin typeface="Courier New"/>
                <a:ea typeface="Courier New"/>
                <a:cs typeface="Courier New"/>
                <a:sym typeface="Courier New"/>
              </a:rPr>
              <a:t>😊</a:t>
            </a:r>
            <a:endParaRPr sz="1200">
              <a:solidFill>
                <a:schemeClr val="dk1"/>
              </a:solidFill>
              <a:latin typeface="Calibri"/>
              <a:ea typeface="Calibri"/>
              <a:cs typeface="Calibri"/>
              <a:sym typeface="Calibri"/>
            </a:endParaRPr>
          </a:p>
        </p:txBody>
      </p:sp>
      <p:sp>
        <p:nvSpPr>
          <p:cNvPr id="357" name="Google Shape;357;p13"/>
          <p:cNvSpPr/>
          <p:nvPr/>
        </p:nvSpPr>
        <p:spPr>
          <a:xfrm>
            <a:off x="7360920" y="4169664"/>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User never felt the wait.</a:t>
            </a:r>
            <a:endParaRPr sz="1200">
              <a:solidFill>
                <a:schemeClr val="dk1"/>
              </a:solidFill>
              <a:latin typeface="Calibri"/>
              <a:ea typeface="Calibri"/>
              <a:cs typeface="Calibri"/>
              <a:sym typeface="Calibri"/>
            </a:endParaRPr>
          </a:p>
        </p:txBody>
      </p:sp>
      <p:sp>
        <p:nvSpPr>
          <p:cNvPr id="358" name="Google Shape;358;p13"/>
          <p:cNvSpPr/>
          <p:nvPr/>
        </p:nvSpPr>
        <p:spPr>
          <a:xfrm>
            <a:off x="502920" y="5047488"/>
            <a:ext cx="3611880" cy="1170432"/>
          </a:xfrm>
          <a:prstGeom prst="roundRect">
            <a:avLst>
              <a:gd fmla="val 7031" name="adj"/>
            </a:avLst>
          </a:prstGeom>
          <a:solidFill>
            <a:srgbClr val="F8FAFC"/>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13"/>
          <p:cNvSpPr/>
          <p:nvPr/>
        </p:nvSpPr>
        <p:spPr>
          <a:xfrm>
            <a:off x="667512" y="5166360"/>
            <a:ext cx="32918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400"/>
              <a:buFont typeface="Calibri"/>
              <a:buNone/>
            </a:pPr>
            <a:r>
              <a:rPr b="1" lang="en-US" sz="1400">
                <a:solidFill>
                  <a:srgbClr val="16A34A"/>
                </a:solidFill>
                <a:latin typeface="Calibri"/>
                <a:ea typeface="Calibri"/>
                <a:cs typeface="Calibri"/>
                <a:sym typeface="Calibri"/>
              </a:rPr>
              <a:t>⏩ Time to first word</a:t>
            </a:r>
            <a:endParaRPr sz="1400">
              <a:solidFill>
                <a:schemeClr val="dk1"/>
              </a:solidFill>
              <a:latin typeface="Calibri"/>
              <a:ea typeface="Calibri"/>
              <a:cs typeface="Calibri"/>
              <a:sym typeface="Calibri"/>
            </a:endParaRPr>
          </a:p>
        </p:txBody>
      </p:sp>
      <p:sp>
        <p:nvSpPr>
          <p:cNvPr id="360" name="Google Shape;360;p13"/>
          <p:cNvSpPr/>
          <p:nvPr/>
        </p:nvSpPr>
        <p:spPr>
          <a:xfrm>
            <a:off x="667512" y="5532120"/>
            <a:ext cx="3291840" cy="62179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Drops from 8s to 0.2s perceived. Same compute — dramatically better UX.</a:t>
            </a:r>
            <a:endParaRPr sz="1200">
              <a:solidFill>
                <a:schemeClr val="dk1"/>
              </a:solidFill>
              <a:latin typeface="Calibri"/>
              <a:ea typeface="Calibri"/>
              <a:cs typeface="Calibri"/>
              <a:sym typeface="Calibri"/>
            </a:endParaRPr>
          </a:p>
        </p:txBody>
      </p:sp>
      <p:sp>
        <p:nvSpPr>
          <p:cNvPr id="361" name="Google Shape;361;p13"/>
          <p:cNvSpPr/>
          <p:nvPr/>
        </p:nvSpPr>
        <p:spPr>
          <a:xfrm>
            <a:off x="4343400" y="5047488"/>
            <a:ext cx="3611880" cy="1170432"/>
          </a:xfrm>
          <a:prstGeom prst="roundRect">
            <a:avLst>
              <a:gd fmla="val 7031" name="adj"/>
            </a:avLst>
          </a:prstGeom>
          <a:solidFill>
            <a:srgbClr val="F8FAFC"/>
          </a:solidFill>
          <a:ln cap="flat" cmpd="sng" w="12700">
            <a:solidFill>
              <a:srgbClr val="0891B2">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3"/>
          <p:cNvSpPr/>
          <p:nvPr/>
        </p:nvSpPr>
        <p:spPr>
          <a:xfrm>
            <a:off x="4507992" y="5166360"/>
            <a:ext cx="32918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400"/>
              <a:buFont typeface="Calibri"/>
              <a:buNone/>
            </a:pPr>
            <a:r>
              <a:rPr b="1" lang="en-US" sz="1400">
                <a:solidFill>
                  <a:srgbClr val="0891B2"/>
                </a:solidFill>
                <a:latin typeface="Calibri"/>
                <a:ea typeface="Calibri"/>
                <a:cs typeface="Calibri"/>
                <a:sym typeface="Calibri"/>
              </a:rPr>
              <a:t>📺 Progressive display</a:t>
            </a:r>
            <a:endParaRPr sz="1400">
              <a:solidFill>
                <a:schemeClr val="dk1"/>
              </a:solidFill>
              <a:latin typeface="Calibri"/>
              <a:ea typeface="Calibri"/>
              <a:cs typeface="Calibri"/>
              <a:sym typeface="Calibri"/>
            </a:endParaRPr>
          </a:p>
        </p:txBody>
      </p:sp>
      <p:sp>
        <p:nvSpPr>
          <p:cNvPr id="363" name="Google Shape;363;p13"/>
          <p:cNvSpPr/>
          <p:nvPr/>
        </p:nvSpPr>
        <p:spPr>
          <a:xfrm>
            <a:off x="4507992" y="5532120"/>
            <a:ext cx="3291840" cy="62179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User starts reading while the AI is still generating. Natural feeling.</a:t>
            </a:r>
            <a:endParaRPr sz="1200">
              <a:solidFill>
                <a:schemeClr val="dk1"/>
              </a:solidFill>
              <a:latin typeface="Calibri"/>
              <a:ea typeface="Calibri"/>
              <a:cs typeface="Calibri"/>
              <a:sym typeface="Calibri"/>
            </a:endParaRPr>
          </a:p>
        </p:txBody>
      </p:sp>
      <p:sp>
        <p:nvSpPr>
          <p:cNvPr id="364" name="Google Shape;364;p13"/>
          <p:cNvSpPr/>
          <p:nvPr/>
        </p:nvSpPr>
        <p:spPr>
          <a:xfrm>
            <a:off x="8183880" y="5047488"/>
            <a:ext cx="3611880" cy="1170432"/>
          </a:xfrm>
          <a:prstGeom prst="roundRect">
            <a:avLst>
              <a:gd fmla="val 7031" name="adj"/>
            </a:avLst>
          </a:prstGeom>
          <a:solidFill>
            <a:srgbClr val="F8FAFC"/>
          </a:solidFill>
          <a:ln cap="flat" cmpd="sng" w="12700">
            <a:solidFill>
              <a:srgbClr val="D97706">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3"/>
          <p:cNvSpPr/>
          <p:nvPr/>
        </p:nvSpPr>
        <p:spPr>
          <a:xfrm>
            <a:off x="8348472" y="5166360"/>
            <a:ext cx="32918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400"/>
              <a:buFont typeface="Calibri"/>
              <a:buNone/>
            </a:pPr>
            <a:r>
              <a:rPr b="1" lang="en-US" sz="1400">
                <a:solidFill>
                  <a:srgbClr val="D97706"/>
                </a:solidFill>
                <a:latin typeface="Calibri"/>
                <a:ea typeface="Calibri"/>
                <a:cs typeface="Calibri"/>
                <a:sym typeface="Calibri"/>
              </a:rPr>
              <a:t>✂️ Early stop</a:t>
            </a:r>
            <a:endParaRPr sz="1400">
              <a:solidFill>
                <a:schemeClr val="dk1"/>
              </a:solidFill>
              <a:latin typeface="Calibri"/>
              <a:ea typeface="Calibri"/>
              <a:cs typeface="Calibri"/>
              <a:sym typeface="Calibri"/>
            </a:endParaRPr>
          </a:p>
        </p:txBody>
      </p:sp>
      <p:sp>
        <p:nvSpPr>
          <p:cNvPr id="366" name="Google Shape;366;p13"/>
          <p:cNvSpPr/>
          <p:nvPr/>
        </p:nvSpPr>
        <p:spPr>
          <a:xfrm>
            <a:off x="8348472" y="5532120"/>
            <a:ext cx="3291840" cy="62179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If AI goes wrong direction, cancel the stream and save tokens.</a:t>
            </a:r>
            <a:endParaRPr sz="1200">
              <a:solidFill>
                <a:schemeClr val="dk1"/>
              </a:solidFill>
              <a:latin typeface="Calibri"/>
              <a:ea typeface="Calibri"/>
              <a:cs typeface="Calibri"/>
              <a:sym typeface="Calibri"/>
            </a:endParaRPr>
          </a:p>
        </p:txBody>
      </p:sp>
      <p:sp>
        <p:nvSpPr>
          <p:cNvPr id="367" name="Google Shape;367;p13"/>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1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369" name="Google Shape;369;p1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11 / 29</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14"/>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lang="en-US" sz="1200">
                <a:solidFill>
                  <a:srgbClr val="16A34A"/>
                </a:solidFill>
                <a:latin typeface="Calibri"/>
                <a:ea typeface="Calibri"/>
                <a:cs typeface="Calibri"/>
                <a:sym typeface="Calibri"/>
              </a:rPr>
              <a:t>SECTION 3 · STREAMING — RESPONSES API STREAMING</a:t>
            </a:r>
            <a:endParaRPr sz="1200">
              <a:solidFill>
                <a:schemeClr val="dk1"/>
              </a:solidFill>
              <a:latin typeface="Calibri"/>
              <a:ea typeface="Calibri"/>
              <a:cs typeface="Calibri"/>
              <a:sym typeface="Calibri"/>
            </a:endParaRPr>
          </a:p>
        </p:txBody>
      </p:sp>
      <p:sp>
        <p:nvSpPr>
          <p:cNvPr id="376" name="Google Shape;376;p14"/>
          <p:cNvSpPr/>
          <p:nvPr/>
        </p:nvSpPr>
        <p:spPr>
          <a:xfrm>
            <a:off x="685800" y="749808"/>
            <a:ext cx="1078992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lang="en-US" sz="3400">
                <a:solidFill>
                  <a:srgbClr val="475569"/>
                </a:solidFill>
                <a:latin typeface="Calibri"/>
                <a:ea typeface="Calibri"/>
                <a:cs typeface="Calibri"/>
                <a:sym typeface="Calibri"/>
              </a:rPr>
              <a:t>Use createStreaming() and read outputTextDelta events.</a:t>
            </a:r>
            <a:endParaRPr sz="3400">
              <a:solidFill>
                <a:schemeClr val="dk1"/>
              </a:solidFill>
              <a:latin typeface="Calibri"/>
              <a:ea typeface="Calibri"/>
              <a:cs typeface="Calibri"/>
              <a:sym typeface="Calibri"/>
            </a:endParaRPr>
          </a:p>
        </p:txBody>
      </p:sp>
      <p:sp>
        <p:nvSpPr>
          <p:cNvPr id="377" name="Google Shape;377;p14"/>
          <p:cNvSpPr/>
          <p:nvPr/>
        </p:nvSpPr>
        <p:spPr>
          <a:xfrm>
            <a:off x="502920" y="1847088"/>
            <a:ext cx="6784848" cy="4462272"/>
          </a:xfrm>
          <a:prstGeom prst="roundRect">
            <a:avLst>
              <a:gd fmla="val 2049"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4"/>
          <p:cNvSpPr/>
          <p:nvPr/>
        </p:nvSpPr>
        <p:spPr>
          <a:xfrm>
            <a:off x="502920" y="1847088"/>
            <a:ext cx="6784848" cy="365760"/>
          </a:xfrm>
          <a:prstGeom prst="roundRect">
            <a:avLst>
              <a:gd fmla="val 25000" name="adj"/>
            </a:avLst>
          </a:prstGeom>
          <a:solidFill>
            <a:srgbClr val="1F2937"/>
          </a:solidFill>
          <a:ln cap="flat" cmpd="sng" w="12700">
            <a:solidFill>
              <a:srgbClr val="37415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4"/>
          <p:cNvSpPr/>
          <p:nvPr/>
        </p:nvSpPr>
        <p:spPr>
          <a:xfrm>
            <a:off x="667512" y="1947672"/>
            <a:ext cx="155448" cy="155448"/>
          </a:xfrm>
          <a:prstGeom prst="ellipse">
            <a:avLst/>
          </a:prstGeom>
          <a:solidFill>
            <a:srgbClr val="E11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4"/>
          <p:cNvSpPr/>
          <p:nvPr/>
        </p:nvSpPr>
        <p:spPr>
          <a:xfrm>
            <a:off x="905256" y="1947672"/>
            <a:ext cx="155448" cy="155448"/>
          </a:xfrm>
          <a:prstGeom prst="ellipse">
            <a:avLst/>
          </a:prstGeom>
          <a:solidFill>
            <a:srgbClr val="F59E0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14"/>
          <p:cNvSpPr/>
          <p:nvPr/>
        </p:nvSpPr>
        <p:spPr>
          <a:xfrm>
            <a:off x="1143000" y="1947672"/>
            <a:ext cx="155448" cy="155448"/>
          </a:xfrm>
          <a:prstGeom prst="ellipse">
            <a:avLst/>
          </a:prstGeom>
          <a:solidFill>
            <a:srgbClr val="16A3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4"/>
          <p:cNvSpPr/>
          <p:nvPr/>
        </p:nvSpPr>
        <p:spPr>
          <a:xfrm>
            <a:off x="1417320" y="1911096"/>
            <a:ext cx="573328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lang="en-US" sz="1050">
                <a:solidFill>
                  <a:srgbClr val="9CA3AF"/>
                </a:solidFill>
                <a:latin typeface="Courier New"/>
                <a:ea typeface="Courier New"/>
                <a:cs typeface="Courier New"/>
                <a:sym typeface="Courier New"/>
              </a:rPr>
              <a:t>StreamingDemo.java</a:t>
            </a:r>
            <a:endParaRPr sz="1050">
              <a:solidFill>
                <a:schemeClr val="dk1"/>
              </a:solidFill>
              <a:latin typeface="Calibri"/>
              <a:ea typeface="Calibri"/>
              <a:cs typeface="Calibri"/>
              <a:sym typeface="Calibri"/>
            </a:endParaRPr>
          </a:p>
        </p:txBody>
      </p:sp>
      <p:sp>
        <p:nvSpPr>
          <p:cNvPr id="383" name="Google Shape;383;p14"/>
          <p:cNvSpPr/>
          <p:nvPr/>
        </p:nvSpPr>
        <p:spPr>
          <a:xfrm>
            <a:off x="704088" y="2304288"/>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Build params once</a:t>
            </a:r>
            <a:endParaRPr sz="1050">
              <a:solidFill>
                <a:schemeClr val="dk1"/>
              </a:solidFill>
              <a:latin typeface="Calibri"/>
              <a:ea typeface="Calibri"/>
              <a:cs typeface="Calibri"/>
              <a:sym typeface="Calibri"/>
            </a:endParaRPr>
          </a:p>
        </p:txBody>
      </p:sp>
      <p:sp>
        <p:nvSpPr>
          <p:cNvPr id="384" name="Google Shape;384;p14"/>
          <p:cNvSpPr/>
          <p:nvPr/>
        </p:nvSpPr>
        <p:spPr>
          <a:xfrm>
            <a:off x="704088" y="2514119"/>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var params = ResponseCreateParams.builder()</a:t>
            </a:r>
            <a:endParaRPr sz="1050">
              <a:solidFill>
                <a:schemeClr val="dk1"/>
              </a:solidFill>
              <a:latin typeface="Calibri"/>
              <a:ea typeface="Calibri"/>
              <a:cs typeface="Calibri"/>
              <a:sym typeface="Calibri"/>
            </a:endParaRPr>
          </a:p>
        </p:txBody>
      </p:sp>
      <p:sp>
        <p:nvSpPr>
          <p:cNvPr id="385" name="Google Shape;385;p14"/>
          <p:cNvSpPr/>
          <p:nvPr/>
        </p:nvSpPr>
        <p:spPr>
          <a:xfrm>
            <a:off x="704088" y="2723949"/>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386" name="Google Shape;386;p14"/>
          <p:cNvSpPr/>
          <p:nvPr/>
        </p:nvSpPr>
        <p:spPr>
          <a:xfrm>
            <a:off x="704088" y="2933780"/>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.model(ChatModel.GPT_4O_MINI)</a:t>
            </a:r>
            <a:endParaRPr sz="1050">
              <a:solidFill>
                <a:schemeClr val="dk1"/>
              </a:solidFill>
              <a:latin typeface="Calibri"/>
              <a:ea typeface="Calibri"/>
              <a:cs typeface="Calibri"/>
              <a:sym typeface="Calibri"/>
            </a:endParaRPr>
          </a:p>
        </p:txBody>
      </p:sp>
      <p:sp>
        <p:nvSpPr>
          <p:cNvPr id="387" name="Google Shape;387;p14"/>
          <p:cNvSpPr/>
          <p:nvPr/>
        </p:nvSpPr>
        <p:spPr>
          <a:xfrm>
            <a:off x="704088" y="3143611"/>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.instructions("You are a helpful Java tutor.")</a:t>
            </a:r>
            <a:endParaRPr sz="1050">
              <a:solidFill>
                <a:schemeClr val="dk1"/>
              </a:solidFill>
              <a:latin typeface="Calibri"/>
              <a:ea typeface="Calibri"/>
              <a:cs typeface="Calibri"/>
              <a:sym typeface="Calibri"/>
            </a:endParaRPr>
          </a:p>
        </p:txBody>
      </p:sp>
      <p:sp>
        <p:nvSpPr>
          <p:cNvPr id="388" name="Google Shape;388;p14"/>
          <p:cNvSpPr/>
          <p:nvPr/>
        </p:nvSpPr>
        <p:spPr>
          <a:xfrm>
            <a:off x="704088" y="3353442"/>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.input(question)</a:t>
            </a:r>
            <a:endParaRPr sz="1050">
              <a:solidFill>
                <a:schemeClr val="dk1"/>
              </a:solidFill>
              <a:latin typeface="Calibri"/>
              <a:ea typeface="Calibri"/>
              <a:cs typeface="Calibri"/>
              <a:sym typeface="Calibri"/>
            </a:endParaRPr>
          </a:p>
        </p:txBody>
      </p:sp>
      <p:sp>
        <p:nvSpPr>
          <p:cNvPr id="389" name="Google Shape;389;p14"/>
          <p:cNvSpPr/>
          <p:nvPr/>
        </p:nvSpPr>
        <p:spPr>
          <a:xfrm>
            <a:off x="704088" y="3563272"/>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.maxOutputTokens(250)</a:t>
            </a:r>
            <a:endParaRPr sz="1050">
              <a:solidFill>
                <a:schemeClr val="dk1"/>
              </a:solidFill>
              <a:latin typeface="Calibri"/>
              <a:ea typeface="Calibri"/>
              <a:cs typeface="Calibri"/>
              <a:sym typeface="Calibri"/>
            </a:endParaRPr>
          </a:p>
        </p:txBody>
      </p:sp>
      <p:sp>
        <p:nvSpPr>
          <p:cNvPr id="390" name="Google Shape;390;p14"/>
          <p:cNvSpPr/>
          <p:nvPr/>
        </p:nvSpPr>
        <p:spPr>
          <a:xfrm>
            <a:off x="704088" y="3773103"/>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.build();</a:t>
            </a:r>
            <a:endParaRPr sz="1050">
              <a:solidFill>
                <a:schemeClr val="dk1"/>
              </a:solidFill>
              <a:latin typeface="Calibri"/>
              <a:ea typeface="Calibri"/>
              <a:cs typeface="Calibri"/>
              <a:sym typeface="Calibri"/>
            </a:endParaRPr>
          </a:p>
        </p:txBody>
      </p:sp>
      <p:sp>
        <p:nvSpPr>
          <p:cNvPr id="391" name="Google Shape;391;p14"/>
          <p:cNvSpPr/>
          <p:nvPr/>
        </p:nvSpPr>
        <p:spPr>
          <a:xfrm>
            <a:off x="704088" y="3982934"/>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 Stream tokens as they arrive</a:t>
            </a:r>
            <a:endParaRPr sz="1050">
              <a:solidFill>
                <a:schemeClr val="dk1"/>
              </a:solidFill>
              <a:latin typeface="Calibri"/>
              <a:ea typeface="Calibri"/>
              <a:cs typeface="Calibri"/>
              <a:sym typeface="Calibri"/>
            </a:endParaRPr>
          </a:p>
        </p:txBody>
      </p:sp>
      <p:sp>
        <p:nvSpPr>
          <p:cNvPr id="392" name="Google Shape;392;p14"/>
          <p:cNvSpPr/>
          <p:nvPr/>
        </p:nvSpPr>
        <p:spPr>
          <a:xfrm>
            <a:off x="704088" y="4192765"/>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client.responses().createStreaming(params)</a:t>
            </a:r>
            <a:endParaRPr sz="1050">
              <a:solidFill>
                <a:schemeClr val="dk1"/>
              </a:solidFill>
              <a:latin typeface="Calibri"/>
              <a:ea typeface="Calibri"/>
              <a:cs typeface="Calibri"/>
              <a:sym typeface="Calibri"/>
            </a:endParaRPr>
          </a:p>
        </p:txBody>
      </p:sp>
      <p:sp>
        <p:nvSpPr>
          <p:cNvPr id="393" name="Google Shape;393;p14"/>
          <p:cNvSpPr/>
          <p:nvPr/>
        </p:nvSpPr>
        <p:spPr>
          <a:xfrm>
            <a:off x="704088" y="4402595"/>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.subscribe(event -&gt; event.outputTextDelta()</a:t>
            </a:r>
            <a:endParaRPr sz="1050">
              <a:solidFill>
                <a:schemeClr val="dk1"/>
              </a:solidFill>
              <a:latin typeface="Calibri"/>
              <a:ea typeface="Calibri"/>
              <a:cs typeface="Calibri"/>
              <a:sym typeface="Calibri"/>
            </a:endParaRPr>
          </a:p>
        </p:txBody>
      </p:sp>
      <p:sp>
        <p:nvSpPr>
          <p:cNvPr id="394" name="Google Shape;394;p14"/>
          <p:cNvSpPr/>
          <p:nvPr/>
        </p:nvSpPr>
        <p:spPr>
          <a:xfrm>
            <a:off x="704088" y="4612426"/>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.ifPresent(t -&gt; {</a:t>
            </a:r>
            <a:endParaRPr sz="1050">
              <a:solidFill>
                <a:schemeClr val="dk1"/>
              </a:solidFill>
              <a:latin typeface="Calibri"/>
              <a:ea typeface="Calibri"/>
              <a:cs typeface="Calibri"/>
              <a:sym typeface="Calibri"/>
            </a:endParaRPr>
          </a:p>
        </p:txBody>
      </p:sp>
      <p:sp>
        <p:nvSpPr>
          <p:cNvPr id="395" name="Google Shape;395;p14"/>
          <p:cNvSpPr/>
          <p:nvPr/>
        </p:nvSpPr>
        <p:spPr>
          <a:xfrm>
            <a:off x="704088" y="4822257"/>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System.out.print(t.delta());</a:t>
            </a:r>
            <a:endParaRPr sz="1050">
              <a:solidFill>
                <a:schemeClr val="dk1"/>
              </a:solidFill>
              <a:latin typeface="Calibri"/>
              <a:ea typeface="Calibri"/>
              <a:cs typeface="Calibri"/>
              <a:sym typeface="Calibri"/>
            </a:endParaRPr>
          </a:p>
        </p:txBody>
      </p:sp>
      <p:sp>
        <p:nvSpPr>
          <p:cNvPr id="396" name="Google Shape;396;p14"/>
          <p:cNvSpPr/>
          <p:nvPr/>
        </p:nvSpPr>
        <p:spPr>
          <a:xfrm>
            <a:off x="704088" y="5032088"/>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System.out.flush();</a:t>
            </a:r>
            <a:endParaRPr sz="1050">
              <a:solidFill>
                <a:schemeClr val="dk1"/>
              </a:solidFill>
              <a:latin typeface="Calibri"/>
              <a:ea typeface="Calibri"/>
              <a:cs typeface="Calibri"/>
              <a:sym typeface="Calibri"/>
            </a:endParaRPr>
          </a:p>
        </p:txBody>
      </p:sp>
      <p:sp>
        <p:nvSpPr>
          <p:cNvPr id="397" name="Google Shape;397;p14"/>
          <p:cNvSpPr/>
          <p:nvPr/>
        </p:nvSpPr>
        <p:spPr>
          <a:xfrm>
            <a:off x="704088" y="5241918"/>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a:t>
            </a:r>
            <a:endParaRPr sz="1050">
              <a:solidFill>
                <a:schemeClr val="dk1"/>
              </a:solidFill>
              <a:latin typeface="Calibri"/>
              <a:ea typeface="Calibri"/>
              <a:cs typeface="Calibri"/>
              <a:sym typeface="Calibri"/>
            </a:endParaRPr>
          </a:p>
        </p:txBody>
      </p:sp>
      <p:sp>
        <p:nvSpPr>
          <p:cNvPr id="398" name="Google Shape;398;p14"/>
          <p:cNvSpPr/>
          <p:nvPr/>
        </p:nvSpPr>
        <p:spPr>
          <a:xfrm>
            <a:off x="704088" y="5451749"/>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399" name="Google Shape;399;p14"/>
          <p:cNvSpPr/>
          <p:nvPr/>
        </p:nvSpPr>
        <p:spPr>
          <a:xfrm>
            <a:off x="704088" y="5661580"/>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400" name="Google Shape;400;p14"/>
          <p:cNvSpPr/>
          <p:nvPr/>
        </p:nvSpPr>
        <p:spPr>
          <a:xfrm>
            <a:off x="704088" y="5871411"/>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401" name="Google Shape;401;p14"/>
          <p:cNvSpPr/>
          <p:nvPr/>
        </p:nvSpPr>
        <p:spPr>
          <a:xfrm>
            <a:off x="704088" y="6081241"/>
            <a:ext cx="6464808" cy="2098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402" name="Google Shape;402;p14"/>
          <p:cNvSpPr/>
          <p:nvPr/>
        </p:nvSpPr>
        <p:spPr>
          <a:xfrm>
            <a:off x="7406640" y="1847088"/>
            <a:ext cx="4572000" cy="4462272"/>
          </a:xfrm>
          <a:prstGeom prst="roundRect">
            <a:avLst>
              <a:gd fmla="val 2049" name="adj"/>
            </a:avLst>
          </a:prstGeom>
          <a:solidFill>
            <a:srgbClr val="F8FAFC"/>
          </a:solidFill>
          <a:ln cap="flat" cmpd="sng" w="12700">
            <a:solidFill>
              <a:srgbClr val="16A34A">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4"/>
          <p:cNvSpPr/>
          <p:nvPr/>
        </p:nvSpPr>
        <p:spPr>
          <a:xfrm>
            <a:off x="7571232" y="1965960"/>
            <a:ext cx="42976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00"/>
              <a:buFont typeface="Calibri"/>
              <a:buNone/>
            </a:pPr>
            <a:r>
              <a:rPr b="1" lang="en-US" sz="1300">
                <a:solidFill>
                  <a:srgbClr val="16A34A"/>
                </a:solidFill>
                <a:latin typeface="Calibri"/>
                <a:ea typeface="Calibri"/>
                <a:cs typeface="Calibri"/>
                <a:sym typeface="Calibri"/>
              </a:rPr>
              <a:t>What changes vs old examples</a:t>
            </a:r>
            <a:endParaRPr sz="1300">
              <a:solidFill>
                <a:schemeClr val="dk1"/>
              </a:solidFill>
              <a:latin typeface="Calibri"/>
              <a:ea typeface="Calibri"/>
              <a:cs typeface="Calibri"/>
              <a:sym typeface="Calibri"/>
            </a:endParaRPr>
          </a:p>
        </p:txBody>
      </p:sp>
      <p:sp>
        <p:nvSpPr>
          <p:cNvPr id="404" name="Google Shape;404;p14"/>
          <p:cNvSpPr/>
          <p:nvPr/>
        </p:nvSpPr>
        <p:spPr>
          <a:xfrm>
            <a:off x="7571232" y="2450592"/>
            <a:ext cx="4297680" cy="420624"/>
          </a:xfrm>
          <a:prstGeom prst="roundRect">
            <a:avLst>
              <a:gd fmla="val 13043" name="adj"/>
            </a:avLst>
          </a:prstGeom>
          <a:solidFill>
            <a:srgbClr val="EDE9FE"/>
          </a:solidFill>
          <a:ln cap="flat" cmpd="sng" w="9525">
            <a:solidFill>
              <a:srgbClr val="7C3AED">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14"/>
          <p:cNvSpPr/>
          <p:nvPr/>
        </p:nvSpPr>
        <p:spPr>
          <a:xfrm>
            <a:off x="7662672" y="2505456"/>
            <a:ext cx="1280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ourier New"/>
              <a:buNone/>
            </a:pPr>
            <a:r>
              <a:rPr b="1" lang="en-US" sz="1100">
                <a:solidFill>
                  <a:srgbClr val="7C3AED"/>
                </a:solidFill>
                <a:latin typeface="Courier New"/>
                <a:ea typeface="Courier New"/>
                <a:cs typeface="Courier New"/>
                <a:sym typeface="Courier New"/>
              </a:rPr>
              <a:t>Method</a:t>
            </a:r>
            <a:endParaRPr sz="1100">
              <a:solidFill>
                <a:schemeClr val="dk1"/>
              </a:solidFill>
              <a:latin typeface="Calibri"/>
              <a:ea typeface="Calibri"/>
              <a:cs typeface="Calibri"/>
              <a:sym typeface="Calibri"/>
            </a:endParaRPr>
          </a:p>
        </p:txBody>
      </p:sp>
      <p:sp>
        <p:nvSpPr>
          <p:cNvPr id="406" name="Google Shape;406;p14"/>
          <p:cNvSpPr/>
          <p:nvPr/>
        </p:nvSpPr>
        <p:spPr>
          <a:xfrm>
            <a:off x="8979408" y="2505456"/>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createStreaming()</a:t>
            </a:r>
            <a:endParaRPr sz="1100">
              <a:solidFill>
                <a:schemeClr val="dk1"/>
              </a:solidFill>
              <a:latin typeface="Calibri"/>
              <a:ea typeface="Calibri"/>
              <a:cs typeface="Calibri"/>
              <a:sym typeface="Calibri"/>
            </a:endParaRPr>
          </a:p>
        </p:txBody>
      </p:sp>
      <p:sp>
        <p:nvSpPr>
          <p:cNvPr id="407" name="Google Shape;407;p14"/>
          <p:cNvSpPr/>
          <p:nvPr/>
        </p:nvSpPr>
        <p:spPr>
          <a:xfrm>
            <a:off x="7571232" y="2926080"/>
            <a:ext cx="4297680" cy="420624"/>
          </a:xfrm>
          <a:prstGeom prst="roundRect">
            <a:avLst>
              <a:gd fmla="val 13043" name="adj"/>
            </a:avLst>
          </a:prstGeom>
          <a:solidFill>
            <a:srgbClr val="F0FDF4"/>
          </a:solidFill>
          <a:ln cap="flat" cmpd="sng" w="9525">
            <a:solidFill>
              <a:srgbClr val="16A34A">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4"/>
          <p:cNvSpPr/>
          <p:nvPr/>
        </p:nvSpPr>
        <p:spPr>
          <a:xfrm>
            <a:off x="7662672" y="2980944"/>
            <a:ext cx="1280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ourier New"/>
              <a:buNone/>
            </a:pPr>
            <a:r>
              <a:rPr b="1" lang="en-US" sz="1100">
                <a:solidFill>
                  <a:srgbClr val="16A34A"/>
                </a:solidFill>
                <a:latin typeface="Courier New"/>
                <a:ea typeface="Courier New"/>
                <a:cs typeface="Courier New"/>
                <a:sym typeface="Courier New"/>
              </a:rPr>
              <a:t>Return type</a:t>
            </a:r>
            <a:endParaRPr sz="1100">
              <a:solidFill>
                <a:schemeClr val="dk1"/>
              </a:solidFill>
              <a:latin typeface="Calibri"/>
              <a:ea typeface="Calibri"/>
              <a:cs typeface="Calibri"/>
              <a:sym typeface="Calibri"/>
            </a:endParaRPr>
          </a:p>
        </p:txBody>
      </p:sp>
      <p:sp>
        <p:nvSpPr>
          <p:cNvPr id="409" name="Google Shape;409;p14"/>
          <p:cNvSpPr/>
          <p:nvPr/>
        </p:nvSpPr>
        <p:spPr>
          <a:xfrm>
            <a:off x="8979408" y="2980944"/>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ResponseStreamEvent</a:t>
            </a:r>
            <a:endParaRPr sz="1100">
              <a:solidFill>
                <a:schemeClr val="dk1"/>
              </a:solidFill>
              <a:latin typeface="Calibri"/>
              <a:ea typeface="Calibri"/>
              <a:cs typeface="Calibri"/>
              <a:sym typeface="Calibri"/>
            </a:endParaRPr>
          </a:p>
        </p:txBody>
      </p:sp>
      <p:sp>
        <p:nvSpPr>
          <p:cNvPr id="410" name="Google Shape;410;p14"/>
          <p:cNvSpPr/>
          <p:nvPr/>
        </p:nvSpPr>
        <p:spPr>
          <a:xfrm>
            <a:off x="7571232" y="3401568"/>
            <a:ext cx="4297680" cy="420624"/>
          </a:xfrm>
          <a:prstGeom prst="roundRect">
            <a:avLst>
              <a:gd fmla="val 13043" name="adj"/>
            </a:avLst>
          </a:prstGeom>
          <a:solidFill>
            <a:srgbClr val="EDE9FE"/>
          </a:solidFill>
          <a:ln cap="flat" cmpd="sng" w="9525">
            <a:solidFill>
              <a:srgbClr val="7C3AED">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14"/>
          <p:cNvSpPr/>
          <p:nvPr/>
        </p:nvSpPr>
        <p:spPr>
          <a:xfrm>
            <a:off x="7662672" y="3456432"/>
            <a:ext cx="1280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ourier New"/>
              <a:buNone/>
            </a:pPr>
            <a:r>
              <a:rPr b="1" lang="en-US" sz="1100">
                <a:solidFill>
                  <a:srgbClr val="7C3AED"/>
                </a:solidFill>
                <a:latin typeface="Courier New"/>
                <a:ea typeface="Courier New"/>
                <a:cs typeface="Courier New"/>
                <a:sym typeface="Courier New"/>
              </a:rPr>
              <a:t>Content</a:t>
            </a:r>
            <a:endParaRPr sz="1100">
              <a:solidFill>
                <a:schemeClr val="dk1"/>
              </a:solidFill>
              <a:latin typeface="Calibri"/>
              <a:ea typeface="Calibri"/>
              <a:cs typeface="Calibri"/>
              <a:sym typeface="Calibri"/>
            </a:endParaRPr>
          </a:p>
        </p:txBody>
      </p:sp>
      <p:sp>
        <p:nvSpPr>
          <p:cNvPr id="412" name="Google Shape;412;p14"/>
          <p:cNvSpPr/>
          <p:nvPr/>
        </p:nvSpPr>
        <p:spPr>
          <a:xfrm>
            <a:off x="8979408" y="3456432"/>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outputTextDelta()</a:t>
            </a:r>
            <a:endParaRPr sz="1100">
              <a:solidFill>
                <a:schemeClr val="dk1"/>
              </a:solidFill>
              <a:latin typeface="Calibri"/>
              <a:ea typeface="Calibri"/>
              <a:cs typeface="Calibri"/>
              <a:sym typeface="Calibri"/>
            </a:endParaRPr>
          </a:p>
        </p:txBody>
      </p:sp>
      <p:sp>
        <p:nvSpPr>
          <p:cNvPr id="413" name="Google Shape;413;p14"/>
          <p:cNvSpPr/>
          <p:nvPr/>
        </p:nvSpPr>
        <p:spPr>
          <a:xfrm>
            <a:off x="7571232" y="3877056"/>
            <a:ext cx="4297680" cy="420624"/>
          </a:xfrm>
          <a:prstGeom prst="roundRect">
            <a:avLst>
              <a:gd fmla="val 13043" name="adj"/>
            </a:avLst>
          </a:prstGeom>
          <a:solidFill>
            <a:srgbClr val="F0FDF4"/>
          </a:solidFill>
          <a:ln cap="flat" cmpd="sng" w="9525">
            <a:solidFill>
              <a:srgbClr val="16A34A">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4"/>
          <p:cNvSpPr/>
          <p:nvPr/>
        </p:nvSpPr>
        <p:spPr>
          <a:xfrm>
            <a:off x="7662672" y="3931920"/>
            <a:ext cx="1280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ourier New"/>
              <a:buNone/>
            </a:pPr>
            <a:r>
              <a:rPr b="1" lang="en-US" sz="1100">
                <a:solidFill>
                  <a:srgbClr val="16A34A"/>
                </a:solidFill>
                <a:latin typeface="Courier New"/>
                <a:ea typeface="Courier New"/>
                <a:cs typeface="Courier New"/>
                <a:sym typeface="Courier New"/>
              </a:rPr>
              <a:t>Why delta?</a:t>
            </a:r>
            <a:endParaRPr sz="1100">
              <a:solidFill>
                <a:schemeClr val="dk1"/>
              </a:solidFill>
              <a:latin typeface="Calibri"/>
              <a:ea typeface="Calibri"/>
              <a:cs typeface="Calibri"/>
              <a:sym typeface="Calibri"/>
            </a:endParaRPr>
          </a:p>
        </p:txBody>
      </p:sp>
      <p:sp>
        <p:nvSpPr>
          <p:cNvPr id="415" name="Google Shape;415;p14"/>
          <p:cNvSpPr/>
          <p:nvPr/>
        </p:nvSpPr>
        <p:spPr>
          <a:xfrm>
            <a:off x="8979408" y="3931920"/>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Each event contains new text</a:t>
            </a:r>
            <a:endParaRPr sz="1100">
              <a:solidFill>
                <a:schemeClr val="dk1"/>
              </a:solidFill>
              <a:latin typeface="Calibri"/>
              <a:ea typeface="Calibri"/>
              <a:cs typeface="Calibri"/>
              <a:sym typeface="Calibri"/>
            </a:endParaRPr>
          </a:p>
        </p:txBody>
      </p:sp>
      <p:sp>
        <p:nvSpPr>
          <p:cNvPr id="416" name="Google Shape;416;p14"/>
          <p:cNvSpPr/>
          <p:nvPr/>
        </p:nvSpPr>
        <p:spPr>
          <a:xfrm>
            <a:off x="7571232" y="4352544"/>
            <a:ext cx="4297680" cy="420624"/>
          </a:xfrm>
          <a:prstGeom prst="roundRect">
            <a:avLst>
              <a:gd fmla="val 13043" name="adj"/>
            </a:avLst>
          </a:prstGeom>
          <a:solidFill>
            <a:srgbClr val="EDE9FE"/>
          </a:solidFill>
          <a:ln cap="flat" cmpd="sng" w="9525">
            <a:solidFill>
              <a:srgbClr val="7C3AED">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4"/>
          <p:cNvSpPr/>
          <p:nvPr/>
        </p:nvSpPr>
        <p:spPr>
          <a:xfrm>
            <a:off x="7662672" y="4407408"/>
            <a:ext cx="1280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ourier New"/>
              <a:buNone/>
            </a:pPr>
            <a:r>
              <a:rPr b="1" lang="en-US" sz="1100">
                <a:solidFill>
                  <a:srgbClr val="7C3AED"/>
                </a:solidFill>
                <a:latin typeface="Courier New"/>
                <a:ea typeface="Courier New"/>
                <a:cs typeface="Courier New"/>
                <a:sym typeface="Courier New"/>
              </a:rPr>
              <a:t>flush()</a:t>
            </a:r>
            <a:endParaRPr sz="1100">
              <a:solidFill>
                <a:schemeClr val="dk1"/>
              </a:solidFill>
              <a:latin typeface="Calibri"/>
              <a:ea typeface="Calibri"/>
              <a:cs typeface="Calibri"/>
              <a:sym typeface="Calibri"/>
            </a:endParaRPr>
          </a:p>
        </p:txBody>
      </p:sp>
      <p:sp>
        <p:nvSpPr>
          <p:cNvPr id="418" name="Google Shape;418;p14"/>
          <p:cNvSpPr/>
          <p:nvPr/>
        </p:nvSpPr>
        <p:spPr>
          <a:xfrm>
            <a:off x="8979408" y="4407408"/>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Still needed for terminal output</a:t>
            </a:r>
            <a:endParaRPr sz="1100">
              <a:solidFill>
                <a:schemeClr val="dk1"/>
              </a:solidFill>
              <a:latin typeface="Calibri"/>
              <a:ea typeface="Calibri"/>
              <a:cs typeface="Calibri"/>
              <a:sym typeface="Calibri"/>
            </a:endParaRPr>
          </a:p>
        </p:txBody>
      </p:sp>
      <p:sp>
        <p:nvSpPr>
          <p:cNvPr id="419" name="Google Shape;419;p14"/>
          <p:cNvSpPr/>
          <p:nvPr/>
        </p:nvSpPr>
        <p:spPr>
          <a:xfrm>
            <a:off x="7571232" y="4828032"/>
            <a:ext cx="4297680" cy="420624"/>
          </a:xfrm>
          <a:prstGeom prst="roundRect">
            <a:avLst>
              <a:gd fmla="val 13043" name="adj"/>
            </a:avLst>
          </a:prstGeom>
          <a:solidFill>
            <a:srgbClr val="F0FDF4"/>
          </a:solidFill>
          <a:ln cap="flat" cmpd="sng" w="9525">
            <a:solidFill>
              <a:srgbClr val="16A34A">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4"/>
          <p:cNvSpPr/>
          <p:nvPr/>
        </p:nvSpPr>
        <p:spPr>
          <a:xfrm>
            <a:off x="7662672" y="4882896"/>
            <a:ext cx="1280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ourier New"/>
              <a:buNone/>
            </a:pPr>
            <a:r>
              <a:rPr b="1" lang="en-US" sz="1100">
                <a:solidFill>
                  <a:srgbClr val="16A34A"/>
                </a:solidFill>
                <a:latin typeface="Courier New"/>
                <a:ea typeface="Courier New"/>
                <a:cs typeface="Courier New"/>
                <a:sym typeface="Courier New"/>
              </a:rPr>
              <a:t>Empty check</a:t>
            </a:r>
            <a:endParaRPr sz="1100">
              <a:solidFill>
                <a:schemeClr val="dk1"/>
              </a:solidFill>
              <a:latin typeface="Calibri"/>
              <a:ea typeface="Calibri"/>
              <a:cs typeface="Calibri"/>
              <a:sym typeface="Calibri"/>
            </a:endParaRPr>
          </a:p>
        </p:txBody>
      </p:sp>
      <p:sp>
        <p:nvSpPr>
          <p:cNvPr id="421" name="Google Shape;421;p14"/>
          <p:cNvSpPr/>
          <p:nvPr/>
        </p:nvSpPr>
        <p:spPr>
          <a:xfrm>
            <a:off x="8979408" y="4882896"/>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Skip if no text delta</a:t>
            </a:r>
            <a:endParaRPr sz="1100">
              <a:solidFill>
                <a:schemeClr val="dk1"/>
              </a:solidFill>
              <a:latin typeface="Calibri"/>
              <a:ea typeface="Calibri"/>
              <a:cs typeface="Calibri"/>
              <a:sym typeface="Calibri"/>
            </a:endParaRPr>
          </a:p>
        </p:txBody>
      </p:sp>
      <p:sp>
        <p:nvSpPr>
          <p:cNvPr id="422" name="Google Shape;422;p14"/>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424" name="Google Shape;424;p1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12 / 29</a:t>
            </a:r>
            <a:endParaRPr sz="9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429" name="Shape 429"/>
        <p:cNvGrpSpPr/>
        <p:nvPr/>
      </p:nvGrpSpPr>
      <p:grpSpPr>
        <a:xfrm>
          <a:off x="0" y="0"/>
          <a:ext cx="0" cy="0"/>
          <a:chOff x="0" y="0"/>
          <a:chExt cx="0" cy="0"/>
        </a:xfrm>
      </p:grpSpPr>
      <p:sp>
        <p:nvSpPr>
          <p:cNvPr id="430" name="Google Shape;430;p15"/>
          <p:cNvSpPr/>
          <p:nvPr/>
        </p:nvSpPr>
        <p:spPr>
          <a:xfrm>
            <a:off x="6583680" y="-182880"/>
            <a:ext cx="64008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21000"/>
              <a:buFont typeface="Calibri"/>
              <a:buNone/>
            </a:pPr>
            <a:r>
              <a:rPr b="1" lang="en-US" sz="21000">
                <a:solidFill>
                  <a:srgbClr val="D97706"/>
                </a:solidFill>
                <a:latin typeface="Calibri"/>
                <a:ea typeface="Calibri"/>
                <a:cs typeface="Calibri"/>
                <a:sym typeface="Calibri"/>
              </a:rPr>
              <a:t>Tool</a:t>
            </a:r>
            <a:endParaRPr sz="21000">
              <a:solidFill>
                <a:schemeClr val="dk1"/>
              </a:solidFill>
              <a:latin typeface="Calibri"/>
              <a:ea typeface="Calibri"/>
              <a:cs typeface="Calibri"/>
              <a:sym typeface="Calibri"/>
            </a:endParaRPr>
          </a:p>
        </p:txBody>
      </p:sp>
      <p:sp>
        <p:nvSpPr>
          <p:cNvPr id="431" name="Google Shape;431;p15"/>
          <p:cNvSpPr/>
          <p:nvPr/>
        </p:nvSpPr>
        <p:spPr>
          <a:xfrm>
            <a:off x="475488" y="804672"/>
            <a:ext cx="749808" cy="749808"/>
          </a:xfrm>
          <a:prstGeom prst="roundRect">
            <a:avLst>
              <a:gd fmla="val 12195" name="adj"/>
            </a:avLst>
          </a:prstGeom>
          <a:solidFill>
            <a:srgbClr val="D97706"/>
          </a:solidFill>
          <a:ln cap="flat" cmpd="sng" w="12700">
            <a:solidFill>
              <a:srgbClr val="D9770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15"/>
          <p:cNvSpPr/>
          <p:nvPr/>
        </p:nvSpPr>
        <p:spPr>
          <a:xfrm>
            <a:off x="475488" y="804672"/>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600"/>
              <a:buFont typeface="Calibri"/>
              <a:buNone/>
            </a:pPr>
            <a:r>
              <a:rPr lang="en-US" sz="2600">
                <a:solidFill>
                  <a:srgbClr val="000000"/>
                </a:solidFill>
                <a:latin typeface="Calibri"/>
                <a:ea typeface="Calibri"/>
                <a:cs typeface="Calibri"/>
                <a:sym typeface="Calibri"/>
              </a:rPr>
              <a:t>🔧</a:t>
            </a:r>
            <a:endParaRPr sz="2600">
              <a:solidFill>
                <a:schemeClr val="dk1"/>
              </a:solidFill>
              <a:latin typeface="Calibri"/>
              <a:ea typeface="Calibri"/>
              <a:cs typeface="Calibri"/>
              <a:sym typeface="Calibri"/>
            </a:endParaRPr>
          </a:p>
        </p:txBody>
      </p:sp>
      <p:sp>
        <p:nvSpPr>
          <p:cNvPr id="433" name="Google Shape;433;p15"/>
          <p:cNvSpPr/>
          <p:nvPr/>
        </p:nvSpPr>
        <p:spPr>
          <a:xfrm>
            <a:off x="1371600" y="841248"/>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00"/>
              <a:buFont typeface="Calibri"/>
              <a:buNone/>
            </a:pPr>
            <a:r>
              <a:rPr b="1" lang="en-US" sz="1300">
                <a:solidFill>
                  <a:srgbClr val="D97706"/>
                </a:solidFill>
                <a:latin typeface="Calibri"/>
                <a:ea typeface="Calibri"/>
                <a:cs typeface="Calibri"/>
                <a:sym typeface="Calibri"/>
              </a:rPr>
              <a:t>SECTION</a:t>
            </a:r>
            <a:endParaRPr sz="1300">
              <a:solidFill>
                <a:schemeClr val="dk1"/>
              </a:solidFill>
              <a:latin typeface="Calibri"/>
              <a:ea typeface="Calibri"/>
              <a:cs typeface="Calibri"/>
              <a:sym typeface="Calibri"/>
            </a:endParaRPr>
          </a:p>
        </p:txBody>
      </p:sp>
      <p:sp>
        <p:nvSpPr>
          <p:cNvPr id="434" name="Google Shape;434;p15"/>
          <p:cNvSpPr/>
          <p:nvPr/>
        </p:nvSpPr>
        <p:spPr>
          <a:xfrm>
            <a:off x="685800" y="1417320"/>
            <a:ext cx="9144000" cy="192024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Tool</a:t>
            </a:r>
            <a:endParaRPr sz="5400">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Calling</a:t>
            </a:r>
            <a:endParaRPr sz="5400">
              <a:solidFill>
                <a:schemeClr val="dk1"/>
              </a:solidFill>
              <a:latin typeface="Calibri"/>
              <a:ea typeface="Calibri"/>
              <a:cs typeface="Calibri"/>
              <a:sym typeface="Calibri"/>
            </a:endParaRPr>
          </a:p>
        </p:txBody>
      </p:sp>
      <p:sp>
        <p:nvSpPr>
          <p:cNvPr id="435" name="Google Shape;435;p15"/>
          <p:cNvSpPr/>
          <p:nvPr/>
        </p:nvSpPr>
        <p:spPr>
          <a:xfrm>
            <a:off x="685800" y="3493008"/>
            <a:ext cx="91440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lang="en-US" sz="2000">
                <a:solidFill>
                  <a:srgbClr val="8B92B8"/>
                </a:solidFill>
                <a:latin typeface="Calibri"/>
                <a:ea typeface="Calibri"/>
                <a:cs typeface="Calibri"/>
                <a:sym typeface="Calibri"/>
              </a:rPr>
              <a:t>The AI can't browse the web. But it CAN ask YOUR Java code to do it and use the result.</a:t>
            </a:r>
            <a:endParaRPr sz="2000">
              <a:solidFill>
                <a:schemeClr val="dk1"/>
              </a:solidFill>
              <a:latin typeface="Calibri"/>
              <a:ea typeface="Calibri"/>
              <a:cs typeface="Calibri"/>
              <a:sym typeface="Calibri"/>
            </a:endParaRPr>
          </a:p>
        </p:txBody>
      </p:sp>
      <p:sp>
        <p:nvSpPr>
          <p:cNvPr id="436" name="Google Shape;436;p15"/>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438" name="Google Shape;438;p1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13 / 29</a:t>
            </a:r>
            <a:endParaRPr sz="9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16"/>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lang="en-US" sz="1200">
                <a:solidFill>
                  <a:srgbClr val="D97706"/>
                </a:solidFill>
                <a:latin typeface="Calibri"/>
                <a:ea typeface="Calibri"/>
                <a:cs typeface="Calibri"/>
                <a:sym typeface="Calibri"/>
              </a:rPr>
              <a:t>SECTION 4 · TOOL CALLING — THE 3-TURN PATTERN (SIMPLE EXPLANATION)</a:t>
            </a:r>
            <a:endParaRPr sz="1200">
              <a:solidFill>
                <a:schemeClr val="dk1"/>
              </a:solidFill>
              <a:latin typeface="Calibri"/>
              <a:ea typeface="Calibri"/>
              <a:cs typeface="Calibri"/>
              <a:sym typeface="Calibri"/>
            </a:endParaRPr>
          </a:p>
        </p:txBody>
      </p:sp>
      <p:sp>
        <p:nvSpPr>
          <p:cNvPr id="445" name="Google Shape;445;p16"/>
          <p:cNvSpPr/>
          <p:nvPr/>
        </p:nvSpPr>
        <p:spPr>
          <a:xfrm>
            <a:off x="685800" y="749808"/>
            <a:ext cx="10789920"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000"/>
              <a:buFont typeface="Calibri"/>
              <a:buNone/>
            </a:pPr>
            <a:r>
              <a:rPr b="1" lang="en-US" sz="3000">
                <a:solidFill>
                  <a:srgbClr val="475569"/>
                </a:solidFill>
                <a:latin typeface="Calibri"/>
                <a:ea typeface="Calibri"/>
                <a:cs typeface="Calibri"/>
                <a:sym typeface="Calibri"/>
              </a:rPr>
              <a:t>Tool calling is a conversation between the AI and YOUR code.</a:t>
            </a:r>
            <a:endParaRPr sz="3000">
              <a:solidFill>
                <a:schemeClr val="dk1"/>
              </a:solidFill>
              <a:latin typeface="Calibri"/>
              <a:ea typeface="Calibri"/>
              <a:cs typeface="Calibri"/>
              <a:sym typeface="Calibri"/>
            </a:endParaRPr>
          </a:p>
        </p:txBody>
      </p:sp>
      <p:sp>
        <p:nvSpPr>
          <p:cNvPr id="446" name="Google Shape;446;p16"/>
          <p:cNvSpPr/>
          <p:nvPr/>
        </p:nvSpPr>
        <p:spPr>
          <a:xfrm>
            <a:off x="502920" y="1993392"/>
            <a:ext cx="3401568" cy="3611880"/>
          </a:xfrm>
          <a:prstGeom prst="roundRect">
            <a:avLst>
              <a:gd fmla="val 2688" name="adj"/>
            </a:avLst>
          </a:prstGeom>
          <a:solidFill>
            <a:srgbClr val="F8FAFC"/>
          </a:solidFill>
          <a:ln cap="flat" cmpd="sng" w="19050">
            <a:solidFill>
              <a:srgbClr val="7C3AED">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16"/>
          <p:cNvSpPr/>
          <p:nvPr/>
        </p:nvSpPr>
        <p:spPr>
          <a:xfrm>
            <a:off x="502920" y="1993392"/>
            <a:ext cx="3401568" cy="384048"/>
          </a:xfrm>
          <a:prstGeom prst="roundRect">
            <a:avLst>
              <a:gd fmla="val 23810" name="adj"/>
            </a:avLst>
          </a:prstGeom>
          <a:solidFill>
            <a:srgbClr val="7C3AED"/>
          </a:solidFill>
          <a:ln cap="flat" cmpd="sng" w="12700">
            <a:solidFill>
              <a:srgbClr val="7C3A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6"/>
          <p:cNvSpPr/>
          <p:nvPr/>
        </p:nvSpPr>
        <p:spPr>
          <a:xfrm>
            <a:off x="667512" y="2029968"/>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Turn 1</a:t>
            </a:r>
            <a:endParaRPr sz="1300">
              <a:solidFill>
                <a:schemeClr val="dk1"/>
              </a:solidFill>
              <a:latin typeface="Calibri"/>
              <a:ea typeface="Calibri"/>
              <a:cs typeface="Calibri"/>
              <a:sym typeface="Calibri"/>
            </a:endParaRPr>
          </a:p>
        </p:txBody>
      </p:sp>
      <p:sp>
        <p:nvSpPr>
          <p:cNvPr id="449" name="Google Shape;449;p16"/>
          <p:cNvSpPr/>
          <p:nvPr/>
        </p:nvSpPr>
        <p:spPr>
          <a:xfrm>
            <a:off x="667512" y="2468880"/>
            <a:ext cx="3090672"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1400"/>
              <a:buFont typeface="Calibri"/>
              <a:buNone/>
            </a:pPr>
            <a:r>
              <a:rPr b="1" lang="en-US" sz="1400">
                <a:solidFill>
                  <a:srgbClr val="7C3AED"/>
                </a:solidFill>
                <a:latin typeface="Calibri"/>
                <a:ea typeface="Calibri"/>
                <a:cs typeface="Calibri"/>
                <a:sym typeface="Calibri"/>
              </a:rPr>
              <a:t>YOU send tools + question</a:t>
            </a:r>
            <a:endParaRPr sz="1400">
              <a:solidFill>
                <a:schemeClr val="dk1"/>
              </a:solidFill>
              <a:latin typeface="Calibri"/>
              <a:ea typeface="Calibri"/>
              <a:cs typeface="Calibri"/>
              <a:sym typeface="Calibri"/>
            </a:endParaRPr>
          </a:p>
        </p:txBody>
      </p:sp>
      <p:cxnSp>
        <p:nvCxnSpPr>
          <p:cNvPr id="450" name="Google Shape;450;p16"/>
          <p:cNvCxnSpPr/>
          <p:nvPr/>
        </p:nvCxnSpPr>
        <p:spPr>
          <a:xfrm>
            <a:off x="731520" y="3063240"/>
            <a:ext cx="2926080" cy="0"/>
          </a:xfrm>
          <a:prstGeom prst="straightConnector1">
            <a:avLst/>
          </a:prstGeom>
          <a:noFill/>
          <a:ln cap="flat" cmpd="sng" w="9525">
            <a:solidFill>
              <a:srgbClr val="7C3AED">
                <a:alpha val="45098"/>
              </a:srgbClr>
            </a:solidFill>
            <a:prstDash val="solid"/>
            <a:round/>
            <a:headEnd len="sm" w="sm" type="none"/>
            <a:tailEnd len="sm" w="sm" type="none"/>
          </a:ln>
        </p:spPr>
      </p:cxnSp>
      <p:sp>
        <p:nvSpPr>
          <p:cNvPr id="451" name="Google Shape;451;p16"/>
          <p:cNvSpPr/>
          <p:nvPr/>
        </p:nvSpPr>
        <p:spPr>
          <a:xfrm>
            <a:off x="667512" y="3154680"/>
            <a:ext cx="3090672" cy="233172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You tell the AI: "I have a getWeather tool that takes a city name."</a:t>
            </a:r>
            <a:endParaRPr sz="1100">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User asks: "What's the weather in Delhi?"</a:t>
            </a:r>
            <a:endParaRPr sz="1100">
              <a:solidFill>
                <a:schemeClr val="dk1"/>
              </a:solidFill>
              <a:latin typeface="Calibri"/>
              <a:ea typeface="Calibri"/>
              <a:cs typeface="Calibri"/>
              <a:sym typeface="Calibri"/>
            </a:endParaRPr>
          </a:p>
        </p:txBody>
      </p:sp>
      <p:cxnSp>
        <p:nvCxnSpPr>
          <p:cNvPr id="452" name="Google Shape;452;p16"/>
          <p:cNvCxnSpPr/>
          <p:nvPr/>
        </p:nvCxnSpPr>
        <p:spPr>
          <a:xfrm>
            <a:off x="3941064" y="3794760"/>
            <a:ext cx="658368" cy="0"/>
          </a:xfrm>
          <a:prstGeom prst="straightConnector1">
            <a:avLst/>
          </a:prstGeom>
          <a:noFill/>
          <a:ln cap="flat" cmpd="sng" w="25400">
            <a:solidFill>
              <a:srgbClr val="7C3AED"/>
            </a:solidFill>
            <a:prstDash val="solid"/>
            <a:round/>
            <a:headEnd len="sm" w="sm" type="none"/>
            <a:tailEnd len="med" w="med" type="triangle"/>
          </a:ln>
        </p:spPr>
      </p:cxnSp>
      <p:sp>
        <p:nvSpPr>
          <p:cNvPr id="453" name="Google Shape;453;p16"/>
          <p:cNvSpPr/>
          <p:nvPr/>
        </p:nvSpPr>
        <p:spPr>
          <a:xfrm>
            <a:off x="4160520" y="1993392"/>
            <a:ext cx="3401568" cy="3611880"/>
          </a:xfrm>
          <a:prstGeom prst="roundRect">
            <a:avLst>
              <a:gd fmla="val 2688" name="adj"/>
            </a:avLst>
          </a:prstGeom>
          <a:solidFill>
            <a:srgbClr val="F8FAFC"/>
          </a:solidFill>
          <a:ln cap="flat" cmpd="sng" w="19050">
            <a:solidFill>
              <a:srgbClr val="D97706">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16"/>
          <p:cNvSpPr/>
          <p:nvPr/>
        </p:nvSpPr>
        <p:spPr>
          <a:xfrm>
            <a:off x="4160520" y="1993392"/>
            <a:ext cx="3401568" cy="384048"/>
          </a:xfrm>
          <a:prstGeom prst="roundRect">
            <a:avLst>
              <a:gd fmla="val 23810" name="adj"/>
            </a:avLst>
          </a:prstGeom>
          <a:solidFill>
            <a:srgbClr val="D97706"/>
          </a:solidFill>
          <a:ln cap="flat" cmpd="sng" w="12700">
            <a:solidFill>
              <a:srgbClr val="D9770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16"/>
          <p:cNvSpPr/>
          <p:nvPr/>
        </p:nvSpPr>
        <p:spPr>
          <a:xfrm>
            <a:off x="4325112" y="2029968"/>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Turn 2</a:t>
            </a:r>
            <a:endParaRPr sz="1300">
              <a:solidFill>
                <a:schemeClr val="dk1"/>
              </a:solidFill>
              <a:latin typeface="Calibri"/>
              <a:ea typeface="Calibri"/>
              <a:cs typeface="Calibri"/>
              <a:sym typeface="Calibri"/>
            </a:endParaRPr>
          </a:p>
        </p:txBody>
      </p:sp>
      <p:sp>
        <p:nvSpPr>
          <p:cNvPr id="456" name="Google Shape;456;p16"/>
          <p:cNvSpPr/>
          <p:nvPr/>
        </p:nvSpPr>
        <p:spPr>
          <a:xfrm>
            <a:off x="4325112" y="2468880"/>
            <a:ext cx="3090672"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7706"/>
              </a:buClr>
              <a:buSzPts val="1400"/>
              <a:buFont typeface="Calibri"/>
              <a:buNone/>
            </a:pPr>
            <a:r>
              <a:rPr b="1" lang="en-US" sz="1400">
                <a:solidFill>
                  <a:srgbClr val="D97706"/>
                </a:solidFill>
                <a:latin typeface="Calibri"/>
                <a:ea typeface="Calibri"/>
                <a:cs typeface="Calibri"/>
                <a:sym typeface="Calibri"/>
              </a:rPr>
              <a:t>AI says "call getWeather for me"</a:t>
            </a:r>
            <a:endParaRPr sz="1400">
              <a:solidFill>
                <a:schemeClr val="dk1"/>
              </a:solidFill>
              <a:latin typeface="Calibri"/>
              <a:ea typeface="Calibri"/>
              <a:cs typeface="Calibri"/>
              <a:sym typeface="Calibri"/>
            </a:endParaRPr>
          </a:p>
        </p:txBody>
      </p:sp>
      <p:cxnSp>
        <p:nvCxnSpPr>
          <p:cNvPr id="457" name="Google Shape;457;p16"/>
          <p:cNvCxnSpPr/>
          <p:nvPr/>
        </p:nvCxnSpPr>
        <p:spPr>
          <a:xfrm>
            <a:off x="4389120" y="3063240"/>
            <a:ext cx="2926080" cy="0"/>
          </a:xfrm>
          <a:prstGeom prst="straightConnector1">
            <a:avLst/>
          </a:prstGeom>
          <a:noFill/>
          <a:ln cap="flat" cmpd="sng" w="9525">
            <a:solidFill>
              <a:srgbClr val="D97706">
                <a:alpha val="45098"/>
              </a:srgbClr>
            </a:solidFill>
            <a:prstDash val="solid"/>
            <a:round/>
            <a:headEnd len="sm" w="sm" type="none"/>
            <a:tailEnd len="sm" w="sm" type="none"/>
          </a:ln>
        </p:spPr>
      </p:cxnSp>
      <p:sp>
        <p:nvSpPr>
          <p:cNvPr id="458" name="Google Shape;458;p16"/>
          <p:cNvSpPr/>
          <p:nvPr/>
        </p:nvSpPr>
        <p:spPr>
          <a:xfrm>
            <a:off x="4325112" y="3154680"/>
            <a:ext cx="3090672" cy="233172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AI responds NOT with an answer, but with:</a:t>
            </a:r>
            <a:endParaRPr sz="1100">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"Please call getWeather(city='Delhi') and tell me the result."</a:t>
            </a:r>
            <a:endParaRPr sz="1100">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 The AI has NOT answered yet. It's waiting for YOUR code.</a:t>
            </a:r>
            <a:endParaRPr sz="1100">
              <a:solidFill>
                <a:schemeClr val="dk1"/>
              </a:solidFill>
              <a:latin typeface="Calibri"/>
              <a:ea typeface="Calibri"/>
              <a:cs typeface="Calibri"/>
              <a:sym typeface="Calibri"/>
            </a:endParaRPr>
          </a:p>
        </p:txBody>
      </p:sp>
      <p:cxnSp>
        <p:nvCxnSpPr>
          <p:cNvPr id="459" name="Google Shape;459;p16"/>
          <p:cNvCxnSpPr/>
          <p:nvPr/>
        </p:nvCxnSpPr>
        <p:spPr>
          <a:xfrm>
            <a:off x="7598664" y="3794760"/>
            <a:ext cx="658368" cy="0"/>
          </a:xfrm>
          <a:prstGeom prst="straightConnector1">
            <a:avLst/>
          </a:prstGeom>
          <a:noFill/>
          <a:ln cap="flat" cmpd="sng" w="25400">
            <a:solidFill>
              <a:srgbClr val="D97706"/>
            </a:solidFill>
            <a:prstDash val="solid"/>
            <a:round/>
            <a:headEnd len="sm" w="sm" type="none"/>
            <a:tailEnd len="med" w="med" type="triangle"/>
          </a:ln>
        </p:spPr>
      </p:cxnSp>
      <p:sp>
        <p:nvSpPr>
          <p:cNvPr id="460" name="Google Shape;460;p16"/>
          <p:cNvSpPr/>
          <p:nvPr/>
        </p:nvSpPr>
        <p:spPr>
          <a:xfrm>
            <a:off x="7818120" y="1993392"/>
            <a:ext cx="3401568" cy="3611880"/>
          </a:xfrm>
          <a:prstGeom prst="roundRect">
            <a:avLst>
              <a:gd fmla="val 2688" name="adj"/>
            </a:avLst>
          </a:prstGeom>
          <a:solidFill>
            <a:srgbClr val="F8FAFC"/>
          </a:solidFill>
          <a:ln cap="flat" cmpd="sng" w="19050">
            <a:solidFill>
              <a:srgbClr val="16A34A">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6"/>
          <p:cNvSpPr/>
          <p:nvPr/>
        </p:nvSpPr>
        <p:spPr>
          <a:xfrm>
            <a:off x="7818120" y="1993392"/>
            <a:ext cx="3401568" cy="384048"/>
          </a:xfrm>
          <a:prstGeom prst="roundRect">
            <a:avLst>
              <a:gd fmla="val 23810" name="adj"/>
            </a:avLst>
          </a:prstGeom>
          <a:solidFill>
            <a:srgbClr val="16A34A"/>
          </a:solidFill>
          <a:ln cap="flat" cmpd="sng" w="12700">
            <a:solidFill>
              <a:srgbClr val="16A3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16"/>
          <p:cNvSpPr/>
          <p:nvPr/>
        </p:nvSpPr>
        <p:spPr>
          <a:xfrm>
            <a:off x="7982712" y="2029968"/>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Turn 3</a:t>
            </a:r>
            <a:endParaRPr sz="1300">
              <a:solidFill>
                <a:schemeClr val="dk1"/>
              </a:solidFill>
              <a:latin typeface="Calibri"/>
              <a:ea typeface="Calibri"/>
              <a:cs typeface="Calibri"/>
              <a:sym typeface="Calibri"/>
            </a:endParaRPr>
          </a:p>
        </p:txBody>
      </p:sp>
      <p:sp>
        <p:nvSpPr>
          <p:cNvPr id="463" name="Google Shape;463;p16"/>
          <p:cNvSpPr/>
          <p:nvPr/>
        </p:nvSpPr>
        <p:spPr>
          <a:xfrm>
            <a:off x="7982712" y="2468880"/>
            <a:ext cx="3090672"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400"/>
              <a:buFont typeface="Calibri"/>
              <a:buNone/>
            </a:pPr>
            <a:r>
              <a:rPr b="1" lang="en-US" sz="1400">
                <a:solidFill>
                  <a:srgbClr val="16A34A"/>
                </a:solidFill>
                <a:latin typeface="Calibri"/>
                <a:ea typeface="Calibri"/>
                <a:cs typeface="Calibri"/>
                <a:sym typeface="Calibri"/>
              </a:rPr>
              <a:t>YOU run the code, send back result</a:t>
            </a:r>
            <a:endParaRPr sz="1400">
              <a:solidFill>
                <a:schemeClr val="dk1"/>
              </a:solidFill>
              <a:latin typeface="Calibri"/>
              <a:ea typeface="Calibri"/>
              <a:cs typeface="Calibri"/>
              <a:sym typeface="Calibri"/>
            </a:endParaRPr>
          </a:p>
        </p:txBody>
      </p:sp>
      <p:cxnSp>
        <p:nvCxnSpPr>
          <p:cNvPr id="464" name="Google Shape;464;p16"/>
          <p:cNvCxnSpPr/>
          <p:nvPr/>
        </p:nvCxnSpPr>
        <p:spPr>
          <a:xfrm>
            <a:off x="8046720" y="3063240"/>
            <a:ext cx="2926080" cy="0"/>
          </a:xfrm>
          <a:prstGeom prst="straightConnector1">
            <a:avLst/>
          </a:prstGeom>
          <a:noFill/>
          <a:ln cap="flat" cmpd="sng" w="9525">
            <a:solidFill>
              <a:srgbClr val="16A34A">
                <a:alpha val="45098"/>
              </a:srgbClr>
            </a:solidFill>
            <a:prstDash val="solid"/>
            <a:round/>
            <a:headEnd len="sm" w="sm" type="none"/>
            <a:tailEnd len="sm" w="sm" type="none"/>
          </a:ln>
        </p:spPr>
      </p:cxnSp>
      <p:sp>
        <p:nvSpPr>
          <p:cNvPr id="465" name="Google Shape;465;p16"/>
          <p:cNvSpPr/>
          <p:nvPr/>
        </p:nvSpPr>
        <p:spPr>
          <a:xfrm>
            <a:off x="7982712" y="3154680"/>
            <a:ext cx="3090672" cy="233172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Your Java code calls getWeather("Delhi") → "42°C, Sunny"</a:t>
            </a:r>
            <a:endParaRPr sz="1100">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You send this back to the AI.</a:t>
            </a:r>
            <a:endParaRPr sz="1100">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lang="en-US" sz="1100">
                <a:solidFill>
                  <a:srgbClr val="475569"/>
                </a:solidFill>
                <a:latin typeface="Courier New"/>
                <a:ea typeface="Courier New"/>
                <a:cs typeface="Courier New"/>
                <a:sym typeface="Courier New"/>
              </a:rPr>
              <a:t>AI now answers: "Delhi is 42°C and sunny today!"</a:t>
            </a:r>
            <a:endParaRPr sz="1100">
              <a:solidFill>
                <a:schemeClr val="dk1"/>
              </a:solidFill>
              <a:latin typeface="Calibri"/>
              <a:ea typeface="Calibri"/>
              <a:cs typeface="Calibri"/>
              <a:sym typeface="Calibri"/>
            </a:endParaRPr>
          </a:p>
        </p:txBody>
      </p:sp>
      <p:sp>
        <p:nvSpPr>
          <p:cNvPr id="466" name="Google Shape;466;p16"/>
          <p:cNvSpPr/>
          <p:nvPr/>
        </p:nvSpPr>
        <p:spPr>
          <a:xfrm>
            <a:off x="502920" y="5779008"/>
            <a:ext cx="11109960" cy="804672"/>
          </a:xfrm>
          <a:prstGeom prst="roundRect">
            <a:avLst>
              <a:gd fmla="val 11364" name="adj"/>
            </a:avLst>
          </a:prstGeom>
          <a:solidFill>
            <a:srgbClr val="FFFBEB"/>
          </a:solidFill>
          <a:ln cap="flat" cmpd="sng" w="12700">
            <a:solidFill>
              <a:srgbClr val="D97706">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16"/>
          <p:cNvSpPr/>
          <p:nvPr/>
        </p:nvSpPr>
        <p:spPr>
          <a:xfrm>
            <a:off x="713232" y="5852160"/>
            <a:ext cx="10652760" cy="65836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D97706"/>
              </a:buClr>
              <a:buSzPts val="1400"/>
              <a:buFont typeface="Calibri"/>
              <a:buNone/>
            </a:pPr>
            <a:r>
              <a:rPr b="1" lang="en-US" sz="1400">
                <a:solidFill>
                  <a:srgbClr val="D97706"/>
                </a:solidFill>
                <a:latin typeface="Calibri"/>
                <a:ea typeface="Calibri"/>
                <a:cs typeface="Calibri"/>
                <a:sym typeface="Calibri"/>
              </a:rPr>
              <a:t>Key insight: </a:t>
            </a:r>
            <a:r>
              <a:rPr lang="en-US" sz="1400">
                <a:solidFill>
                  <a:srgbClr val="475569"/>
                </a:solidFill>
                <a:latin typeface="Calibri"/>
                <a:ea typeface="Calibri"/>
                <a:cs typeface="Calibri"/>
                <a:sym typeface="Calibri"/>
              </a:rPr>
              <a:t>The AI never runs your code directly. It just ASKS you to run it and tell it the result. </a:t>
            </a:r>
            <a:r>
              <a:rPr b="1" lang="en-US" sz="1400">
                <a:solidFill>
                  <a:srgbClr val="475569"/>
                </a:solidFill>
                <a:latin typeface="Calibri"/>
                <a:ea typeface="Calibri"/>
                <a:cs typeface="Calibri"/>
                <a:sym typeface="Calibri"/>
              </a:rPr>
              <a:t>YOU are always in control of what executes.</a:t>
            </a:r>
            <a:r>
              <a:rPr lang="en-US" sz="1400">
                <a:solidFill>
                  <a:srgbClr val="475569"/>
                </a:solidFill>
                <a:latin typeface="Calibri"/>
                <a:ea typeface="Calibri"/>
                <a:cs typeface="Calibri"/>
                <a:sym typeface="Calibri"/>
              </a:rPr>
              <a:t> This is what makes tool calling safe — no rogue code execution.</a:t>
            </a:r>
            <a:endParaRPr sz="1400">
              <a:solidFill>
                <a:schemeClr val="dk1"/>
              </a:solidFill>
              <a:latin typeface="Calibri"/>
              <a:ea typeface="Calibri"/>
              <a:cs typeface="Calibri"/>
              <a:sym typeface="Calibri"/>
            </a:endParaRPr>
          </a:p>
        </p:txBody>
      </p:sp>
      <p:sp>
        <p:nvSpPr>
          <p:cNvPr id="468" name="Google Shape;468;p16"/>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1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470" name="Google Shape;470;p1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14 / 29</a:t>
            </a:r>
            <a:endParaRPr sz="9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5" name="Shape 475"/>
        <p:cNvGrpSpPr/>
        <p:nvPr/>
      </p:nvGrpSpPr>
      <p:grpSpPr>
        <a:xfrm>
          <a:off x="0" y="0"/>
          <a:ext cx="0" cy="0"/>
          <a:chOff x="0" y="0"/>
          <a:chExt cx="0" cy="0"/>
        </a:xfrm>
      </p:grpSpPr>
      <p:sp>
        <p:nvSpPr>
          <p:cNvPr id="476" name="Google Shape;476;p17"/>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lang="en-US" sz="1200">
                <a:solidFill>
                  <a:srgbClr val="D97706"/>
                </a:solidFill>
                <a:latin typeface="Calibri"/>
                <a:ea typeface="Calibri"/>
                <a:cs typeface="Calibri"/>
                <a:sym typeface="Calibri"/>
              </a:rPr>
              <a:t>SECTION 4 · TOOL CALLING — RESPONSES API PATTERN</a:t>
            </a:r>
            <a:endParaRPr sz="1200">
              <a:solidFill>
                <a:schemeClr val="dk1"/>
              </a:solidFill>
              <a:latin typeface="Calibri"/>
              <a:ea typeface="Calibri"/>
              <a:cs typeface="Calibri"/>
              <a:sym typeface="Calibri"/>
            </a:endParaRPr>
          </a:p>
        </p:txBody>
      </p:sp>
      <p:sp>
        <p:nvSpPr>
          <p:cNvPr id="477" name="Google Shape;477;p17"/>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000"/>
              <a:buFont typeface="Calibri"/>
              <a:buNone/>
            </a:pPr>
            <a:r>
              <a:rPr b="1" lang="en-US" sz="3000">
                <a:solidFill>
                  <a:srgbClr val="475569"/>
                </a:solidFill>
                <a:latin typeface="Calibri"/>
                <a:ea typeface="Calibri"/>
                <a:cs typeface="Calibri"/>
                <a:sym typeface="Calibri"/>
              </a:rPr>
              <a:t>Define a Java tool class. Let AI request it. You execute it.</a:t>
            </a:r>
            <a:endParaRPr sz="3000">
              <a:solidFill>
                <a:schemeClr val="dk1"/>
              </a:solidFill>
              <a:latin typeface="Calibri"/>
              <a:ea typeface="Calibri"/>
              <a:cs typeface="Calibri"/>
              <a:sym typeface="Calibri"/>
            </a:endParaRPr>
          </a:p>
        </p:txBody>
      </p:sp>
      <p:sp>
        <p:nvSpPr>
          <p:cNvPr id="478" name="Google Shape;478;p17"/>
          <p:cNvSpPr/>
          <p:nvPr/>
        </p:nvSpPr>
        <p:spPr>
          <a:xfrm>
            <a:off x="502920" y="1847088"/>
            <a:ext cx="6784848" cy="4645152"/>
          </a:xfrm>
          <a:prstGeom prst="roundRect">
            <a:avLst>
              <a:gd fmla="val 1969"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17"/>
          <p:cNvSpPr/>
          <p:nvPr/>
        </p:nvSpPr>
        <p:spPr>
          <a:xfrm>
            <a:off x="502920" y="1847088"/>
            <a:ext cx="6784848" cy="365760"/>
          </a:xfrm>
          <a:prstGeom prst="roundRect">
            <a:avLst>
              <a:gd fmla="val 25000" name="adj"/>
            </a:avLst>
          </a:prstGeom>
          <a:solidFill>
            <a:srgbClr val="1F2937"/>
          </a:solidFill>
          <a:ln cap="flat" cmpd="sng" w="12700">
            <a:solidFill>
              <a:srgbClr val="37415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7"/>
          <p:cNvSpPr/>
          <p:nvPr/>
        </p:nvSpPr>
        <p:spPr>
          <a:xfrm>
            <a:off x="667512" y="1947672"/>
            <a:ext cx="155448" cy="155448"/>
          </a:xfrm>
          <a:prstGeom prst="ellipse">
            <a:avLst/>
          </a:prstGeom>
          <a:solidFill>
            <a:srgbClr val="E11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17"/>
          <p:cNvSpPr/>
          <p:nvPr/>
        </p:nvSpPr>
        <p:spPr>
          <a:xfrm>
            <a:off x="905256" y="1947672"/>
            <a:ext cx="155448" cy="155448"/>
          </a:xfrm>
          <a:prstGeom prst="ellipse">
            <a:avLst/>
          </a:prstGeom>
          <a:solidFill>
            <a:srgbClr val="F59E0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17"/>
          <p:cNvSpPr/>
          <p:nvPr/>
        </p:nvSpPr>
        <p:spPr>
          <a:xfrm>
            <a:off x="1143000" y="1947672"/>
            <a:ext cx="155448" cy="155448"/>
          </a:xfrm>
          <a:prstGeom prst="ellipse">
            <a:avLst/>
          </a:prstGeom>
          <a:solidFill>
            <a:srgbClr val="16A3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17"/>
          <p:cNvSpPr/>
          <p:nvPr/>
        </p:nvSpPr>
        <p:spPr>
          <a:xfrm>
            <a:off x="1417320" y="1911096"/>
            <a:ext cx="573328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lang="en-US" sz="1050">
                <a:solidFill>
                  <a:srgbClr val="9CA3AF"/>
                </a:solidFill>
                <a:latin typeface="Courier New"/>
                <a:ea typeface="Courier New"/>
                <a:cs typeface="Courier New"/>
                <a:sym typeface="Courier New"/>
              </a:rPr>
              <a:t>ToolCallingDemo.java</a:t>
            </a:r>
            <a:endParaRPr sz="1050">
              <a:solidFill>
                <a:schemeClr val="dk1"/>
              </a:solidFill>
              <a:latin typeface="Calibri"/>
              <a:ea typeface="Calibri"/>
              <a:cs typeface="Calibri"/>
              <a:sym typeface="Calibri"/>
            </a:endParaRPr>
          </a:p>
        </p:txBody>
      </p:sp>
      <p:sp>
        <p:nvSpPr>
          <p:cNvPr id="484" name="Google Shape;484;p17"/>
          <p:cNvSpPr/>
          <p:nvPr/>
        </p:nvSpPr>
        <p:spPr>
          <a:xfrm>
            <a:off x="704088" y="2304288"/>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Beginner version: keep this as concept first</a:t>
            </a:r>
            <a:endParaRPr sz="1050">
              <a:solidFill>
                <a:schemeClr val="dk1"/>
              </a:solidFill>
              <a:latin typeface="Calibri"/>
              <a:ea typeface="Calibri"/>
              <a:cs typeface="Calibri"/>
              <a:sym typeface="Calibri"/>
            </a:endParaRPr>
          </a:p>
        </p:txBody>
      </p:sp>
      <p:sp>
        <p:nvSpPr>
          <p:cNvPr id="485" name="Google Shape;485;p17"/>
          <p:cNvSpPr/>
          <p:nvPr/>
        </p:nvSpPr>
        <p:spPr>
          <a:xfrm>
            <a:off x="704088" y="2471075"/>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class GetWeather {</a:t>
            </a:r>
            <a:endParaRPr sz="1050">
              <a:solidFill>
                <a:schemeClr val="dk1"/>
              </a:solidFill>
              <a:latin typeface="Calibri"/>
              <a:ea typeface="Calibri"/>
              <a:cs typeface="Calibri"/>
              <a:sym typeface="Calibri"/>
            </a:endParaRPr>
          </a:p>
        </p:txBody>
      </p:sp>
      <p:sp>
        <p:nvSpPr>
          <p:cNvPr id="486" name="Google Shape;486;p17"/>
          <p:cNvSpPr/>
          <p:nvPr/>
        </p:nvSpPr>
        <p:spPr>
          <a:xfrm>
            <a:off x="704088" y="2637861"/>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  public String city;</a:t>
            </a:r>
            <a:endParaRPr sz="1050">
              <a:solidFill>
                <a:schemeClr val="dk1"/>
              </a:solidFill>
              <a:latin typeface="Calibri"/>
              <a:ea typeface="Calibri"/>
              <a:cs typeface="Calibri"/>
              <a:sym typeface="Calibri"/>
            </a:endParaRPr>
          </a:p>
        </p:txBody>
      </p:sp>
      <p:sp>
        <p:nvSpPr>
          <p:cNvPr id="487" name="Google Shape;487;p17"/>
          <p:cNvSpPr/>
          <p:nvPr/>
        </p:nvSpPr>
        <p:spPr>
          <a:xfrm>
            <a:off x="704088" y="2804648"/>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  String execute() {</a:t>
            </a:r>
            <a:endParaRPr sz="1050">
              <a:solidFill>
                <a:schemeClr val="dk1"/>
              </a:solidFill>
              <a:latin typeface="Calibri"/>
              <a:ea typeface="Calibri"/>
              <a:cs typeface="Calibri"/>
              <a:sym typeface="Calibri"/>
            </a:endParaRPr>
          </a:p>
        </p:txBody>
      </p:sp>
      <p:sp>
        <p:nvSpPr>
          <p:cNvPr id="488" name="Google Shape;488;p17"/>
          <p:cNvSpPr/>
          <p:nvPr/>
        </p:nvSpPr>
        <p:spPr>
          <a:xfrm>
            <a:off x="704088" y="2971434"/>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    return weatherService.getWeather(city);</a:t>
            </a:r>
            <a:endParaRPr sz="1050">
              <a:solidFill>
                <a:schemeClr val="dk1"/>
              </a:solidFill>
              <a:latin typeface="Calibri"/>
              <a:ea typeface="Calibri"/>
              <a:cs typeface="Calibri"/>
              <a:sym typeface="Calibri"/>
            </a:endParaRPr>
          </a:p>
        </p:txBody>
      </p:sp>
      <p:sp>
        <p:nvSpPr>
          <p:cNvPr id="489" name="Google Shape;489;p17"/>
          <p:cNvSpPr/>
          <p:nvPr/>
        </p:nvSpPr>
        <p:spPr>
          <a:xfrm>
            <a:off x="704088" y="3138221"/>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490" name="Google Shape;490;p17"/>
          <p:cNvSpPr/>
          <p:nvPr/>
        </p:nvSpPr>
        <p:spPr>
          <a:xfrm>
            <a:off x="704088" y="3305007"/>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a:t>
            </a:r>
            <a:endParaRPr sz="1050">
              <a:solidFill>
                <a:schemeClr val="dk1"/>
              </a:solidFill>
              <a:latin typeface="Calibri"/>
              <a:ea typeface="Calibri"/>
              <a:cs typeface="Calibri"/>
              <a:sym typeface="Calibri"/>
            </a:endParaRPr>
          </a:p>
        </p:txBody>
      </p:sp>
      <p:sp>
        <p:nvSpPr>
          <p:cNvPr id="491" name="Google Shape;491;p17"/>
          <p:cNvSpPr/>
          <p:nvPr/>
        </p:nvSpPr>
        <p:spPr>
          <a:xfrm>
            <a:off x="704088" y="3471794"/>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492" name="Google Shape;492;p17"/>
          <p:cNvSpPr/>
          <p:nvPr/>
        </p:nvSpPr>
        <p:spPr>
          <a:xfrm>
            <a:off x="704088" y="3638580"/>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var params = ResponseCreateParams.builder()</a:t>
            </a:r>
            <a:endParaRPr sz="1050">
              <a:solidFill>
                <a:schemeClr val="dk1"/>
              </a:solidFill>
              <a:latin typeface="Calibri"/>
              <a:ea typeface="Calibri"/>
              <a:cs typeface="Calibri"/>
              <a:sym typeface="Calibri"/>
            </a:endParaRPr>
          </a:p>
        </p:txBody>
      </p:sp>
      <p:sp>
        <p:nvSpPr>
          <p:cNvPr id="493" name="Google Shape;493;p17"/>
          <p:cNvSpPr/>
          <p:nvPr/>
        </p:nvSpPr>
        <p:spPr>
          <a:xfrm>
            <a:off x="704088" y="3805367"/>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.model(ChatModel.GPT_4O_MINI)</a:t>
            </a:r>
            <a:endParaRPr sz="1050">
              <a:solidFill>
                <a:schemeClr val="dk1"/>
              </a:solidFill>
              <a:latin typeface="Calibri"/>
              <a:ea typeface="Calibri"/>
              <a:cs typeface="Calibri"/>
              <a:sym typeface="Calibri"/>
            </a:endParaRPr>
          </a:p>
        </p:txBody>
      </p:sp>
      <p:sp>
        <p:nvSpPr>
          <p:cNvPr id="494" name="Google Shape;494;p17"/>
          <p:cNvSpPr/>
          <p:nvPr/>
        </p:nvSpPr>
        <p:spPr>
          <a:xfrm>
            <a:off x="704088" y="3972154"/>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.input("Weather in Delhi?")</a:t>
            </a:r>
            <a:endParaRPr sz="1050">
              <a:solidFill>
                <a:schemeClr val="dk1"/>
              </a:solidFill>
              <a:latin typeface="Calibri"/>
              <a:ea typeface="Calibri"/>
              <a:cs typeface="Calibri"/>
              <a:sym typeface="Calibri"/>
            </a:endParaRPr>
          </a:p>
        </p:txBody>
      </p:sp>
      <p:sp>
        <p:nvSpPr>
          <p:cNvPr id="495" name="Google Shape;495;p17"/>
          <p:cNvSpPr/>
          <p:nvPr/>
        </p:nvSpPr>
        <p:spPr>
          <a:xfrm>
            <a:off x="704088" y="4138940"/>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.addTool(GetWeather.class)</a:t>
            </a:r>
            <a:endParaRPr sz="1050">
              <a:solidFill>
                <a:schemeClr val="dk1"/>
              </a:solidFill>
              <a:latin typeface="Calibri"/>
              <a:ea typeface="Calibri"/>
              <a:cs typeface="Calibri"/>
              <a:sym typeface="Calibri"/>
            </a:endParaRPr>
          </a:p>
        </p:txBody>
      </p:sp>
      <p:sp>
        <p:nvSpPr>
          <p:cNvPr id="496" name="Google Shape;496;p17"/>
          <p:cNvSpPr/>
          <p:nvPr/>
        </p:nvSpPr>
        <p:spPr>
          <a:xfrm>
            <a:off x="704088" y="4305727"/>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497" name="Google Shape;497;p17"/>
          <p:cNvSpPr/>
          <p:nvPr/>
        </p:nvSpPr>
        <p:spPr>
          <a:xfrm>
            <a:off x="704088" y="4472513"/>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.build();</a:t>
            </a:r>
            <a:endParaRPr sz="1050">
              <a:solidFill>
                <a:schemeClr val="dk1"/>
              </a:solidFill>
              <a:latin typeface="Calibri"/>
              <a:ea typeface="Calibri"/>
              <a:cs typeface="Calibri"/>
              <a:sym typeface="Calibri"/>
            </a:endParaRPr>
          </a:p>
        </p:txBody>
      </p:sp>
      <p:sp>
        <p:nvSpPr>
          <p:cNvPr id="498" name="Google Shape;498;p17"/>
          <p:cNvSpPr/>
          <p:nvPr/>
        </p:nvSpPr>
        <p:spPr>
          <a:xfrm>
            <a:off x="704088" y="4639300"/>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Response response = client.responses().create(params);</a:t>
            </a:r>
            <a:endParaRPr sz="1050">
              <a:solidFill>
                <a:schemeClr val="dk1"/>
              </a:solidFill>
              <a:latin typeface="Calibri"/>
              <a:ea typeface="Calibri"/>
              <a:cs typeface="Calibri"/>
              <a:sym typeface="Calibri"/>
            </a:endParaRPr>
          </a:p>
        </p:txBody>
      </p:sp>
      <p:sp>
        <p:nvSpPr>
          <p:cNvPr id="499" name="Google Shape;499;p17"/>
          <p:cNvSpPr/>
          <p:nvPr/>
        </p:nvSpPr>
        <p:spPr>
          <a:xfrm>
            <a:off x="704088" y="4806086"/>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 If response contains a function call:</a:t>
            </a:r>
            <a:endParaRPr sz="1050">
              <a:solidFill>
                <a:schemeClr val="dk1"/>
              </a:solidFill>
              <a:latin typeface="Calibri"/>
              <a:ea typeface="Calibri"/>
              <a:cs typeface="Calibri"/>
              <a:sym typeface="Calibri"/>
            </a:endParaRPr>
          </a:p>
        </p:txBody>
      </p:sp>
      <p:sp>
        <p:nvSpPr>
          <p:cNvPr id="500" name="Google Shape;500;p17"/>
          <p:cNvSpPr/>
          <p:nvPr/>
        </p:nvSpPr>
        <p:spPr>
          <a:xfrm>
            <a:off x="704088" y="4972873"/>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 1. parse arguments</a:t>
            </a:r>
            <a:endParaRPr sz="1050">
              <a:solidFill>
                <a:schemeClr val="dk1"/>
              </a:solidFill>
              <a:latin typeface="Calibri"/>
              <a:ea typeface="Calibri"/>
              <a:cs typeface="Calibri"/>
              <a:sym typeface="Calibri"/>
            </a:endParaRPr>
          </a:p>
        </p:txBody>
      </p:sp>
      <p:sp>
        <p:nvSpPr>
          <p:cNvPr id="501" name="Google Shape;501;p17"/>
          <p:cNvSpPr/>
          <p:nvPr/>
        </p:nvSpPr>
        <p:spPr>
          <a:xfrm>
            <a:off x="704088" y="5139660"/>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502" name="Google Shape;502;p17"/>
          <p:cNvSpPr/>
          <p:nvPr/>
        </p:nvSpPr>
        <p:spPr>
          <a:xfrm>
            <a:off x="704088" y="5306446"/>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2. run YOUR Java method</a:t>
            </a:r>
            <a:endParaRPr sz="1050">
              <a:solidFill>
                <a:schemeClr val="dk1"/>
              </a:solidFill>
              <a:latin typeface="Calibri"/>
              <a:ea typeface="Calibri"/>
              <a:cs typeface="Calibri"/>
              <a:sym typeface="Calibri"/>
            </a:endParaRPr>
          </a:p>
        </p:txBody>
      </p:sp>
      <p:sp>
        <p:nvSpPr>
          <p:cNvPr id="503" name="Google Shape;503;p17"/>
          <p:cNvSpPr/>
          <p:nvPr/>
        </p:nvSpPr>
        <p:spPr>
          <a:xfrm>
            <a:off x="704088" y="5473233"/>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 3. send result back to model</a:t>
            </a:r>
            <a:endParaRPr sz="1050">
              <a:solidFill>
                <a:schemeClr val="dk1"/>
              </a:solidFill>
              <a:latin typeface="Calibri"/>
              <a:ea typeface="Calibri"/>
              <a:cs typeface="Calibri"/>
              <a:sym typeface="Calibri"/>
            </a:endParaRPr>
          </a:p>
        </p:txBody>
      </p:sp>
      <p:sp>
        <p:nvSpPr>
          <p:cNvPr id="504" name="Google Shape;504;p17"/>
          <p:cNvSpPr/>
          <p:nvPr/>
        </p:nvSpPr>
        <p:spPr>
          <a:xfrm>
            <a:off x="704088" y="5640019"/>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505" name="Google Shape;505;p17"/>
          <p:cNvSpPr/>
          <p:nvPr/>
        </p:nvSpPr>
        <p:spPr>
          <a:xfrm>
            <a:off x="704088" y="5806806"/>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AI then writes final answer</a:t>
            </a:r>
            <a:endParaRPr sz="1050">
              <a:solidFill>
                <a:schemeClr val="dk1"/>
              </a:solidFill>
              <a:latin typeface="Calibri"/>
              <a:ea typeface="Calibri"/>
              <a:cs typeface="Calibri"/>
              <a:sym typeface="Calibri"/>
            </a:endParaRPr>
          </a:p>
        </p:txBody>
      </p:sp>
      <p:sp>
        <p:nvSpPr>
          <p:cNvPr id="506" name="Google Shape;506;p17"/>
          <p:cNvSpPr/>
          <p:nvPr/>
        </p:nvSpPr>
        <p:spPr>
          <a:xfrm>
            <a:off x="704088" y="5973592"/>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507" name="Google Shape;507;p17"/>
          <p:cNvSpPr/>
          <p:nvPr/>
        </p:nvSpPr>
        <p:spPr>
          <a:xfrm>
            <a:off x="704088" y="6140379"/>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t/>
            </a:r>
            <a:endParaRPr sz="1050">
              <a:solidFill>
                <a:schemeClr val="dk1"/>
              </a:solidFill>
              <a:latin typeface="Calibri"/>
              <a:ea typeface="Calibri"/>
              <a:cs typeface="Calibri"/>
              <a:sym typeface="Calibri"/>
            </a:endParaRPr>
          </a:p>
        </p:txBody>
      </p:sp>
      <p:sp>
        <p:nvSpPr>
          <p:cNvPr id="508" name="Google Shape;508;p17"/>
          <p:cNvSpPr/>
          <p:nvPr/>
        </p:nvSpPr>
        <p:spPr>
          <a:xfrm>
            <a:off x="704088" y="6307165"/>
            <a:ext cx="6464808" cy="16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a:t>
            </a:r>
            <a:endParaRPr sz="1050">
              <a:solidFill>
                <a:schemeClr val="dk1"/>
              </a:solidFill>
              <a:latin typeface="Calibri"/>
              <a:ea typeface="Calibri"/>
              <a:cs typeface="Calibri"/>
              <a:sym typeface="Calibri"/>
            </a:endParaRPr>
          </a:p>
        </p:txBody>
      </p:sp>
      <p:sp>
        <p:nvSpPr>
          <p:cNvPr id="509" name="Google Shape;509;p17"/>
          <p:cNvSpPr/>
          <p:nvPr/>
        </p:nvSpPr>
        <p:spPr>
          <a:xfrm>
            <a:off x="7406640" y="2029968"/>
            <a:ext cx="4572000" cy="457200"/>
          </a:xfrm>
          <a:prstGeom prst="roundRect">
            <a:avLst>
              <a:gd fmla="val 14000" name="adj"/>
            </a:avLst>
          </a:prstGeom>
          <a:solidFill>
            <a:srgbClr val="F8FAFC"/>
          </a:solidFill>
          <a:ln cap="flat" cmpd="sng" w="12700">
            <a:solidFill>
              <a:srgbClr val="D97706">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17"/>
          <p:cNvSpPr/>
          <p:nvPr/>
        </p:nvSpPr>
        <p:spPr>
          <a:xfrm>
            <a:off x="7552944" y="2029968"/>
            <a:ext cx="4370832"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7706"/>
              </a:buClr>
              <a:buSzPts val="1100"/>
              <a:buFont typeface="Calibri"/>
              <a:buNone/>
            </a:pPr>
            <a:r>
              <a:rPr b="1" lang="en-US" sz="1100">
                <a:solidFill>
                  <a:srgbClr val="D97706"/>
                </a:solidFill>
                <a:latin typeface="Calibri"/>
                <a:ea typeface="Calibri"/>
                <a:cs typeface="Calibri"/>
                <a:sym typeface="Calibri"/>
              </a:rPr>
              <a:t>◀  AI asks for a tool; it does not run code itself</a:t>
            </a:r>
            <a:endParaRPr sz="1100">
              <a:solidFill>
                <a:schemeClr val="dk1"/>
              </a:solidFill>
              <a:latin typeface="Calibri"/>
              <a:ea typeface="Calibri"/>
              <a:cs typeface="Calibri"/>
              <a:sym typeface="Calibri"/>
            </a:endParaRPr>
          </a:p>
        </p:txBody>
      </p:sp>
      <p:sp>
        <p:nvSpPr>
          <p:cNvPr id="511" name="Google Shape;511;p17"/>
          <p:cNvSpPr/>
          <p:nvPr/>
        </p:nvSpPr>
        <p:spPr>
          <a:xfrm>
            <a:off x="7406640" y="3246120"/>
            <a:ext cx="4572000" cy="457200"/>
          </a:xfrm>
          <a:prstGeom prst="roundRect">
            <a:avLst>
              <a:gd fmla="val 14000" name="adj"/>
            </a:avLst>
          </a:prstGeom>
          <a:solidFill>
            <a:srgbClr val="F8FAFC"/>
          </a:solidFill>
          <a:ln cap="flat" cmpd="sng" w="12700">
            <a:solidFill>
              <a:srgbClr val="0891B2">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17"/>
          <p:cNvSpPr/>
          <p:nvPr/>
        </p:nvSpPr>
        <p:spPr>
          <a:xfrm>
            <a:off x="7552944" y="3246120"/>
            <a:ext cx="4370832"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1100"/>
              <a:buFont typeface="Calibri"/>
              <a:buNone/>
            </a:pPr>
            <a:r>
              <a:rPr b="1" lang="en-US" sz="1100">
                <a:solidFill>
                  <a:srgbClr val="0891B2"/>
                </a:solidFill>
                <a:latin typeface="Calibri"/>
                <a:ea typeface="Calibri"/>
                <a:cs typeface="Calibri"/>
                <a:sym typeface="Calibri"/>
              </a:rPr>
              <a:t>◀  Your Java code decides what is allowed</a:t>
            </a:r>
            <a:endParaRPr sz="1100">
              <a:solidFill>
                <a:schemeClr val="dk1"/>
              </a:solidFill>
              <a:latin typeface="Calibri"/>
              <a:ea typeface="Calibri"/>
              <a:cs typeface="Calibri"/>
              <a:sym typeface="Calibri"/>
            </a:endParaRPr>
          </a:p>
        </p:txBody>
      </p:sp>
      <p:sp>
        <p:nvSpPr>
          <p:cNvPr id="513" name="Google Shape;513;p17"/>
          <p:cNvSpPr/>
          <p:nvPr/>
        </p:nvSpPr>
        <p:spPr>
          <a:xfrm>
            <a:off x="7406640" y="4773168"/>
            <a:ext cx="4572000" cy="457200"/>
          </a:xfrm>
          <a:prstGeom prst="roundRect">
            <a:avLst>
              <a:gd fmla="val 14000" name="adj"/>
            </a:avLst>
          </a:prstGeom>
          <a:solidFill>
            <a:srgbClr val="F8FAFC"/>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17"/>
          <p:cNvSpPr/>
          <p:nvPr/>
        </p:nvSpPr>
        <p:spPr>
          <a:xfrm>
            <a:off x="7552944" y="4773168"/>
            <a:ext cx="4370832"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100"/>
              <a:buFont typeface="Calibri"/>
              <a:buNone/>
            </a:pPr>
            <a:r>
              <a:rPr b="1" lang="en-US" sz="1100">
                <a:solidFill>
                  <a:srgbClr val="16A34A"/>
                </a:solidFill>
                <a:latin typeface="Calibri"/>
                <a:ea typeface="Calibri"/>
                <a:cs typeface="Calibri"/>
                <a:sym typeface="Calibri"/>
              </a:rPr>
              <a:t>◀  Teach after basic streaming is clear</a:t>
            </a:r>
            <a:endParaRPr sz="1100">
              <a:solidFill>
                <a:schemeClr val="dk1"/>
              </a:solidFill>
              <a:latin typeface="Calibri"/>
              <a:ea typeface="Calibri"/>
              <a:cs typeface="Calibri"/>
              <a:sym typeface="Calibri"/>
            </a:endParaRPr>
          </a:p>
        </p:txBody>
      </p:sp>
      <p:sp>
        <p:nvSpPr>
          <p:cNvPr id="515" name="Google Shape;515;p17"/>
          <p:cNvSpPr/>
          <p:nvPr/>
        </p:nvSpPr>
        <p:spPr>
          <a:xfrm>
            <a:off x="7406640" y="5559552"/>
            <a:ext cx="4572000" cy="896112"/>
          </a:xfrm>
          <a:prstGeom prst="roundRect">
            <a:avLst>
              <a:gd fmla="val 9184" name="adj"/>
            </a:avLst>
          </a:prstGeom>
          <a:solidFill>
            <a:srgbClr val="FFFBEB"/>
          </a:solidFill>
          <a:ln cap="flat" cmpd="sng" w="12700">
            <a:solidFill>
              <a:srgbClr val="D97706">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17"/>
          <p:cNvSpPr/>
          <p:nvPr/>
        </p:nvSpPr>
        <p:spPr>
          <a:xfrm>
            <a:off x="7571232" y="5669280"/>
            <a:ext cx="4297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lang="en-US" sz="1200">
                <a:solidFill>
                  <a:srgbClr val="D97706"/>
                </a:solidFill>
                <a:latin typeface="Calibri"/>
                <a:ea typeface="Calibri"/>
                <a:cs typeface="Calibri"/>
                <a:sym typeface="Calibri"/>
              </a:rPr>
              <a:t>Bridge to Voice Task Manager:</a:t>
            </a:r>
            <a:endParaRPr sz="1200">
              <a:solidFill>
                <a:schemeClr val="dk1"/>
              </a:solidFill>
              <a:latin typeface="Calibri"/>
              <a:ea typeface="Calibri"/>
              <a:cs typeface="Calibri"/>
              <a:sym typeface="Calibri"/>
            </a:endParaRPr>
          </a:p>
        </p:txBody>
      </p:sp>
      <p:sp>
        <p:nvSpPr>
          <p:cNvPr id="517" name="Google Shape;517;p17"/>
          <p:cNvSpPr/>
          <p:nvPr/>
        </p:nvSpPr>
        <p:spPr>
          <a:xfrm>
            <a:off x="7571232" y="5998464"/>
            <a:ext cx="4297680" cy="38404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300"/>
              <a:buFont typeface="Courier New"/>
              <a:buNone/>
            </a:pPr>
            <a:r>
              <a:rPr lang="en-US" sz="1300">
                <a:solidFill>
                  <a:srgbClr val="475569"/>
                </a:solidFill>
                <a:latin typeface="Courier New"/>
                <a:ea typeface="Courier New"/>
                <a:cs typeface="Courier New"/>
                <a:sym typeface="Courier New"/>
              </a:rPr>
              <a:t>addTask · listTasks · deleteTask · updateStatus</a:t>
            </a:r>
            <a:endParaRPr sz="1100">
              <a:solidFill>
                <a:schemeClr val="dk1"/>
              </a:solidFill>
              <a:latin typeface="Calibri"/>
              <a:ea typeface="Calibri"/>
              <a:cs typeface="Calibri"/>
              <a:sym typeface="Calibri"/>
            </a:endParaRPr>
          </a:p>
        </p:txBody>
      </p:sp>
      <p:sp>
        <p:nvSpPr>
          <p:cNvPr id="518" name="Google Shape;518;p17"/>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1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520" name="Google Shape;520;p1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15 / 29</a:t>
            </a:r>
            <a:endParaRPr sz="9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525" name="Shape 525"/>
        <p:cNvGrpSpPr/>
        <p:nvPr/>
      </p:nvGrpSpPr>
      <p:grpSpPr>
        <a:xfrm>
          <a:off x="0" y="0"/>
          <a:ext cx="0" cy="0"/>
          <a:chOff x="0" y="0"/>
          <a:chExt cx="0" cy="0"/>
        </a:xfrm>
      </p:grpSpPr>
      <p:sp>
        <p:nvSpPr>
          <p:cNvPr id="526" name="Google Shape;526;p18"/>
          <p:cNvSpPr/>
          <p:nvPr/>
        </p:nvSpPr>
        <p:spPr>
          <a:xfrm>
            <a:off x="6583680" y="-182880"/>
            <a:ext cx="64008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21000"/>
              <a:buFont typeface="Calibri"/>
              <a:buNone/>
            </a:pPr>
            <a:r>
              <a:rPr b="1" lang="en-US" sz="21000">
                <a:solidFill>
                  <a:srgbClr val="E11D48"/>
                </a:solidFill>
                <a:latin typeface="Calibri"/>
                <a:ea typeface="Calibri"/>
                <a:cs typeface="Calibri"/>
                <a:sym typeface="Calibri"/>
              </a:rPr>
              <a:t>Structur</a:t>
            </a:r>
            <a:endParaRPr sz="21000">
              <a:solidFill>
                <a:schemeClr val="dk1"/>
              </a:solidFill>
              <a:latin typeface="Calibri"/>
              <a:ea typeface="Calibri"/>
              <a:cs typeface="Calibri"/>
              <a:sym typeface="Calibri"/>
            </a:endParaRPr>
          </a:p>
        </p:txBody>
      </p:sp>
      <p:sp>
        <p:nvSpPr>
          <p:cNvPr id="527" name="Google Shape;527;p18"/>
          <p:cNvSpPr/>
          <p:nvPr/>
        </p:nvSpPr>
        <p:spPr>
          <a:xfrm>
            <a:off x="475488" y="804672"/>
            <a:ext cx="749808" cy="749808"/>
          </a:xfrm>
          <a:prstGeom prst="roundRect">
            <a:avLst>
              <a:gd fmla="val 12195" name="adj"/>
            </a:avLst>
          </a:prstGeom>
          <a:solidFill>
            <a:srgbClr val="E11D48"/>
          </a:solidFill>
          <a:ln cap="flat" cmpd="sng" w="12700">
            <a:solidFill>
              <a:srgbClr val="E11D4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18"/>
          <p:cNvSpPr/>
          <p:nvPr/>
        </p:nvSpPr>
        <p:spPr>
          <a:xfrm>
            <a:off x="475488" y="804672"/>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600"/>
              <a:buFont typeface="Calibri"/>
              <a:buNone/>
            </a:pPr>
            <a:r>
              <a:rPr lang="en-US" sz="2600">
                <a:solidFill>
                  <a:srgbClr val="000000"/>
                </a:solidFill>
                <a:latin typeface="Calibri"/>
                <a:ea typeface="Calibri"/>
                <a:cs typeface="Calibri"/>
                <a:sym typeface="Calibri"/>
              </a:rPr>
              <a:t>📋</a:t>
            </a:r>
            <a:endParaRPr sz="2600">
              <a:solidFill>
                <a:schemeClr val="dk1"/>
              </a:solidFill>
              <a:latin typeface="Calibri"/>
              <a:ea typeface="Calibri"/>
              <a:cs typeface="Calibri"/>
              <a:sym typeface="Calibri"/>
            </a:endParaRPr>
          </a:p>
        </p:txBody>
      </p:sp>
      <p:sp>
        <p:nvSpPr>
          <p:cNvPr id="529" name="Google Shape;529;p18"/>
          <p:cNvSpPr/>
          <p:nvPr/>
        </p:nvSpPr>
        <p:spPr>
          <a:xfrm>
            <a:off x="1371600" y="841248"/>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300"/>
              <a:buFont typeface="Calibri"/>
              <a:buNone/>
            </a:pPr>
            <a:r>
              <a:rPr b="1" lang="en-US" sz="1300">
                <a:solidFill>
                  <a:srgbClr val="E11D48"/>
                </a:solidFill>
                <a:latin typeface="Calibri"/>
                <a:ea typeface="Calibri"/>
                <a:cs typeface="Calibri"/>
                <a:sym typeface="Calibri"/>
              </a:rPr>
              <a:t>SECTION</a:t>
            </a:r>
            <a:endParaRPr sz="1300">
              <a:solidFill>
                <a:schemeClr val="dk1"/>
              </a:solidFill>
              <a:latin typeface="Calibri"/>
              <a:ea typeface="Calibri"/>
              <a:cs typeface="Calibri"/>
              <a:sym typeface="Calibri"/>
            </a:endParaRPr>
          </a:p>
        </p:txBody>
      </p:sp>
      <p:sp>
        <p:nvSpPr>
          <p:cNvPr id="530" name="Google Shape;530;p18"/>
          <p:cNvSpPr/>
          <p:nvPr/>
        </p:nvSpPr>
        <p:spPr>
          <a:xfrm>
            <a:off x="685800" y="1417320"/>
            <a:ext cx="9144000" cy="192024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Structured</a:t>
            </a:r>
            <a:endParaRPr sz="5400">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Outputs</a:t>
            </a:r>
            <a:endParaRPr sz="5400">
              <a:solidFill>
                <a:schemeClr val="dk1"/>
              </a:solidFill>
              <a:latin typeface="Calibri"/>
              <a:ea typeface="Calibri"/>
              <a:cs typeface="Calibri"/>
              <a:sym typeface="Calibri"/>
            </a:endParaRPr>
          </a:p>
        </p:txBody>
      </p:sp>
      <p:sp>
        <p:nvSpPr>
          <p:cNvPr id="531" name="Google Shape;531;p18"/>
          <p:cNvSpPr/>
          <p:nvPr/>
        </p:nvSpPr>
        <p:spPr>
          <a:xfrm>
            <a:off x="685800" y="3493008"/>
            <a:ext cx="91440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lang="en-US" sz="2000">
                <a:solidFill>
                  <a:srgbClr val="8B92B8"/>
                </a:solidFill>
                <a:latin typeface="Calibri"/>
                <a:ea typeface="Calibri"/>
                <a:cs typeface="Calibri"/>
                <a:sym typeface="Calibri"/>
              </a:rPr>
              <a:t>Tell the AI exactly what JSON to return. Map it directly to a Java record. Zero parsing.</a:t>
            </a:r>
            <a:endParaRPr sz="2000">
              <a:solidFill>
                <a:schemeClr val="dk1"/>
              </a:solidFill>
              <a:latin typeface="Calibri"/>
              <a:ea typeface="Calibri"/>
              <a:cs typeface="Calibri"/>
              <a:sym typeface="Calibri"/>
            </a:endParaRPr>
          </a:p>
        </p:txBody>
      </p:sp>
      <p:sp>
        <p:nvSpPr>
          <p:cNvPr id="532" name="Google Shape;532;p18"/>
          <p:cNvSpPr/>
          <p:nvPr/>
        </p:nvSpPr>
        <p:spPr>
          <a:xfrm>
            <a:off x="0" y="6583680"/>
            <a:ext cx="12191695" cy="274320"/>
          </a:xfrm>
          <a:prstGeom prst="rect">
            <a:avLst/>
          </a:prstGeom>
          <a:solidFill>
            <a:srgbClr val="E11D48">
              <a:alpha val="12156"/>
            </a:srgbClr>
          </a:solidFill>
          <a:ln cap="flat" cmpd="sng" w="12700">
            <a:solidFill>
              <a:srgbClr val="E11D48">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1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534" name="Google Shape;534;p1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16 / 29</a:t>
            </a:r>
            <a:endParaRPr sz="9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19"/>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lang="en-US" sz="1200">
                <a:solidFill>
                  <a:srgbClr val="E11D48"/>
                </a:solidFill>
                <a:latin typeface="Calibri"/>
                <a:ea typeface="Calibri"/>
                <a:cs typeface="Calibri"/>
                <a:sym typeface="Calibri"/>
              </a:rPr>
              <a:t>SECTION 5 · STRUCTURED OUTPUTS — RESPONSES API + JAVA CLASS</a:t>
            </a:r>
            <a:endParaRPr sz="1200">
              <a:solidFill>
                <a:schemeClr val="dk1"/>
              </a:solidFill>
              <a:latin typeface="Calibri"/>
              <a:ea typeface="Calibri"/>
              <a:cs typeface="Calibri"/>
              <a:sym typeface="Calibri"/>
            </a:endParaRPr>
          </a:p>
        </p:txBody>
      </p:sp>
      <p:sp>
        <p:nvSpPr>
          <p:cNvPr id="541" name="Google Shape;541;p19"/>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200"/>
              <a:buFont typeface="Calibri"/>
              <a:buNone/>
            </a:pPr>
            <a:r>
              <a:rPr b="1" lang="en-US" sz="3200">
                <a:solidFill>
                  <a:srgbClr val="475569"/>
                </a:solidFill>
                <a:latin typeface="Calibri"/>
                <a:ea typeface="Calibri"/>
                <a:cs typeface="Calibri"/>
                <a:sym typeface="Calibri"/>
              </a:rPr>
              <a:t>For fixed data, ask for typed output instead of fragile text parsing.</a:t>
            </a:r>
            <a:endParaRPr sz="3200">
              <a:solidFill>
                <a:schemeClr val="dk1"/>
              </a:solidFill>
              <a:latin typeface="Calibri"/>
              <a:ea typeface="Calibri"/>
              <a:cs typeface="Calibri"/>
              <a:sym typeface="Calibri"/>
            </a:endParaRPr>
          </a:p>
        </p:txBody>
      </p:sp>
      <p:sp>
        <p:nvSpPr>
          <p:cNvPr id="542" name="Google Shape;542;p19"/>
          <p:cNvSpPr/>
          <p:nvPr/>
        </p:nvSpPr>
        <p:spPr>
          <a:xfrm>
            <a:off x="502920" y="1847088"/>
            <a:ext cx="6784848" cy="4160520"/>
          </a:xfrm>
          <a:prstGeom prst="roundRect">
            <a:avLst>
              <a:gd fmla="val 2198"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19"/>
          <p:cNvSpPr/>
          <p:nvPr/>
        </p:nvSpPr>
        <p:spPr>
          <a:xfrm>
            <a:off x="502920" y="1847088"/>
            <a:ext cx="6784848" cy="365760"/>
          </a:xfrm>
          <a:prstGeom prst="roundRect">
            <a:avLst>
              <a:gd fmla="val 25000" name="adj"/>
            </a:avLst>
          </a:prstGeom>
          <a:solidFill>
            <a:srgbClr val="1F2937"/>
          </a:solidFill>
          <a:ln cap="flat" cmpd="sng" w="12700">
            <a:solidFill>
              <a:srgbClr val="37415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19"/>
          <p:cNvSpPr/>
          <p:nvPr/>
        </p:nvSpPr>
        <p:spPr>
          <a:xfrm>
            <a:off x="667512" y="1947672"/>
            <a:ext cx="155448" cy="155448"/>
          </a:xfrm>
          <a:prstGeom prst="ellipse">
            <a:avLst/>
          </a:prstGeom>
          <a:solidFill>
            <a:srgbClr val="E11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19"/>
          <p:cNvSpPr/>
          <p:nvPr/>
        </p:nvSpPr>
        <p:spPr>
          <a:xfrm>
            <a:off x="905256" y="1947672"/>
            <a:ext cx="155448" cy="155448"/>
          </a:xfrm>
          <a:prstGeom prst="ellipse">
            <a:avLst/>
          </a:prstGeom>
          <a:solidFill>
            <a:srgbClr val="F59E0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19"/>
          <p:cNvSpPr/>
          <p:nvPr/>
        </p:nvSpPr>
        <p:spPr>
          <a:xfrm>
            <a:off x="1143000" y="1947672"/>
            <a:ext cx="155448" cy="155448"/>
          </a:xfrm>
          <a:prstGeom prst="ellipse">
            <a:avLst/>
          </a:prstGeom>
          <a:solidFill>
            <a:srgbClr val="16A3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19"/>
          <p:cNvSpPr/>
          <p:nvPr/>
        </p:nvSpPr>
        <p:spPr>
          <a:xfrm>
            <a:off x="1417320" y="1911096"/>
            <a:ext cx="573328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lang="en-US" sz="1050">
                <a:solidFill>
                  <a:srgbClr val="9CA3AF"/>
                </a:solidFill>
                <a:latin typeface="Courier New"/>
                <a:ea typeface="Courier New"/>
                <a:cs typeface="Courier New"/>
                <a:sym typeface="Courier New"/>
              </a:rPr>
              <a:t>StructuredOutputDemo.java</a:t>
            </a:r>
            <a:endParaRPr sz="1050">
              <a:solidFill>
                <a:schemeClr val="dk1"/>
              </a:solidFill>
              <a:latin typeface="Calibri"/>
              <a:ea typeface="Calibri"/>
              <a:cs typeface="Calibri"/>
              <a:sym typeface="Calibri"/>
            </a:endParaRPr>
          </a:p>
        </p:txBody>
      </p:sp>
      <p:sp>
        <p:nvSpPr>
          <p:cNvPr id="548" name="Google Shape;548;p19"/>
          <p:cNvSpPr/>
          <p:nvPr/>
        </p:nvSpPr>
        <p:spPr>
          <a:xfrm>
            <a:off x="704088" y="2304288"/>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Step 1: Define the shape you want</a:t>
            </a:r>
            <a:endParaRPr sz="1050">
              <a:solidFill>
                <a:schemeClr val="dk1"/>
              </a:solidFill>
              <a:latin typeface="Calibri"/>
              <a:ea typeface="Calibri"/>
              <a:cs typeface="Calibri"/>
              <a:sym typeface="Calibri"/>
            </a:endParaRPr>
          </a:p>
        </p:txBody>
      </p:sp>
      <p:sp>
        <p:nvSpPr>
          <p:cNvPr id="549" name="Google Shape;549;p19"/>
          <p:cNvSpPr/>
          <p:nvPr/>
        </p:nvSpPr>
        <p:spPr>
          <a:xfrm>
            <a:off x="704088" y="2471789"/>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class Movie {</a:t>
            </a:r>
            <a:endParaRPr sz="1050">
              <a:solidFill>
                <a:schemeClr val="dk1"/>
              </a:solidFill>
              <a:latin typeface="Calibri"/>
              <a:ea typeface="Calibri"/>
              <a:cs typeface="Calibri"/>
              <a:sym typeface="Calibri"/>
            </a:endParaRPr>
          </a:p>
        </p:txBody>
      </p:sp>
      <p:sp>
        <p:nvSpPr>
          <p:cNvPr id="550" name="Google Shape;550;p19"/>
          <p:cNvSpPr/>
          <p:nvPr/>
        </p:nvSpPr>
        <p:spPr>
          <a:xfrm>
            <a:off x="704088" y="2639291"/>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  public String title; public int year; public String genre; public double rating;</a:t>
            </a:r>
            <a:endParaRPr sz="1050">
              <a:solidFill>
                <a:schemeClr val="dk1"/>
              </a:solidFill>
              <a:latin typeface="Calibri"/>
              <a:ea typeface="Calibri"/>
              <a:cs typeface="Calibri"/>
              <a:sym typeface="Calibri"/>
            </a:endParaRPr>
          </a:p>
        </p:txBody>
      </p:sp>
      <p:sp>
        <p:nvSpPr>
          <p:cNvPr id="551" name="Google Shape;551;p19"/>
          <p:cNvSpPr/>
          <p:nvPr/>
        </p:nvSpPr>
        <p:spPr>
          <a:xfrm>
            <a:off x="704088" y="2806792"/>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a:t>
            </a:r>
            <a:endParaRPr sz="1050">
              <a:solidFill>
                <a:schemeClr val="dk1"/>
              </a:solidFill>
              <a:latin typeface="Calibri"/>
              <a:ea typeface="Calibri"/>
              <a:cs typeface="Calibri"/>
              <a:sym typeface="Calibri"/>
            </a:endParaRPr>
          </a:p>
        </p:txBody>
      </p:sp>
      <p:sp>
        <p:nvSpPr>
          <p:cNvPr id="552" name="Google Shape;552;p19"/>
          <p:cNvSpPr/>
          <p:nvPr/>
        </p:nvSpPr>
        <p:spPr>
          <a:xfrm>
            <a:off x="704088" y="2974294"/>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553" name="Google Shape;553;p19"/>
          <p:cNvSpPr/>
          <p:nvPr/>
        </p:nvSpPr>
        <p:spPr>
          <a:xfrm>
            <a:off x="704088" y="3141795"/>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Step 2: Use Responses API structured output</a:t>
            </a:r>
            <a:endParaRPr sz="1050">
              <a:solidFill>
                <a:schemeClr val="dk1"/>
              </a:solidFill>
              <a:latin typeface="Calibri"/>
              <a:ea typeface="Calibri"/>
              <a:cs typeface="Calibri"/>
              <a:sym typeface="Calibri"/>
            </a:endParaRPr>
          </a:p>
        </p:txBody>
      </p:sp>
      <p:sp>
        <p:nvSpPr>
          <p:cNvPr id="554" name="Google Shape;554;p19"/>
          <p:cNvSpPr/>
          <p:nvPr/>
        </p:nvSpPr>
        <p:spPr>
          <a:xfrm>
            <a:off x="704088" y="3309297"/>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var params = ResponseCreateParams.builder()</a:t>
            </a:r>
            <a:endParaRPr sz="1050">
              <a:solidFill>
                <a:schemeClr val="dk1"/>
              </a:solidFill>
              <a:latin typeface="Calibri"/>
              <a:ea typeface="Calibri"/>
              <a:cs typeface="Calibri"/>
              <a:sym typeface="Calibri"/>
            </a:endParaRPr>
          </a:p>
        </p:txBody>
      </p:sp>
      <p:sp>
        <p:nvSpPr>
          <p:cNvPr id="555" name="Google Shape;555;p19"/>
          <p:cNvSpPr/>
          <p:nvPr/>
        </p:nvSpPr>
        <p:spPr>
          <a:xfrm>
            <a:off x="704088" y="3476798"/>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.model(ChatModel.GPT_4O_MINI)</a:t>
            </a:r>
            <a:endParaRPr sz="1050">
              <a:solidFill>
                <a:schemeClr val="dk1"/>
              </a:solidFill>
              <a:latin typeface="Calibri"/>
              <a:ea typeface="Calibri"/>
              <a:cs typeface="Calibri"/>
              <a:sym typeface="Calibri"/>
            </a:endParaRPr>
          </a:p>
        </p:txBody>
      </p:sp>
      <p:sp>
        <p:nvSpPr>
          <p:cNvPr id="556" name="Google Shape;556;p19"/>
          <p:cNvSpPr/>
          <p:nvPr/>
        </p:nvSpPr>
        <p:spPr>
          <a:xfrm>
            <a:off x="704088" y="3644300"/>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.input("Extract movie info: The Dark Knight (2008), crime thriller, 9.0/10")</a:t>
            </a:r>
            <a:endParaRPr sz="1050">
              <a:solidFill>
                <a:schemeClr val="dk1"/>
              </a:solidFill>
              <a:latin typeface="Calibri"/>
              <a:ea typeface="Calibri"/>
              <a:cs typeface="Calibri"/>
              <a:sym typeface="Calibri"/>
            </a:endParaRPr>
          </a:p>
        </p:txBody>
      </p:sp>
      <p:sp>
        <p:nvSpPr>
          <p:cNvPr id="557" name="Google Shape;557;p19"/>
          <p:cNvSpPr/>
          <p:nvPr/>
        </p:nvSpPr>
        <p:spPr>
          <a:xfrm>
            <a:off x="704088" y="3811801"/>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.text(Movie.class)</a:t>
            </a:r>
            <a:endParaRPr sz="1050">
              <a:solidFill>
                <a:schemeClr val="dk1"/>
              </a:solidFill>
              <a:latin typeface="Calibri"/>
              <a:ea typeface="Calibri"/>
              <a:cs typeface="Calibri"/>
              <a:sym typeface="Calibri"/>
            </a:endParaRPr>
          </a:p>
        </p:txBody>
      </p:sp>
      <p:sp>
        <p:nvSpPr>
          <p:cNvPr id="558" name="Google Shape;558;p19"/>
          <p:cNvSpPr/>
          <p:nvPr/>
        </p:nvSpPr>
        <p:spPr>
          <a:xfrm>
            <a:off x="704088" y="3979303"/>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.build();</a:t>
            </a:r>
            <a:endParaRPr sz="1050">
              <a:solidFill>
                <a:schemeClr val="dk1"/>
              </a:solidFill>
              <a:latin typeface="Calibri"/>
              <a:ea typeface="Calibri"/>
              <a:cs typeface="Calibri"/>
              <a:sym typeface="Calibri"/>
            </a:endParaRPr>
          </a:p>
        </p:txBody>
      </p:sp>
      <p:sp>
        <p:nvSpPr>
          <p:cNvPr id="559" name="Google Shape;559;p19"/>
          <p:cNvSpPr/>
          <p:nvPr/>
        </p:nvSpPr>
        <p:spPr>
          <a:xfrm>
            <a:off x="704088" y="4146804"/>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560" name="Google Shape;560;p19"/>
          <p:cNvSpPr/>
          <p:nvPr/>
        </p:nvSpPr>
        <p:spPr>
          <a:xfrm>
            <a:off x="704088" y="4314305"/>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Step 3: SDK validates schema and returns typed content</a:t>
            </a:r>
            <a:endParaRPr sz="1050">
              <a:solidFill>
                <a:schemeClr val="dk1"/>
              </a:solidFill>
              <a:latin typeface="Calibri"/>
              <a:ea typeface="Calibri"/>
              <a:cs typeface="Calibri"/>
              <a:sym typeface="Calibri"/>
            </a:endParaRPr>
          </a:p>
        </p:txBody>
      </p:sp>
      <p:sp>
        <p:nvSpPr>
          <p:cNvPr id="561" name="Google Shape;561;p19"/>
          <p:cNvSpPr/>
          <p:nvPr/>
        </p:nvSpPr>
        <p:spPr>
          <a:xfrm>
            <a:off x="704088" y="4481807"/>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var response = client.responses().create(params);</a:t>
            </a:r>
            <a:endParaRPr sz="1050">
              <a:solidFill>
                <a:schemeClr val="dk1"/>
              </a:solidFill>
              <a:latin typeface="Calibri"/>
              <a:ea typeface="Calibri"/>
              <a:cs typeface="Calibri"/>
              <a:sym typeface="Calibri"/>
            </a:endParaRPr>
          </a:p>
        </p:txBody>
      </p:sp>
      <p:sp>
        <p:nvSpPr>
          <p:cNvPr id="562" name="Google Shape;562;p19"/>
          <p:cNvSpPr/>
          <p:nvPr/>
        </p:nvSpPr>
        <p:spPr>
          <a:xfrm>
            <a:off x="704088" y="4649308"/>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 Later in code: read Movie object from structured response</a:t>
            </a:r>
            <a:endParaRPr sz="1050">
              <a:solidFill>
                <a:schemeClr val="dk1"/>
              </a:solidFill>
              <a:latin typeface="Calibri"/>
              <a:ea typeface="Calibri"/>
              <a:cs typeface="Calibri"/>
              <a:sym typeface="Calibri"/>
            </a:endParaRPr>
          </a:p>
        </p:txBody>
      </p:sp>
      <p:sp>
        <p:nvSpPr>
          <p:cNvPr id="563" name="Google Shape;563;p19"/>
          <p:cNvSpPr/>
          <p:nvPr/>
        </p:nvSpPr>
        <p:spPr>
          <a:xfrm>
            <a:off x="704088" y="4816810"/>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t/>
            </a:r>
            <a:endParaRPr sz="1050">
              <a:solidFill>
                <a:schemeClr val="dk1"/>
              </a:solidFill>
              <a:latin typeface="Calibri"/>
              <a:ea typeface="Calibri"/>
              <a:cs typeface="Calibri"/>
              <a:sym typeface="Calibri"/>
            </a:endParaRPr>
          </a:p>
        </p:txBody>
      </p:sp>
      <p:sp>
        <p:nvSpPr>
          <p:cNvPr id="564" name="Google Shape;564;p19"/>
          <p:cNvSpPr/>
          <p:nvPr/>
        </p:nvSpPr>
        <p:spPr>
          <a:xfrm>
            <a:off x="704088" y="4984311"/>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565" name="Google Shape;565;p19"/>
          <p:cNvSpPr/>
          <p:nvPr/>
        </p:nvSpPr>
        <p:spPr>
          <a:xfrm>
            <a:off x="704088" y="5151813"/>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No manual string splitting like substring/indexOf</a:t>
            </a:r>
            <a:endParaRPr sz="1050">
              <a:solidFill>
                <a:schemeClr val="dk1"/>
              </a:solidFill>
              <a:latin typeface="Calibri"/>
              <a:ea typeface="Calibri"/>
              <a:cs typeface="Calibri"/>
              <a:sym typeface="Calibri"/>
            </a:endParaRPr>
          </a:p>
        </p:txBody>
      </p:sp>
      <p:sp>
        <p:nvSpPr>
          <p:cNvPr id="566" name="Google Shape;566;p19"/>
          <p:cNvSpPr/>
          <p:nvPr/>
        </p:nvSpPr>
        <p:spPr>
          <a:xfrm>
            <a:off x="704088" y="5319314"/>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t/>
            </a:r>
            <a:endParaRPr sz="1050">
              <a:solidFill>
                <a:schemeClr val="dk1"/>
              </a:solidFill>
              <a:latin typeface="Calibri"/>
              <a:ea typeface="Calibri"/>
              <a:cs typeface="Calibri"/>
              <a:sym typeface="Calibri"/>
            </a:endParaRPr>
          </a:p>
        </p:txBody>
      </p:sp>
      <p:sp>
        <p:nvSpPr>
          <p:cNvPr id="567" name="Google Shape;567;p19"/>
          <p:cNvSpPr/>
          <p:nvPr/>
        </p:nvSpPr>
        <p:spPr>
          <a:xfrm>
            <a:off x="704088" y="5486816"/>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t/>
            </a:r>
            <a:endParaRPr sz="1050">
              <a:solidFill>
                <a:schemeClr val="dk1"/>
              </a:solidFill>
              <a:latin typeface="Calibri"/>
              <a:ea typeface="Calibri"/>
              <a:cs typeface="Calibri"/>
              <a:sym typeface="Calibri"/>
            </a:endParaRPr>
          </a:p>
        </p:txBody>
      </p:sp>
      <p:sp>
        <p:nvSpPr>
          <p:cNvPr id="568" name="Google Shape;568;p19"/>
          <p:cNvSpPr/>
          <p:nvPr/>
        </p:nvSpPr>
        <p:spPr>
          <a:xfrm>
            <a:off x="704088" y="5654317"/>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569" name="Google Shape;569;p19"/>
          <p:cNvSpPr/>
          <p:nvPr/>
        </p:nvSpPr>
        <p:spPr>
          <a:xfrm>
            <a:off x="704088" y="5821819"/>
            <a:ext cx="6464808" cy="16750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570" name="Google Shape;570;p19"/>
          <p:cNvSpPr/>
          <p:nvPr/>
        </p:nvSpPr>
        <p:spPr>
          <a:xfrm>
            <a:off x="7424928" y="1847088"/>
            <a:ext cx="4663440" cy="1261872"/>
          </a:xfrm>
          <a:prstGeom prst="roundRect">
            <a:avLst>
              <a:gd fmla="val 6522" name="adj"/>
            </a:avLst>
          </a:prstGeom>
          <a:solidFill>
            <a:srgbClr val="F8FAFC"/>
          </a:solidFill>
          <a:ln cap="flat" cmpd="sng" w="19050">
            <a:solidFill>
              <a:srgbClr val="E11D48">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19"/>
          <p:cNvSpPr/>
          <p:nvPr/>
        </p:nvSpPr>
        <p:spPr>
          <a:xfrm>
            <a:off x="7589520" y="1938528"/>
            <a:ext cx="4343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400"/>
              <a:buFont typeface="Calibri"/>
              <a:buNone/>
            </a:pPr>
            <a:r>
              <a:rPr b="1" lang="en-US" sz="1400">
                <a:solidFill>
                  <a:srgbClr val="E11D48"/>
                </a:solidFill>
                <a:latin typeface="Calibri"/>
                <a:ea typeface="Calibri"/>
                <a:cs typeface="Calibri"/>
                <a:sym typeface="Calibri"/>
              </a:rPr>
              <a:t>Type-safe access</a:t>
            </a:r>
            <a:endParaRPr sz="1400">
              <a:solidFill>
                <a:schemeClr val="dk1"/>
              </a:solidFill>
              <a:latin typeface="Calibri"/>
              <a:ea typeface="Calibri"/>
              <a:cs typeface="Calibri"/>
              <a:sym typeface="Calibri"/>
            </a:endParaRPr>
          </a:p>
        </p:txBody>
      </p:sp>
      <p:sp>
        <p:nvSpPr>
          <p:cNvPr id="572" name="Google Shape;572;p19"/>
          <p:cNvSpPr/>
          <p:nvPr/>
        </p:nvSpPr>
        <p:spPr>
          <a:xfrm>
            <a:off x="7589520" y="2322576"/>
            <a:ext cx="4343400" cy="71323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50"/>
              <a:buFont typeface="Calibri"/>
              <a:buNone/>
            </a:pPr>
            <a:r>
              <a:rPr lang="en-US" sz="1250">
                <a:solidFill>
                  <a:srgbClr val="475569"/>
                </a:solidFill>
                <a:latin typeface="Calibri"/>
                <a:ea typeface="Calibri"/>
                <a:cs typeface="Calibri"/>
                <a:sym typeface="Calibri"/>
              </a:rPr>
              <a:t>movie.title, movie.year</a:t>
            </a:r>
            <a:br>
              <a:rPr lang="en-US" sz="1250">
                <a:solidFill>
                  <a:srgbClr val="475569"/>
                </a:solidFill>
                <a:latin typeface="Calibri"/>
                <a:ea typeface="Calibri"/>
                <a:cs typeface="Calibri"/>
                <a:sym typeface="Calibri"/>
              </a:rPr>
            </a:br>
            <a:r>
              <a:rPr lang="en-US" sz="1250">
                <a:solidFill>
                  <a:srgbClr val="475569"/>
                </a:solidFill>
                <a:latin typeface="Calibri"/>
                <a:ea typeface="Calibri"/>
                <a:cs typeface="Calibri"/>
                <a:sym typeface="Calibri"/>
              </a:rPr>
              <a:t>Compile-time safety.</a:t>
            </a:r>
            <a:br>
              <a:rPr lang="en-US" sz="1250">
                <a:solidFill>
                  <a:srgbClr val="475569"/>
                </a:solidFill>
                <a:latin typeface="Calibri"/>
                <a:ea typeface="Calibri"/>
                <a:cs typeface="Calibri"/>
                <a:sym typeface="Calibri"/>
              </a:rPr>
            </a:br>
            <a:r>
              <a:rPr lang="en-US" sz="1250">
                <a:solidFill>
                  <a:srgbClr val="475569"/>
                </a:solidFill>
                <a:latin typeface="Calibri"/>
                <a:ea typeface="Calibri"/>
                <a:cs typeface="Calibri"/>
                <a:sym typeface="Calibri"/>
              </a:rPr>
              <a:t>No brittle string parsing.</a:t>
            </a:r>
            <a:endParaRPr sz="1250">
              <a:solidFill>
                <a:schemeClr val="dk1"/>
              </a:solidFill>
              <a:latin typeface="Calibri"/>
              <a:ea typeface="Calibri"/>
              <a:cs typeface="Calibri"/>
              <a:sym typeface="Calibri"/>
            </a:endParaRPr>
          </a:p>
        </p:txBody>
      </p:sp>
      <p:sp>
        <p:nvSpPr>
          <p:cNvPr id="573" name="Google Shape;573;p19"/>
          <p:cNvSpPr/>
          <p:nvPr/>
        </p:nvSpPr>
        <p:spPr>
          <a:xfrm>
            <a:off x="7424928" y="3236976"/>
            <a:ext cx="4663440" cy="1261872"/>
          </a:xfrm>
          <a:prstGeom prst="roundRect">
            <a:avLst>
              <a:gd fmla="val 6522" name="adj"/>
            </a:avLst>
          </a:prstGeom>
          <a:solidFill>
            <a:srgbClr val="F8FAFC"/>
          </a:solidFill>
          <a:ln cap="flat" cmpd="sng" w="19050">
            <a:solidFill>
              <a:srgbClr val="7C3AED">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19"/>
          <p:cNvSpPr/>
          <p:nvPr/>
        </p:nvSpPr>
        <p:spPr>
          <a:xfrm>
            <a:off x="7589520" y="3328416"/>
            <a:ext cx="4343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400"/>
              <a:buFont typeface="Calibri"/>
              <a:buNone/>
            </a:pPr>
            <a:r>
              <a:rPr b="1" lang="en-US" sz="1400">
                <a:solidFill>
                  <a:srgbClr val="7C3AED"/>
                </a:solidFill>
                <a:latin typeface="Calibri"/>
                <a:ea typeface="Calibri"/>
                <a:cs typeface="Calibri"/>
                <a:sym typeface="Calibri"/>
              </a:rPr>
              <a:t>Schema from Java</a:t>
            </a:r>
            <a:endParaRPr sz="1400">
              <a:solidFill>
                <a:schemeClr val="dk1"/>
              </a:solidFill>
              <a:latin typeface="Calibri"/>
              <a:ea typeface="Calibri"/>
              <a:cs typeface="Calibri"/>
              <a:sym typeface="Calibri"/>
            </a:endParaRPr>
          </a:p>
        </p:txBody>
      </p:sp>
      <p:sp>
        <p:nvSpPr>
          <p:cNvPr id="575" name="Google Shape;575;p19"/>
          <p:cNvSpPr/>
          <p:nvPr/>
        </p:nvSpPr>
        <p:spPr>
          <a:xfrm>
            <a:off x="7589520" y="3712464"/>
            <a:ext cx="4343400" cy="71323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50"/>
              <a:buFont typeface="Calibri"/>
              <a:buNone/>
            </a:pPr>
            <a:r>
              <a:rPr lang="en-US" sz="1250">
                <a:solidFill>
                  <a:srgbClr val="475569"/>
                </a:solidFill>
                <a:latin typeface="Calibri"/>
                <a:ea typeface="Calibri"/>
                <a:cs typeface="Calibri"/>
                <a:sym typeface="Calibri"/>
              </a:rPr>
              <a:t>Java class becomes the</a:t>
            </a:r>
            <a:br>
              <a:rPr lang="en-US" sz="1250">
                <a:solidFill>
                  <a:srgbClr val="475569"/>
                </a:solidFill>
                <a:latin typeface="Calibri"/>
                <a:ea typeface="Calibri"/>
                <a:cs typeface="Calibri"/>
                <a:sym typeface="Calibri"/>
              </a:rPr>
            </a:br>
            <a:r>
              <a:rPr lang="en-US" sz="1250">
                <a:solidFill>
                  <a:srgbClr val="475569"/>
                </a:solidFill>
                <a:latin typeface="Calibri"/>
                <a:ea typeface="Calibri"/>
                <a:cs typeface="Calibri"/>
                <a:sym typeface="Calibri"/>
              </a:rPr>
              <a:t>expected JSON shape.</a:t>
            </a:r>
            <a:br>
              <a:rPr lang="en-US" sz="1250">
                <a:solidFill>
                  <a:srgbClr val="475569"/>
                </a:solidFill>
                <a:latin typeface="Calibri"/>
                <a:ea typeface="Calibri"/>
                <a:cs typeface="Calibri"/>
                <a:sym typeface="Calibri"/>
              </a:rPr>
            </a:br>
            <a:r>
              <a:rPr lang="en-US" sz="1250">
                <a:solidFill>
                  <a:srgbClr val="475569"/>
                </a:solidFill>
                <a:latin typeface="Calibri"/>
                <a:ea typeface="Calibri"/>
                <a:cs typeface="Calibri"/>
                <a:sym typeface="Calibri"/>
              </a:rPr>
              <a:t>Better than JSON_OBJECT only.</a:t>
            </a:r>
            <a:endParaRPr sz="1250">
              <a:solidFill>
                <a:schemeClr val="dk1"/>
              </a:solidFill>
              <a:latin typeface="Calibri"/>
              <a:ea typeface="Calibri"/>
              <a:cs typeface="Calibri"/>
              <a:sym typeface="Calibri"/>
            </a:endParaRPr>
          </a:p>
        </p:txBody>
      </p:sp>
      <p:sp>
        <p:nvSpPr>
          <p:cNvPr id="576" name="Google Shape;576;p19"/>
          <p:cNvSpPr/>
          <p:nvPr/>
        </p:nvSpPr>
        <p:spPr>
          <a:xfrm>
            <a:off x="7424928" y="4626864"/>
            <a:ext cx="4663440" cy="1261872"/>
          </a:xfrm>
          <a:prstGeom prst="roundRect">
            <a:avLst>
              <a:gd fmla="val 6522" name="adj"/>
            </a:avLst>
          </a:prstGeom>
          <a:solidFill>
            <a:srgbClr val="F8FAFC"/>
          </a:solidFill>
          <a:ln cap="flat" cmpd="sng" w="19050">
            <a:solidFill>
              <a:srgbClr val="16A34A">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19"/>
          <p:cNvSpPr/>
          <p:nvPr/>
        </p:nvSpPr>
        <p:spPr>
          <a:xfrm>
            <a:off x="7589520" y="4718304"/>
            <a:ext cx="4343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400"/>
              <a:buFont typeface="Calibri"/>
              <a:buNone/>
            </a:pPr>
            <a:r>
              <a:rPr b="1" lang="en-US" sz="1400">
                <a:solidFill>
                  <a:srgbClr val="16A34A"/>
                </a:solidFill>
                <a:latin typeface="Calibri"/>
                <a:ea typeface="Calibri"/>
                <a:cs typeface="Calibri"/>
                <a:sym typeface="Calibri"/>
              </a:rPr>
              <a:t>Retry on fail</a:t>
            </a:r>
            <a:endParaRPr sz="1400">
              <a:solidFill>
                <a:schemeClr val="dk1"/>
              </a:solidFill>
              <a:latin typeface="Calibri"/>
              <a:ea typeface="Calibri"/>
              <a:cs typeface="Calibri"/>
              <a:sym typeface="Calibri"/>
            </a:endParaRPr>
          </a:p>
        </p:txBody>
      </p:sp>
      <p:sp>
        <p:nvSpPr>
          <p:cNvPr id="578" name="Google Shape;578;p19"/>
          <p:cNvSpPr/>
          <p:nvPr/>
        </p:nvSpPr>
        <p:spPr>
          <a:xfrm>
            <a:off x="7589520" y="5102352"/>
            <a:ext cx="4343400" cy="71323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50"/>
              <a:buFont typeface="Calibri"/>
              <a:buNone/>
            </a:pPr>
            <a:r>
              <a:rPr lang="en-US" sz="1250">
                <a:solidFill>
                  <a:srgbClr val="475569"/>
                </a:solidFill>
                <a:latin typeface="Calibri"/>
                <a:ea typeface="Calibri"/>
                <a:cs typeface="Calibri"/>
                <a:sym typeface="Calibri"/>
              </a:rPr>
              <a:t>Handle validation errors.</a:t>
            </a:r>
            <a:br>
              <a:rPr lang="en-US" sz="1250">
                <a:solidFill>
                  <a:srgbClr val="475569"/>
                </a:solidFill>
                <a:latin typeface="Calibri"/>
                <a:ea typeface="Calibri"/>
                <a:cs typeface="Calibri"/>
                <a:sym typeface="Calibri"/>
              </a:rPr>
            </a:br>
            <a:r>
              <a:rPr lang="en-US" sz="1250">
                <a:solidFill>
                  <a:srgbClr val="475569"/>
                </a:solidFill>
                <a:latin typeface="Calibri"/>
                <a:ea typeface="Calibri"/>
                <a:cs typeface="Calibri"/>
                <a:sym typeface="Calibri"/>
              </a:rPr>
              <a:t>Do not trust AI text blindly.</a:t>
            </a:r>
            <a:endParaRPr sz="1250">
              <a:solidFill>
                <a:schemeClr val="dk1"/>
              </a:solidFill>
              <a:latin typeface="Calibri"/>
              <a:ea typeface="Calibri"/>
              <a:cs typeface="Calibri"/>
              <a:sym typeface="Calibri"/>
            </a:endParaRPr>
          </a:p>
        </p:txBody>
      </p:sp>
      <p:sp>
        <p:nvSpPr>
          <p:cNvPr id="579" name="Google Shape;579;p19"/>
          <p:cNvSpPr/>
          <p:nvPr/>
        </p:nvSpPr>
        <p:spPr>
          <a:xfrm>
            <a:off x="0" y="6583680"/>
            <a:ext cx="12191695" cy="274320"/>
          </a:xfrm>
          <a:prstGeom prst="rect">
            <a:avLst/>
          </a:prstGeom>
          <a:solidFill>
            <a:srgbClr val="E11D48">
              <a:alpha val="12156"/>
            </a:srgbClr>
          </a:solidFill>
          <a:ln cap="flat" cmpd="sng" w="12700">
            <a:solidFill>
              <a:srgbClr val="E11D48">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1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581" name="Google Shape;581;p1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17 / 29</a:t>
            </a:r>
            <a:endParaRPr sz="9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6" name="Shape 586"/>
        <p:cNvGrpSpPr/>
        <p:nvPr/>
      </p:nvGrpSpPr>
      <p:grpSpPr>
        <a:xfrm>
          <a:off x="0" y="0"/>
          <a:ext cx="0" cy="0"/>
          <a:chOff x="0" y="0"/>
          <a:chExt cx="0" cy="0"/>
        </a:xfrm>
      </p:grpSpPr>
      <p:sp>
        <p:nvSpPr>
          <p:cNvPr id="587" name="Google Shape;587;p20"/>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580C"/>
              </a:buClr>
              <a:buSzPts val="1200"/>
              <a:buFont typeface="Calibri"/>
              <a:buNone/>
            </a:pPr>
            <a:r>
              <a:rPr b="1" lang="en-US" sz="1200">
                <a:solidFill>
                  <a:srgbClr val="EA580C"/>
                </a:solidFill>
                <a:latin typeface="Calibri"/>
                <a:ea typeface="Calibri"/>
                <a:cs typeface="Calibri"/>
                <a:sym typeface="Calibri"/>
              </a:rPr>
              <a:t>PRODUCTION PATTERNS — WHAT TUTORIALS DON'T TELL YOU</a:t>
            </a:r>
            <a:endParaRPr sz="1200">
              <a:solidFill>
                <a:schemeClr val="dk1"/>
              </a:solidFill>
              <a:latin typeface="Calibri"/>
              <a:ea typeface="Calibri"/>
              <a:cs typeface="Calibri"/>
              <a:sym typeface="Calibri"/>
            </a:endParaRPr>
          </a:p>
        </p:txBody>
      </p:sp>
      <p:sp>
        <p:nvSpPr>
          <p:cNvPr id="588" name="Google Shape;588;p20"/>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200"/>
              <a:buFont typeface="Calibri"/>
              <a:buNone/>
            </a:pPr>
            <a:r>
              <a:rPr b="1" lang="en-US" sz="3200">
                <a:solidFill>
                  <a:srgbClr val="475569"/>
                </a:solidFill>
                <a:latin typeface="Calibri"/>
                <a:ea typeface="Calibri"/>
                <a:cs typeface="Calibri"/>
                <a:sym typeface="Calibri"/>
              </a:rPr>
              <a:t>Cost, rate limits, and retries — the real engineering</a:t>
            </a:r>
            <a:endParaRPr sz="3200">
              <a:solidFill>
                <a:schemeClr val="dk1"/>
              </a:solidFill>
              <a:latin typeface="Calibri"/>
              <a:ea typeface="Calibri"/>
              <a:cs typeface="Calibri"/>
              <a:sym typeface="Calibri"/>
            </a:endParaRPr>
          </a:p>
        </p:txBody>
      </p:sp>
      <p:sp>
        <p:nvSpPr>
          <p:cNvPr id="589" name="Google Shape;589;p20"/>
          <p:cNvSpPr/>
          <p:nvPr/>
        </p:nvSpPr>
        <p:spPr>
          <a:xfrm>
            <a:off x="502920" y="1874520"/>
            <a:ext cx="3639312" cy="2084832"/>
          </a:xfrm>
          <a:prstGeom prst="roundRect">
            <a:avLst>
              <a:gd fmla="val 4386" name="adj"/>
            </a:avLst>
          </a:prstGeom>
          <a:solidFill>
            <a:srgbClr val="FFFBEB"/>
          </a:solidFill>
          <a:ln cap="flat" cmpd="sng" w="12700">
            <a:solidFill>
              <a:srgbClr val="D97706">
                <a:alpha val="50196"/>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20"/>
          <p:cNvSpPr/>
          <p:nvPr/>
        </p:nvSpPr>
        <p:spPr>
          <a:xfrm>
            <a:off x="667512" y="2011680"/>
            <a:ext cx="3364992" cy="43891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7706"/>
              </a:buClr>
              <a:buSzPts val="1400"/>
              <a:buFont typeface="Calibri"/>
              <a:buNone/>
            </a:pPr>
            <a:r>
              <a:rPr b="1" lang="en-US" sz="1400">
                <a:solidFill>
                  <a:srgbClr val="D97706"/>
                </a:solidFill>
                <a:latin typeface="Calibri"/>
                <a:ea typeface="Calibri"/>
                <a:cs typeface="Calibri"/>
                <a:sym typeface="Calibri"/>
              </a:rPr>
              <a:t>💰 Choose a low-cost model</a:t>
            </a:r>
            <a:endParaRPr sz="1400">
              <a:solidFill>
                <a:schemeClr val="dk1"/>
              </a:solidFill>
              <a:latin typeface="Calibri"/>
              <a:ea typeface="Calibri"/>
              <a:cs typeface="Calibri"/>
              <a:sym typeface="Calibri"/>
            </a:endParaRPr>
          </a:p>
        </p:txBody>
      </p:sp>
      <p:cxnSp>
        <p:nvCxnSpPr>
          <p:cNvPr id="591" name="Google Shape;591;p20"/>
          <p:cNvCxnSpPr/>
          <p:nvPr/>
        </p:nvCxnSpPr>
        <p:spPr>
          <a:xfrm>
            <a:off x="667512" y="2496312"/>
            <a:ext cx="3364992" cy="0"/>
          </a:xfrm>
          <a:prstGeom prst="straightConnector1">
            <a:avLst/>
          </a:prstGeom>
          <a:noFill/>
          <a:ln cap="flat" cmpd="sng" w="9525">
            <a:solidFill>
              <a:srgbClr val="D97706">
                <a:alpha val="45098"/>
              </a:srgbClr>
            </a:solidFill>
            <a:prstDash val="solid"/>
            <a:round/>
            <a:headEnd len="sm" w="sm" type="none"/>
            <a:tailEnd len="sm" w="sm" type="none"/>
          </a:ln>
        </p:spPr>
      </p:cxnSp>
      <p:sp>
        <p:nvSpPr>
          <p:cNvPr id="592" name="Google Shape;592;p20"/>
          <p:cNvSpPr/>
          <p:nvPr/>
        </p:nvSpPr>
        <p:spPr>
          <a:xfrm>
            <a:off x="667512" y="2587752"/>
            <a:ext cx="3364992" cy="126187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50"/>
              <a:buFont typeface="Calibri"/>
              <a:buNone/>
            </a:pPr>
            <a:r>
              <a:rPr lang="en-US" sz="1250">
                <a:solidFill>
                  <a:srgbClr val="475569"/>
                </a:solidFill>
                <a:latin typeface="Calibri"/>
                <a:ea typeface="Calibri"/>
                <a:cs typeface="Calibri"/>
                <a:sym typeface="Calibri"/>
              </a:rPr>
              <a:t>Start with a mini/small model for learning. Keep model in application.yml so you can switch without code changes. Check pricing before class.</a:t>
            </a:r>
            <a:endParaRPr sz="1250">
              <a:solidFill>
                <a:schemeClr val="dk1"/>
              </a:solidFill>
              <a:latin typeface="Calibri"/>
              <a:ea typeface="Calibri"/>
              <a:cs typeface="Calibri"/>
              <a:sym typeface="Calibri"/>
            </a:endParaRPr>
          </a:p>
        </p:txBody>
      </p:sp>
      <p:sp>
        <p:nvSpPr>
          <p:cNvPr id="593" name="Google Shape;593;p20"/>
          <p:cNvSpPr/>
          <p:nvPr/>
        </p:nvSpPr>
        <p:spPr>
          <a:xfrm>
            <a:off x="4343400" y="1874520"/>
            <a:ext cx="3639312" cy="2084832"/>
          </a:xfrm>
          <a:prstGeom prst="roundRect">
            <a:avLst>
              <a:gd fmla="val 4386" name="adj"/>
            </a:avLst>
          </a:prstGeom>
          <a:solidFill>
            <a:srgbClr val="EDE9FE"/>
          </a:solidFill>
          <a:ln cap="flat" cmpd="sng" w="12700">
            <a:solidFill>
              <a:srgbClr val="7C3AED">
                <a:alpha val="50196"/>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20"/>
          <p:cNvSpPr/>
          <p:nvPr/>
        </p:nvSpPr>
        <p:spPr>
          <a:xfrm>
            <a:off x="4507992" y="2011680"/>
            <a:ext cx="3364992" cy="43891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1400"/>
              <a:buFont typeface="Calibri"/>
              <a:buNone/>
            </a:pPr>
            <a:r>
              <a:rPr b="1" lang="en-US" sz="1400">
                <a:solidFill>
                  <a:srgbClr val="7C3AED"/>
                </a:solidFill>
                <a:latin typeface="Calibri"/>
                <a:ea typeface="Calibri"/>
                <a:cs typeface="Calibri"/>
                <a:sym typeface="Calibri"/>
              </a:rPr>
              <a:t>⏱ Rate limits</a:t>
            </a:r>
            <a:endParaRPr sz="1400">
              <a:solidFill>
                <a:schemeClr val="dk1"/>
              </a:solidFill>
              <a:latin typeface="Calibri"/>
              <a:ea typeface="Calibri"/>
              <a:cs typeface="Calibri"/>
              <a:sym typeface="Calibri"/>
            </a:endParaRPr>
          </a:p>
        </p:txBody>
      </p:sp>
      <p:cxnSp>
        <p:nvCxnSpPr>
          <p:cNvPr id="595" name="Google Shape;595;p20"/>
          <p:cNvCxnSpPr/>
          <p:nvPr/>
        </p:nvCxnSpPr>
        <p:spPr>
          <a:xfrm>
            <a:off x="4507992" y="2496312"/>
            <a:ext cx="3364992" cy="0"/>
          </a:xfrm>
          <a:prstGeom prst="straightConnector1">
            <a:avLst/>
          </a:prstGeom>
          <a:noFill/>
          <a:ln cap="flat" cmpd="sng" w="9525">
            <a:solidFill>
              <a:srgbClr val="7C3AED">
                <a:alpha val="45098"/>
              </a:srgbClr>
            </a:solidFill>
            <a:prstDash val="solid"/>
            <a:round/>
            <a:headEnd len="sm" w="sm" type="none"/>
            <a:tailEnd len="sm" w="sm" type="none"/>
          </a:ln>
        </p:spPr>
      </p:cxnSp>
      <p:sp>
        <p:nvSpPr>
          <p:cNvPr id="596" name="Google Shape;596;p20"/>
          <p:cNvSpPr/>
          <p:nvPr/>
        </p:nvSpPr>
        <p:spPr>
          <a:xfrm>
            <a:off x="4507992" y="2587752"/>
            <a:ext cx="3364992" cy="126187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50"/>
              <a:buFont typeface="Calibri"/>
              <a:buNone/>
            </a:pPr>
            <a:r>
              <a:rPr lang="en-US" sz="1250">
                <a:solidFill>
                  <a:srgbClr val="475569"/>
                </a:solidFill>
                <a:latin typeface="Calibri"/>
                <a:ea typeface="Calibri"/>
                <a:cs typeface="Calibri"/>
                <a:sym typeface="Calibri"/>
              </a:rPr>
              <a:t>Limits vary by account and model. Handle 429 with backoff. Do not hardcode free-tier numbers in code or slides.</a:t>
            </a:r>
            <a:endParaRPr sz="1250">
              <a:solidFill>
                <a:schemeClr val="dk1"/>
              </a:solidFill>
              <a:latin typeface="Calibri"/>
              <a:ea typeface="Calibri"/>
              <a:cs typeface="Calibri"/>
              <a:sym typeface="Calibri"/>
            </a:endParaRPr>
          </a:p>
        </p:txBody>
      </p:sp>
      <p:sp>
        <p:nvSpPr>
          <p:cNvPr id="597" name="Google Shape;597;p20"/>
          <p:cNvSpPr/>
          <p:nvPr/>
        </p:nvSpPr>
        <p:spPr>
          <a:xfrm>
            <a:off x="8183880" y="4114800"/>
            <a:ext cx="3639312" cy="2084832"/>
          </a:xfrm>
          <a:prstGeom prst="roundRect">
            <a:avLst>
              <a:gd fmla="val 4386" name="adj"/>
            </a:avLst>
          </a:prstGeom>
          <a:solidFill>
            <a:srgbClr val="ECFEFF"/>
          </a:solidFill>
          <a:ln cap="flat" cmpd="sng" w="12700">
            <a:solidFill>
              <a:srgbClr val="0891B2">
                <a:alpha val="50196"/>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20"/>
          <p:cNvSpPr/>
          <p:nvPr/>
        </p:nvSpPr>
        <p:spPr>
          <a:xfrm>
            <a:off x="8348472" y="4251960"/>
            <a:ext cx="3364992" cy="43891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1400"/>
              <a:buFont typeface="Calibri"/>
              <a:buNone/>
            </a:pPr>
            <a:r>
              <a:rPr b="1" lang="en-US" sz="1400">
                <a:solidFill>
                  <a:srgbClr val="0891B2"/>
                </a:solidFill>
                <a:latin typeface="Calibri"/>
                <a:ea typeface="Calibri"/>
                <a:cs typeface="Calibri"/>
                <a:sym typeface="Calibri"/>
              </a:rPr>
              <a:t>🔄 Retry with backoff</a:t>
            </a:r>
            <a:endParaRPr sz="1400">
              <a:solidFill>
                <a:schemeClr val="dk1"/>
              </a:solidFill>
              <a:latin typeface="Calibri"/>
              <a:ea typeface="Calibri"/>
              <a:cs typeface="Calibri"/>
              <a:sym typeface="Calibri"/>
            </a:endParaRPr>
          </a:p>
        </p:txBody>
      </p:sp>
      <p:cxnSp>
        <p:nvCxnSpPr>
          <p:cNvPr id="599" name="Google Shape;599;p20"/>
          <p:cNvCxnSpPr/>
          <p:nvPr/>
        </p:nvCxnSpPr>
        <p:spPr>
          <a:xfrm>
            <a:off x="8348472" y="4736592"/>
            <a:ext cx="3364992" cy="0"/>
          </a:xfrm>
          <a:prstGeom prst="straightConnector1">
            <a:avLst/>
          </a:prstGeom>
          <a:noFill/>
          <a:ln cap="flat" cmpd="sng" w="9525">
            <a:solidFill>
              <a:srgbClr val="0891B2">
                <a:alpha val="45098"/>
              </a:srgbClr>
            </a:solidFill>
            <a:prstDash val="solid"/>
            <a:round/>
            <a:headEnd len="sm" w="sm" type="none"/>
            <a:tailEnd len="sm" w="sm" type="none"/>
          </a:ln>
        </p:spPr>
      </p:cxnSp>
      <p:sp>
        <p:nvSpPr>
          <p:cNvPr id="600" name="Google Shape;600;p20"/>
          <p:cNvSpPr/>
          <p:nvPr/>
        </p:nvSpPr>
        <p:spPr>
          <a:xfrm>
            <a:off x="8348472" y="4828032"/>
            <a:ext cx="3364992" cy="126187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50"/>
              <a:buFont typeface="Calibri"/>
              <a:buNone/>
            </a:pPr>
            <a:r>
              <a:rPr lang="en-US" sz="1250">
                <a:solidFill>
                  <a:srgbClr val="475569"/>
                </a:solidFill>
                <a:latin typeface="Calibri"/>
                <a:ea typeface="Calibri"/>
                <a:cs typeface="Calibri"/>
                <a:sym typeface="Calibri"/>
              </a:rPr>
              <a:t>On 429: wait and retry.</a:t>
            </a:r>
            <a:br>
              <a:rPr lang="en-US" sz="1250">
                <a:solidFill>
                  <a:srgbClr val="475569"/>
                </a:solidFill>
                <a:latin typeface="Calibri"/>
                <a:ea typeface="Calibri"/>
                <a:cs typeface="Calibri"/>
                <a:sym typeface="Calibri"/>
              </a:rPr>
            </a:br>
            <a:r>
              <a:rPr lang="en-US" sz="1250">
                <a:solidFill>
                  <a:srgbClr val="475569"/>
                </a:solidFill>
                <a:latin typeface="Calibri"/>
                <a:ea typeface="Calibri"/>
                <a:cs typeface="Calibri"/>
                <a:sym typeface="Calibri"/>
              </a:rPr>
              <a:t>On 500/503: retry.</a:t>
            </a:r>
            <a:br>
              <a:rPr lang="en-US" sz="1250">
                <a:solidFill>
                  <a:srgbClr val="475569"/>
                </a:solidFill>
                <a:latin typeface="Calibri"/>
                <a:ea typeface="Calibri"/>
                <a:cs typeface="Calibri"/>
                <a:sym typeface="Calibri"/>
              </a:rPr>
            </a:br>
            <a:r>
              <a:rPr lang="en-US" sz="1250">
                <a:solidFill>
                  <a:srgbClr val="475569"/>
                </a:solidFill>
                <a:latin typeface="Calibri"/>
                <a:ea typeface="Calibri"/>
                <a:cs typeface="Calibri"/>
                <a:sym typeface="Calibri"/>
              </a:rPr>
              <a:t>On 400/401: fix request/key — do not retry.</a:t>
            </a:r>
            <a:endParaRPr sz="1250">
              <a:solidFill>
                <a:schemeClr val="dk1"/>
              </a:solidFill>
              <a:latin typeface="Calibri"/>
              <a:ea typeface="Calibri"/>
              <a:cs typeface="Calibri"/>
              <a:sym typeface="Calibri"/>
            </a:endParaRPr>
          </a:p>
        </p:txBody>
      </p:sp>
      <p:sp>
        <p:nvSpPr>
          <p:cNvPr id="601" name="Google Shape;601;p20"/>
          <p:cNvSpPr/>
          <p:nvPr/>
        </p:nvSpPr>
        <p:spPr>
          <a:xfrm>
            <a:off x="502920" y="4114800"/>
            <a:ext cx="3639312" cy="2084832"/>
          </a:xfrm>
          <a:prstGeom prst="roundRect">
            <a:avLst>
              <a:gd fmla="val 4386" name="adj"/>
            </a:avLst>
          </a:prstGeom>
          <a:solidFill>
            <a:srgbClr val="F0FDF4"/>
          </a:solidFill>
          <a:ln cap="flat" cmpd="sng" w="12700">
            <a:solidFill>
              <a:srgbClr val="16A34A">
                <a:alpha val="50196"/>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20"/>
          <p:cNvSpPr/>
          <p:nvPr/>
        </p:nvSpPr>
        <p:spPr>
          <a:xfrm>
            <a:off x="667512" y="4251960"/>
            <a:ext cx="3364992" cy="43891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400"/>
              <a:buFont typeface="Calibri"/>
              <a:buNone/>
            </a:pPr>
            <a:r>
              <a:rPr b="1" lang="en-US" sz="1400">
                <a:solidFill>
                  <a:srgbClr val="16A34A"/>
                </a:solidFill>
                <a:latin typeface="Calibri"/>
                <a:ea typeface="Calibri"/>
                <a:cs typeface="Calibri"/>
                <a:sym typeface="Calibri"/>
              </a:rPr>
              <a:t>📊 Track token usage</a:t>
            </a:r>
            <a:endParaRPr sz="1400">
              <a:solidFill>
                <a:schemeClr val="dk1"/>
              </a:solidFill>
              <a:latin typeface="Calibri"/>
              <a:ea typeface="Calibri"/>
              <a:cs typeface="Calibri"/>
              <a:sym typeface="Calibri"/>
            </a:endParaRPr>
          </a:p>
        </p:txBody>
      </p:sp>
      <p:cxnSp>
        <p:nvCxnSpPr>
          <p:cNvPr id="603" name="Google Shape;603;p20"/>
          <p:cNvCxnSpPr/>
          <p:nvPr/>
        </p:nvCxnSpPr>
        <p:spPr>
          <a:xfrm>
            <a:off x="667512" y="4736592"/>
            <a:ext cx="3364992" cy="0"/>
          </a:xfrm>
          <a:prstGeom prst="straightConnector1">
            <a:avLst/>
          </a:prstGeom>
          <a:noFill/>
          <a:ln cap="flat" cmpd="sng" w="9525">
            <a:solidFill>
              <a:srgbClr val="16A34A">
                <a:alpha val="45098"/>
              </a:srgbClr>
            </a:solidFill>
            <a:prstDash val="solid"/>
            <a:round/>
            <a:headEnd len="sm" w="sm" type="none"/>
            <a:tailEnd len="sm" w="sm" type="none"/>
          </a:ln>
        </p:spPr>
      </p:cxnSp>
      <p:sp>
        <p:nvSpPr>
          <p:cNvPr id="604" name="Google Shape;604;p20"/>
          <p:cNvSpPr/>
          <p:nvPr/>
        </p:nvSpPr>
        <p:spPr>
          <a:xfrm>
            <a:off x="667512" y="4828032"/>
            <a:ext cx="3364992" cy="126187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50"/>
              <a:buFont typeface="Calibri"/>
              <a:buNone/>
            </a:pPr>
            <a:r>
              <a:rPr lang="en-US" sz="1250">
                <a:solidFill>
                  <a:srgbClr val="475569"/>
                </a:solidFill>
                <a:latin typeface="Calibri"/>
                <a:ea typeface="Calibri"/>
                <a:cs typeface="Calibri"/>
                <a:sym typeface="Calibri"/>
              </a:rPr>
              <a:t>Log usage when available. Also log request count, model, latency, cache hit/miss, and maxOutputTokens.</a:t>
            </a:r>
            <a:endParaRPr sz="1250">
              <a:solidFill>
                <a:schemeClr val="dk1"/>
              </a:solidFill>
              <a:latin typeface="Calibri"/>
              <a:ea typeface="Calibri"/>
              <a:cs typeface="Calibri"/>
              <a:sym typeface="Calibri"/>
            </a:endParaRPr>
          </a:p>
        </p:txBody>
      </p:sp>
      <p:sp>
        <p:nvSpPr>
          <p:cNvPr id="605" name="Google Shape;605;p20"/>
          <p:cNvSpPr/>
          <p:nvPr/>
        </p:nvSpPr>
        <p:spPr>
          <a:xfrm>
            <a:off x="4343400" y="6355080"/>
            <a:ext cx="3639312" cy="2084832"/>
          </a:xfrm>
          <a:prstGeom prst="roundRect">
            <a:avLst>
              <a:gd fmla="val 4386" name="adj"/>
            </a:avLst>
          </a:prstGeom>
          <a:solidFill>
            <a:srgbClr val="FFF1F2"/>
          </a:solidFill>
          <a:ln cap="flat" cmpd="sng" w="12700">
            <a:solidFill>
              <a:srgbClr val="E11D48">
                <a:alpha val="50196"/>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20"/>
          <p:cNvSpPr/>
          <p:nvPr/>
        </p:nvSpPr>
        <p:spPr>
          <a:xfrm>
            <a:off x="4507992" y="6492240"/>
            <a:ext cx="3364992" cy="43891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1400"/>
              <a:buFont typeface="Calibri"/>
              <a:buNone/>
            </a:pPr>
            <a:r>
              <a:rPr b="1" lang="en-US" sz="1400">
                <a:solidFill>
                  <a:srgbClr val="E11D48"/>
                </a:solidFill>
                <a:latin typeface="Calibri"/>
                <a:ea typeface="Calibri"/>
                <a:cs typeface="Calibri"/>
                <a:sym typeface="Calibri"/>
              </a:rPr>
              <a:t>🔑 API key safety</a:t>
            </a:r>
            <a:endParaRPr sz="1400">
              <a:solidFill>
                <a:schemeClr val="dk1"/>
              </a:solidFill>
              <a:latin typeface="Calibri"/>
              <a:ea typeface="Calibri"/>
              <a:cs typeface="Calibri"/>
              <a:sym typeface="Calibri"/>
            </a:endParaRPr>
          </a:p>
        </p:txBody>
      </p:sp>
      <p:cxnSp>
        <p:nvCxnSpPr>
          <p:cNvPr id="607" name="Google Shape;607;p20"/>
          <p:cNvCxnSpPr/>
          <p:nvPr/>
        </p:nvCxnSpPr>
        <p:spPr>
          <a:xfrm>
            <a:off x="4507992" y="6976872"/>
            <a:ext cx="3364992" cy="0"/>
          </a:xfrm>
          <a:prstGeom prst="straightConnector1">
            <a:avLst/>
          </a:prstGeom>
          <a:noFill/>
          <a:ln cap="flat" cmpd="sng" w="9525">
            <a:solidFill>
              <a:srgbClr val="E11D48">
                <a:alpha val="45098"/>
              </a:srgbClr>
            </a:solidFill>
            <a:prstDash val="solid"/>
            <a:round/>
            <a:headEnd len="sm" w="sm" type="none"/>
            <a:tailEnd len="sm" w="sm" type="none"/>
          </a:ln>
        </p:spPr>
      </p:cxnSp>
      <p:sp>
        <p:nvSpPr>
          <p:cNvPr id="608" name="Google Shape;608;p20"/>
          <p:cNvSpPr/>
          <p:nvPr/>
        </p:nvSpPr>
        <p:spPr>
          <a:xfrm>
            <a:off x="4507992" y="7068312"/>
            <a:ext cx="3364992" cy="126187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50"/>
              <a:buFont typeface="Calibri"/>
              <a:buNone/>
            </a:pPr>
            <a:r>
              <a:rPr lang="en-US" sz="1250">
                <a:solidFill>
                  <a:srgbClr val="475569"/>
                </a:solidFill>
                <a:latin typeface="Calibri"/>
                <a:ea typeface="Calibri"/>
                <a:cs typeface="Calibri"/>
                <a:sym typeface="Calibri"/>
              </a:rPr>
              <a:t>export OPENAI_API_KEY=sk-... (in terminal)</a:t>
            </a:r>
            <a:endParaRPr sz="125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250"/>
              <a:buFont typeface="Calibri"/>
              <a:buNone/>
            </a:pPr>
            <a:r>
              <a:rPr lang="en-US" sz="1250">
                <a:solidFill>
                  <a:srgbClr val="475569"/>
                </a:solidFill>
                <a:latin typeface="Calibri"/>
                <a:ea typeface="Calibri"/>
                <a:cs typeface="Calibri"/>
                <a:sym typeface="Calibri"/>
              </a:rPr>
              <a:t>NEVER commit keys to git.</a:t>
            </a:r>
            <a:endParaRPr sz="125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250"/>
              <a:buFont typeface="Calibri"/>
              <a:buNone/>
            </a:pPr>
            <a:r>
              <a:rPr lang="en-US" sz="1250">
                <a:solidFill>
                  <a:srgbClr val="475569"/>
                </a:solidFill>
                <a:latin typeface="Calibri"/>
                <a:ea typeface="Calibri"/>
                <a:cs typeface="Calibri"/>
                <a:sym typeface="Calibri"/>
              </a:rPr>
              <a:t>Use separate keys for dev / production.</a:t>
            </a:r>
            <a:endParaRPr sz="1250">
              <a:solidFill>
                <a:schemeClr val="dk1"/>
              </a:solidFill>
              <a:latin typeface="Calibri"/>
              <a:ea typeface="Calibri"/>
              <a:cs typeface="Calibri"/>
              <a:sym typeface="Calibri"/>
            </a:endParaRPr>
          </a:p>
        </p:txBody>
      </p:sp>
      <p:sp>
        <p:nvSpPr>
          <p:cNvPr id="609" name="Google Shape;609;p20"/>
          <p:cNvSpPr/>
          <p:nvPr/>
        </p:nvSpPr>
        <p:spPr>
          <a:xfrm>
            <a:off x="8183880" y="6355080"/>
            <a:ext cx="3639312" cy="2084832"/>
          </a:xfrm>
          <a:prstGeom prst="roundRect">
            <a:avLst>
              <a:gd fmla="val 4386" name="adj"/>
            </a:avLst>
          </a:prstGeom>
          <a:solidFill>
            <a:srgbClr val="FFF7ED"/>
          </a:solidFill>
          <a:ln cap="flat" cmpd="sng" w="12700">
            <a:solidFill>
              <a:srgbClr val="EA580C">
                <a:alpha val="50196"/>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0" name="Google Shape;610;p20"/>
          <p:cNvSpPr/>
          <p:nvPr/>
        </p:nvSpPr>
        <p:spPr>
          <a:xfrm>
            <a:off x="8348472" y="6492240"/>
            <a:ext cx="3364992" cy="43891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A580C"/>
              </a:buClr>
              <a:buSzPts val="1400"/>
              <a:buFont typeface="Calibri"/>
              <a:buNone/>
            </a:pPr>
            <a:r>
              <a:rPr b="1" lang="en-US" sz="1400">
                <a:solidFill>
                  <a:srgbClr val="EA580C"/>
                </a:solidFill>
                <a:latin typeface="Calibri"/>
                <a:ea typeface="Calibri"/>
                <a:cs typeface="Calibri"/>
                <a:sym typeface="Calibri"/>
              </a:rPr>
              <a:t>💾 Low-cost safety</a:t>
            </a:r>
            <a:endParaRPr sz="1400">
              <a:solidFill>
                <a:schemeClr val="dk1"/>
              </a:solidFill>
              <a:latin typeface="Calibri"/>
              <a:ea typeface="Calibri"/>
              <a:cs typeface="Calibri"/>
              <a:sym typeface="Calibri"/>
            </a:endParaRPr>
          </a:p>
        </p:txBody>
      </p:sp>
      <p:cxnSp>
        <p:nvCxnSpPr>
          <p:cNvPr id="611" name="Google Shape;611;p20"/>
          <p:cNvCxnSpPr/>
          <p:nvPr/>
        </p:nvCxnSpPr>
        <p:spPr>
          <a:xfrm>
            <a:off x="8348472" y="6976872"/>
            <a:ext cx="3364992" cy="0"/>
          </a:xfrm>
          <a:prstGeom prst="straightConnector1">
            <a:avLst/>
          </a:prstGeom>
          <a:noFill/>
          <a:ln cap="flat" cmpd="sng" w="9525">
            <a:solidFill>
              <a:srgbClr val="EA580C">
                <a:alpha val="45098"/>
              </a:srgbClr>
            </a:solidFill>
            <a:prstDash val="solid"/>
            <a:round/>
            <a:headEnd len="sm" w="sm" type="none"/>
            <a:tailEnd len="sm" w="sm" type="none"/>
          </a:ln>
        </p:spPr>
      </p:cxnSp>
      <p:sp>
        <p:nvSpPr>
          <p:cNvPr id="612" name="Google Shape;612;p20"/>
          <p:cNvSpPr/>
          <p:nvPr/>
        </p:nvSpPr>
        <p:spPr>
          <a:xfrm>
            <a:off x="8348472" y="7068312"/>
            <a:ext cx="3364992" cy="126187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50"/>
              <a:buFont typeface="Calibri"/>
              <a:buNone/>
            </a:pPr>
            <a:r>
              <a:rPr lang="en-US" sz="1250">
                <a:solidFill>
                  <a:srgbClr val="475569"/>
                </a:solidFill>
                <a:latin typeface="Calibri"/>
                <a:ea typeface="Calibri"/>
                <a:cs typeface="Calibri"/>
                <a:sym typeface="Calibri"/>
              </a:rPr>
              <a:t>Use mock-mode first. Set maxOutputTokens. Reject large prompts. Cache repeated questions. Keep API key in env.</a:t>
            </a:r>
            <a:endParaRPr sz="1250">
              <a:solidFill>
                <a:schemeClr val="dk1"/>
              </a:solidFill>
              <a:latin typeface="Calibri"/>
              <a:ea typeface="Calibri"/>
              <a:cs typeface="Calibri"/>
              <a:sym typeface="Calibri"/>
            </a:endParaRPr>
          </a:p>
        </p:txBody>
      </p:sp>
      <p:sp>
        <p:nvSpPr>
          <p:cNvPr id="613" name="Google Shape;613;p20"/>
          <p:cNvSpPr/>
          <p:nvPr/>
        </p:nvSpPr>
        <p:spPr>
          <a:xfrm>
            <a:off x="0" y="6583680"/>
            <a:ext cx="12191695" cy="274320"/>
          </a:xfrm>
          <a:prstGeom prst="rect">
            <a:avLst/>
          </a:prstGeom>
          <a:solidFill>
            <a:srgbClr val="EA580C">
              <a:alpha val="12156"/>
            </a:srgbClr>
          </a:solidFill>
          <a:ln cap="flat" cmpd="sng" w="12700">
            <a:solidFill>
              <a:srgbClr val="EA580C">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4" name="Google Shape;614;p2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615" name="Google Shape;615;p2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18 / 29</a:t>
            </a:r>
            <a:endParaRPr sz="9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620" name="Shape 620"/>
        <p:cNvGrpSpPr/>
        <p:nvPr/>
      </p:nvGrpSpPr>
      <p:grpSpPr>
        <a:xfrm>
          <a:off x="0" y="0"/>
          <a:ext cx="0" cy="0"/>
          <a:chOff x="0" y="0"/>
          <a:chExt cx="0" cy="0"/>
        </a:xfrm>
      </p:grpSpPr>
      <p:sp>
        <p:nvSpPr>
          <p:cNvPr id="621" name="Google Shape;621;p21"/>
          <p:cNvSpPr/>
          <p:nvPr/>
        </p:nvSpPr>
        <p:spPr>
          <a:xfrm>
            <a:off x="8046720" y="-1371600"/>
            <a:ext cx="5943600" cy="5943600"/>
          </a:xfrm>
          <a:prstGeom prst="ellipse">
            <a:avLst/>
          </a:prstGeom>
          <a:solidFill>
            <a:srgbClr val="16A34A">
              <a:alpha val="901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2" name="Google Shape;622;p21"/>
          <p:cNvSpPr/>
          <p:nvPr/>
        </p:nvSpPr>
        <p:spPr>
          <a:xfrm>
            <a:off x="685800" y="1645920"/>
            <a:ext cx="7315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EFAC"/>
              </a:buClr>
              <a:buSzPts val="1400"/>
              <a:buFont typeface="Calibri"/>
              <a:buNone/>
            </a:pPr>
            <a:r>
              <a:rPr b="1" lang="en-US" sz="1400">
                <a:solidFill>
                  <a:srgbClr val="86EFAC"/>
                </a:solidFill>
                <a:latin typeface="Calibri"/>
                <a:ea typeface="Calibri"/>
                <a:cs typeface="Calibri"/>
                <a:sym typeface="Calibri"/>
              </a:rPr>
              <a:t>BEFORE LIVE DEMO</a:t>
            </a:r>
            <a:endParaRPr sz="1400">
              <a:solidFill>
                <a:schemeClr val="dk1"/>
              </a:solidFill>
              <a:latin typeface="Calibri"/>
              <a:ea typeface="Calibri"/>
              <a:cs typeface="Calibri"/>
              <a:sym typeface="Calibri"/>
            </a:endParaRPr>
          </a:p>
        </p:txBody>
      </p:sp>
      <p:sp>
        <p:nvSpPr>
          <p:cNvPr id="623" name="Google Shape;623;p21"/>
          <p:cNvSpPr/>
          <p:nvPr/>
        </p:nvSpPr>
        <p:spPr>
          <a:xfrm>
            <a:off x="658368" y="2011680"/>
            <a:ext cx="8229600" cy="2651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Low-cost Spring Boot setup</a:t>
            </a:r>
            <a:endParaRPr sz="5400">
              <a:solidFill>
                <a:schemeClr val="dk1"/>
              </a:solidFill>
              <a:latin typeface="Calibri"/>
              <a:ea typeface="Calibri"/>
              <a:cs typeface="Calibri"/>
              <a:sym typeface="Calibri"/>
            </a:endParaRPr>
          </a:p>
        </p:txBody>
      </p:sp>
      <p:sp>
        <p:nvSpPr>
          <p:cNvPr id="624" name="Google Shape;624;p21"/>
          <p:cNvSpPr/>
          <p:nvPr/>
        </p:nvSpPr>
        <p:spPr>
          <a:xfrm>
            <a:off x="685800" y="4800600"/>
            <a:ext cx="82296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000"/>
              <a:buFont typeface="Calibri"/>
              <a:buNone/>
            </a:pPr>
            <a:r>
              <a:rPr lang="en-US" sz="2000">
                <a:solidFill>
                  <a:srgbClr val="8B92B8"/>
                </a:solidFill>
                <a:latin typeface="Calibri"/>
                <a:ea typeface="Calibri"/>
                <a:cs typeface="Calibri"/>
                <a:sym typeface="Calibri"/>
              </a:rPr>
              <a:t>We add safety before real API calls so students can practice without wasting money.</a:t>
            </a:r>
            <a:endParaRPr sz="2000">
              <a:solidFill>
                <a:schemeClr val="dk1"/>
              </a:solidFill>
              <a:latin typeface="Calibri"/>
              <a:ea typeface="Calibri"/>
              <a:cs typeface="Calibri"/>
              <a:sym typeface="Calibri"/>
            </a:endParaRPr>
          </a:p>
        </p:txBody>
      </p:sp>
      <p:sp>
        <p:nvSpPr>
          <p:cNvPr id="625" name="Google Shape;625;p21"/>
          <p:cNvSpPr/>
          <p:nvPr/>
        </p:nvSpPr>
        <p:spPr>
          <a:xfrm>
            <a:off x="685800" y="5468112"/>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21"/>
          <p:cNvSpPr/>
          <p:nvPr/>
        </p:nvSpPr>
        <p:spPr>
          <a:xfrm>
            <a:off x="795528" y="5522976"/>
            <a:ext cx="182880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200"/>
              <a:buFont typeface="Calibri"/>
              <a:buNone/>
            </a:pPr>
            <a:r>
              <a:rPr b="1" lang="en-US" sz="1200">
                <a:solidFill>
                  <a:srgbClr val="86EFAC"/>
                </a:solidFill>
                <a:latin typeface="Calibri"/>
                <a:ea typeface="Calibri"/>
                <a:cs typeface="Calibri"/>
                <a:sym typeface="Calibri"/>
              </a:rPr>
              <a:t>1. application.yml: mock-mode=true</a:t>
            </a:r>
            <a:endParaRPr sz="1200">
              <a:solidFill>
                <a:schemeClr val="dk1"/>
              </a:solidFill>
              <a:latin typeface="Calibri"/>
              <a:ea typeface="Calibri"/>
              <a:cs typeface="Calibri"/>
              <a:sym typeface="Calibri"/>
            </a:endParaRPr>
          </a:p>
        </p:txBody>
      </p:sp>
      <p:sp>
        <p:nvSpPr>
          <p:cNvPr id="627" name="Google Shape;627;p21"/>
          <p:cNvSpPr/>
          <p:nvPr/>
        </p:nvSpPr>
        <p:spPr>
          <a:xfrm>
            <a:off x="2862072" y="5468112"/>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21"/>
          <p:cNvSpPr/>
          <p:nvPr/>
        </p:nvSpPr>
        <p:spPr>
          <a:xfrm>
            <a:off x="2971800" y="5522976"/>
            <a:ext cx="182880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200"/>
              <a:buFont typeface="Calibri"/>
              <a:buNone/>
            </a:pPr>
            <a:r>
              <a:rPr b="1" lang="en-US" sz="1200">
                <a:solidFill>
                  <a:srgbClr val="86EFAC"/>
                </a:solidFill>
                <a:latin typeface="Calibri"/>
                <a:ea typeface="Calibri"/>
                <a:cs typeface="Calibri"/>
                <a:sym typeface="Calibri"/>
              </a:rPr>
              <a:t>2. Controller calls Service, not OpenAI directly</a:t>
            </a:r>
            <a:endParaRPr sz="1200">
              <a:solidFill>
                <a:schemeClr val="dk1"/>
              </a:solidFill>
              <a:latin typeface="Calibri"/>
              <a:ea typeface="Calibri"/>
              <a:cs typeface="Calibri"/>
              <a:sym typeface="Calibri"/>
            </a:endParaRPr>
          </a:p>
        </p:txBody>
      </p:sp>
      <p:sp>
        <p:nvSpPr>
          <p:cNvPr id="629" name="Google Shape;629;p21"/>
          <p:cNvSpPr/>
          <p:nvPr/>
        </p:nvSpPr>
        <p:spPr>
          <a:xfrm>
            <a:off x="5038344" y="5468112"/>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21"/>
          <p:cNvSpPr/>
          <p:nvPr/>
        </p:nvSpPr>
        <p:spPr>
          <a:xfrm>
            <a:off x="5148072" y="5522976"/>
            <a:ext cx="182880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200"/>
              <a:buFont typeface="Calibri"/>
              <a:buNone/>
            </a:pPr>
            <a:r>
              <a:rPr b="1" lang="en-US" sz="1200">
                <a:solidFill>
                  <a:srgbClr val="86EFAC"/>
                </a:solidFill>
                <a:latin typeface="Calibri"/>
                <a:ea typeface="Calibri"/>
                <a:cs typeface="Calibri"/>
                <a:sym typeface="Calibri"/>
              </a:rPr>
              <a:t>3. maxOutputTokens=250 and input length check</a:t>
            </a:r>
            <a:endParaRPr sz="1200">
              <a:solidFill>
                <a:schemeClr val="dk1"/>
              </a:solidFill>
              <a:latin typeface="Calibri"/>
              <a:ea typeface="Calibri"/>
              <a:cs typeface="Calibri"/>
              <a:sym typeface="Calibri"/>
            </a:endParaRPr>
          </a:p>
        </p:txBody>
      </p:sp>
      <p:sp>
        <p:nvSpPr>
          <p:cNvPr id="631" name="Google Shape;631;p21"/>
          <p:cNvSpPr/>
          <p:nvPr/>
        </p:nvSpPr>
        <p:spPr>
          <a:xfrm>
            <a:off x="7214616" y="5468112"/>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21"/>
          <p:cNvSpPr/>
          <p:nvPr/>
        </p:nvSpPr>
        <p:spPr>
          <a:xfrm>
            <a:off x="7324344" y="5522976"/>
            <a:ext cx="182880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200"/>
              <a:buFont typeface="Calibri"/>
              <a:buNone/>
            </a:pPr>
            <a:r>
              <a:rPr b="1" lang="en-US" sz="1200">
                <a:solidFill>
                  <a:srgbClr val="86EFAC"/>
                </a:solidFill>
                <a:latin typeface="Calibri"/>
                <a:ea typeface="Calibri"/>
                <a:cs typeface="Calibri"/>
                <a:sym typeface="Calibri"/>
              </a:rPr>
              <a:t>4. Cache repeated questions</a:t>
            </a:r>
            <a:endParaRPr sz="1200">
              <a:solidFill>
                <a:schemeClr val="dk1"/>
              </a:solidFill>
              <a:latin typeface="Calibri"/>
              <a:ea typeface="Calibri"/>
              <a:cs typeface="Calibri"/>
              <a:sym typeface="Calibri"/>
            </a:endParaRPr>
          </a:p>
        </p:txBody>
      </p:sp>
      <p:sp>
        <p:nvSpPr>
          <p:cNvPr id="633" name="Google Shape;633;p21"/>
          <p:cNvSpPr/>
          <p:nvPr/>
        </p:nvSpPr>
        <p:spPr>
          <a:xfrm>
            <a:off x="9390888" y="5468112"/>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21"/>
          <p:cNvSpPr/>
          <p:nvPr/>
        </p:nvSpPr>
        <p:spPr>
          <a:xfrm>
            <a:off x="9500616" y="5522976"/>
            <a:ext cx="182880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200"/>
              <a:buFont typeface="Calibri"/>
              <a:buNone/>
            </a:pPr>
            <a:r>
              <a:rPr b="1" lang="en-US" sz="1200">
                <a:solidFill>
                  <a:srgbClr val="86EFAC"/>
                </a:solidFill>
                <a:latin typeface="Calibri"/>
                <a:ea typeface="Calibri"/>
                <a:cs typeface="Calibri"/>
                <a:sym typeface="Calibri"/>
              </a:rPr>
              <a:t>5. Then switch mock-mode=false</a:t>
            </a:r>
            <a:endParaRPr sz="1200">
              <a:solidFill>
                <a:schemeClr val="dk1"/>
              </a:solidFill>
              <a:latin typeface="Calibri"/>
              <a:ea typeface="Calibri"/>
              <a:cs typeface="Calibri"/>
              <a:sym typeface="Calibri"/>
            </a:endParaRPr>
          </a:p>
        </p:txBody>
      </p:sp>
      <p:sp>
        <p:nvSpPr>
          <p:cNvPr id="635" name="Google Shape;635;p21"/>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2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637" name="Google Shape;637;p2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19 / 29</a:t>
            </a:r>
            <a:endParaRPr sz="9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2" name="Shape 642"/>
        <p:cNvGrpSpPr/>
        <p:nvPr/>
      </p:nvGrpSpPr>
      <p:grpSpPr>
        <a:xfrm>
          <a:off x="0" y="0"/>
          <a:ext cx="0" cy="0"/>
          <a:chOff x="0" y="0"/>
          <a:chExt cx="0" cy="0"/>
        </a:xfrm>
      </p:grpSpPr>
      <p:sp>
        <p:nvSpPr>
          <p:cNvPr id="643" name="Google Shape;643;p22"/>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lang="en-US" sz="1200">
                <a:solidFill>
                  <a:srgbClr val="16A34A"/>
                </a:solidFill>
                <a:latin typeface="Calibri"/>
                <a:ea typeface="Calibri"/>
                <a:cs typeface="Calibri"/>
                <a:sym typeface="Calibri"/>
              </a:rPr>
              <a:t>LIVE DEMO · SPRING BOOT STREAMING WITH RESPONSES API</a:t>
            </a:r>
            <a:endParaRPr sz="1200">
              <a:solidFill>
                <a:schemeClr val="dk1"/>
              </a:solidFill>
              <a:latin typeface="Calibri"/>
              <a:ea typeface="Calibri"/>
              <a:cs typeface="Calibri"/>
              <a:sym typeface="Calibri"/>
            </a:endParaRPr>
          </a:p>
        </p:txBody>
      </p:sp>
      <p:sp>
        <p:nvSpPr>
          <p:cNvPr id="644" name="Google Shape;644;p22"/>
          <p:cNvSpPr/>
          <p:nvPr/>
        </p:nvSpPr>
        <p:spPr>
          <a:xfrm>
            <a:off x="685800" y="749808"/>
            <a:ext cx="10789920" cy="8046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200"/>
              <a:buFont typeface="Calibri"/>
              <a:buNone/>
            </a:pPr>
            <a:r>
              <a:rPr b="1" lang="en-US" sz="3200">
                <a:solidFill>
                  <a:srgbClr val="475569"/>
                </a:solidFill>
                <a:latin typeface="Calibri"/>
                <a:ea typeface="Calibri"/>
                <a:cs typeface="Calibri"/>
                <a:sym typeface="Calibri"/>
              </a:rPr>
              <a:t>Controller delegates to service; service calls OpenAI.</a:t>
            </a:r>
            <a:endParaRPr sz="3200">
              <a:solidFill>
                <a:schemeClr val="dk1"/>
              </a:solidFill>
              <a:latin typeface="Calibri"/>
              <a:ea typeface="Calibri"/>
              <a:cs typeface="Calibri"/>
              <a:sym typeface="Calibri"/>
            </a:endParaRPr>
          </a:p>
        </p:txBody>
      </p:sp>
      <p:sp>
        <p:nvSpPr>
          <p:cNvPr id="645" name="Google Shape;645;p22"/>
          <p:cNvSpPr/>
          <p:nvPr/>
        </p:nvSpPr>
        <p:spPr>
          <a:xfrm>
            <a:off x="502920" y="1828800"/>
            <a:ext cx="6784848" cy="4617720"/>
          </a:xfrm>
          <a:prstGeom prst="roundRect">
            <a:avLst>
              <a:gd fmla="val 1980"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22"/>
          <p:cNvSpPr/>
          <p:nvPr/>
        </p:nvSpPr>
        <p:spPr>
          <a:xfrm>
            <a:off x="502920" y="1828800"/>
            <a:ext cx="6784848" cy="365760"/>
          </a:xfrm>
          <a:prstGeom prst="roundRect">
            <a:avLst>
              <a:gd fmla="val 25000" name="adj"/>
            </a:avLst>
          </a:prstGeom>
          <a:solidFill>
            <a:srgbClr val="1F2937"/>
          </a:solidFill>
          <a:ln cap="flat" cmpd="sng" w="12700">
            <a:solidFill>
              <a:srgbClr val="37415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22"/>
          <p:cNvSpPr/>
          <p:nvPr/>
        </p:nvSpPr>
        <p:spPr>
          <a:xfrm>
            <a:off x="667512" y="1929384"/>
            <a:ext cx="155448" cy="155448"/>
          </a:xfrm>
          <a:prstGeom prst="ellipse">
            <a:avLst/>
          </a:prstGeom>
          <a:solidFill>
            <a:srgbClr val="E11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22"/>
          <p:cNvSpPr/>
          <p:nvPr/>
        </p:nvSpPr>
        <p:spPr>
          <a:xfrm>
            <a:off x="905256" y="1929384"/>
            <a:ext cx="155448" cy="155448"/>
          </a:xfrm>
          <a:prstGeom prst="ellipse">
            <a:avLst/>
          </a:prstGeom>
          <a:solidFill>
            <a:srgbClr val="F59E0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22"/>
          <p:cNvSpPr/>
          <p:nvPr/>
        </p:nvSpPr>
        <p:spPr>
          <a:xfrm>
            <a:off x="1143000" y="1929384"/>
            <a:ext cx="155448" cy="155448"/>
          </a:xfrm>
          <a:prstGeom prst="ellipse">
            <a:avLst/>
          </a:prstGeom>
          <a:solidFill>
            <a:srgbClr val="16A3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22"/>
          <p:cNvSpPr/>
          <p:nvPr/>
        </p:nvSpPr>
        <p:spPr>
          <a:xfrm>
            <a:off x="1417320" y="1892808"/>
            <a:ext cx="573328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lang="en-US" sz="1050">
                <a:solidFill>
                  <a:srgbClr val="9CA3AF"/>
                </a:solidFill>
                <a:latin typeface="Courier New"/>
                <a:ea typeface="Courier New"/>
                <a:cs typeface="Courier New"/>
                <a:sym typeface="Courier New"/>
              </a:rPr>
              <a:t>ChatController.java + AiChatService.java</a:t>
            </a:r>
            <a:endParaRPr sz="1050">
              <a:solidFill>
                <a:schemeClr val="dk1"/>
              </a:solidFill>
              <a:latin typeface="Calibri"/>
              <a:ea typeface="Calibri"/>
              <a:cs typeface="Calibri"/>
              <a:sym typeface="Calibri"/>
            </a:endParaRPr>
          </a:p>
        </p:txBody>
      </p:sp>
      <p:sp>
        <p:nvSpPr>
          <p:cNvPr id="651" name="Google Shape;651;p22"/>
          <p:cNvSpPr/>
          <p:nvPr/>
        </p:nvSpPr>
        <p:spPr>
          <a:xfrm>
            <a:off x="704088" y="2286000"/>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D7AA"/>
              </a:buClr>
              <a:buSzPts val="1050"/>
              <a:buFont typeface="Courier New"/>
              <a:buNone/>
            </a:pPr>
            <a:r>
              <a:rPr lang="en-US" sz="1050">
                <a:solidFill>
                  <a:srgbClr val="FED7AA"/>
                </a:solidFill>
                <a:latin typeface="Courier New"/>
                <a:ea typeface="Courier New"/>
                <a:cs typeface="Courier New"/>
                <a:sym typeface="Courier New"/>
              </a:rPr>
              <a:t>@RestController</a:t>
            </a:r>
            <a:endParaRPr sz="1050">
              <a:solidFill>
                <a:schemeClr val="dk1"/>
              </a:solidFill>
              <a:latin typeface="Calibri"/>
              <a:ea typeface="Calibri"/>
              <a:cs typeface="Calibri"/>
              <a:sym typeface="Calibri"/>
            </a:endParaRPr>
          </a:p>
        </p:txBody>
      </p:sp>
      <p:sp>
        <p:nvSpPr>
          <p:cNvPr id="652" name="Google Shape;652;p22"/>
          <p:cNvSpPr/>
          <p:nvPr/>
        </p:nvSpPr>
        <p:spPr>
          <a:xfrm>
            <a:off x="704088" y="2439416"/>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D7AA"/>
              </a:buClr>
              <a:buSzPts val="1050"/>
              <a:buFont typeface="Courier New"/>
              <a:buNone/>
            </a:pPr>
            <a:r>
              <a:rPr lang="en-US" sz="1050">
                <a:solidFill>
                  <a:srgbClr val="FED7AA"/>
                </a:solidFill>
                <a:latin typeface="Courier New"/>
                <a:ea typeface="Courier New"/>
                <a:cs typeface="Courier New"/>
                <a:sym typeface="Courier New"/>
              </a:rPr>
              <a:t>@RequestMapping("/api/chat")</a:t>
            </a:r>
            <a:endParaRPr sz="1050">
              <a:solidFill>
                <a:schemeClr val="dk1"/>
              </a:solidFill>
              <a:latin typeface="Calibri"/>
              <a:ea typeface="Calibri"/>
              <a:cs typeface="Calibri"/>
              <a:sym typeface="Calibri"/>
            </a:endParaRPr>
          </a:p>
        </p:txBody>
      </p:sp>
      <p:sp>
        <p:nvSpPr>
          <p:cNvPr id="653" name="Google Shape;653;p22"/>
          <p:cNvSpPr/>
          <p:nvPr/>
        </p:nvSpPr>
        <p:spPr>
          <a:xfrm>
            <a:off x="704088" y="2592832"/>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class ChatController {</a:t>
            </a:r>
            <a:endParaRPr sz="1050">
              <a:solidFill>
                <a:schemeClr val="dk1"/>
              </a:solidFill>
              <a:latin typeface="Calibri"/>
              <a:ea typeface="Calibri"/>
              <a:cs typeface="Calibri"/>
              <a:sym typeface="Calibri"/>
            </a:endParaRPr>
          </a:p>
        </p:txBody>
      </p:sp>
      <p:sp>
        <p:nvSpPr>
          <p:cNvPr id="654" name="Google Shape;654;p22"/>
          <p:cNvSpPr/>
          <p:nvPr/>
        </p:nvSpPr>
        <p:spPr>
          <a:xfrm>
            <a:off x="704088" y="2746248"/>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655" name="Google Shape;655;p22"/>
          <p:cNvSpPr/>
          <p:nvPr/>
        </p:nvSpPr>
        <p:spPr>
          <a:xfrm>
            <a:off x="704088" y="2899664"/>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lang="en-US" sz="1050">
                <a:solidFill>
                  <a:srgbClr val="6B7280"/>
                </a:solidFill>
                <a:latin typeface="Courier New"/>
                <a:ea typeface="Courier New"/>
                <a:cs typeface="Courier New"/>
                <a:sym typeface="Courier New"/>
              </a:rPr>
              <a:t>  private final AiChatService service;</a:t>
            </a:r>
            <a:endParaRPr sz="1050">
              <a:solidFill>
                <a:schemeClr val="dk1"/>
              </a:solidFill>
              <a:latin typeface="Calibri"/>
              <a:ea typeface="Calibri"/>
              <a:cs typeface="Calibri"/>
              <a:sym typeface="Calibri"/>
            </a:endParaRPr>
          </a:p>
        </p:txBody>
      </p:sp>
      <p:sp>
        <p:nvSpPr>
          <p:cNvPr id="656" name="Google Shape;656;p22"/>
          <p:cNvSpPr/>
          <p:nvPr/>
        </p:nvSpPr>
        <p:spPr>
          <a:xfrm>
            <a:off x="704088" y="3053080"/>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t/>
            </a:r>
            <a:endParaRPr sz="1050">
              <a:solidFill>
                <a:schemeClr val="dk1"/>
              </a:solidFill>
              <a:latin typeface="Calibri"/>
              <a:ea typeface="Calibri"/>
              <a:cs typeface="Calibri"/>
              <a:sym typeface="Calibri"/>
            </a:endParaRPr>
          </a:p>
        </p:txBody>
      </p:sp>
      <p:sp>
        <p:nvSpPr>
          <p:cNvPr id="657" name="Google Shape;657;p22"/>
          <p:cNvSpPr/>
          <p:nvPr/>
        </p:nvSpPr>
        <p:spPr>
          <a:xfrm>
            <a:off x="704088" y="3206496"/>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lang="en-US" sz="1050">
                <a:solidFill>
                  <a:srgbClr val="000000"/>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658" name="Google Shape;658;p22"/>
          <p:cNvSpPr/>
          <p:nvPr/>
        </p:nvSpPr>
        <p:spPr>
          <a:xfrm>
            <a:off x="704088" y="3359912"/>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D7AA"/>
              </a:buClr>
              <a:buSzPts val="1050"/>
              <a:buFont typeface="Courier New"/>
              <a:buNone/>
            </a:pPr>
            <a:r>
              <a:rPr lang="en-US" sz="1050">
                <a:solidFill>
                  <a:srgbClr val="FED7AA"/>
                </a:solidFill>
                <a:latin typeface="Courier New"/>
                <a:ea typeface="Courier New"/>
                <a:cs typeface="Courier New"/>
                <a:sym typeface="Courier New"/>
              </a:rPr>
              <a:t>  @GetMapping(value="/stream",</a:t>
            </a:r>
            <a:endParaRPr sz="1050">
              <a:solidFill>
                <a:schemeClr val="dk1"/>
              </a:solidFill>
              <a:latin typeface="Calibri"/>
              <a:ea typeface="Calibri"/>
              <a:cs typeface="Calibri"/>
              <a:sym typeface="Calibri"/>
            </a:endParaRPr>
          </a:p>
        </p:txBody>
      </p:sp>
      <p:sp>
        <p:nvSpPr>
          <p:cNvPr id="659" name="Google Shape;659;p22"/>
          <p:cNvSpPr/>
          <p:nvPr/>
        </p:nvSpPr>
        <p:spPr>
          <a:xfrm>
            <a:off x="704088" y="3513328"/>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    produces=MediaType.TEXT_EVENT_STREAM_VALUE)</a:t>
            </a:r>
            <a:endParaRPr sz="1050">
              <a:solidFill>
                <a:schemeClr val="dk1"/>
              </a:solidFill>
              <a:latin typeface="Calibri"/>
              <a:ea typeface="Calibri"/>
              <a:cs typeface="Calibri"/>
              <a:sym typeface="Calibri"/>
            </a:endParaRPr>
          </a:p>
        </p:txBody>
      </p:sp>
      <p:sp>
        <p:nvSpPr>
          <p:cNvPr id="660" name="Google Shape;660;p22"/>
          <p:cNvSpPr/>
          <p:nvPr/>
        </p:nvSpPr>
        <p:spPr>
          <a:xfrm>
            <a:off x="704088" y="3666744"/>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  Flux&lt;String&gt; chat(@RequestParam String question) {</a:t>
            </a:r>
            <a:endParaRPr sz="1050">
              <a:solidFill>
                <a:schemeClr val="dk1"/>
              </a:solidFill>
              <a:latin typeface="Calibri"/>
              <a:ea typeface="Calibri"/>
              <a:cs typeface="Calibri"/>
              <a:sym typeface="Calibri"/>
            </a:endParaRPr>
          </a:p>
        </p:txBody>
      </p:sp>
      <p:sp>
        <p:nvSpPr>
          <p:cNvPr id="661" name="Google Shape;661;p22"/>
          <p:cNvSpPr/>
          <p:nvPr/>
        </p:nvSpPr>
        <p:spPr>
          <a:xfrm>
            <a:off x="704088" y="3820160"/>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    return service.stream(question);</a:t>
            </a:r>
            <a:endParaRPr sz="1050">
              <a:solidFill>
                <a:schemeClr val="dk1"/>
              </a:solidFill>
              <a:latin typeface="Calibri"/>
              <a:ea typeface="Calibri"/>
              <a:cs typeface="Calibri"/>
              <a:sym typeface="Calibri"/>
            </a:endParaRPr>
          </a:p>
        </p:txBody>
      </p:sp>
      <p:sp>
        <p:nvSpPr>
          <p:cNvPr id="662" name="Google Shape;662;p22"/>
          <p:cNvSpPr/>
          <p:nvPr/>
        </p:nvSpPr>
        <p:spPr>
          <a:xfrm>
            <a:off x="704088" y="3973576"/>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  }</a:t>
            </a:r>
            <a:endParaRPr sz="1050">
              <a:solidFill>
                <a:schemeClr val="dk1"/>
              </a:solidFill>
              <a:latin typeface="Calibri"/>
              <a:ea typeface="Calibri"/>
              <a:cs typeface="Calibri"/>
              <a:sym typeface="Calibri"/>
            </a:endParaRPr>
          </a:p>
        </p:txBody>
      </p:sp>
      <p:sp>
        <p:nvSpPr>
          <p:cNvPr id="663" name="Google Shape;663;p22"/>
          <p:cNvSpPr/>
          <p:nvPr/>
        </p:nvSpPr>
        <p:spPr>
          <a:xfrm>
            <a:off x="704088" y="4126992"/>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lang="en-US" sz="1050">
                <a:solidFill>
                  <a:srgbClr val="C4B5FD"/>
                </a:solidFill>
                <a:latin typeface="Courier New"/>
                <a:ea typeface="Courier New"/>
                <a:cs typeface="Courier New"/>
                <a:sym typeface="Courier New"/>
              </a:rPr>
              <a:t>}</a:t>
            </a:r>
            <a:endParaRPr sz="1050">
              <a:solidFill>
                <a:schemeClr val="dk1"/>
              </a:solidFill>
              <a:latin typeface="Calibri"/>
              <a:ea typeface="Calibri"/>
              <a:cs typeface="Calibri"/>
              <a:sym typeface="Calibri"/>
            </a:endParaRPr>
          </a:p>
        </p:txBody>
      </p:sp>
      <p:sp>
        <p:nvSpPr>
          <p:cNvPr id="664" name="Google Shape;664;p22"/>
          <p:cNvSpPr/>
          <p:nvPr/>
        </p:nvSpPr>
        <p:spPr>
          <a:xfrm>
            <a:off x="704088" y="4280408"/>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 In service:</a:t>
            </a:r>
            <a:endParaRPr sz="1050">
              <a:solidFill>
                <a:schemeClr val="dk1"/>
              </a:solidFill>
              <a:latin typeface="Calibri"/>
              <a:ea typeface="Calibri"/>
              <a:cs typeface="Calibri"/>
              <a:sym typeface="Calibri"/>
            </a:endParaRPr>
          </a:p>
        </p:txBody>
      </p:sp>
      <p:sp>
        <p:nvSpPr>
          <p:cNvPr id="665" name="Google Shape;665;p22"/>
          <p:cNvSpPr/>
          <p:nvPr/>
        </p:nvSpPr>
        <p:spPr>
          <a:xfrm>
            <a:off x="704088" y="4433824"/>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var params = ResponseCreateParams.builder()</a:t>
            </a:r>
            <a:endParaRPr sz="1050">
              <a:solidFill>
                <a:schemeClr val="dk1"/>
              </a:solidFill>
              <a:latin typeface="Calibri"/>
              <a:ea typeface="Calibri"/>
              <a:cs typeface="Calibri"/>
              <a:sym typeface="Calibri"/>
            </a:endParaRPr>
          </a:p>
        </p:txBody>
      </p:sp>
      <p:sp>
        <p:nvSpPr>
          <p:cNvPr id="666" name="Google Shape;666;p22"/>
          <p:cNvSpPr/>
          <p:nvPr/>
        </p:nvSpPr>
        <p:spPr>
          <a:xfrm>
            <a:off x="704088" y="4587240"/>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7E8F9"/>
              </a:buClr>
              <a:buSzPts val="1050"/>
              <a:buFont typeface="Courier New"/>
              <a:buNone/>
            </a:pPr>
            <a:r>
              <a:rPr lang="en-US" sz="1050">
                <a:solidFill>
                  <a:srgbClr val="67E8F9"/>
                </a:solidFill>
                <a:latin typeface="Courier New"/>
                <a:ea typeface="Courier New"/>
                <a:cs typeface="Courier New"/>
                <a:sym typeface="Courier New"/>
              </a:rPr>
              <a:t>.model(ChatModel.GPT_4O_MINI)</a:t>
            </a:r>
            <a:endParaRPr sz="1050">
              <a:solidFill>
                <a:schemeClr val="dk1"/>
              </a:solidFill>
              <a:latin typeface="Calibri"/>
              <a:ea typeface="Calibri"/>
              <a:cs typeface="Calibri"/>
              <a:sym typeface="Calibri"/>
            </a:endParaRPr>
          </a:p>
        </p:txBody>
      </p:sp>
      <p:sp>
        <p:nvSpPr>
          <p:cNvPr id="667" name="Google Shape;667;p22"/>
          <p:cNvSpPr/>
          <p:nvPr/>
        </p:nvSpPr>
        <p:spPr>
          <a:xfrm>
            <a:off x="704088" y="4740656"/>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.instructions("Short Java tutor")</a:t>
            </a:r>
            <a:endParaRPr sz="1050">
              <a:solidFill>
                <a:schemeClr val="dk1"/>
              </a:solidFill>
              <a:latin typeface="Calibri"/>
              <a:ea typeface="Calibri"/>
              <a:cs typeface="Calibri"/>
              <a:sym typeface="Calibri"/>
            </a:endParaRPr>
          </a:p>
        </p:txBody>
      </p:sp>
      <p:sp>
        <p:nvSpPr>
          <p:cNvPr id="668" name="Google Shape;668;p22"/>
          <p:cNvSpPr/>
          <p:nvPr/>
        </p:nvSpPr>
        <p:spPr>
          <a:xfrm>
            <a:off x="704088" y="4894072"/>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.input(question).maxOutputTokens(250).store(false).build();</a:t>
            </a:r>
            <a:endParaRPr sz="1050">
              <a:solidFill>
                <a:schemeClr val="dk1"/>
              </a:solidFill>
              <a:latin typeface="Calibri"/>
              <a:ea typeface="Calibri"/>
              <a:cs typeface="Calibri"/>
              <a:sym typeface="Calibri"/>
            </a:endParaRPr>
          </a:p>
        </p:txBody>
      </p:sp>
      <p:sp>
        <p:nvSpPr>
          <p:cNvPr id="669" name="Google Shape;669;p22"/>
          <p:cNvSpPr/>
          <p:nvPr/>
        </p:nvSpPr>
        <p:spPr>
          <a:xfrm>
            <a:off x="704088" y="5047488"/>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client.responses().createStreaming(params)</a:t>
            </a:r>
            <a:endParaRPr sz="1050">
              <a:solidFill>
                <a:schemeClr val="dk1"/>
              </a:solidFill>
              <a:latin typeface="Calibri"/>
              <a:ea typeface="Calibri"/>
              <a:cs typeface="Calibri"/>
              <a:sym typeface="Calibri"/>
            </a:endParaRPr>
          </a:p>
        </p:txBody>
      </p:sp>
      <p:sp>
        <p:nvSpPr>
          <p:cNvPr id="670" name="Google Shape;670;p22"/>
          <p:cNvSpPr/>
          <p:nvPr/>
        </p:nvSpPr>
        <p:spPr>
          <a:xfrm>
            <a:off x="704088" y="5200904"/>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lang="en-US" sz="1050">
                <a:solidFill>
                  <a:srgbClr val="E5E7EB"/>
                </a:solidFill>
                <a:latin typeface="Courier New"/>
                <a:ea typeface="Courier New"/>
                <a:cs typeface="Courier New"/>
                <a:sym typeface="Courier New"/>
              </a:rPr>
              <a:t>.subscribe(e -&gt; e.outputTextDelta()</a:t>
            </a:r>
            <a:endParaRPr sz="1050">
              <a:solidFill>
                <a:schemeClr val="dk1"/>
              </a:solidFill>
              <a:latin typeface="Calibri"/>
              <a:ea typeface="Calibri"/>
              <a:cs typeface="Calibri"/>
              <a:sym typeface="Calibri"/>
            </a:endParaRPr>
          </a:p>
        </p:txBody>
      </p:sp>
      <p:sp>
        <p:nvSpPr>
          <p:cNvPr id="671" name="Google Shape;671;p22"/>
          <p:cNvSpPr/>
          <p:nvPr/>
        </p:nvSpPr>
        <p:spPr>
          <a:xfrm>
            <a:off x="704088" y="5354320"/>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lang="en-US" sz="1050">
                <a:solidFill>
                  <a:srgbClr val="86EFAC"/>
                </a:solidFill>
                <a:latin typeface="Courier New"/>
                <a:ea typeface="Courier New"/>
                <a:cs typeface="Courier New"/>
                <a:sym typeface="Courier New"/>
              </a:rPr>
              <a:t>.ifPresent(t -&gt; sink.next(t.delta())));</a:t>
            </a:r>
            <a:endParaRPr sz="1050">
              <a:solidFill>
                <a:schemeClr val="dk1"/>
              </a:solidFill>
              <a:latin typeface="Calibri"/>
              <a:ea typeface="Calibri"/>
              <a:cs typeface="Calibri"/>
              <a:sym typeface="Calibri"/>
            </a:endParaRPr>
          </a:p>
        </p:txBody>
      </p:sp>
      <p:sp>
        <p:nvSpPr>
          <p:cNvPr id="672" name="Google Shape;672;p22"/>
          <p:cNvSpPr/>
          <p:nvPr/>
        </p:nvSpPr>
        <p:spPr>
          <a:xfrm>
            <a:off x="704088" y="5507736"/>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673" name="Google Shape;673;p22"/>
          <p:cNvSpPr/>
          <p:nvPr/>
        </p:nvSpPr>
        <p:spPr>
          <a:xfrm>
            <a:off x="704088" y="5661152"/>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674" name="Google Shape;674;p22"/>
          <p:cNvSpPr/>
          <p:nvPr/>
        </p:nvSpPr>
        <p:spPr>
          <a:xfrm>
            <a:off x="704088" y="5814568"/>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675" name="Google Shape;675;p22"/>
          <p:cNvSpPr/>
          <p:nvPr/>
        </p:nvSpPr>
        <p:spPr>
          <a:xfrm>
            <a:off x="704088" y="5967984"/>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676" name="Google Shape;676;p22"/>
          <p:cNvSpPr/>
          <p:nvPr/>
        </p:nvSpPr>
        <p:spPr>
          <a:xfrm>
            <a:off x="704088" y="6121400"/>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677" name="Google Shape;677;p22"/>
          <p:cNvSpPr/>
          <p:nvPr/>
        </p:nvSpPr>
        <p:spPr>
          <a:xfrm>
            <a:off x="704088" y="6274816"/>
            <a:ext cx="6464808" cy="1534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t/>
            </a:r>
            <a:endParaRPr sz="1050">
              <a:solidFill>
                <a:schemeClr val="dk1"/>
              </a:solidFill>
              <a:latin typeface="Calibri"/>
              <a:ea typeface="Calibri"/>
              <a:cs typeface="Calibri"/>
              <a:sym typeface="Calibri"/>
            </a:endParaRPr>
          </a:p>
        </p:txBody>
      </p:sp>
      <p:sp>
        <p:nvSpPr>
          <p:cNvPr id="678" name="Google Shape;678;p22"/>
          <p:cNvSpPr/>
          <p:nvPr/>
        </p:nvSpPr>
        <p:spPr>
          <a:xfrm>
            <a:off x="7406640" y="1828800"/>
            <a:ext cx="4663440" cy="2176272"/>
          </a:xfrm>
          <a:prstGeom prst="roundRect">
            <a:avLst>
              <a:gd fmla="val 4202"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22"/>
          <p:cNvSpPr/>
          <p:nvPr/>
        </p:nvSpPr>
        <p:spPr>
          <a:xfrm>
            <a:off x="7406640" y="1828800"/>
            <a:ext cx="4663440" cy="347472"/>
          </a:xfrm>
          <a:prstGeom prst="roundRect">
            <a:avLst>
              <a:gd fmla="val 26316" name="adj"/>
            </a:avLst>
          </a:prstGeom>
          <a:solidFill>
            <a:srgbClr val="1F2937"/>
          </a:solidFill>
          <a:ln cap="flat" cmpd="sng" w="12700">
            <a:solidFill>
              <a:srgbClr val="37415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22"/>
          <p:cNvSpPr/>
          <p:nvPr/>
        </p:nvSpPr>
        <p:spPr>
          <a:xfrm>
            <a:off x="7571232" y="1892808"/>
            <a:ext cx="4297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lang="en-US" sz="1050">
                <a:solidFill>
                  <a:srgbClr val="9CA3AF"/>
                </a:solidFill>
                <a:latin typeface="Courier New"/>
                <a:ea typeface="Courier New"/>
                <a:cs typeface="Courier New"/>
                <a:sym typeface="Courier New"/>
              </a:rPr>
              <a:t>Terminal — test it live</a:t>
            </a:r>
            <a:endParaRPr sz="1050">
              <a:solidFill>
                <a:schemeClr val="dk1"/>
              </a:solidFill>
              <a:latin typeface="Calibri"/>
              <a:ea typeface="Calibri"/>
              <a:cs typeface="Calibri"/>
              <a:sym typeface="Calibri"/>
            </a:endParaRPr>
          </a:p>
        </p:txBody>
      </p:sp>
      <p:sp>
        <p:nvSpPr>
          <p:cNvPr id="681" name="Google Shape;681;p22"/>
          <p:cNvSpPr/>
          <p:nvPr/>
        </p:nvSpPr>
        <p:spPr>
          <a:xfrm>
            <a:off x="7543800" y="2231136"/>
            <a:ext cx="4315968" cy="1627632"/>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86EFAC"/>
              </a:buClr>
              <a:buSzPts val="1100"/>
              <a:buFont typeface="Courier New"/>
              <a:buNone/>
            </a:pPr>
            <a:r>
              <a:rPr lang="en-US" sz="1100">
                <a:solidFill>
                  <a:srgbClr val="86EFAC"/>
                </a:solidFill>
                <a:latin typeface="Courier New"/>
                <a:ea typeface="Courier New"/>
                <a:cs typeface="Courier New"/>
                <a:sym typeface="Courier New"/>
              </a:rPr>
              <a:t># -N disables buffering</a:t>
            </a:r>
            <a:br>
              <a:rPr lang="en-US" sz="1100">
                <a:solidFill>
                  <a:srgbClr val="86EFAC"/>
                </a:solidFill>
                <a:latin typeface="Courier New"/>
                <a:ea typeface="Courier New"/>
                <a:cs typeface="Courier New"/>
                <a:sym typeface="Courier New"/>
              </a:rPr>
            </a:br>
            <a:r>
              <a:rPr lang="en-US" sz="1100">
                <a:solidFill>
                  <a:srgbClr val="86EFAC"/>
                </a:solidFill>
                <a:latin typeface="Courier New"/>
                <a:ea typeface="Courier New"/>
                <a:cs typeface="Courier New"/>
                <a:sym typeface="Courier New"/>
              </a:rPr>
              <a:t>curl -N "localhost:8080/api/chat/stream?question=Explain+Java+records"</a:t>
            </a:r>
            <a:endParaRPr sz="1100">
              <a:solidFill>
                <a:schemeClr val="dk1"/>
              </a:solidFill>
              <a:latin typeface="Calibri"/>
              <a:ea typeface="Calibri"/>
              <a:cs typeface="Calibri"/>
              <a:sym typeface="Calibri"/>
            </a:endParaRPr>
          </a:p>
        </p:txBody>
      </p:sp>
      <p:sp>
        <p:nvSpPr>
          <p:cNvPr id="682" name="Google Shape;682;p22"/>
          <p:cNvSpPr/>
          <p:nvPr/>
        </p:nvSpPr>
        <p:spPr>
          <a:xfrm>
            <a:off x="7406640" y="4133088"/>
            <a:ext cx="4663440" cy="2331720"/>
          </a:xfrm>
          <a:prstGeom prst="roundRect">
            <a:avLst>
              <a:gd fmla="val 3922" name="adj"/>
            </a:avLst>
          </a:prstGeom>
          <a:solidFill>
            <a:srgbClr val="F8FAFC"/>
          </a:solidFill>
          <a:ln cap="flat" cmpd="sng" w="12700">
            <a:solidFill>
              <a:srgbClr val="0891B2">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22"/>
          <p:cNvSpPr/>
          <p:nvPr/>
        </p:nvSpPr>
        <p:spPr>
          <a:xfrm>
            <a:off x="7571232" y="4251960"/>
            <a:ext cx="431596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300"/>
              <a:buFont typeface="Calibri"/>
              <a:buNone/>
            </a:pPr>
            <a:r>
              <a:rPr b="1" lang="en-US" sz="1300">
                <a:solidFill>
                  <a:srgbClr val="0891B2"/>
                </a:solidFill>
                <a:latin typeface="Calibri"/>
                <a:ea typeface="Calibri"/>
                <a:cs typeface="Calibri"/>
                <a:sym typeface="Calibri"/>
              </a:rPr>
              <a:t>Frontend (JavaScript)</a:t>
            </a:r>
            <a:endParaRPr sz="1300">
              <a:solidFill>
                <a:schemeClr val="dk1"/>
              </a:solidFill>
              <a:latin typeface="Calibri"/>
              <a:ea typeface="Calibri"/>
              <a:cs typeface="Calibri"/>
              <a:sym typeface="Calibri"/>
            </a:endParaRPr>
          </a:p>
        </p:txBody>
      </p:sp>
      <p:sp>
        <p:nvSpPr>
          <p:cNvPr id="684" name="Google Shape;684;p22"/>
          <p:cNvSpPr/>
          <p:nvPr/>
        </p:nvSpPr>
        <p:spPr>
          <a:xfrm>
            <a:off x="7571232" y="4626864"/>
            <a:ext cx="4315968" cy="1719072"/>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7E8F9"/>
              </a:buClr>
              <a:buSzPts val="1100"/>
              <a:buFont typeface="Courier New"/>
              <a:buNone/>
            </a:pPr>
            <a:r>
              <a:rPr lang="en-US" sz="1100">
                <a:solidFill>
                  <a:srgbClr val="67E8F9"/>
                </a:solidFill>
                <a:latin typeface="Courier New"/>
                <a:ea typeface="Courier New"/>
                <a:cs typeface="Courier New"/>
                <a:sym typeface="Courier New"/>
              </a:rPr>
              <a:t>const src = new EventSource("/api/chat/stream?question=" + q);</a:t>
            </a:r>
            <a:br>
              <a:rPr lang="en-US" sz="1100">
                <a:solidFill>
                  <a:srgbClr val="67E8F9"/>
                </a:solidFill>
                <a:latin typeface="Courier New"/>
                <a:ea typeface="Courier New"/>
                <a:cs typeface="Courier New"/>
                <a:sym typeface="Courier New"/>
              </a:rPr>
            </a:br>
            <a:r>
              <a:rPr lang="en-US" sz="1100">
                <a:solidFill>
                  <a:srgbClr val="67E8F9"/>
                </a:solidFill>
                <a:latin typeface="Courier New"/>
                <a:ea typeface="Courier New"/>
                <a:cs typeface="Courier New"/>
                <a:sym typeface="Courier New"/>
              </a:rPr>
              <a:t>src.onmessage = e =&gt; div.textContent += e.data;</a:t>
            </a:r>
            <a:br>
              <a:rPr lang="en-US" sz="1100">
                <a:solidFill>
                  <a:srgbClr val="67E8F9"/>
                </a:solidFill>
                <a:latin typeface="Courier New"/>
                <a:ea typeface="Courier New"/>
                <a:cs typeface="Courier New"/>
                <a:sym typeface="Courier New"/>
              </a:rPr>
            </a:br>
            <a:r>
              <a:rPr lang="en-US" sz="1100">
                <a:solidFill>
                  <a:srgbClr val="67E8F9"/>
                </a:solidFill>
                <a:latin typeface="Courier New"/>
                <a:ea typeface="Courier New"/>
                <a:cs typeface="Courier New"/>
                <a:sym typeface="Courier New"/>
              </a:rPr>
              <a:t>src.onerror = () =&gt; src.close();</a:t>
            </a:r>
            <a:endParaRPr sz="1100">
              <a:solidFill>
                <a:schemeClr val="dk1"/>
              </a:solidFill>
              <a:latin typeface="Calibri"/>
              <a:ea typeface="Calibri"/>
              <a:cs typeface="Calibri"/>
              <a:sym typeface="Calibri"/>
            </a:endParaRPr>
          </a:p>
        </p:txBody>
      </p:sp>
      <p:sp>
        <p:nvSpPr>
          <p:cNvPr id="685" name="Google Shape;685;p22"/>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22"/>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687" name="Google Shape;687;p22"/>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20 / 29</a:t>
            </a:r>
            <a:endParaRPr sz="9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692" name="Shape 692"/>
        <p:cNvGrpSpPr/>
        <p:nvPr/>
      </p:nvGrpSpPr>
      <p:grpSpPr>
        <a:xfrm>
          <a:off x="0" y="0"/>
          <a:ext cx="0" cy="0"/>
          <a:chOff x="0" y="0"/>
          <a:chExt cx="0" cy="0"/>
        </a:xfrm>
      </p:grpSpPr>
      <p:sp>
        <p:nvSpPr>
          <p:cNvPr id="693" name="Google Shape;693;p23"/>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lang="en-US" sz="1200">
                <a:solidFill>
                  <a:srgbClr val="D97706"/>
                </a:solidFill>
                <a:latin typeface="Calibri"/>
                <a:ea typeface="Calibri"/>
                <a:cs typeface="Calibri"/>
                <a:sym typeface="Calibri"/>
              </a:rPr>
              <a:t>CONNECTING THE DOTS — THE VOICE TASK MANAGER</a:t>
            </a:r>
            <a:endParaRPr sz="1200">
              <a:solidFill>
                <a:schemeClr val="dk1"/>
              </a:solidFill>
              <a:latin typeface="Calibri"/>
              <a:ea typeface="Calibri"/>
              <a:cs typeface="Calibri"/>
              <a:sym typeface="Calibri"/>
            </a:endParaRPr>
          </a:p>
        </p:txBody>
      </p:sp>
      <p:sp>
        <p:nvSpPr>
          <p:cNvPr id="694" name="Google Shape;694;p23"/>
          <p:cNvSpPr/>
          <p:nvPr/>
        </p:nvSpPr>
        <p:spPr>
          <a:xfrm>
            <a:off x="685800" y="777240"/>
            <a:ext cx="10789920" cy="11155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8ECFF"/>
              </a:buClr>
              <a:buSzPts val="2800"/>
              <a:buFont typeface="Calibri"/>
              <a:buNone/>
            </a:pPr>
            <a:r>
              <a:rPr b="1" lang="en-US" sz="2800">
                <a:solidFill>
                  <a:srgbClr val="E8ECFF"/>
                </a:solidFill>
                <a:latin typeface="Calibri"/>
                <a:ea typeface="Calibri"/>
                <a:cs typeface="Calibri"/>
                <a:sym typeface="Calibri"/>
              </a:rPr>
              <a:t>Today's session IS the Voice Task Manager.</a:t>
            </a:r>
            <a:endParaRPr sz="2800">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CFF"/>
              </a:buClr>
              <a:buSzPts val="2800"/>
              <a:buFont typeface="Calibri"/>
              <a:buNone/>
            </a:pPr>
            <a:r>
              <a:rPr b="1" lang="en-US" sz="2800">
                <a:solidFill>
                  <a:srgbClr val="E8ECFF"/>
                </a:solidFill>
                <a:latin typeface="Calibri"/>
                <a:ea typeface="Calibri"/>
                <a:cs typeface="Calibri"/>
                <a:sym typeface="Calibri"/>
              </a:rPr>
              <a:t>Just add a microphone.</a:t>
            </a:r>
            <a:endParaRPr sz="2800">
              <a:solidFill>
                <a:schemeClr val="dk1"/>
              </a:solidFill>
              <a:latin typeface="Calibri"/>
              <a:ea typeface="Calibri"/>
              <a:cs typeface="Calibri"/>
              <a:sym typeface="Calibri"/>
            </a:endParaRPr>
          </a:p>
        </p:txBody>
      </p:sp>
      <p:sp>
        <p:nvSpPr>
          <p:cNvPr id="695" name="Google Shape;695;p23"/>
          <p:cNvSpPr/>
          <p:nvPr/>
        </p:nvSpPr>
        <p:spPr>
          <a:xfrm>
            <a:off x="502920" y="2743200"/>
            <a:ext cx="1938528" cy="1207008"/>
          </a:xfrm>
          <a:prstGeom prst="roundRect">
            <a:avLst>
              <a:gd fmla="val 6818" name="adj"/>
            </a:avLst>
          </a:prstGeom>
          <a:solidFill>
            <a:srgbClr val="1C2236"/>
          </a:solidFill>
          <a:ln cap="flat" cmpd="sng" w="12700">
            <a:solidFill>
              <a:srgbClr val="7C3AED">
                <a:alpha val="54901"/>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p23"/>
          <p:cNvSpPr/>
          <p:nvPr/>
        </p:nvSpPr>
        <p:spPr>
          <a:xfrm>
            <a:off x="612648" y="2971800"/>
            <a:ext cx="1737360" cy="77724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7C3AED"/>
              </a:buClr>
              <a:buSzPts val="1300"/>
              <a:buFont typeface="Calibri"/>
              <a:buNone/>
            </a:pPr>
            <a:r>
              <a:rPr b="1" lang="en-US" sz="1300">
                <a:solidFill>
                  <a:srgbClr val="7C3AED"/>
                </a:solidFill>
                <a:latin typeface="Calibri"/>
                <a:ea typeface="Calibri"/>
                <a:cs typeface="Calibri"/>
                <a:sym typeface="Calibri"/>
              </a:rPr>
              <a:t>🎙 Audio</a:t>
            </a:r>
            <a:endParaRPr sz="1300">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7C3AED"/>
              </a:buClr>
              <a:buSzPts val="1300"/>
              <a:buFont typeface="Calibri"/>
              <a:buNone/>
            </a:pPr>
            <a:r>
              <a:rPr b="1" lang="en-US" sz="1300">
                <a:solidFill>
                  <a:srgbClr val="7C3AED"/>
                </a:solidFill>
                <a:latin typeface="Calibri"/>
                <a:ea typeface="Calibri"/>
                <a:cs typeface="Calibri"/>
                <a:sym typeface="Calibri"/>
              </a:rPr>
              <a:t>.mp3 file</a:t>
            </a:r>
            <a:endParaRPr sz="1300">
              <a:solidFill>
                <a:schemeClr val="dk1"/>
              </a:solidFill>
              <a:latin typeface="Calibri"/>
              <a:ea typeface="Calibri"/>
              <a:cs typeface="Calibri"/>
              <a:sym typeface="Calibri"/>
            </a:endParaRPr>
          </a:p>
        </p:txBody>
      </p:sp>
      <p:cxnSp>
        <p:nvCxnSpPr>
          <p:cNvPr id="697" name="Google Shape;697;p23"/>
          <p:cNvCxnSpPr/>
          <p:nvPr/>
        </p:nvCxnSpPr>
        <p:spPr>
          <a:xfrm>
            <a:off x="2468880" y="3346704"/>
            <a:ext cx="411480" cy="0"/>
          </a:xfrm>
          <a:prstGeom prst="straightConnector1">
            <a:avLst/>
          </a:prstGeom>
          <a:noFill/>
          <a:ln cap="flat" cmpd="sng" w="25400">
            <a:solidFill>
              <a:srgbClr val="7C3AED"/>
            </a:solidFill>
            <a:prstDash val="solid"/>
            <a:round/>
            <a:headEnd len="sm" w="sm" type="none"/>
            <a:tailEnd len="med" w="med" type="triangle"/>
          </a:ln>
        </p:spPr>
      </p:cxnSp>
      <p:sp>
        <p:nvSpPr>
          <p:cNvPr id="698" name="Google Shape;698;p23"/>
          <p:cNvSpPr/>
          <p:nvPr/>
        </p:nvSpPr>
        <p:spPr>
          <a:xfrm>
            <a:off x="2606040" y="2743200"/>
            <a:ext cx="1938528" cy="1207008"/>
          </a:xfrm>
          <a:prstGeom prst="roundRect">
            <a:avLst>
              <a:gd fmla="val 6818" name="adj"/>
            </a:avLst>
          </a:prstGeom>
          <a:solidFill>
            <a:srgbClr val="1C2236"/>
          </a:solidFill>
          <a:ln cap="flat" cmpd="sng" w="12700">
            <a:solidFill>
              <a:srgbClr val="0891B2">
                <a:alpha val="54901"/>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23"/>
          <p:cNvSpPr/>
          <p:nvPr/>
        </p:nvSpPr>
        <p:spPr>
          <a:xfrm>
            <a:off x="2715768" y="2971800"/>
            <a:ext cx="1737360" cy="77724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891B2"/>
              </a:buClr>
              <a:buSzPts val="1300"/>
              <a:buFont typeface="Calibri"/>
              <a:buNone/>
            </a:pPr>
            <a:r>
              <a:rPr b="1" lang="en-US" sz="1300">
                <a:solidFill>
                  <a:srgbClr val="0891B2"/>
                </a:solidFill>
                <a:latin typeface="Calibri"/>
                <a:ea typeface="Calibri"/>
                <a:cs typeface="Calibri"/>
                <a:sym typeface="Calibri"/>
              </a:rPr>
              <a:t>Whisper</a:t>
            </a:r>
            <a:endParaRPr sz="1300">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0891B2"/>
              </a:buClr>
              <a:buSzPts val="1300"/>
              <a:buFont typeface="Calibri"/>
              <a:buNone/>
            </a:pPr>
            <a:r>
              <a:rPr b="1" lang="en-US" sz="1300">
                <a:solidFill>
                  <a:srgbClr val="0891B2"/>
                </a:solidFill>
                <a:latin typeface="Calibri"/>
                <a:ea typeface="Calibri"/>
                <a:cs typeface="Calibri"/>
                <a:sym typeface="Calibri"/>
              </a:rPr>
              <a:t>(transcription)</a:t>
            </a:r>
            <a:endParaRPr sz="1300">
              <a:solidFill>
                <a:schemeClr val="dk1"/>
              </a:solidFill>
              <a:latin typeface="Calibri"/>
              <a:ea typeface="Calibri"/>
              <a:cs typeface="Calibri"/>
              <a:sym typeface="Calibri"/>
            </a:endParaRPr>
          </a:p>
        </p:txBody>
      </p:sp>
      <p:cxnSp>
        <p:nvCxnSpPr>
          <p:cNvPr id="700" name="Google Shape;700;p23"/>
          <p:cNvCxnSpPr/>
          <p:nvPr/>
        </p:nvCxnSpPr>
        <p:spPr>
          <a:xfrm>
            <a:off x="4572000" y="3346704"/>
            <a:ext cx="411480" cy="0"/>
          </a:xfrm>
          <a:prstGeom prst="straightConnector1">
            <a:avLst/>
          </a:prstGeom>
          <a:noFill/>
          <a:ln cap="flat" cmpd="sng" w="25400">
            <a:solidFill>
              <a:srgbClr val="0891B2"/>
            </a:solidFill>
            <a:prstDash val="solid"/>
            <a:round/>
            <a:headEnd len="sm" w="sm" type="none"/>
            <a:tailEnd len="med" w="med" type="triangle"/>
          </a:ln>
        </p:spPr>
      </p:cxnSp>
      <p:sp>
        <p:nvSpPr>
          <p:cNvPr id="701" name="Google Shape;701;p23"/>
          <p:cNvSpPr/>
          <p:nvPr/>
        </p:nvSpPr>
        <p:spPr>
          <a:xfrm>
            <a:off x="4709160" y="2743200"/>
            <a:ext cx="1938528" cy="1207008"/>
          </a:xfrm>
          <a:prstGeom prst="roundRect">
            <a:avLst>
              <a:gd fmla="val 6818" name="adj"/>
            </a:avLst>
          </a:prstGeom>
          <a:solidFill>
            <a:srgbClr val="1C2236"/>
          </a:solidFill>
          <a:ln cap="flat" cmpd="sng" w="12700">
            <a:solidFill>
              <a:srgbClr val="16A34A">
                <a:alpha val="54901"/>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23"/>
          <p:cNvSpPr/>
          <p:nvPr/>
        </p:nvSpPr>
        <p:spPr>
          <a:xfrm>
            <a:off x="4818888" y="2971800"/>
            <a:ext cx="1737360" cy="77724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16A34A"/>
              </a:buClr>
              <a:buSzPts val="1300"/>
              <a:buFont typeface="Calibri"/>
              <a:buNone/>
            </a:pPr>
            <a:r>
              <a:rPr b="1" lang="en-US" sz="1300">
                <a:solidFill>
                  <a:srgbClr val="16A34A"/>
                </a:solidFill>
                <a:latin typeface="Calibri"/>
                <a:ea typeface="Calibri"/>
                <a:cs typeface="Calibri"/>
                <a:sym typeface="Calibri"/>
              </a:rPr>
              <a:t>Responses API</a:t>
            </a:r>
            <a:br>
              <a:rPr b="1" lang="en-US" sz="1300">
                <a:solidFill>
                  <a:srgbClr val="16A34A"/>
                </a:solidFill>
                <a:latin typeface="Calibri"/>
                <a:ea typeface="Calibri"/>
                <a:cs typeface="Calibri"/>
                <a:sym typeface="Calibri"/>
              </a:rPr>
            </a:br>
            <a:r>
              <a:rPr b="1" lang="en-US" sz="1300">
                <a:solidFill>
                  <a:srgbClr val="16A34A"/>
                </a:solidFill>
                <a:latin typeface="Calibri"/>
                <a:ea typeface="Calibri"/>
                <a:cs typeface="Calibri"/>
                <a:sym typeface="Calibri"/>
              </a:rPr>
              <a:t>+ tools</a:t>
            </a:r>
            <a:endParaRPr sz="1300">
              <a:solidFill>
                <a:schemeClr val="dk1"/>
              </a:solidFill>
              <a:latin typeface="Calibri"/>
              <a:ea typeface="Calibri"/>
              <a:cs typeface="Calibri"/>
              <a:sym typeface="Calibri"/>
            </a:endParaRPr>
          </a:p>
        </p:txBody>
      </p:sp>
      <p:cxnSp>
        <p:nvCxnSpPr>
          <p:cNvPr id="703" name="Google Shape;703;p23"/>
          <p:cNvCxnSpPr/>
          <p:nvPr/>
        </p:nvCxnSpPr>
        <p:spPr>
          <a:xfrm>
            <a:off x="6675120" y="3346704"/>
            <a:ext cx="411480" cy="0"/>
          </a:xfrm>
          <a:prstGeom prst="straightConnector1">
            <a:avLst/>
          </a:prstGeom>
          <a:noFill/>
          <a:ln cap="flat" cmpd="sng" w="25400">
            <a:solidFill>
              <a:srgbClr val="16A34A"/>
            </a:solidFill>
            <a:prstDash val="solid"/>
            <a:round/>
            <a:headEnd len="sm" w="sm" type="none"/>
            <a:tailEnd len="med" w="med" type="triangle"/>
          </a:ln>
        </p:spPr>
      </p:cxnSp>
      <p:sp>
        <p:nvSpPr>
          <p:cNvPr id="704" name="Google Shape;704;p23"/>
          <p:cNvSpPr/>
          <p:nvPr/>
        </p:nvSpPr>
        <p:spPr>
          <a:xfrm>
            <a:off x="6812280" y="2743200"/>
            <a:ext cx="1938528" cy="1207008"/>
          </a:xfrm>
          <a:prstGeom prst="roundRect">
            <a:avLst>
              <a:gd fmla="val 6818" name="adj"/>
            </a:avLst>
          </a:prstGeom>
          <a:solidFill>
            <a:srgbClr val="1C2236"/>
          </a:solidFill>
          <a:ln cap="flat" cmpd="sng" w="12700">
            <a:solidFill>
              <a:srgbClr val="D97706">
                <a:alpha val="54901"/>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23"/>
          <p:cNvSpPr/>
          <p:nvPr/>
        </p:nvSpPr>
        <p:spPr>
          <a:xfrm>
            <a:off x="6922008" y="2971800"/>
            <a:ext cx="1737360" cy="77724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D97706"/>
              </a:buClr>
              <a:buSzPts val="1300"/>
              <a:buFont typeface="Calibri"/>
              <a:buNone/>
            </a:pPr>
            <a:r>
              <a:rPr b="1" lang="en-US" sz="1300">
                <a:solidFill>
                  <a:srgbClr val="D97706"/>
                </a:solidFill>
                <a:latin typeface="Calibri"/>
                <a:ea typeface="Calibri"/>
                <a:cs typeface="Calibri"/>
                <a:sym typeface="Calibri"/>
              </a:rPr>
              <a:t>Your Java</a:t>
            </a:r>
            <a:endParaRPr sz="1300">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D97706"/>
              </a:buClr>
              <a:buSzPts val="1300"/>
              <a:buFont typeface="Calibri"/>
              <a:buNone/>
            </a:pPr>
            <a:r>
              <a:rPr b="1" lang="en-US" sz="1300">
                <a:solidFill>
                  <a:srgbClr val="D97706"/>
                </a:solidFill>
                <a:latin typeface="Calibri"/>
                <a:ea typeface="Calibri"/>
                <a:cs typeface="Calibri"/>
                <a:sym typeface="Calibri"/>
              </a:rPr>
              <a:t>Task Store</a:t>
            </a:r>
            <a:endParaRPr sz="1300">
              <a:solidFill>
                <a:schemeClr val="dk1"/>
              </a:solidFill>
              <a:latin typeface="Calibri"/>
              <a:ea typeface="Calibri"/>
              <a:cs typeface="Calibri"/>
              <a:sym typeface="Calibri"/>
            </a:endParaRPr>
          </a:p>
        </p:txBody>
      </p:sp>
      <p:cxnSp>
        <p:nvCxnSpPr>
          <p:cNvPr id="706" name="Google Shape;706;p23"/>
          <p:cNvCxnSpPr/>
          <p:nvPr/>
        </p:nvCxnSpPr>
        <p:spPr>
          <a:xfrm>
            <a:off x="8778240" y="3346704"/>
            <a:ext cx="411480" cy="0"/>
          </a:xfrm>
          <a:prstGeom prst="straightConnector1">
            <a:avLst/>
          </a:prstGeom>
          <a:noFill/>
          <a:ln cap="flat" cmpd="sng" w="25400">
            <a:solidFill>
              <a:srgbClr val="D97706"/>
            </a:solidFill>
            <a:prstDash val="solid"/>
            <a:round/>
            <a:headEnd len="sm" w="sm" type="none"/>
            <a:tailEnd len="med" w="med" type="triangle"/>
          </a:ln>
        </p:spPr>
      </p:cxnSp>
      <p:sp>
        <p:nvSpPr>
          <p:cNvPr id="707" name="Google Shape;707;p23"/>
          <p:cNvSpPr/>
          <p:nvPr/>
        </p:nvSpPr>
        <p:spPr>
          <a:xfrm>
            <a:off x="8915400" y="2743200"/>
            <a:ext cx="1938528" cy="1207008"/>
          </a:xfrm>
          <a:prstGeom prst="roundRect">
            <a:avLst>
              <a:gd fmla="val 6818" name="adj"/>
            </a:avLst>
          </a:prstGeom>
          <a:solidFill>
            <a:srgbClr val="1C2236"/>
          </a:solidFill>
          <a:ln cap="flat" cmpd="sng" w="12700">
            <a:solidFill>
              <a:srgbClr val="E11D48">
                <a:alpha val="54901"/>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23"/>
          <p:cNvSpPr/>
          <p:nvPr/>
        </p:nvSpPr>
        <p:spPr>
          <a:xfrm>
            <a:off x="9025128" y="2971800"/>
            <a:ext cx="1737360" cy="77724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E11D48"/>
              </a:buClr>
              <a:buSzPts val="1300"/>
              <a:buFont typeface="Calibri"/>
              <a:buNone/>
            </a:pPr>
            <a:r>
              <a:rPr b="1" lang="en-US" sz="1300">
                <a:solidFill>
                  <a:srgbClr val="E11D48"/>
                </a:solidFill>
                <a:latin typeface="Calibri"/>
                <a:ea typeface="Calibri"/>
                <a:cs typeface="Calibri"/>
                <a:sym typeface="Calibri"/>
              </a:rPr>
              <a:t>TTS API</a:t>
            </a:r>
            <a:endParaRPr sz="1300">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E11D48"/>
              </a:buClr>
              <a:buSzPts val="1300"/>
              <a:buFont typeface="Calibri"/>
              <a:buNone/>
            </a:pPr>
            <a:r>
              <a:rPr b="1" lang="en-US" sz="1300">
                <a:solidFill>
                  <a:srgbClr val="E11D48"/>
                </a:solidFill>
                <a:latin typeface="Calibri"/>
                <a:ea typeface="Calibri"/>
                <a:cs typeface="Calibri"/>
                <a:sym typeface="Calibri"/>
              </a:rPr>
              <a:t>(voice reply)</a:t>
            </a:r>
            <a:endParaRPr sz="1300">
              <a:solidFill>
                <a:schemeClr val="dk1"/>
              </a:solidFill>
              <a:latin typeface="Calibri"/>
              <a:ea typeface="Calibri"/>
              <a:cs typeface="Calibri"/>
              <a:sym typeface="Calibri"/>
            </a:endParaRPr>
          </a:p>
        </p:txBody>
      </p:sp>
      <p:cxnSp>
        <p:nvCxnSpPr>
          <p:cNvPr id="709" name="Google Shape;709;p23"/>
          <p:cNvCxnSpPr/>
          <p:nvPr/>
        </p:nvCxnSpPr>
        <p:spPr>
          <a:xfrm>
            <a:off x="10881360" y="3346704"/>
            <a:ext cx="411480" cy="0"/>
          </a:xfrm>
          <a:prstGeom prst="straightConnector1">
            <a:avLst/>
          </a:prstGeom>
          <a:noFill/>
          <a:ln cap="flat" cmpd="sng" w="25400">
            <a:solidFill>
              <a:srgbClr val="E11D48"/>
            </a:solidFill>
            <a:prstDash val="solid"/>
            <a:round/>
            <a:headEnd len="sm" w="sm" type="none"/>
            <a:tailEnd len="med" w="med" type="triangle"/>
          </a:ln>
        </p:spPr>
      </p:cxnSp>
      <p:sp>
        <p:nvSpPr>
          <p:cNvPr id="710" name="Google Shape;710;p23"/>
          <p:cNvSpPr/>
          <p:nvPr/>
        </p:nvSpPr>
        <p:spPr>
          <a:xfrm>
            <a:off x="11018520" y="2743200"/>
            <a:ext cx="1938528" cy="1207008"/>
          </a:xfrm>
          <a:prstGeom prst="roundRect">
            <a:avLst>
              <a:gd fmla="val 6818" name="adj"/>
            </a:avLst>
          </a:prstGeom>
          <a:solidFill>
            <a:srgbClr val="1C2236"/>
          </a:solidFill>
          <a:ln cap="flat" cmpd="sng" w="12700">
            <a:solidFill>
              <a:srgbClr val="EA580C">
                <a:alpha val="54901"/>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23"/>
          <p:cNvSpPr/>
          <p:nvPr/>
        </p:nvSpPr>
        <p:spPr>
          <a:xfrm>
            <a:off x="11128248" y="2971800"/>
            <a:ext cx="1737360" cy="77724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EA580C"/>
              </a:buClr>
              <a:buSzPts val="1300"/>
              <a:buFont typeface="Calibri"/>
              <a:buNone/>
            </a:pPr>
            <a:r>
              <a:rPr b="1" lang="en-US" sz="1300">
                <a:solidFill>
                  <a:srgbClr val="EA580C"/>
                </a:solidFill>
                <a:latin typeface="Calibri"/>
                <a:ea typeface="Calibri"/>
                <a:cs typeface="Calibri"/>
                <a:sym typeface="Calibri"/>
              </a:rPr>
              <a:t>🔊 Audio</a:t>
            </a:r>
            <a:endParaRPr sz="1300">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EA580C"/>
              </a:buClr>
              <a:buSzPts val="1300"/>
              <a:buFont typeface="Calibri"/>
              <a:buNone/>
            </a:pPr>
            <a:r>
              <a:rPr b="1" lang="en-US" sz="1300">
                <a:solidFill>
                  <a:srgbClr val="EA580C"/>
                </a:solidFill>
                <a:latin typeface="Calibri"/>
                <a:ea typeface="Calibri"/>
                <a:cs typeface="Calibri"/>
                <a:sym typeface="Calibri"/>
              </a:rPr>
              <a:t>output</a:t>
            </a:r>
            <a:endParaRPr sz="1300">
              <a:solidFill>
                <a:schemeClr val="dk1"/>
              </a:solidFill>
              <a:latin typeface="Calibri"/>
              <a:ea typeface="Calibri"/>
              <a:cs typeface="Calibri"/>
              <a:sym typeface="Calibri"/>
            </a:endParaRPr>
          </a:p>
        </p:txBody>
      </p:sp>
      <p:sp>
        <p:nvSpPr>
          <p:cNvPr id="712" name="Google Shape;712;p23"/>
          <p:cNvSpPr/>
          <p:nvPr/>
        </p:nvSpPr>
        <p:spPr>
          <a:xfrm>
            <a:off x="4709160" y="4133088"/>
            <a:ext cx="4114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00"/>
              <a:buFont typeface="Calibri"/>
              <a:buNone/>
            </a:pPr>
            <a:r>
              <a:rPr b="1" lang="en-US" sz="1300">
                <a:solidFill>
                  <a:srgbClr val="D97706"/>
                </a:solidFill>
                <a:latin typeface="Calibri"/>
                <a:ea typeface="Calibri"/>
                <a:cs typeface="Calibri"/>
                <a:sym typeface="Calibri"/>
              </a:rPr>
              <a:t>The 4 tools the model can request:</a:t>
            </a:r>
            <a:endParaRPr sz="1300">
              <a:solidFill>
                <a:schemeClr val="dk1"/>
              </a:solidFill>
              <a:latin typeface="Calibri"/>
              <a:ea typeface="Calibri"/>
              <a:cs typeface="Calibri"/>
              <a:sym typeface="Calibri"/>
            </a:endParaRPr>
          </a:p>
        </p:txBody>
      </p:sp>
      <p:sp>
        <p:nvSpPr>
          <p:cNvPr id="713" name="Google Shape;713;p23"/>
          <p:cNvSpPr/>
          <p:nvPr/>
        </p:nvSpPr>
        <p:spPr>
          <a:xfrm>
            <a:off x="4709160" y="4462272"/>
            <a:ext cx="1627632" cy="475488"/>
          </a:xfrm>
          <a:prstGeom prst="roundRect">
            <a:avLst>
              <a:gd fmla="val 11538" name="adj"/>
            </a:avLst>
          </a:prstGeom>
          <a:solidFill>
            <a:srgbClr val="1C2236"/>
          </a:solidFill>
          <a:ln cap="flat" cmpd="sng" w="9525">
            <a:solidFill>
              <a:srgbClr val="D97706">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23"/>
          <p:cNvSpPr/>
          <p:nvPr/>
        </p:nvSpPr>
        <p:spPr>
          <a:xfrm>
            <a:off x="4800600" y="4498848"/>
            <a:ext cx="1463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CD34D"/>
              </a:buClr>
              <a:buSzPts val="1000"/>
              <a:buFont typeface="Courier New"/>
              <a:buNone/>
            </a:pPr>
            <a:r>
              <a:rPr lang="en-US" sz="1000">
                <a:solidFill>
                  <a:srgbClr val="FCD34D"/>
                </a:solidFill>
                <a:latin typeface="Courier New"/>
                <a:ea typeface="Courier New"/>
                <a:cs typeface="Courier New"/>
                <a:sym typeface="Courier New"/>
              </a:rPr>
              <a:t>addTask(title, due)</a:t>
            </a:r>
            <a:endParaRPr sz="1000">
              <a:solidFill>
                <a:schemeClr val="dk1"/>
              </a:solidFill>
              <a:latin typeface="Calibri"/>
              <a:ea typeface="Calibri"/>
              <a:cs typeface="Calibri"/>
              <a:sym typeface="Calibri"/>
            </a:endParaRPr>
          </a:p>
        </p:txBody>
      </p:sp>
      <p:sp>
        <p:nvSpPr>
          <p:cNvPr id="715" name="Google Shape;715;p23"/>
          <p:cNvSpPr/>
          <p:nvPr/>
        </p:nvSpPr>
        <p:spPr>
          <a:xfrm>
            <a:off x="6464808" y="4462272"/>
            <a:ext cx="1627632" cy="475488"/>
          </a:xfrm>
          <a:prstGeom prst="roundRect">
            <a:avLst>
              <a:gd fmla="val 11538" name="adj"/>
            </a:avLst>
          </a:prstGeom>
          <a:solidFill>
            <a:srgbClr val="1C2236"/>
          </a:solidFill>
          <a:ln cap="flat" cmpd="sng" w="9525">
            <a:solidFill>
              <a:srgbClr val="D97706">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23"/>
          <p:cNvSpPr/>
          <p:nvPr/>
        </p:nvSpPr>
        <p:spPr>
          <a:xfrm>
            <a:off x="6556248" y="4498848"/>
            <a:ext cx="1463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CD34D"/>
              </a:buClr>
              <a:buSzPts val="1000"/>
              <a:buFont typeface="Courier New"/>
              <a:buNone/>
            </a:pPr>
            <a:r>
              <a:rPr lang="en-US" sz="1000">
                <a:solidFill>
                  <a:srgbClr val="FCD34D"/>
                </a:solidFill>
                <a:latin typeface="Courier New"/>
                <a:ea typeface="Courier New"/>
                <a:cs typeface="Courier New"/>
                <a:sym typeface="Courier New"/>
              </a:rPr>
              <a:t>deleteTask(id)</a:t>
            </a:r>
            <a:endParaRPr sz="1000">
              <a:solidFill>
                <a:schemeClr val="dk1"/>
              </a:solidFill>
              <a:latin typeface="Calibri"/>
              <a:ea typeface="Calibri"/>
              <a:cs typeface="Calibri"/>
              <a:sym typeface="Calibri"/>
            </a:endParaRPr>
          </a:p>
        </p:txBody>
      </p:sp>
      <p:sp>
        <p:nvSpPr>
          <p:cNvPr id="717" name="Google Shape;717;p23"/>
          <p:cNvSpPr/>
          <p:nvPr/>
        </p:nvSpPr>
        <p:spPr>
          <a:xfrm>
            <a:off x="8220456" y="4462272"/>
            <a:ext cx="1627632" cy="475488"/>
          </a:xfrm>
          <a:prstGeom prst="roundRect">
            <a:avLst>
              <a:gd fmla="val 11538" name="adj"/>
            </a:avLst>
          </a:prstGeom>
          <a:solidFill>
            <a:srgbClr val="1C2236"/>
          </a:solidFill>
          <a:ln cap="flat" cmpd="sng" w="9525">
            <a:solidFill>
              <a:srgbClr val="D97706">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23"/>
          <p:cNvSpPr/>
          <p:nvPr/>
        </p:nvSpPr>
        <p:spPr>
          <a:xfrm>
            <a:off x="8311896" y="4498848"/>
            <a:ext cx="1463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CD34D"/>
              </a:buClr>
              <a:buSzPts val="1000"/>
              <a:buFont typeface="Courier New"/>
              <a:buNone/>
            </a:pPr>
            <a:r>
              <a:rPr lang="en-US" sz="1000">
                <a:solidFill>
                  <a:srgbClr val="FCD34D"/>
                </a:solidFill>
                <a:latin typeface="Courier New"/>
                <a:ea typeface="Courier New"/>
                <a:cs typeface="Courier New"/>
                <a:sym typeface="Courier New"/>
              </a:rPr>
              <a:t>listTasks()</a:t>
            </a:r>
            <a:endParaRPr sz="1000">
              <a:solidFill>
                <a:schemeClr val="dk1"/>
              </a:solidFill>
              <a:latin typeface="Calibri"/>
              <a:ea typeface="Calibri"/>
              <a:cs typeface="Calibri"/>
              <a:sym typeface="Calibri"/>
            </a:endParaRPr>
          </a:p>
        </p:txBody>
      </p:sp>
      <p:sp>
        <p:nvSpPr>
          <p:cNvPr id="719" name="Google Shape;719;p23"/>
          <p:cNvSpPr/>
          <p:nvPr/>
        </p:nvSpPr>
        <p:spPr>
          <a:xfrm>
            <a:off x="9976104" y="4462272"/>
            <a:ext cx="1627632" cy="475488"/>
          </a:xfrm>
          <a:prstGeom prst="roundRect">
            <a:avLst>
              <a:gd fmla="val 11538" name="adj"/>
            </a:avLst>
          </a:prstGeom>
          <a:solidFill>
            <a:srgbClr val="1C2236"/>
          </a:solidFill>
          <a:ln cap="flat" cmpd="sng" w="9525">
            <a:solidFill>
              <a:srgbClr val="D97706">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23"/>
          <p:cNvSpPr/>
          <p:nvPr/>
        </p:nvSpPr>
        <p:spPr>
          <a:xfrm>
            <a:off x="10067544" y="4498848"/>
            <a:ext cx="1463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CD34D"/>
              </a:buClr>
              <a:buSzPts val="1000"/>
              <a:buFont typeface="Courier New"/>
              <a:buNone/>
            </a:pPr>
            <a:r>
              <a:rPr lang="en-US" sz="1000">
                <a:solidFill>
                  <a:srgbClr val="FCD34D"/>
                </a:solidFill>
                <a:latin typeface="Courier New"/>
                <a:ea typeface="Courier New"/>
                <a:cs typeface="Courier New"/>
                <a:sym typeface="Courier New"/>
              </a:rPr>
              <a:t>updateStatus(id, done)</a:t>
            </a:r>
            <a:endParaRPr sz="1000">
              <a:solidFill>
                <a:schemeClr val="dk1"/>
              </a:solidFill>
              <a:latin typeface="Calibri"/>
              <a:ea typeface="Calibri"/>
              <a:cs typeface="Calibri"/>
              <a:sym typeface="Calibri"/>
            </a:endParaRPr>
          </a:p>
        </p:txBody>
      </p:sp>
      <p:sp>
        <p:nvSpPr>
          <p:cNvPr id="721" name="Google Shape;721;p23"/>
          <p:cNvSpPr/>
          <p:nvPr/>
        </p:nvSpPr>
        <p:spPr>
          <a:xfrm>
            <a:off x="502920" y="5166360"/>
            <a:ext cx="11109960" cy="658368"/>
          </a:xfrm>
          <a:prstGeom prst="roundRect">
            <a:avLst>
              <a:gd fmla="val 12500"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2" name="Google Shape;722;p23"/>
          <p:cNvSpPr/>
          <p:nvPr/>
        </p:nvSpPr>
        <p:spPr>
          <a:xfrm>
            <a:off x="713232" y="5266944"/>
            <a:ext cx="106527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EFAC"/>
              </a:buClr>
              <a:buSzPts val="1400"/>
              <a:buFont typeface="Calibri"/>
              <a:buNone/>
            </a:pPr>
            <a:r>
              <a:rPr b="1" lang="en-US" sz="1400">
                <a:solidFill>
                  <a:srgbClr val="86EFAC"/>
                </a:solidFill>
                <a:latin typeface="Calibri"/>
                <a:ea typeface="Calibri"/>
                <a:cs typeface="Calibri"/>
                <a:sym typeface="Calibri"/>
              </a:rPr>
              <a:t>Today you understand the API path. Voice, Whisper, TTS, and tools can be added later after the base chat endpoint is stable.</a:t>
            </a:r>
            <a:endParaRPr sz="1400">
              <a:solidFill>
                <a:schemeClr val="dk1"/>
              </a:solidFill>
              <a:latin typeface="Calibri"/>
              <a:ea typeface="Calibri"/>
              <a:cs typeface="Calibri"/>
              <a:sym typeface="Calibri"/>
            </a:endParaRPr>
          </a:p>
        </p:txBody>
      </p:sp>
      <p:sp>
        <p:nvSpPr>
          <p:cNvPr id="723" name="Google Shape;723;p23"/>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2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725" name="Google Shape;725;p2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21 / 29</a:t>
            </a:r>
            <a:endParaRPr sz="9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730" name="Shape 730"/>
        <p:cNvGrpSpPr/>
        <p:nvPr/>
      </p:nvGrpSpPr>
      <p:grpSpPr>
        <a:xfrm>
          <a:off x="0" y="0"/>
          <a:ext cx="0" cy="0"/>
          <a:chOff x="0" y="0"/>
          <a:chExt cx="0" cy="0"/>
        </a:xfrm>
      </p:grpSpPr>
      <p:sp>
        <p:nvSpPr>
          <p:cNvPr id="731" name="Google Shape;731;p24"/>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lang="en-US" sz="1200">
                <a:solidFill>
                  <a:srgbClr val="16A34A"/>
                </a:solidFill>
                <a:latin typeface="Calibri"/>
                <a:ea typeface="Calibri"/>
                <a:cs typeface="Calibri"/>
                <a:sym typeface="Calibri"/>
              </a:rPr>
              <a:t>YOUR TURN — 20 MINUTE LAB</a:t>
            </a:r>
            <a:endParaRPr sz="1200">
              <a:solidFill>
                <a:schemeClr val="dk1"/>
              </a:solidFill>
              <a:latin typeface="Calibri"/>
              <a:ea typeface="Calibri"/>
              <a:cs typeface="Calibri"/>
              <a:sym typeface="Calibri"/>
            </a:endParaRPr>
          </a:p>
        </p:txBody>
      </p:sp>
      <p:sp>
        <p:nvSpPr>
          <p:cNvPr id="732" name="Google Shape;732;p24"/>
          <p:cNvSpPr/>
          <p:nvPr/>
        </p:nvSpPr>
        <p:spPr>
          <a:xfrm>
            <a:off x="685800" y="749808"/>
            <a:ext cx="10789920" cy="1645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8ECFF"/>
              </a:buClr>
              <a:buSzPts val="4600"/>
              <a:buFont typeface="Calibri"/>
              <a:buNone/>
            </a:pPr>
            <a:r>
              <a:rPr b="1" lang="en-US" sz="4600">
                <a:solidFill>
                  <a:srgbClr val="E8ECFF"/>
                </a:solidFill>
                <a:latin typeface="Calibri"/>
                <a:ea typeface="Calibri"/>
                <a:cs typeface="Calibri"/>
                <a:sym typeface="Calibri"/>
              </a:rPr>
              <a:t>Four challenges.</a:t>
            </a:r>
            <a:endParaRPr sz="4600">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CFF"/>
              </a:buClr>
              <a:buSzPts val="4600"/>
              <a:buFont typeface="Calibri"/>
              <a:buNone/>
            </a:pPr>
            <a:r>
              <a:rPr b="1" lang="en-US" sz="4600">
                <a:solidFill>
                  <a:srgbClr val="E8ECFF"/>
                </a:solidFill>
                <a:latin typeface="Calibri"/>
                <a:ea typeface="Calibri"/>
                <a:cs typeface="Calibri"/>
                <a:sym typeface="Calibri"/>
              </a:rPr>
              <a:t>Pick at least two.</a:t>
            </a:r>
            <a:endParaRPr sz="4600">
              <a:solidFill>
                <a:schemeClr val="dk1"/>
              </a:solidFill>
              <a:latin typeface="Calibri"/>
              <a:ea typeface="Calibri"/>
              <a:cs typeface="Calibri"/>
              <a:sym typeface="Calibri"/>
            </a:endParaRPr>
          </a:p>
        </p:txBody>
      </p:sp>
      <p:sp>
        <p:nvSpPr>
          <p:cNvPr id="733" name="Google Shape;733;p24"/>
          <p:cNvSpPr/>
          <p:nvPr/>
        </p:nvSpPr>
        <p:spPr>
          <a:xfrm>
            <a:off x="502920" y="2788920"/>
            <a:ext cx="5596128" cy="1572768"/>
          </a:xfrm>
          <a:prstGeom prst="roundRect">
            <a:avLst>
              <a:gd fmla="val 5233" name="adj"/>
            </a:avLst>
          </a:prstGeom>
          <a:solidFill>
            <a:srgbClr val="1C2236"/>
          </a:solidFill>
          <a:ln cap="flat" cmpd="sng" w="12700">
            <a:solidFill>
              <a:srgbClr val="7C3AED">
                <a:alpha val="5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24"/>
          <p:cNvSpPr/>
          <p:nvPr/>
        </p:nvSpPr>
        <p:spPr>
          <a:xfrm>
            <a:off x="704088" y="3319272"/>
            <a:ext cx="457200" cy="457200"/>
          </a:xfrm>
          <a:prstGeom prst="ellipse">
            <a:avLst/>
          </a:prstGeom>
          <a:solidFill>
            <a:srgbClr val="7C3AE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5" name="Google Shape;735;p24"/>
          <p:cNvSpPr/>
          <p:nvPr/>
        </p:nvSpPr>
        <p:spPr>
          <a:xfrm>
            <a:off x="704088" y="33192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736" name="Google Shape;736;p24"/>
          <p:cNvSpPr/>
          <p:nvPr/>
        </p:nvSpPr>
        <p:spPr>
          <a:xfrm>
            <a:off x="1307592" y="2953512"/>
            <a:ext cx="468172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500"/>
              <a:buFont typeface="Calibri"/>
              <a:buNone/>
            </a:pPr>
            <a:r>
              <a:rPr b="1" lang="en-US" sz="1500">
                <a:solidFill>
                  <a:srgbClr val="7C3AED"/>
                </a:solidFill>
                <a:latin typeface="Calibri"/>
                <a:ea typeface="Calibri"/>
                <a:cs typeface="Calibri"/>
                <a:sym typeface="Calibri"/>
              </a:rPr>
              <a:t>Make mock-mode chatbot first</a:t>
            </a:r>
            <a:endParaRPr sz="1500">
              <a:solidFill>
                <a:schemeClr val="dk1"/>
              </a:solidFill>
              <a:latin typeface="Calibri"/>
              <a:ea typeface="Calibri"/>
              <a:cs typeface="Calibri"/>
              <a:sym typeface="Calibri"/>
            </a:endParaRPr>
          </a:p>
        </p:txBody>
      </p:sp>
      <p:sp>
        <p:nvSpPr>
          <p:cNvPr id="737" name="Google Shape;737;p24"/>
          <p:cNvSpPr/>
          <p:nvPr/>
        </p:nvSpPr>
        <p:spPr>
          <a:xfrm>
            <a:off x="1307592" y="3383280"/>
            <a:ext cx="4681728" cy="84124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1300"/>
              <a:buFont typeface="Calibri"/>
              <a:buNone/>
            </a:pPr>
            <a:r>
              <a:rPr lang="en-US" sz="1300">
                <a:solidFill>
                  <a:srgbClr val="8B92B8"/>
                </a:solidFill>
                <a:latin typeface="Calibri"/>
                <a:ea typeface="Calibri"/>
                <a:cs typeface="Calibri"/>
                <a:sym typeface="Calibri"/>
              </a:rPr>
              <a:t>Return fake streaming response before enabling API calls. This costs ₹0 and proves your endpoint works.</a:t>
            </a:r>
            <a:endParaRPr sz="1300">
              <a:solidFill>
                <a:schemeClr val="dk1"/>
              </a:solidFill>
              <a:latin typeface="Calibri"/>
              <a:ea typeface="Calibri"/>
              <a:cs typeface="Calibri"/>
              <a:sym typeface="Calibri"/>
            </a:endParaRPr>
          </a:p>
        </p:txBody>
      </p:sp>
      <p:sp>
        <p:nvSpPr>
          <p:cNvPr id="738" name="Google Shape;738;p24"/>
          <p:cNvSpPr/>
          <p:nvPr/>
        </p:nvSpPr>
        <p:spPr>
          <a:xfrm>
            <a:off x="6309360" y="2788920"/>
            <a:ext cx="5596128" cy="1572768"/>
          </a:xfrm>
          <a:prstGeom prst="roundRect">
            <a:avLst>
              <a:gd fmla="val 5233" name="adj"/>
            </a:avLst>
          </a:prstGeom>
          <a:solidFill>
            <a:srgbClr val="1C2236"/>
          </a:solidFill>
          <a:ln cap="flat" cmpd="sng" w="12700">
            <a:solidFill>
              <a:srgbClr val="0891B2">
                <a:alpha val="5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p24"/>
          <p:cNvSpPr/>
          <p:nvPr/>
        </p:nvSpPr>
        <p:spPr>
          <a:xfrm>
            <a:off x="6510528" y="3319272"/>
            <a:ext cx="457200" cy="457200"/>
          </a:xfrm>
          <a:prstGeom prst="ellipse">
            <a:avLst/>
          </a:prstGeom>
          <a:solidFill>
            <a:srgbClr val="0891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0" name="Google Shape;740;p24"/>
          <p:cNvSpPr/>
          <p:nvPr/>
        </p:nvSpPr>
        <p:spPr>
          <a:xfrm>
            <a:off x="6510528" y="33192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741" name="Google Shape;741;p24"/>
          <p:cNvSpPr/>
          <p:nvPr/>
        </p:nvSpPr>
        <p:spPr>
          <a:xfrm>
            <a:off x="7114032" y="2953512"/>
            <a:ext cx="468172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500"/>
              <a:buFont typeface="Calibri"/>
              <a:buNone/>
            </a:pPr>
            <a:r>
              <a:rPr b="1" lang="en-US" sz="1500">
                <a:solidFill>
                  <a:srgbClr val="0891B2"/>
                </a:solidFill>
                <a:latin typeface="Calibri"/>
                <a:ea typeface="Calibri"/>
                <a:cs typeface="Calibri"/>
                <a:sym typeface="Calibri"/>
              </a:rPr>
              <a:t>Add cache</a:t>
            </a:r>
            <a:endParaRPr sz="1500">
              <a:solidFill>
                <a:schemeClr val="dk1"/>
              </a:solidFill>
              <a:latin typeface="Calibri"/>
              <a:ea typeface="Calibri"/>
              <a:cs typeface="Calibri"/>
              <a:sym typeface="Calibri"/>
            </a:endParaRPr>
          </a:p>
        </p:txBody>
      </p:sp>
      <p:sp>
        <p:nvSpPr>
          <p:cNvPr id="742" name="Google Shape;742;p24"/>
          <p:cNvSpPr/>
          <p:nvPr/>
        </p:nvSpPr>
        <p:spPr>
          <a:xfrm>
            <a:off x="7114032" y="3383280"/>
            <a:ext cx="4681728" cy="84124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1300"/>
              <a:buFont typeface="Calibri"/>
              <a:buNone/>
            </a:pPr>
            <a:r>
              <a:rPr lang="en-US" sz="1300">
                <a:solidFill>
                  <a:srgbClr val="8B92B8"/>
                </a:solidFill>
                <a:latin typeface="Calibri"/>
                <a:ea typeface="Calibri"/>
                <a:cs typeface="Calibri"/>
                <a:sym typeface="Calibri"/>
              </a:rPr>
              <a:t>Ask the same question twice. Second response should come from cache, not OpenAI.</a:t>
            </a:r>
            <a:endParaRPr sz="1300">
              <a:solidFill>
                <a:schemeClr val="dk1"/>
              </a:solidFill>
              <a:latin typeface="Calibri"/>
              <a:ea typeface="Calibri"/>
              <a:cs typeface="Calibri"/>
              <a:sym typeface="Calibri"/>
            </a:endParaRPr>
          </a:p>
        </p:txBody>
      </p:sp>
      <p:sp>
        <p:nvSpPr>
          <p:cNvPr id="743" name="Google Shape;743;p24"/>
          <p:cNvSpPr/>
          <p:nvPr/>
        </p:nvSpPr>
        <p:spPr>
          <a:xfrm>
            <a:off x="502920" y="4507992"/>
            <a:ext cx="5596128" cy="1572768"/>
          </a:xfrm>
          <a:prstGeom prst="roundRect">
            <a:avLst>
              <a:gd fmla="val 5233" name="adj"/>
            </a:avLst>
          </a:prstGeom>
          <a:solidFill>
            <a:srgbClr val="1C2236"/>
          </a:solidFill>
          <a:ln cap="flat" cmpd="sng" w="12700">
            <a:solidFill>
              <a:srgbClr val="16A34A">
                <a:alpha val="5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 name="Google Shape;744;p24"/>
          <p:cNvSpPr/>
          <p:nvPr/>
        </p:nvSpPr>
        <p:spPr>
          <a:xfrm>
            <a:off x="704088" y="5038344"/>
            <a:ext cx="457200" cy="457200"/>
          </a:xfrm>
          <a:prstGeom prst="ellipse">
            <a:avLst/>
          </a:prstGeom>
          <a:solidFill>
            <a:srgbClr val="16A3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24"/>
          <p:cNvSpPr/>
          <p:nvPr/>
        </p:nvSpPr>
        <p:spPr>
          <a:xfrm>
            <a:off x="704088" y="503834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C</a:t>
            </a:r>
            <a:endParaRPr sz="1800">
              <a:solidFill>
                <a:schemeClr val="dk1"/>
              </a:solidFill>
              <a:latin typeface="Calibri"/>
              <a:ea typeface="Calibri"/>
              <a:cs typeface="Calibri"/>
              <a:sym typeface="Calibri"/>
            </a:endParaRPr>
          </a:p>
        </p:txBody>
      </p:sp>
      <p:sp>
        <p:nvSpPr>
          <p:cNvPr id="746" name="Google Shape;746;p24"/>
          <p:cNvSpPr/>
          <p:nvPr/>
        </p:nvSpPr>
        <p:spPr>
          <a:xfrm>
            <a:off x="1307592" y="4672584"/>
            <a:ext cx="468172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500"/>
              <a:buFont typeface="Calibri"/>
              <a:buNone/>
            </a:pPr>
            <a:r>
              <a:rPr b="1" lang="en-US" sz="1500">
                <a:solidFill>
                  <a:srgbClr val="16A34A"/>
                </a:solidFill>
                <a:latin typeface="Calibri"/>
                <a:ea typeface="Calibri"/>
                <a:cs typeface="Calibri"/>
                <a:sym typeface="Calibri"/>
              </a:rPr>
              <a:t>Stream real OpenAI response</a:t>
            </a:r>
            <a:endParaRPr sz="1500">
              <a:solidFill>
                <a:schemeClr val="dk1"/>
              </a:solidFill>
              <a:latin typeface="Calibri"/>
              <a:ea typeface="Calibri"/>
              <a:cs typeface="Calibri"/>
              <a:sym typeface="Calibri"/>
            </a:endParaRPr>
          </a:p>
        </p:txBody>
      </p:sp>
      <p:sp>
        <p:nvSpPr>
          <p:cNvPr id="747" name="Google Shape;747;p24"/>
          <p:cNvSpPr/>
          <p:nvPr/>
        </p:nvSpPr>
        <p:spPr>
          <a:xfrm>
            <a:off x="1307592" y="5102352"/>
            <a:ext cx="4681728" cy="84124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1300"/>
              <a:buFont typeface="Calibri"/>
              <a:buNone/>
            </a:pPr>
            <a:r>
              <a:rPr lang="en-US" sz="1300">
                <a:solidFill>
                  <a:srgbClr val="8B92B8"/>
                </a:solidFill>
                <a:latin typeface="Calibri"/>
                <a:ea typeface="Calibri"/>
                <a:cs typeface="Calibri"/>
                <a:sym typeface="Calibri"/>
              </a:rPr>
              <a:t>Switch mock-mode=false, call Responses API, and stream outputTextDelta events.</a:t>
            </a:r>
            <a:endParaRPr sz="1300">
              <a:solidFill>
                <a:schemeClr val="dk1"/>
              </a:solidFill>
              <a:latin typeface="Calibri"/>
              <a:ea typeface="Calibri"/>
              <a:cs typeface="Calibri"/>
              <a:sym typeface="Calibri"/>
            </a:endParaRPr>
          </a:p>
        </p:txBody>
      </p:sp>
      <p:sp>
        <p:nvSpPr>
          <p:cNvPr id="748" name="Google Shape;748;p24"/>
          <p:cNvSpPr/>
          <p:nvPr/>
        </p:nvSpPr>
        <p:spPr>
          <a:xfrm>
            <a:off x="6309360" y="4507992"/>
            <a:ext cx="5596128" cy="1572768"/>
          </a:xfrm>
          <a:prstGeom prst="roundRect">
            <a:avLst>
              <a:gd fmla="val 5233" name="adj"/>
            </a:avLst>
          </a:prstGeom>
          <a:solidFill>
            <a:srgbClr val="1C2236"/>
          </a:solidFill>
          <a:ln cap="flat" cmpd="sng" w="12700">
            <a:solidFill>
              <a:srgbClr val="D97706">
                <a:alpha val="5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9" name="Google Shape;749;p24"/>
          <p:cNvSpPr/>
          <p:nvPr/>
        </p:nvSpPr>
        <p:spPr>
          <a:xfrm>
            <a:off x="6510528" y="5038344"/>
            <a:ext cx="457200" cy="457200"/>
          </a:xfrm>
          <a:prstGeom prst="ellipse">
            <a:avLst/>
          </a:prstGeom>
          <a:solidFill>
            <a:srgbClr val="D9770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0" name="Google Shape;750;p24"/>
          <p:cNvSpPr/>
          <p:nvPr/>
        </p:nvSpPr>
        <p:spPr>
          <a:xfrm>
            <a:off x="6510528" y="503834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D</a:t>
            </a:r>
            <a:endParaRPr sz="1800">
              <a:solidFill>
                <a:schemeClr val="dk1"/>
              </a:solidFill>
              <a:latin typeface="Calibri"/>
              <a:ea typeface="Calibri"/>
              <a:cs typeface="Calibri"/>
              <a:sym typeface="Calibri"/>
            </a:endParaRPr>
          </a:p>
        </p:txBody>
      </p:sp>
      <p:sp>
        <p:nvSpPr>
          <p:cNvPr id="751" name="Google Shape;751;p24"/>
          <p:cNvSpPr/>
          <p:nvPr/>
        </p:nvSpPr>
        <p:spPr>
          <a:xfrm>
            <a:off x="7114032" y="4672584"/>
            <a:ext cx="468172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500"/>
              <a:buFont typeface="Calibri"/>
              <a:buNone/>
            </a:pPr>
            <a:r>
              <a:rPr b="1" lang="en-US" sz="1500">
                <a:solidFill>
                  <a:srgbClr val="D97706"/>
                </a:solidFill>
                <a:latin typeface="Calibri"/>
                <a:ea typeface="Calibri"/>
                <a:cs typeface="Calibri"/>
                <a:sym typeface="Calibri"/>
              </a:rPr>
              <a:t>Add structured Movie output</a:t>
            </a:r>
            <a:endParaRPr sz="1500">
              <a:solidFill>
                <a:schemeClr val="dk1"/>
              </a:solidFill>
              <a:latin typeface="Calibri"/>
              <a:ea typeface="Calibri"/>
              <a:cs typeface="Calibri"/>
              <a:sym typeface="Calibri"/>
            </a:endParaRPr>
          </a:p>
        </p:txBody>
      </p:sp>
      <p:sp>
        <p:nvSpPr>
          <p:cNvPr id="752" name="Google Shape;752;p24"/>
          <p:cNvSpPr/>
          <p:nvPr/>
        </p:nvSpPr>
        <p:spPr>
          <a:xfrm>
            <a:off x="7114032" y="5102352"/>
            <a:ext cx="4681728" cy="84124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1300"/>
              <a:buFont typeface="Calibri"/>
              <a:buNone/>
            </a:pPr>
            <a:r>
              <a:rPr lang="en-US" sz="1300">
                <a:solidFill>
                  <a:srgbClr val="8B92B8"/>
                </a:solidFill>
                <a:latin typeface="Calibri"/>
                <a:ea typeface="Calibri"/>
                <a:cs typeface="Calibri"/>
                <a:sym typeface="Calibri"/>
              </a:rPr>
              <a:t>Use a Java Movie class and Responses structured output after the basic API call works.</a:t>
            </a:r>
            <a:endParaRPr sz="1300">
              <a:solidFill>
                <a:schemeClr val="dk1"/>
              </a:solidFill>
              <a:latin typeface="Calibri"/>
              <a:ea typeface="Calibri"/>
              <a:cs typeface="Calibri"/>
              <a:sym typeface="Calibri"/>
            </a:endParaRPr>
          </a:p>
        </p:txBody>
      </p:sp>
      <p:sp>
        <p:nvSpPr>
          <p:cNvPr id="753" name="Google Shape;753;p24"/>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2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755" name="Google Shape;755;p2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22 / 29</a:t>
            </a:r>
            <a:endParaRPr sz="9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760" name="Shape 760"/>
        <p:cNvGrpSpPr/>
        <p:nvPr/>
      </p:nvGrpSpPr>
      <p:grpSpPr>
        <a:xfrm>
          <a:off x="0" y="0"/>
          <a:ext cx="0" cy="0"/>
          <a:chOff x="0" y="0"/>
          <a:chExt cx="0" cy="0"/>
        </a:xfrm>
      </p:grpSpPr>
      <p:sp>
        <p:nvSpPr>
          <p:cNvPr id="761" name="Google Shape;761;p25"/>
          <p:cNvSpPr/>
          <p:nvPr/>
        </p:nvSpPr>
        <p:spPr>
          <a:xfrm>
            <a:off x="7498080" y="-1097280"/>
            <a:ext cx="6400800" cy="6400800"/>
          </a:xfrm>
          <a:prstGeom prst="ellipse">
            <a:avLst/>
          </a:prstGeom>
          <a:solidFill>
            <a:srgbClr val="DB2777">
              <a:alpha val="901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 name="Google Shape;762;p25"/>
          <p:cNvSpPr/>
          <p:nvPr/>
        </p:nvSpPr>
        <p:spPr>
          <a:xfrm>
            <a:off x="685800" y="1371600"/>
            <a:ext cx="7315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A8D4"/>
              </a:buClr>
              <a:buSzPts val="1400"/>
              <a:buFont typeface="Calibri"/>
              <a:buNone/>
            </a:pPr>
            <a:r>
              <a:rPr b="1" lang="en-US" sz="1400">
                <a:solidFill>
                  <a:srgbClr val="F9A8D4"/>
                </a:solidFill>
                <a:latin typeface="Calibri"/>
                <a:ea typeface="Calibri"/>
                <a:cs typeface="Calibri"/>
                <a:sym typeface="Calibri"/>
              </a:rPr>
              <a:t>STUDENT Q&amp;A</a:t>
            </a:r>
            <a:endParaRPr sz="1400">
              <a:solidFill>
                <a:schemeClr val="dk1"/>
              </a:solidFill>
              <a:latin typeface="Calibri"/>
              <a:ea typeface="Calibri"/>
              <a:cs typeface="Calibri"/>
              <a:sym typeface="Calibri"/>
            </a:endParaRPr>
          </a:p>
        </p:txBody>
      </p:sp>
      <p:sp>
        <p:nvSpPr>
          <p:cNvPr id="763" name="Google Shape;763;p25"/>
          <p:cNvSpPr/>
          <p:nvPr/>
        </p:nvSpPr>
        <p:spPr>
          <a:xfrm>
            <a:off x="658368" y="1828800"/>
            <a:ext cx="8229600" cy="25603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FFFFFF"/>
              </a:buClr>
              <a:buSzPts val="5800"/>
              <a:buFont typeface="Calibri"/>
              <a:buNone/>
            </a:pPr>
            <a:r>
              <a:rPr b="1" lang="en-US" sz="5800">
                <a:solidFill>
                  <a:srgbClr val="FFFFFF"/>
                </a:solidFill>
                <a:latin typeface="Calibri"/>
                <a:ea typeface="Calibri"/>
                <a:cs typeface="Calibri"/>
                <a:sym typeface="Calibri"/>
              </a:rPr>
              <a:t>Questions</a:t>
            </a:r>
            <a:endParaRPr sz="5800">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FFFFFF"/>
              </a:buClr>
              <a:buSzPts val="5800"/>
              <a:buFont typeface="Calibri"/>
              <a:buNone/>
            </a:pPr>
            <a:r>
              <a:rPr b="1" lang="en-US" sz="5800">
                <a:solidFill>
                  <a:srgbClr val="FFFFFF"/>
                </a:solidFill>
                <a:latin typeface="Calibri"/>
                <a:ea typeface="Calibri"/>
                <a:cs typeface="Calibri"/>
                <a:sym typeface="Calibri"/>
              </a:rPr>
              <a:t>you will get.</a:t>
            </a:r>
            <a:endParaRPr sz="5800">
              <a:solidFill>
                <a:schemeClr val="dk1"/>
              </a:solidFill>
              <a:latin typeface="Calibri"/>
              <a:ea typeface="Calibri"/>
              <a:cs typeface="Calibri"/>
              <a:sym typeface="Calibri"/>
            </a:endParaRPr>
          </a:p>
        </p:txBody>
      </p:sp>
      <p:sp>
        <p:nvSpPr>
          <p:cNvPr id="764" name="Google Shape;764;p25"/>
          <p:cNvSpPr/>
          <p:nvPr/>
        </p:nvSpPr>
        <p:spPr>
          <a:xfrm>
            <a:off x="685800" y="457200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000"/>
              <a:buFont typeface="Calibri"/>
              <a:buNone/>
            </a:pPr>
            <a:r>
              <a:rPr lang="en-US" sz="2000">
                <a:solidFill>
                  <a:srgbClr val="8B92B8"/>
                </a:solidFill>
                <a:latin typeface="Calibri"/>
                <a:ea typeface="Calibri"/>
                <a:cs typeface="Calibri"/>
                <a:sym typeface="Calibri"/>
              </a:rPr>
              <a:t>6 of the most common — answered simply and clearly.</a:t>
            </a:r>
            <a:endParaRPr sz="2000">
              <a:solidFill>
                <a:schemeClr val="dk1"/>
              </a:solidFill>
              <a:latin typeface="Calibri"/>
              <a:ea typeface="Calibri"/>
              <a:cs typeface="Calibri"/>
              <a:sym typeface="Calibri"/>
            </a:endParaRPr>
          </a:p>
        </p:txBody>
      </p:sp>
      <p:sp>
        <p:nvSpPr>
          <p:cNvPr id="765" name="Google Shape;765;p25"/>
          <p:cNvSpPr/>
          <p:nvPr/>
        </p:nvSpPr>
        <p:spPr>
          <a:xfrm>
            <a:off x="0" y="6583680"/>
            <a:ext cx="12191695" cy="274320"/>
          </a:xfrm>
          <a:prstGeom prst="rect">
            <a:avLst/>
          </a:prstGeom>
          <a:solidFill>
            <a:srgbClr val="DB2777">
              <a:alpha val="12156"/>
            </a:srgbClr>
          </a:solidFill>
          <a:ln cap="flat" cmpd="sng" w="12700">
            <a:solidFill>
              <a:srgbClr val="DB2777">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6" name="Google Shape;766;p2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767" name="Google Shape;767;p2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23 / 29</a:t>
            </a:r>
            <a:endParaRPr sz="9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2" name="Shape 772"/>
        <p:cNvGrpSpPr/>
        <p:nvPr/>
      </p:nvGrpSpPr>
      <p:grpSpPr>
        <a:xfrm>
          <a:off x="0" y="0"/>
          <a:ext cx="0" cy="0"/>
          <a:chOff x="0" y="0"/>
          <a:chExt cx="0" cy="0"/>
        </a:xfrm>
      </p:grpSpPr>
      <p:sp>
        <p:nvSpPr>
          <p:cNvPr id="773" name="Google Shape;773;p26"/>
          <p:cNvSpPr/>
          <p:nvPr/>
        </p:nvSpPr>
        <p:spPr>
          <a:xfrm>
            <a:off x="502920" y="411480"/>
            <a:ext cx="658368" cy="658368"/>
          </a:xfrm>
          <a:prstGeom prst="roundRect">
            <a:avLst>
              <a:gd fmla="val 11111" name="adj"/>
            </a:avLst>
          </a:prstGeom>
          <a:solidFill>
            <a:srgbClr val="7C3AED"/>
          </a:solidFill>
          <a:ln cap="flat" cmpd="sng" w="12700">
            <a:solidFill>
              <a:srgbClr val="7C3A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4" name="Google Shape;774;p26"/>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Q1</a:t>
            </a:r>
            <a:endParaRPr sz="1800">
              <a:solidFill>
                <a:schemeClr val="dk1"/>
              </a:solidFill>
              <a:latin typeface="Calibri"/>
              <a:ea typeface="Calibri"/>
              <a:cs typeface="Calibri"/>
              <a:sym typeface="Calibri"/>
            </a:endParaRPr>
          </a:p>
        </p:txBody>
      </p:sp>
      <p:sp>
        <p:nvSpPr>
          <p:cNvPr id="775" name="Google Shape;775;p26"/>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alibri"/>
              <a:buNone/>
            </a:pPr>
            <a:r>
              <a:rPr b="1" lang="en-US" sz="1100">
                <a:solidFill>
                  <a:srgbClr val="7C3AED"/>
                </a:solidFill>
                <a:latin typeface="Calibri"/>
                <a:ea typeface="Calibri"/>
                <a:cs typeface="Calibri"/>
                <a:sym typeface="Calibri"/>
              </a:rPr>
              <a:t>STUDENT QUESTION</a:t>
            </a:r>
            <a:endParaRPr sz="1100">
              <a:solidFill>
                <a:schemeClr val="dk1"/>
              </a:solidFill>
              <a:latin typeface="Calibri"/>
              <a:ea typeface="Calibri"/>
              <a:cs typeface="Calibri"/>
              <a:sym typeface="Calibri"/>
            </a:endParaRPr>
          </a:p>
        </p:txBody>
      </p:sp>
      <p:sp>
        <p:nvSpPr>
          <p:cNvPr id="776" name="Google Shape;776;p26"/>
          <p:cNvSpPr/>
          <p:nvPr/>
        </p:nvSpPr>
        <p:spPr>
          <a:xfrm>
            <a:off x="502920" y="1207008"/>
            <a:ext cx="10789920" cy="1024128"/>
          </a:xfrm>
          <a:prstGeom prst="roundRect">
            <a:avLst>
              <a:gd fmla="val 10714" name="adj"/>
            </a:avLst>
          </a:prstGeom>
          <a:solidFill>
            <a:srgbClr val="EDE9FE"/>
          </a:solidFill>
          <a:ln cap="flat" cmpd="sng" w="12700">
            <a:solidFill>
              <a:srgbClr val="7C3AED">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7" name="Google Shape;777;p26"/>
          <p:cNvSpPr/>
          <p:nvPr/>
        </p:nvSpPr>
        <p:spPr>
          <a:xfrm>
            <a:off x="777240" y="1298448"/>
            <a:ext cx="1024128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2100"/>
              <a:buFont typeface="Calibri"/>
              <a:buNone/>
            </a:pPr>
            <a:r>
              <a:rPr b="1" lang="en-US" sz="2100">
                <a:solidFill>
                  <a:srgbClr val="7C3AED"/>
                </a:solidFill>
                <a:latin typeface="Calibri"/>
                <a:ea typeface="Calibri"/>
                <a:cs typeface="Calibri"/>
                <a:sym typeface="Calibri"/>
              </a:rPr>
              <a:t>Why use the official openai-java SDK instead of raw HttpClient?</a:t>
            </a:r>
            <a:endParaRPr sz="2100">
              <a:solidFill>
                <a:schemeClr val="dk1"/>
              </a:solidFill>
              <a:latin typeface="Calibri"/>
              <a:ea typeface="Calibri"/>
              <a:cs typeface="Calibri"/>
              <a:sym typeface="Calibri"/>
            </a:endParaRPr>
          </a:p>
        </p:txBody>
      </p:sp>
      <p:sp>
        <p:nvSpPr>
          <p:cNvPr id="778" name="Google Shape;778;p26"/>
          <p:cNvSpPr/>
          <p:nvPr/>
        </p:nvSpPr>
        <p:spPr>
          <a:xfrm>
            <a:off x="502920" y="23957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lang="en-US" sz="1100">
                <a:solidFill>
                  <a:srgbClr val="16A34A"/>
                </a:solidFill>
                <a:latin typeface="Calibri"/>
                <a:ea typeface="Calibri"/>
                <a:cs typeface="Calibri"/>
                <a:sym typeface="Calibri"/>
              </a:rPr>
              <a:t>ANSWER</a:t>
            </a:r>
            <a:endParaRPr sz="1100">
              <a:solidFill>
                <a:schemeClr val="dk1"/>
              </a:solidFill>
              <a:latin typeface="Calibri"/>
              <a:ea typeface="Calibri"/>
              <a:cs typeface="Calibri"/>
              <a:sym typeface="Calibri"/>
            </a:endParaRPr>
          </a:p>
        </p:txBody>
      </p:sp>
      <p:sp>
        <p:nvSpPr>
          <p:cNvPr id="779" name="Google Shape;779;p26"/>
          <p:cNvSpPr/>
          <p:nvPr/>
        </p:nvSpPr>
        <p:spPr>
          <a:xfrm>
            <a:off x="502920" y="2688336"/>
            <a:ext cx="10789920" cy="1719072"/>
          </a:xfrm>
          <a:prstGeom prst="roundRect">
            <a:avLst>
              <a:gd fmla="val 5319"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0" name="Google Shape;780;p26"/>
          <p:cNvSpPr/>
          <p:nvPr/>
        </p:nvSpPr>
        <p:spPr>
          <a:xfrm>
            <a:off x="749808" y="2779776"/>
            <a:ext cx="10287000" cy="1536192"/>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475569"/>
              </a:buClr>
              <a:buSzPts val="1400"/>
              <a:buFont typeface="Calibri"/>
              <a:buNone/>
            </a:pPr>
            <a:r>
              <a:rPr lang="en-US" sz="1400">
                <a:solidFill>
                  <a:srgbClr val="475569"/>
                </a:solidFill>
                <a:latin typeface="Calibri"/>
                <a:ea typeface="Calibri"/>
                <a:cs typeface="Calibri"/>
                <a:sym typeface="Calibri"/>
              </a:rPr>
              <a:t>You COULD use HttpClient — the API is just HTTPS with JSON. But the SDK saves you from writing 50+ lines of boilerplate for every call. It handles: automatic retries when the API is temporarily down, rate limit backoff (so you don't crash on 429 errors), streaming support with clean Java Streams, and type-safe builders so typos are caught at compile time. Use HttpClient to understand debugging; use the SDK for everything you actually build.</a:t>
            </a:r>
            <a:endParaRPr sz="1400">
              <a:solidFill>
                <a:schemeClr val="dk1"/>
              </a:solidFill>
              <a:latin typeface="Calibri"/>
              <a:ea typeface="Calibri"/>
              <a:cs typeface="Calibri"/>
              <a:sym typeface="Calibri"/>
            </a:endParaRPr>
          </a:p>
        </p:txBody>
      </p:sp>
      <p:sp>
        <p:nvSpPr>
          <p:cNvPr id="781" name="Google Shape;781;p26"/>
          <p:cNvSpPr/>
          <p:nvPr/>
        </p:nvSpPr>
        <p:spPr>
          <a:xfrm>
            <a:off x="502920" y="455371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lang="en-US" sz="1000">
                <a:solidFill>
                  <a:srgbClr val="D97706"/>
                </a:solidFill>
                <a:latin typeface="Calibri"/>
                <a:ea typeface="Calibri"/>
                <a:cs typeface="Calibri"/>
                <a:sym typeface="Calibri"/>
              </a:rPr>
              <a:t>DEEPER INSIGHT</a:t>
            </a:r>
            <a:endParaRPr sz="1000">
              <a:solidFill>
                <a:schemeClr val="dk1"/>
              </a:solidFill>
              <a:latin typeface="Calibri"/>
              <a:ea typeface="Calibri"/>
              <a:cs typeface="Calibri"/>
              <a:sym typeface="Calibri"/>
            </a:endParaRPr>
          </a:p>
        </p:txBody>
      </p:sp>
      <p:sp>
        <p:nvSpPr>
          <p:cNvPr id="782" name="Google Shape;782;p26"/>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3" name="Google Shape;783;p26"/>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633806"/>
              </a:buClr>
              <a:buSzPts val="1300"/>
              <a:buFont typeface="Calibri"/>
              <a:buNone/>
            </a:pPr>
            <a:r>
              <a:rPr lang="en-US" sz="1300">
                <a:solidFill>
                  <a:srgbClr val="633806"/>
                </a:solidFill>
                <a:latin typeface="Calibri"/>
                <a:ea typeface="Calibri"/>
                <a:cs typeface="Calibri"/>
                <a:sym typeface="Calibri"/>
              </a:rPr>
              <a:t>The key habit to teach: always check the groupId when finding examples online. If it says 'com.theokanning' — that's the old unmaintained community library. If it says 'com.openai' — that's the official SDK. Students will encounter tutorials using the old library. Recognising this early saves them hours of confusion.</a:t>
            </a:r>
            <a:endParaRPr sz="1300">
              <a:solidFill>
                <a:schemeClr val="dk1"/>
              </a:solidFill>
              <a:latin typeface="Calibri"/>
              <a:ea typeface="Calibri"/>
              <a:cs typeface="Calibri"/>
              <a:sym typeface="Calibri"/>
            </a:endParaRPr>
          </a:p>
        </p:txBody>
      </p:sp>
      <p:sp>
        <p:nvSpPr>
          <p:cNvPr id="784" name="Google Shape;784;p26"/>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5" name="Google Shape;785;p2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786" name="Google Shape;786;p2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24 / 29</a:t>
            </a:r>
            <a:endParaRPr sz="9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1" name="Shape 791"/>
        <p:cNvGrpSpPr/>
        <p:nvPr/>
      </p:nvGrpSpPr>
      <p:grpSpPr>
        <a:xfrm>
          <a:off x="0" y="0"/>
          <a:ext cx="0" cy="0"/>
          <a:chOff x="0" y="0"/>
          <a:chExt cx="0" cy="0"/>
        </a:xfrm>
      </p:grpSpPr>
      <p:sp>
        <p:nvSpPr>
          <p:cNvPr id="792" name="Google Shape;792;p27"/>
          <p:cNvSpPr/>
          <p:nvPr/>
        </p:nvSpPr>
        <p:spPr>
          <a:xfrm>
            <a:off x="502920" y="411480"/>
            <a:ext cx="658368" cy="658368"/>
          </a:xfrm>
          <a:prstGeom prst="roundRect">
            <a:avLst>
              <a:gd fmla="val 11111" name="adj"/>
            </a:avLst>
          </a:prstGeom>
          <a:solidFill>
            <a:srgbClr val="0891B2"/>
          </a:solidFill>
          <a:ln cap="flat" cmpd="sng" w="12700">
            <a:solidFill>
              <a:srgbClr val="0891B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3" name="Google Shape;793;p27"/>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Q2</a:t>
            </a:r>
            <a:endParaRPr sz="1800">
              <a:solidFill>
                <a:schemeClr val="dk1"/>
              </a:solidFill>
              <a:latin typeface="Calibri"/>
              <a:ea typeface="Calibri"/>
              <a:cs typeface="Calibri"/>
              <a:sym typeface="Calibri"/>
            </a:endParaRPr>
          </a:p>
        </p:txBody>
      </p:sp>
      <p:sp>
        <p:nvSpPr>
          <p:cNvPr id="794" name="Google Shape;794;p27"/>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00"/>
              <a:buFont typeface="Calibri"/>
              <a:buNone/>
            </a:pPr>
            <a:r>
              <a:rPr b="1" lang="en-US" sz="1100">
                <a:solidFill>
                  <a:srgbClr val="0891B2"/>
                </a:solidFill>
                <a:latin typeface="Calibri"/>
                <a:ea typeface="Calibri"/>
                <a:cs typeface="Calibri"/>
                <a:sym typeface="Calibri"/>
              </a:rPr>
              <a:t>STUDENT QUESTION</a:t>
            </a:r>
            <a:endParaRPr sz="1100">
              <a:solidFill>
                <a:schemeClr val="dk1"/>
              </a:solidFill>
              <a:latin typeface="Calibri"/>
              <a:ea typeface="Calibri"/>
              <a:cs typeface="Calibri"/>
              <a:sym typeface="Calibri"/>
            </a:endParaRPr>
          </a:p>
        </p:txBody>
      </p:sp>
      <p:sp>
        <p:nvSpPr>
          <p:cNvPr id="795" name="Google Shape;795;p27"/>
          <p:cNvSpPr/>
          <p:nvPr/>
        </p:nvSpPr>
        <p:spPr>
          <a:xfrm>
            <a:off x="502920" y="1207008"/>
            <a:ext cx="10789920" cy="1024128"/>
          </a:xfrm>
          <a:prstGeom prst="roundRect">
            <a:avLst>
              <a:gd fmla="val 10714" name="adj"/>
            </a:avLst>
          </a:prstGeom>
          <a:solidFill>
            <a:srgbClr val="ECFEFF"/>
          </a:solidFill>
          <a:ln cap="flat" cmpd="sng" w="12700">
            <a:solidFill>
              <a:srgbClr val="0891B2">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6" name="Google Shape;796;p27"/>
          <p:cNvSpPr/>
          <p:nvPr/>
        </p:nvSpPr>
        <p:spPr>
          <a:xfrm>
            <a:off x="777240" y="1298448"/>
            <a:ext cx="1024128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2100"/>
              <a:buFont typeface="Calibri"/>
              <a:buNone/>
            </a:pPr>
            <a:r>
              <a:rPr b="1" lang="en-US" sz="2100">
                <a:solidFill>
                  <a:srgbClr val="0891B2"/>
                </a:solidFill>
                <a:latin typeface="Calibri"/>
                <a:ea typeface="Calibri"/>
                <a:cs typeface="Calibri"/>
                <a:sym typeface="Calibri"/>
              </a:rPr>
              <a:t>Which model should I use for learning?</a:t>
            </a:r>
            <a:endParaRPr sz="2100">
              <a:solidFill>
                <a:schemeClr val="dk1"/>
              </a:solidFill>
              <a:latin typeface="Calibri"/>
              <a:ea typeface="Calibri"/>
              <a:cs typeface="Calibri"/>
              <a:sym typeface="Calibri"/>
            </a:endParaRPr>
          </a:p>
        </p:txBody>
      </p:sp>
      <p:sp>
        <p:nvSpPr>
          <p:cNvPr id="797" name="Google Shape;797;p27"/>
          <p:cNvSpPr/>
          <p:nvPr/>
        </p:nvSpPr>
        <p:spPr>
          <a:xfrm>
            <a:off x="502920" y="23957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lang="en-US" sz="1100">
                <a:solidFill>
                  <a:srgbClr val="16A34A"/>
                </a:solidFill>
                <a:latin typeface="Calibri"/>
                <a:ea typeface="Calibri"/>
                <a:cs typeface="Calibri"/>
                <a:sym typeface="Calibri"/>
              </a:rPr>
              <a:t>ANSWER</a:t>
            </a:r>
            <a:endParaRPr sz="1100">
              <a:solidFill>
                <a:schemeClr val="dk1"/>
              </a:solidFill>
              <a:latin typeface="Calibri"/>
              <a:ea typeface="Calibri"/>
              <a:cs typeface="Calibri"/>
              <a:sym typeface="Calibri"/>
            </a:endParaRPr>
          </a:p>
        </p:txBody>
      </p:sp>
      <p:sp>
        <p:nvSpPr>
          <p:cNvPr id="798" name="Google Shape;798;p27"/>
          <p:cNvSpPr/>
          <p:nvPr/>
        </p:nvSpPr>
        <p:spPr>
          <a:xfrm>
            <a:off x="502920" y="2688336"/>
            <a:ext cx="10789920" cy="1719072"/>
          </a:xfrm>
          <a:prstGeom prst="roundRect">
            <a:avLst>
              <a:gd fmla="val 5319"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9" name="Google Shape;799;p27"/>
          <p:cNvSpPr/>
          <p:nvPr/>
        </p:nvSpPr>
        <p:spPr>
          <a:xfrm>
            <a:off x="749808" y="2779776"/>
            <a:ext cx="10287000" cy="1536192"/>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475569"/>
              </a:buClr>
              <a:buSzPts val="1400"/>
              <a:buFont typeface="Calibri"/>
              <a:buNone/>
            </a:pPr>
            <a:r>
              <a:rPr lang="en-US" sz="1400">
                <a:solidFill>
                  <a:srgbClr val="475569"/>
                </a:solidFill>
                <a:latin typeface="Calibri"/>
                <a:ea typeface="Calibri"/>
                <a:cs typeface="Calibri"/>
                <a:sym typeface="Calibri"/>
              </a:rPr>
              <a:t>Start with a low-cost mini/small model and keep the model name in application.yml. Do not hardcode model names in Java. If answers are weak, benchmark a stronger model on the same 20-50 prompts before switching.</a:t>
            </a:r>
            <a:endParaRPr sz="1400">
              <a:solidFill>
                <a:schemeClr val="dk1"/>
              </a:solidFill>
              <a:latin typeface="Calibri"/>
              <a:ea typeface="Calibri"/>
              <a:cs typeface="Calibri"/>
              <a:sym typeface="Calibri"/>
            </a:endParaRPr>
          </a:p>
        </p:txBody>
      </p:sp>
      <p:sp>
        <p:nvSpPr>
          <p:cNvPr id="800" name="Google Shape;800;p27"/>
          <p:cNvSpPr/>
          <p:nvPr/>
        </p:nvSpPr>
        <p:spPr>
          <a:xfrm>
            <a:off x="502920" y="455371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lang="en-US" sz="1000">
                <a:solidFill>
                  <a:srgbClr val="D97706"/>
                </a:solidFill>
                <a:latin typeface="Calibri"/>
                <a:ea typeface="Calibri"/>
                <a:cs typeface="Calibri"/>
                <a:sym typeface="Calibri"/>
              </a:rPr>
              <a:t>DEEPER INSIGHT</a:t>
            </a:r>
            <a:endParaRPr sz="1000">
              <a:solidFill>
                <a:schemeClr val="dk1"/>
              </a:solidFill>
              <a:latin typeface="Calibri"/>
              <a:ea typeface="Calibri"/>
              <a:cs typeface="Calibri"/>
              <a:sym typeface="Calibri"/>
            </a:endParaRPr>
          </a:p>
        </p:txBody>
      </p:sp>
      <p:sp>
        <p:nvSpPr>
          <p:cNvPr id="801" name="Google Shape;801;p27"/>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2" name="Google Shape;802;p27"/>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633806"/>
              </a:buClr>
              <a:buSzPts val="1300"/>
              <a:buFont typeface="Calibri"/>
              <a:buNone/>
            </a:pPr>
            <a:r>
              <a:rPr lang="en-US" sz="1300">
                <a:solidFill>
                  <a:srgbClr val="633806"/>
                </a:solidFill>
                <a:latin typeface="Calibri"/>
                <a:ea typeface="Calibri"/>
                <a:cs typeface="Calibri"/>
                <a:sym typeface="Calibri"/>
              </a:rPr>
              <a:t>Cost has two parts: input tokens and output tokens. Output is usually more expensive, so set maxOutputTokens and keep beginner answers short. Prices change, so check the OpenAI pricing page before teaching.</a:t>
            </a:r>
            <a:endParaRPr sz="1300">
              <a:solidFill>
                <a:schemeClr val="dk1"/>
              </a:solidFill>
              <a:latin typeface="Calibri"/>
              <a:ea typeface="Calibri"/>
              <a:cs typeface="Calibri"/>
              <a:sym typeface="Calibri"/>
            </a:endParaRPr>
          </a:p>
        </p:txBody>
      </p:sp>
      <p:sp>
        <p:nvSpPr>
          <p:cNvPr id="803" name="Google Shape;803;p27"/>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4" name="Google Shape;804;p2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805" name="Google Shape;805;p2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25 / 29</a:t>
            </a:r>
            <a:endParaRPr sz="9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0" name="Shape 810"/>
        <p:cNvGrpSpPr/>
        <p:nvPr/>
      </p:nvGrpSpPr>
      <p:grpSpPr>
        <a:xfrm>
          <a:off x="0" y="0"/>
          <a:ext cx="0" cy="0"/>
          <a:chOff x="0" y="0"/>
          <a:chExt cx="0" cy="0"/>
        </a:xfrm>
      </p:grpSpPr>
      <p:sp>
        <p:nvSpPr>
          <p:cNvPr id="811" name="Google Shape;811;p28"/>
          <p:cNvSpPr/>
          <p:nvPr/>
        </p:nvSpPr>
        <p:spPr>
          <a:xfrm>
            <a:off x="502920" y="411480"/>
            <a:ext cx="658368" cy="658368"/>
          </a:xfrm>
          <a:prstGeom prst="roundRect">
            <a:avLst>
              <a:gd fmla="val 11111" name="adj"/>
            </a:avLst>
          </a:prstGeom>
          <a:solidFill>
            <a:srgbClr val="16A34A"/>
          </a:solidFill>
          <a:ln cap="flat" cmpd="sng" w="12700">
            <a:solidFill>
              <a:srgbClr val="16A3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2" name="Google Shape;812;p28"/>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Q3</a:t>
            </a:r>
            <a:endParaRPr sz="1800">
              <a:solidFill>
                <a:schemeClr val="dk1"/>
              </a:solidFill>
              <a:latin typeface="Calibri"/>
              <a:ea typeface="Calibri"/>
              <a:cs typeface="Calibri"/>
              <a:sym typeface="Calibri"/>
            </a:endParaRPr>
          </a:p>
        </p:txBody>
      </p:sp>
      <p:sp>
        <p:nvSpPr>
          <p:cNvPr id="813" name="Google Shape;813;p28"/>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lang="en-US" sz="1100">
                <a:solidFill>
                  <a:srgbClr val="16A34A"/>
                </a:solidFill>
                <a:latin typeface="Calibri"/>
                <a:ea typeface="Calibri"/>
                <a:cs typeface="Calibri"/>
                <a:sym typeface="Calibri"/>
              </a:rPr>
              <a:t>STUDENT QUESTION</a:t>
            </a:r>
            <a:endParaRPr sz="1100">
              <a:solidFill>
                <a:schemeClr val="dk1"/>
              </a:solidFill>
              <a:latin typeface="Calibri"/>
              <a:ea typeface="Calibri"/>
              <a:cs typeface="Calibri"/>
              <a:sym typeface="Calibri"/>
            </a:endParaRPr>
          </a:p>
        </p:txBody>
      </p:sp>
      <p:sp>
        <p:nvSpPr>
          <p:cNvPr id="814" name="Google Shape;814;p28"/>
          <p:cNvSpPr/>
          <p:nvPr/>
        </p:nvSpPr>
        <p:spPr>
          <a:xfrm>
            <a:off x="502920" y="1207008"/>
            <a:ext cx="10789920" cy="1024128"/>
          </a:xfrm>
          <a:prstGeom prst="roundRect">
            <a:avLst>
              <a:gd fmla="val 10714"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28"/>
          <p:cNvSpPr/>
          <p:nvPr/>
        </p:nvSpPr>
        <p:spPr>
          <a:xfrm>
            <a:off x="777240" y="1298448"/>
            <a:ext cx="1024128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2100"/>
              <a:buFont typeface="Calibri"/>
              <a:buNone/>
            </a:pPr>
            <a:r>
              <a:rPr b="1" lang="en-US" sz="2100">
                <a:solidFill>
                  <a:srgbClr val="16A34A"/>
                </a:solidFill>
                <a:latin typeface="Calibri"/>
                <a:ea typeface="Calibri"/>
                <a:cs typeface="Calibri"/>
                <a:sym typeface="Calibri"/>
              </a:rPr>
              <a:t>Can the AI call my tool more than once in one response?</a:t>
            </a:r>
            <a:endParaRPr sz="2100">
              <a:solidFill>
                <a:schemeClr val="dk1"/>
              </a:solidFill>
              <a:latin typeface="Calibri"/>
              <a:ea typeface="Calibri"/>
              <a:cs typeface="Calibri"/>
              <a:sym typeface="Calibri"/>
            </a:endParaRPr>
          </a:p>
        </p:txBody>
      </p:sp>
      <p:sp>
        <p:nvSpPr>
          <p:cNvPr id="816" name="Google Shape;816;p28"/>
          <p:cNvSpPr/>
          <p:nvPr/>
        </p:nvSpPr>
        <p:spPr>
          <a:xfrm>
            <a:off x="502920" y="23957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lang="en-US" sz="1100">
                <a:solidFill>
                  <a:srgbClr val="16A34A"/>
                </a:solidFill>
                <a:latin typeface="Calibri"/>
                <a:ea typeface="Calibri"/>
                <a:cs typeface="Calibri"/>
                <a:sym typeface="Calibri"/>
              </a:rPr>
              <a:t>ANSWER</a:t>
            </a:r>
            <a:endParaRPr sz="1100">
              <a:solidFill>
                <a:schemeClr val="dk1"/>
              </a:solidFill>
              <a:latin typeface="Calibri"/>
              <a:ea typeface="Calibri"/>
              <a:cs typeface="Calibri"/>
              <a:sym typeface="Calibri"/>
            </a:endParaRPr>
          </a:p>
        </p:txBody>
      </p:sp>
      <p:sp>
        <p:nvSpPr>
          <p:cNvPr id="817" name="Google Shape;817;p28"/>
          <p:cNvSpPr/>
          <p:nvPr/>
        </p:nvSpPr>
        <p:spPr>
          <a:xfrm>
            <a:off x="502920" y="2688336"/>
            <a:ext cx="10789920" cy="1719072"/>
          </a:xfrm>
          <a:prstGeom prst="roundRect">
            <a:avLst>
              <a:gd fmla="val 5319"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28"/>
          <p:cNvSpPr/>
          <p:nvPr/>
        </p:nvSpPr>
        <p:spPr>
          <a:xfrm>
            <a:off x="749808" y="2779776"/>
            <a:ext cx="10287000" cy="1536192"/>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475569"/>
              </a:buClr>
              <a:buSzPts val="1400"/>
              <a:buFont typeface="Calibri"/>
              <a:buNone/>
            </a:pPr>
            <a:r>
              <a:rPr lang="en-US" sz="1400">
                <a:solidFill>
                  <a:srgbClr val="475569"/>
                </a:solidFill>
                <a:latin typeface="Calibri"/>
                <a:ea typeface="Calibri"/>
                <a:cs typeface="Calibri"/>
                <a:sym typeface="Calibri"/>
              </a:rPr>
              <a:t>Yes. The AI can return multiple tool calls in a single response — for example, it might want to call getWeather('Delhi') and getWeather('Mumbai') at the same time. You handle this by iterating over the tool_calls list and running each one. It can also chain tools across turns: in turn 2 it asks for getCurrentDate(), you give it today's date, and in turn 3 it uses that date to call addTask() with 'next Friday' as the due date. This chaining is how more complex AI agents work.</a:t>
            </a:r>
            <a:endParaRPr sz="1400">
              <a:solidFill>
                <a:schemeClr val="dk1"/>
              </a:solidFill>
              <a:latin typeface="Calibri"/>
              <a:ea typeface="Calibri"/>
              <a:cs typeface="Calibri"/>
              <a:sym typeface="Calibri"/>
            </a:endParaRPr>
          </a:p>
        </p:txBody>
      </p:sp>
      <p:sp>
        <p:nvSpPr>
          <p:cNvPr id="819" name="Google Shape;819;p28"/>
          <p:cNvSpPr/>
          <p:nvPr/>
        </p:nvSpPr>
        <p:spPr>
          <a:xfrm>
            <a:off x="502920" y="455371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lang="en-US" sz="1000">
                <a:solidFill>
                  <a:srgbClr val="D97706"/>
                </a:solidFill>
                <a:latin typeface="Calibri"/>
                <a:ea typeface="Calibri"/>
                <a:cs typeface="Calibri"/>
                <a:sym typeface="Calibri"/>
              </a:rPr>
              <a:t>DEEPER INSIGHT</a:t>
            </a:r>
            <a:endParaRPr sz="1000">
              <a:solidFill>
                <a:schemeClr val="dk1"/>
              </a:solidFill>
              <a:latin typeface="Calibri"/>
              <a:ea typeface="Calibri"/>
              <a:cs typeface="Calibri"/>
              <a:sym typeface="Calibri"/>
            </a:endParaRPr>
          </a:p>
        </p:txBody>
      </p:sp>
      <p:sp>
        <p:nvSpPr>
          <p:cNvPr id="820" name="Google Shape;820;p28"/>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1" name="Google Shape;821;p28"/>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633806"/>
              </a:buClr>
              <a:buSzPts val="1300"/>
              <a:buFont typeface="Calibri"/>
              <a:buNone/>
            </a:pPr>
            <a:r>
              <a:rPr lang="en-US" sz="1300">
                <a:solidFill>
                  <a:srgbClr val="633806"/>
                </a:solidFill>
                <a:latin typeface="Calibri"/>
                <a:ea typeface="Calibri"/>
                <a:cs typeface="Calibri"/>
                <a:sym typeface="Calibri"/>
              </a:rPr>
              <a:t>With Responses API, function calling is supported. For beginners, teach the 3-turn idea first: AI asks for a function, Java executes it, Java sends result back. Implement tools only after streaming and cost guard are clear.</a:t>
            </a:r>
            <a:endParaRPr sz="1300">
              <a:solidFill>
                <a:schemeClr val="dk1"/>
              </a:solidFill>
              <a:latin typeface="Calibri"/>
              <a:ea typeface="Calibri"/>
              <a:cs typeface="Calibri"/>
              <a:sym typeface="Calibri"/>
            </a:endParaRPr>
          </a:p>
        </p:txBody>
      </p:sp>
      <p:sp>
        <p:nvSpPr>
          <p:cNvPr id="822" name="Google Shape;822;p28"/>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3" name="Google Shape;823;p2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824" name="Google Shape;824;p2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26 / 29</a:t>
            </a:r>
            <a:endParaRPr sz="9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9" name="Shape 829"/>
        <p:cNvGrpSpPr/>
        <p:nvPr/>
      </p:nvGrpSpPr>
      <p:grpSpPr>
        <a:xfrm>
          <a:off x="0" y="0"/>
          <a:ext cx="0" cy="0"/>
          <a:chOff x="0" y="0"/>
          <a:chExt cx="0" cy="0"/>
        </a:xfrm>
      </p:grpSpPr>
      <p:sp>
        <p:nvSpPr>
          <p:cNvPr id="830" name="Google Shape;830;p29"/>
          <p:cNvSpPr/>
          <p:nvPr/>
        </p:nvSpPr>
        <p:spPr>
          <a:xfrm>
            <a:off x="502920" y="411480"/>
            <a:ext cx="658368" cy="658368"/>
          </a:xfrm>
          <a:prstGeom prst="roundRect">
            <a:avLst>
              <a:gd fmla="val 11111" name="adj"/>
            </a:avLst>
          </a:prstGeom>
          <a:solidFill>
            <a:srgbClr val="D97706"/>
          </a:solidFill>
          <a:ln cap="flat" cmpd="sng" w="12700">
            <a:solidFill>
              <a:srgbClr val="D9770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1" name="Google Shape;831;p29"/>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Q4</a:t>
            </a:r>
            <a:endParaRPr sz="1800">
              <a:solidFill>
                <a:schemeClr val="dk1"/>
              </a:solidFill>
              <a:latin typeface="Calibri"/>
              <a:ea typeface="Calibri"/>
              <a:cs typeface="Calibri"/>
              <a:sym typeface="Calibri"/>
            </a:endParaRPr>
          </a:p>
        </p:txBody>
      </p:sp>
      <p:sp>
        <p:nvSpPr>
          <p:cNvPr id="832" name="Google Shape;832;p29"/>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100"/>
              <a:buFont typeface="Calibri"/>
              <a:buNone/>
            </a:pPr>
            <a:r>
              <a:rPr b="1" lang="en-US" sz="1100">
                <a:solidFill>
                  <a:srgbClr val="D97706"/>
                </a:solidFill>
                <a:latin typeface="Calibri"/>
                <a:ea typeface="Calibri"/>
                <a:cs typeface="Calibri"/>
                <a:sym typeface="Calibri"/>
              </a:rPr>
              <a:t>STUDENT QUESTION</a:t>
            </a:r>
            <a:endParaRPr sz="1100">
              <a:solidFill>
                <a:schemeClr val="dk1"/>
              </a:solidFill>
              <a:latin typeface="Calibri"/>
              <a:ea typeface="Calibri"/>
              <a:cs typeface="Calibri"/>
              <a:sym typeface="Calibri"/>
            </a:endParaRPr>
          </a:p>
        </p:txBody>
      </p:sp>
      <p:sp>
        <p:nvSpPr>
          <p:cNvPr id="833" name="Google Shape;833;p29"/>
          <p:cNvSpPr/>
          <p:nvPr/>
        </p:nvSpPr>
        <p:spPr>
          <a:xfrm>
            <a:off x="502920" y="1207008"/>
            <a:ext cx="10789920" cy="1024128"/>
          </a:xfrm>
          <a:prstGeom prst="roundRect">
            <a:avLst>
              <a:gd fmla="val 10714" name="adj"/>
            </a:avLst>
          </a:prstGeom>
          <a:solidFill>
            <a:srgbClr val="FFFBEB"/>
          </a:solidFill>
          <a:ln cap="flat" cmpd="sng" w="12700">
            <a:solidFill>
              <a:srgbClr val="D97706">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4" name="Google Shape;834;p29"/>
          <p:cNvSpPr/>
          <p:nvPr/>
        </p:nvSpPr>
        <p:spPr>
          <a:xfrm>
            <a:off x="777240" y="1298448"/>
            <a:ext cx="1024128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7706"/>
              </a:buClr>
              <a:buSzPts val="2100"/>
              <a:buFont typeface="Calibri"/>
              <a:buNone/>
            </a:pPr>
            <a:r>
              <a:rPr b="1" lang="en-US" sz="2100">
                <a:solidFill>
                  <a:srgbClr val="D97706"/>
                </a:solidFill>
                <a:latin typeface="Calibri"/>
                <a:ea typeface="Calibri"/>
                <a:cs typeface="Calibri"/>
                <a:sym typeface="Calibri"/>
              </a:rPr>
              <a:t>What if the streaming response cuts off in the middle of a JSON object?</a:t>
            </a:r>
            <a:endParaRPr sz="2100">
              <a:solidFill>
                <a:schemeClr val="dk1"/>
              </a:solidFill>
              <a:latin typeface="Calibri"/>
              <a:ea typeface="Calibri"/>
              <a:cs typeface="Calibri"/>
              <a:sym typeface="Calibri"/>
            </a:endParaRPr>
          </a:p>
        </p:txBody>
      </p:sp>
      <p:sp>
        <p:nvSpPr>
          <p:cNvPr id="835" name="Google Shape;835;p29"/>
          <p:cNvSpPr/>
          <p:nvPr/>
        </p:nvSpPr>
        <p:spPr>
          <a:xfrm>
            <a:off x="502920" y="23957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lang="en-US" sz="1100">
                <a:solidFill>
                  <a:srgbClr val="16A34A"/>
                </a:solidFill>
                <a:latin typeface="Calibri"/>
                <a:ea typeface="Calibri"/>
                <a:cs typeface="Calibri"/>
                <a:sym typeface="Calibri"/>
              </a:rPr>
              <a:t>ANSWER</a:t>
            </a:r>
            <a:endParaRPr sz="1100">
              <a:solidFill>
                <a:schemeClr val="dk1"/>
              </a:solidFill>
              <a:latin typeface="Calibri"/>
              <a:ea typeface="Calibri"/>
              <a:cs typeface="Calibri"/>
              <a:sym typeface="Calibri"/>
            </a:endParaRPr>
          </a:p>
        </p:txBody>
      </p:sp>
      <p:sp>
        <p:nvSpPr>
          <p:cNvPr id="836" name="Google Shape;836;p29"/>
          <p:cNvSpPr/>
          <p:nvPr/>
        </p:nvSpPr>
        <p:spPr>
          <a:xfrm>
            <a:off x="502920" y="2688336"/>
            <a:ext cx="10789920" cy="1719072"/>
          </a:xfrm>
          <a:prstGeom prst="roundRect">
            <a:avLst>
              <a:gd fmla="val 5319"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7" name="Google Shape;837;p29"/>
          <p:cNvSpPr/>
          <p:nvPr/>
        </p:nvSpPr>
        <p:spPr>
          <a:xfrm>
            <a:off x="749808" y="2779776"/>
            <a:ext cx="10287000" cy="1536192"/>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475569"/>
              </a:buClr>
              <a:buSzPts val="1400"/>
              <a:buFont typeface="Calibri"/>
              <a:buNone/>
            </a:pPr>
            <a:r>
              <a:rPr lang="en-US" sz="1400">
                <a:solidFill>
                  <a:srgbClr val="475569"/>
                </a:solidFill>
                <a:latin typeface="Calibri"/>
                <a:ea typeface="Calibri"/>
                <a:cs typeface="Calibri"/>
                <a:sym typeface="Calibri"/>
              </a:rPr>
              <a:t>Do not parse JSON chunk-by-chunk. In streaming, accumulate all output first, then parse after the stream completes. Use Structured Outputs for stronger schema control, and still handle errors or token limits.</a:t>
            </a:r>
            <a:endParaRPr sz="1400">
              <a:solidFill>
                <a:schemeClr val="dk1"/>
              </a:solidFill>
              <a:latin typeface="Calibri"/>
              <a:ea typeface="Calibri"/>
              <a:cs typeface="Calibri"/>
              <a:sym typeface="Calibri"/>
            </a:endParaRPr>
          </a:p>
        </p:txBody>
      </p:sp>
      <p:sp>
        <p:nvSpPr>
          <p:cNvPr id="838" name="Google Shape;838;p29"/>
          <p:cNvSpPr/>
          <p:nvPr/>
        </p:nvSpPr>
        <p:spPr>
          <a:xfrm>
            <a:off x="502920" y="455371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lang="en-US" sz="1000">
                <a:solidFill>
                  <a:srgbClr val="D97706"/>
                </a:solidFill>
                <a:latin typeface="Calibri"/>
                <a:ea typeface="Calibri"/>
                <a:cs typeface="Calibri"/>
                <a:sym typeface="Calibri"/>
              </a:rPr>
              <a:t>DEEPER INSIGHT</a:t>
            </a:r>
            <a:endParaRPr sz="1000">
              <a:solidFill>
                <a:schemeClr val="dk1"/>
              </a:solidFill>
              <a:latin typeface="Calibri"/>
              <a:ea typeface="Calibri"/>
              <a:cs typeface="Calibri"/>
              <a:sym typeface="Calibri"/>
            </a:endParaRPr>
          </a:p>
        </p:txBody>
      </p:sp>
      <p:sp>
        <p:nvSpPr>
          <p:cNvPr id="839" name="Google Shape;839;p29"/>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0" name="Google Shape;840;p29"/>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633806"/>
              </a:buClr>
              <a:buSzPts val="1300"/>
              <a:buFont typeface="Calibri"/>
              <a:buNone/>
            </a:pPr>
            <a:r>
              <a:rPr lang="en-US" sz="1300">
                <a:solidFill>
                  <a:srgbClr val="633806"/>
                </a:solidFill>
                <a:latin typeface="Calibri"/>
                <a:ea typeface="Calibri"/>
                <a:cs typeface="Calibri"/>
                <a:sym typeface="Calibri"/>
              </a:rPr>
              <a:t>Pattern: StringBuilder sb collects text deltas → stream completes → parse/validate once. For fixed records, prefer Responses structured output over plain JSON_OBJECT because schema compliance is stronger.</a:t>
            </a:r>
            <a:endParaRPr sz="1300">
              <a:solidFill>
                <a:schemeClr val="dk1"/>
              </a:solidFill>
              <a:latin typeface="Calibri"/>
              <a:ea typeface="Calibri"/>
              <a:cs typeface="Calibri"/>
              <a:sym typeface="Calibri"/>
            </a:endParaRPr>
          </a:p>
        </p:txBody>
      </p:sp>
      <p:sp>
        <p:nvSpPr>
          <p:cNvPr id="841" name="Google Shape;841;p29"/>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2" name="Google Shape;842;p2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843" name="Google Shape;843;p2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27 / 29</a:t>
            </a:r>
            <a:endParaRPr sz="9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8" name="Shape 848"/>
        <p:cNvGrpSpPr/>
        <p:nvPr/>
      </p:nvGrpSpPr>
      <p:grpSpPr>
        <a:xfrm>
          <a:off x="0" y="0"/>
          <a:ext cx="0" cy="0"/>
          <a:chOff x="0" y="0"/>
          <a:chExt cx="0" cy="0"/>
        </a:xfrm>
      </p:grpSpPr>
      <p:sp>
        <p:nvSpPr>
          <p:cNvPr id="849" name="Google Shape;849;p30"/>
          <p:cNvSpPr/>
          <p:nvPr/>
        </p:nvSpPr>
        <p:spPr>
          <a:xfrm>
            <a:off x="502920" y="411480"/>
            <a:ext cx="658368" cy="658368"/>
          </a:xfrm>
          <a:prstGeom prst="roundRect">
            <a:avLst>
              <a:gd fmla="val 11111" name="adj"/>
            </a:avLst>
          </a:prstGeom>
          <a:solidFill>
            <a:srgbClr val="E11D48"/>
          </a:solidFill>
          <a:ln cap="flat" cmpd="sng" w="12700">
            <a:solidFill>
              <a:srgbClr val="E11D4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0" name="Google Shape;850;p30"/>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Q5</a:t>
            </a:r>
            <a:endParaRPr sz="1800">
              <a:solidFill>
                <a:schemeClr val="dk1"/>
              </a:solidFill>
              <a:latin typeface="Calibri"/>
              <a:ea typeface="Calibri"/>
              <a:cs typeface="Calibri"/>
              <a:sym typeface="Calibri"/>
            </a:endParaRPr>
          </a:p>
        </p:txBody>
      </p:sp>
      <p:sp>
        <p:nvSpPr>
          <p:cNvPr id="851" name="Google Shape;851;p30"/>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100"/>
              <a:buFont typeface="Calibri"/>
              <a:buNone/>
            </a:pPr>
            <a:r>
              <a:rPr b="1" lang="en-US" sz="1100">
                <a:solidFill>
                  <a:srgbClr val="E11D48"/>
                </a:solidFill>
                <a:latin typeface="Calibri"/>
                <a:ea typeface="Calibri"/>
                <a:cs typeface="Calibri"/>
                <a:sym typeface="Calibri"/>
              </a:rPr>
              <a:t>STUDENT QUESTION</a:t>
            </a:r>
            <a:endParaRPr sz="1100">
              <a:solidFill>
                <a:schemeClr val="dk1"/>
              </a:solidFill>
              <a:latin typeface="Calibri"/>
              <a:ea typeface="Calibri"/>
              <a:cs typeface="Calibri"/>
              <a:sym typeface="Calibri"/>
            </a:endParaRPr>
          </a:p>
        </p:txBody>
      </p:sp>
      <p:sp>
        <p:nvSpPr>
          <p:cNvPr id="852" name="Google Shape;852;p30"/>
          <p:cNvSpPr/>
          <p:nvPr/>
        </p:nvSpPr>
        <p:spPr>
          <a:xfrm>
            <a:off x="502920" y="1207008"/>
            <a:ext cx="10789920" cy="1024128"/>
          </a:xfrm>
          <a:prstGeom prst="roundRect">
            <a:avLst>
              <a:gd fmla="val 10714"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3" name="Google Shape;853;p30"/>
          <p:cNvSpPr/>
          <p:nvPr/>
        </p:nvSpPr>
        <p:spPr>
          <a:xfrm>
            <a:off x="777240" y="1298448"/>
            <a:ext cx="1024128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2100"/>
              <a:buFont typeface="Calibri"/>
              <a:buNone/>
            </a:pPr>
            <a:r>
              <a:rPr b="1" lang="en-US" sz="2100">
                <a:solidFill>
                  <a:srgbClr val="E11D48"/>
                </a:solidFill>
                <a:latin typeface="Calibri"/>
                <a:ea typeface="Calibri"/>
                <a:cs typeface="Calibri"/>
                <a:sym typeface="Calibri"/>
              </a:rPr>
              <a:t>Can I use this SDK to call Claude, Gemini, or local models?</a:t>
            </a:r>
            <a:endParaRPr sz="2100">
              <a:solidFill>
                <a:schemeClr val="dk1"/>
              </a:solidFill>
              <a:latin typeface="Calibri"/>
              <a:ea typeface="Calibri"/>
              <a:cs typeface="Calibri"/>
              <a:sym typeface="Calibri"/>
            </a:endParaRPr>
          </a:p>
        </p:txBody>
      </p:sp>
      <p:sp>
        <p:nvSpPr>
          <p:cNvPr id="854" name="Google Shape;854;p30"/>
          <p:cNvSpPr/>
          <p:nvPr/>
        </p:nvSpPr>
        <p:spPr>
          <a:xfrm>
            <a:off x="502920" y="23957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lang="en-US" sz="1100">
                <a:solidFill>
                  <a:srgbClr val="16A34A"/>
                </a:solidFill>
                <a:latin typeface="Calibri"/>
                <a:ea typeface="Calibri"/>
                <a:cs typeface="Calibri"/>
                <a:sym typeface="Calibri"/>
              </a:rPr>
              <a:t>ANSWER</a:t>
            </a:r>
            <a:endParaRPr sz="1100">
              <a:solidFill>
                <a:schemeClr val="dk1"/>
              </a:solidFill>
              <a:latin typeface="Calibri"/>
              <a:ea typeface="Calibri"/>
              <a:cs typeface="Calibri"/>
              <a:sym typeface="Calibri"/>
            </a:endParaRPr>
          </a:p>
        </p:txBody>
      </p:sp>
      <p:sp>
        <p:nvSpPr>
          <p:cNvPr id="855" name="Google Shape;855;p30"/>
          <p:cNvSpPr/>
          <p:nvPr/>
        </p:nvSpPr>
        <p:spPr>
          <a:xfrm>
            <a:off x="502920" y="2688336"/>
            <a:ext cx="10789920" cy="1719072"/>
          </a:xfrm>
          <a:prstGeom prst="roundRect">
            <a:avLst>
              <a:gd fmla="val 5319"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6" name="Google Shape;856;p30"/>
          <p:cNvSpPr/>
          <p:nvPr/>
        </p:nvSpPr>
        <p:spPr>
          <a:xfrm>
            <a:off x="749808" y="2779776"/>
            <a:ext cx="10287000" cy="1536192"/>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475569"/>
              </a:buClr>
              <a:buSzPts val="1400"/>
              <a:buFont typeface="Calibri"/>
              <a:buNone/>
            </a:pPr>
            <a:r>
              <a:rPr lang="en-US" sz="1400">
                <a:solidFill>
                  <a:srgbClr val="475569"/>
                </a:solidFill>
                <a:latin typeface="Calibri"/>
                <a:ea typeface="Calibri"/>
                <a:cs typeface="Calibri"/>
                <a:sym typeface="Calibri"/>
              </a:rPr>
              <a:t>The official openai-java SDK targets OpenAI-compatible APIs. For true OpenAI API usage, use OPENAI_API_KEY. Some local servers expose OpenAI-compatible endpoints, but treat that as optional testing, not the core classroom path.</a:t>
            </a:r>
            <a:endParaRPr sz="1400">
              <a:solidFill>
                <a:schemeClr val="dk1"/>
              </a:solidFill>
              <a:latin typeface="Calibri"/>
              <a:ea typeface="Calibri"/>
              <a:cs typeface="Calibri"/>
              <a:sym typeface="Calibri"/>
            </a:endParaRPr>
          </a:p>
        </p:txBody>
      </p:sp>
      <p:sp>
        <p:nvSpPr>
          <p:cNvPr id="857" name="Google Shape;857;p30"/>
          <p:cNvSpPr/>
          <p:nvPr/>
        </p:nvSpPr>
        <p:spPr>
          <a:xfrm>
            <a:off x="502920" y="455371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lang="en-US" sz="1000">
                <a:solidFill>
                  <a:srgbClr val="D97706"/>
                </a:solidFill>
                <a:latin typeface="Calibri"/>
                <a:ea typeface="Calibri"/>
                <a:cs typeface="Calibri"/>
                <a:sym typeface="Calibri"/>
              </a:rPr>
              <a:t>DEEPER INSIGHT</a:t>
            </a:r>
            <a:endParaRPr sz="1000">
              <a:solidFill>
                <a:schemeClr val="dk1"/>
              </a:solidFill>
              <a:latin typeface="Calibri"/>
              <a:ea typeface="Calibri"/>
              <a:cs typeface="Calibri"/>
              <a:sym typeface="Calibri"/>
            </a:endParaRPr>
          </a:p>
        </p:txBody>
      </p:sp>
      <p:sp>
        <p:nvSpPr>
          <p:cNvPr id="858" name="Google Shape;858;p30"/>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9" name="Google Shape;859;p30"/>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633806"/>
              </a:buClr>
              <a:buSzPts val="1300"/>
              <a:buFont typeface="Calibri"/>
              <a:buNone/>
            </a:pPr>
            <a:r>
              <a:rPr lang="en-US" sz="1300">
                <a:solidFill>
                  <a:srgbClr val="633806"/>
                </a:solidFill>
                <a:latin typeface="Calibri"/>
                <a:ea typeface="Calibri"/>
                <a:cs typeface="Calibri"/>
                <a:sym typeface="Calibri"/>
              </a:rPr>
              <a:t>For beginners, avoid multi-provider complexity on day one. First make one OpenAI Responses API call work clearly. Later, LangChain4j can hide provider differences behind one interface.</a:t>
            </a:r>
            <a:endParaRPr sz="1300">
              <a:solidFill>
                <a:schemeClr val="dk1"/>
              </a:solidFill>
              <a:latin typeface="Calibri"/>
              <a:ea typeface="Calibri"/>
              <a:cs typeface="Calibri"/>
              <a:sym typeface="Calibri"/>
            </a:endParaRPr>
          </a:p>
        </p:txBody>
      </p:sp>
      <p:sp>
        <p:nvSpPr>
          <p:cNvPr id="860" name="Google Shape;860;p30"/>
          <p:cNvSpPr/>
          <p:nvPr/>
        </p:nvSpPr>
        <p:spPr>
          <a:xfrm>
            <a:off x="0" y="6583680"/>
            <a:ext cx="12191695" cy="274320"/>
          </a:xfrm>
          <a:prstGeom prst="rect">
            <a:avLst/>
          </a:prstGeom>
          <a:solidFill>
            <a:srgbClr val="E11D48">
              <a:alpha val="12156"/>
            </a:srgbClr>
          </a:solidFill>
          <a:ln cap="flat" cmpd="sng" w="12700">
            <a:solidFill>
              <a:srgbClr val="E11D48">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1" name="Google Shape;861;p3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862" name="Google Shape;862;p3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28 / 29</a:t>
            </a:r>
            <a:endParaRPr sz="9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7" name="Shape 867"/>
        <p:cNvGrpSpPr/>
        <p:nvPr/>
      </p:nvGrpSpPr>
      <p:grpSpPr>
        <a:xfrm>
          <a:off x="0" y="0"/>
          <a:ext cx="0" cy="0"/>
          <a:chOff x="0" y="0"/>
          <a:chExt cx="0" cy="0"/>
        </a:xfrm>
      </p:grpSpPr>
      <p:sp>
        <p:nvSpPr>
          <p:cNvPr id="868" name="Google Shape;868;p31"/>
          <p:cNvSpPr/>
          <p:nvPr/>
        </p:nvSpPr>
        <p:spPr>
          <a:xfrm>
            <a:off x="502920" y="411480"/>
            <a:ext cx="658368" cy="658368"/>
          </a:xfrm>
          <a:prstGeom prst="roundRect">
            <a:avLst>
              <a:gd fmla="val 11111" name="adj"/>
            </a:avLst>
          </a:prstGeom>
          <a:solidFill>
            <a:srgbClr val="7C3AED"/>
          </a:solidFill>
          <a:ln cap="flat" cmpd="sng" w="12700">
            <a:solidFill>
              <a:srgbClr val="7C3A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9" name="Google Shape;869;p31"/>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Q6</a:t>
            </a:r>
            <a:endParaRPr sz="1800">
              <a:solidFill>
                <a:schemeClr val="dk1"/>
              </a:solidFill>
              <a:latin typeface="Calibri"/>
              <a:ea typeface="Calibri"/>
              <a:cs typeface="Calibri"/>
              <a:sym typeface="Calibri"/>
            </a:endParaRPr>
          </a:p>
        </p:txBody>
      </p:sp>
      <p:sp>
        <p:nvSpPr>
          <p:cNvPr id="870" name="Google Shape;870;p31"/>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alibri"/>
              <a:buNone/>
            </a:pPr>
            <a:r>
              <a:rPr b="1" lang="en-US" sz="1100">
                <a:solidFill>
                  <a:srgbClr val="7C3AED"/>
                </a:solidFill>
                <a:latin typeface="Calibri"/>
                <a:ea typeface="Calibri"/>
                <a:cs typeface="Calibri"/>
                <a:sym typeface="Calibri"/>
              </a:rPr>
              <a:t>STUDENT QUESTION</a:t>
            </a:r>
            <a:endParaRPr sz="1100">
              <a:solidFill>
                <a:schemeClr val="dk1"/>
              </a:solidFill>
              <a:latin typeface="Calibri"/>
              <a:ea typeface="Calibri"/>
              <a:cs typeface="Calibri"/>
              <a:sym typeface="Calibri"/>
            </a:endParaRPr>
          </a:p>
        </p:txBody>
      </p:sp>
      <p:sp>
        <p:nvSpPr>
          <p:cNvPr id="871" name="Google Shape;871;p31"/>
          <p:cNvSpPr/>
          <p:nvPr/>
        </p:nvSpPr>
        <p:spPr>
          <a:xfrm>
            <a:off x="502920" y="1207008"/>
            <a:ext cx="10789920" cy="1024128"/>
          </a:xfrm>
          <a:prstGeom prst="roundRect">
            <a:avLst>
              <a:gd fmla="val 10714" name="adj"/>
            </a:avLst>
          </a:prstGeom>
          <a:solidFill>
            <a:srgbClr val="EDE9FE"/>
          </a:solidFill>
          <a:ln cap="flat" cmpd="sng" w="12700">
            <a:solidFill>
              <a:srgbClr val="7C3AED">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2" name="Google Shape;872;p31"/>
          <p:cNvSpPr/>
          <p:nvPr/>
        </p:nvSpPr>
        <p:spPr>
          <a:xfrm>
            <a:off x="777240" y="1298448"/>
            <a:ext cx="1024128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2100"/>
              <a:buFont typeface="Calibri"/>
              <a:buNone/>
            </a:pPr>
            <a:r>
              <a:rPr b="1" lang="en-US" sz="2100">
                <a:solidFill>
                  <a:srgbClr val="7C3AED"/>
                </a:solidFill>
                <a:latin typeface="Calibri"/>
                <a:ea typeface="Calibri"/>
                <a:cs typeface="Calibri"/>
                <a:sym typeface="Calibri"/>
              </a:rPr>
              <a:t>What is the difference between JSON_OBJECT mode and structured outputs?</a:t>
            </a:r>
            <a:endParaRPr sz="2100">
              <a:solidFill>
                <a:schemeClr val="dk1"/>
              </a:solidFill>
              <a:latin typeface="Calibri"/>
              <a:ea typeface="Calibri"/>
              <a:cs typeface="Calibri"/>
              <a:sym typeface="Calibri"/>
            </a:endParaRPr>
          </a:p>
        </p:txBody>
      </p:sp>
      <p:sp>
        <p:nvSpPr>
          <p:cNvPr id="873" name="Google Shape;873;p31"/>
          <p:cNvSpPr/>
          <p:nvPr/>
        </p:nvSpPr>
        <p:spPr>
          <a:xfrm>
            <a:off x="502920" y="23957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lang="en-US" sz="1100">
                <a:solidFill>
                  <a:srgbClr val="16A34A"/>
                </a:solidFill>
                <a:latin typeface="Calibri"/>
                <a:ea typeface="Calibri"/>
                <a:cs typeface="Calibri"/>
                <a:sym typeface="Calibri"/>
              </a:rPr>
              <a:t>ANSWER</a:t>
            </a:r>
            <a:endParaRPr sz="1100">
              <a:solidFill>
                <a:schemeClr val="dk1"/>
              </a:solidFill>
              <a:latin typeface="Calibri"/>
              <a:ea typeface="Calibri"/>
              <a:cs typeface="Calibri"/>
              <a:sym typeface="Calibri"/>
            </a:endParaRPr>
          </a:p>
        </p:txBody>
      </p:sp>
      <p:sp>
        <p:nvSpPr>
          <p:cNvPr id="874" name="Google Shape;874;p31"/>
          <p:cNvSpPr/>
          <p:nvPr/>
        </p:nvSpPr>
        <p:spPr>
          <a:xfrm>
            <a:off x="502920" y="2688336"/>
            <a:ext cx="10789920" cy="1719072"/>
          </a:xfrm>
          <a:prstGeom prst="roundRect">
            <a:avLst>
              <a:gd fmla="val 5319"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5" name="Google Shape;875;p31"/>
          <p:cNvSpPr/>
          <p:nvPr/>
        </p:nvSpPr>
        <p:spPr>
          <a:xfrm>
            <a:off x="749808" y="2779776"/>
            <a:ext cx="10287000" cy="1536192"/>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475569"/>
              </a:buClr>
              <a:buSzPts val="1400"/>
              <a:buFont typeface="Calibri"/>
              <a:buNone/>
            </a:pPr>
            <a:r>
              <a:rPr lang="en-US" sz="1400">
                <a:solidFill>
                  <a:srgbClr val="475569"/>
                </a:solidFill>
                <a:latin typeface="Calibri"/>
                <a:ea typeface="Calibri"/>
                <a:cs typeface="Calibri"/>
                <a:sym typeface="Calibri"/>
              </a:rPr>
              <a:t>JSON_OBJECT only means “valid JSON”. It may still choose wrong field names. Structured Outputs lets you provide a schema or Java class so the model must follow your expected shape. For new production-style code, prefer Structured Outputs with the Responses API.</a:t>
            </a:r>
            <a:endParaRPr sz="1400">
              <a:solidFill>
                <a:schemeClr val="dk1"/>
              </a:solidFill>
              <a:latin typeface="Calibri"/>
              <a:ea typeface="Calibri"/>
              <a:cs typeface="Calibri"/>
              <a:sym typeface="Calibri"/>
            </a:endParaRPr>
          </a:p>
        </p:txBody>
      </p:sp>
      <p:sp>
        <p:nvSpPr>
          <p:cNvPr id="876" name="Google Shape;876;p31"/>
          <p:cNvSpPr/>
          <p:nvPr/>
        </p:nvSpPr>
        <p:spPr>
          <a:xfrm>
            <a:off x="502920" y="455371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lang="en-US" sz="1000">
                <a:solidFill>
                  <a:srgbClr val="D97706"/>
                </a:solidFill>
                <a:latin typeface="Calibri"/>
                <a:ea typeface="Calibri"/>
                <a:cs typeface="Calibri"/>
                <a:sym typeface="Calibri"/>
              </a:rPr>
              <a:t>DEEPER INSIGHT</a:t>
            </a:r>
            <a:endParaRPr sz="1000">
              <a:solidFill>
                <a:schemeClr val="dk1"/>
              </a:solidFill>
              <a:latin typeface="Calibri"/>
              <a:ea typeface="Calibri"/>
              <a:cs typeface="Calibri"/>
              <a:sym typeface="Calibri"/>
            </a:endParaRPr>
          </a:p>
        </p:txBody>
      </p:sp>
      <p:sp>
        <p:nvSpPr>
          <p:cNvPr id="877" name="Google Shape;877;p31"/>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8" name="Google Shape;878;p31"/>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633806"/>
              </a:buClr>
              <a:buSzPts val="1300"/>
              <a:buFont typeface="Calibri"/>
              <a:buNone/>
            </a:pPr>
            <a:r>
              <a:rPr lang="en-US" sz="1300">
                <a:solidFill>
                  <a:srgbClr val="633806"/>
                </a:solidFill>
                <a:latin typeface="Calibri"/>
                <a:ea typeface="Calibri"/>
                <a:cs typeface="Calibri"/>
                <a:sym typeface="Calibri"/>
              </a:rPr>
              <a:t>For this class: show plain streaming first, then a small Movie structured-output example. Do not mix tool calling, JSON, and streaming in the first live demo — beginners need one concept at a time.</a:t>
            </a:r>
            <a:endParaRPr sz="1300">
              <a:solidFill>
                <a:schemeClr val="dk1"/>
              </a:solidFill>
              <a:latin typeface="Calibri"/>
              <a:ea typeface="Calibri"/>
              <a:cs typeface="Calibri"/>
              <a:sym typeface="Calibri"/>
            </a:endParaRPr>
          </a:p>
        </p:txBody>
      </p:sp>
      <p:sp>
        <p:nvSpPr>
          <p:cNvPr id="879" name="Google Shape;879;p31"/>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0" name="Google Shape;880;p3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Session 3  ·  GPT API Deep Dive (Java)</a:t>
            </a:r>
            <a:endParaRPr sz="900">
              <a:solidFill>
                <a:schemeClr val="dk1"/>
              </a:solidFill>
              <a:latin typeface="Calibri"/>
              <a:ea typeface="Calibri"/>
              <a:cs typeface="Calibri"/>
              <a:sym typeface="Calibri"/>
            </a:endParaRPr>
          </a:p>
        </p:txBody>
      </p:sp>
      <p:sp>
        <p:nvSpPr>
          <p:cNvPr id="881" name="Google Shape;881;p3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lang="en-US" sz="900">
                <a:solidFill>
                  <a:srgbClr val="8B92B8"/>
                </a:solidFill>
                <a:latin typeface="Calibri"/>
                <a:ea typeface="Calibri"/>
                <a:cs typeface="Calibri"/>
                <a:sym typeface="Calibri"/>
              </a:rPr>
              <a:t>29 / 29</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