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Ask the room a pointed question. Say a user starts chatting with your Java app: 'Hi, I am Ravi. I want to book a flight to Mumbai.' One minute later they say: 'What flight options are there?' Ask: does the model know who Ravi is? Does it know where he wants to go? Without history management, the answer to both is NO. Today we fix that.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LIVE — call the API twice with the same user ID but without passing history. Show the model completely forgetting the user's name and intent. The frustration is the lesson. Then ask: how does ChatGPT remember? Let students guess. The answer: OpenAI runs a server that stores your conversation and sends it all back on every message — exactly what we are about to implement.</a:t>
            </a:r>
            <a:endParaRPr/>
          </a:p>
        </p:txBody>
      </p:sp>
      <p:sp>
        <p:nvSpPr>
          <p:cNvPr id="40" name="Google Shape;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Drive this home. 'If ChatGPT remembers you, it is because OpenAI's servers are maintaining the conversation list and sending it back to the model on every message. There is no magic. It is this same list — which we are about to build.' The students building the capstone are building exactly what OpenAI built, just for their own domain.</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corrects the most common mental model mistake. Students who believe the model 'knows' them struggle to understand why their chat app forgets things. Once they understand the model is a pure function, the architecture becomes obvious: give it the right inputs, get the right outputs.</a:t>
            </a:r>
            <a:endParaRPr/>
          </a:p>
        </p:txBody>
      </p:sp>
      <p:sp>
        <p:nvSpPr>
          <p:cNvPr id="99" name="Google Shape;9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'demystification' moment. ChatGPT is not doing anything architecturally special. The stateless API is the same one you are calling. The session storage is what we add. When students understand this, they stop asking 'how does ChatGPT do it?' and start asking 'how do I design my session store?' — which is the right engineering question.</a:t>
            </a:r>
            <a:endParaRPr/>
          </a:p>
        </p:txBody>
      </p:sp>
      <p:sp>
        <p:nvSpPr>
          <p:cNvPr id="144" name="Google Shape;14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type this loop from scratch. When you reach Rule 3, add the system message again by mistake and show what happens (duplicate system prompts confuse the model). Then forget the assistant append and show the model completely forgetting what it said last turn. These mistakes are cheap to make in class; expensive to debug in production.</a:t>
            </a:r>
            <a:endParaRPr/>
          </a:p>
        </p:txBody>
      </p:sp>
      <p:sp>
        <p:nvSpPr>
          <p:cNvPr id="191" name="Google Shape;19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Live debugging exercise: intentionally introduce bug 1 (skip appending assistant reply). Let the class experience the broken chatbot. Then fix it live. The before/after contrast is stark and memorable. This is the most educational 5 minutes of the session — making the mistake on purpose.</a:t>
            </a:r>
            <a:endParaRPr/>
          </a:p>
        </p:txBody>
      </p:sp>
      <p:sp>
        <p:nvSpPr>
          <p:cNvPr id="243" name="Google Shape;24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section is where students go from 'I get it conceptually' to 'I need to design this carefully'. The cost curve makes the abstraction concrete.</a:t>
            </a:r>
            <a:endParaRPr/>
          </a:p>
        </p:txBody>
      </p:sp>
      <p:sp>
        <p:nvSpPr>
          <p:cNvPr id="283" name="Google Shape;2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the maths live. At turn 50 you are sending 33,000 tokens in the prompt alone — that is a 25-page document on every message. Ask students: 'Would you attach a 25-page document to every Slack message?' That is the scale of the problem. The good news: three strategies fix it, and none of them are hard to implement.</a:t>
            </a:r>
            <a:endParaRPr/>
          </a:p>
        </p:txBody>
      </p:sp>
      <p:sp>
        <p:nvSpPr>
          <p:cNvPr id="297" name="Google Shape;2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with strategy 1 in the demo — it takes 3 lines of code and covers 80% of use cases. Mention strategy 2 as the upgrade for apps needing longer context. Strategy 3 (RAG) is the bridge to Week 3 — plant that seed now: 'What if instead of trimming, we could search past messages for the relevant bits?' That is what we build in Week 3.</a:t>
            </a:r>
            <a:endParaRPr/>
          </a:p>
        </p:txBody>
      </p:sp>
      <p:sp>
        <p:nvSpPr>
          <p:cNvPr id="329" name="Google Shape;32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Decision tree for the room: 'Are you prototyping?' → in-memory. 'Are you deploying to a single server with acceptable restart loss?' → in-memory with a clear README warning. 'Are you deploying to a cluster or need sessions to survive restarts?' → Redis. 'Do you need audit logs or analytics on conversations?' → database.</a:t>
            </a:r>
            <a:br>
              <a:rPr lang="en-US"/>
            </a:br>
            <a:br>
              <a:rPr lang="en-US"/>
            </a:br>
            <a:r>
              <a:rPr lang="en-US"/>
              <a:t>For the capstone: start with ConcurrentHashMap, upgrade to Redis as a stretch goal. The code we write in the demo uses the Map interface — swapping to Redis is literally changing one dependency and one bean definition.</a:t>
            </a:r>
            <a:endParaRPr/>
          </a:p>
        </p:txBody>
      </p:sp>
      <p:sp>
        <p:nvSpPr>
          <p:cNvPr id="387" name="Google Shape;38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neglected trigger is #2 (size-based). Production apps without it eventually produce 400 errors when the context window is exceeded — usually at the worst possible moment. Make size enforcement a non-negotiable part of your session management from day one.</a:t>
            </a:r>
            <a:endParaRPr/>
          </a:p>
        </p:txBody>
      </p:sp>
      <p:sp>
        <p:nvSpPr>
          <p:cNvPr id="428" name="Google Shape;42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Emphasise: the sessionId is just a String key. The session service is just a Map lookup. The whole architecture is simpler than most students expect. Draw this on the whiteboard as you explain it — the flow from left to right is the data flow, and building it is just filling in each box.</a:t>
            </a:r>
            <a:endParaRPr/>
          </a:p>
        </p:txBody>
      </p:sp>
      <p:sp>
        <p:nvSpPr>
          <p:cNvPr id="472" name="Google Shape;47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this live. Start with just the Map declaration and the chat() method signature. Let students guide what goes inside — they should be able to reconstruct the three rules from memory. The Redis upgrade note is the engineering payoff: good abstractions (Map interface) make upgrades trivial.</a:t>
            </a:r>
            <a:endParaRPr/>
          </a:p>
        </p:txBody>
      </p:sp>
      <p:sp>
        <p:nvSpPr>
          <p:cNvPr id="514" name="Google Shape;51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test.http file is the live demo script. Run turn 1 first — model greets Ravi. Run turn 2 — model recalls the name. Then change sessionId to 'demo-2' and ask for the name again — model does not know, proving sessions are isolated. This is the full demonstration in under 2 minutes.</a:t>
            </a:r>
            <a:endParaRPr/>
          </a:p>
        </p:txBody>
      </p:sp>
      <p:sp>
        <p:nvSpPr>
          <p:cNvPr id="569" name="Google Shape;56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BUILD ORDER:</a:t>
            </a:r>
            <a:br>
              <a:rPr lang="en-US"/>
            </a:br>
            <a:r>
              <a:rPr lang="en-US"/>
              <a:t>1. ConversationSessionService.java — the service above</a:t>
            </a:r>
            <a:br>
              <a:rPr lang="en-US"/>
            </a:br>
            <a:r>
              <a:rPr lang="en-US"/>
              <a:t>2. ChatController.java — autowire the service, expose /api/chat</a:t>
            </a:r>
            <a:br>
              <a:rPr lang="en-US"/>
            </a:br>
            <a:r>
              <a:rPr lang="en-US"/>
              <a:t>3. Test with test.http — show session isolation</a:t>
            </a:r>
            <a:br>
              <a:rPr lang="en-US"/>
            </a:br>
            <a:r>
              <a:rPr lang="en-US"/>
              <a:t>4. Add enforceLimit with MAX_HISTORY=5 — show context trimming in action</a:t>
            </a:r>
            <a:br>
              <a:rPr lang="en-US"/>
            </a:br>
            <a:r>
              <a:rPr lang="en-US"/>
              <a:t>5. (If time) Show the Redis upgrade — add spring-data-redis to pom, create a RedisConfig bean, swap Map for RedisTemplate</a:t>
            </a:r>
            <a:br>
              <a:rPr lang="en-US"/>
            </a:br>
            <a:br>
              <a:rPr lang="en-US"/>
            </a:br>
            <a:r>
              <a:rPr lang="en-US"/>
              <a:t>Expected demo duration: 25-30 minutes for steps 1-4, 10 more for Redis.</a:t>
            </a:r>
            <a:endParaRPr/>
          </a:p>
        </p:txBody>
      </p:sp>
      <p:sp>
        <p:nvSpPr>
          <p:cNvPr id="621" name="Google Shape;62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2" name="Google Shape;64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project is the homework for tonight. The system prompt tells the model to gather fields one at a time — it naturally sequences the questions. The final output is a JSON itinerary that maps to a Java record. By building this tonight, students have combined all the techniques from Sessions 2, 3, and 4 in one project.</a:t>
            </a:r>
            <a:endParaRPr/>
          </a:p>
        </p:txBody>
      </p:sp>
      <p:sp>
        <p:nvSpPr>
          <p:cNvPr id="643" name="Google Shape;64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Plant this seed now and refer back to it in Week 3. Students who have struggled with context window costs in the Travel Planner will immediately understand why RAG-based context selection is valuable. The jump from 'send everything' to 'find what is relevant' is the conceptual leap that RAG enables.</a:t>
            </a:r>
            <a:endParaRPr/>
          </a:p>
        </p:txBody>
      </p:sp>
      <p:sp>
        <p:nvSpPr>
          <p:cNvPr id="701" name="Google Shape;70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and C together build the Travel Planner classroom project. B and D teach the engineering trade-offs in context management. Insist every student does C — session isolation is the bug students most frequently introduce in production and the demo makes it visceral when two personas bleed into each other.</a:t>
            </a:r>
            <a:endParaRPr/>
          </a:p>
        </p:txBody>
      </p:sp>
      <p:sp>
        <p:nvSpPr>
          <p:cNvPr id="728" name="Google Shape;72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7" name="Google Shape;75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9" name="Google Shape;78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7" name="Google Shape;80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6" name="Google Shape;82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5" name="Shape 15"/>
        <p:cNvGrpSpPr/>
        <p:nvPr/>
      </p:nvGrpSpPr>
      <p:grpSpPr>
        <a:xfrm>
          <a:off x="0" y="0"/>
          <a:ext cx="0" cy="0"/>
          <a:chOff x="0" y="0"/>
          <a:chExt cx="0" cy="0"/>
        </a:xfrm>
      </p:grpSpPr>
      <p:sp>
        <p:nvSpPr>
          <p:cNvPr id="16" name="Google Shape;16;p3"/>
          <p:cNvSpPr/>
          <p:nvPr/>
        </p:nvSpPr>
        <p:spPr>
          <a:xfrm>
            <a:off x="8046720" y="-1623136"/>
            <a:ext cx="6400800" cy="6400800"/>
          </a:xfrm>
          <a:prstGeom prst="ellipse">
            <a:avLst/>
          </a:prstGeom>
          <a:solidFill>
            <a:srgbClr val="7C3AED">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601200" y="4114800"/>
            <a:ext cx="3657600" cy="3657600"/>
          </a:xfrm>
          <a:prstGeom prst="ellipse">
            <a:avLst/>
          </a:prstGeom>
          <a:solidFill>
            <a:srgbClr val="0891B2">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858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300"/>
              <a:buFont typeface="Calibri"/>
              <a:buNone/>
            </a:pPr>
            <a:r>
              <a:rPr b="1" i="0" lang="en-US" sz="1300" u="none" cap="none" strike="noStrike">
                <a:solidFill>
                  <a:srgbClr val="C4B5FD"/>
                </a:solidFill>
                <a:latin typeface="Calibri"/>
                <a:ea typeface="Calibri"/>
                <a:cs typeface="Calibri"/>
                <a:sym typeface="Calibri"/>
              </a:rPr>
              <a:t>WEEK 1  ·  SESSION 4</a:t>
            </a:r>
            <a:endParaRPr b="0" i="0" sz="1300" u="none" cap="none" strike="noStrike">
              <a:solidFill>
                <a:schemeClr val="dk1"/>
              </a:solidFill>
              <a:latin typeface="Calibri"/>
              <a:ea typeface="Calibri"/>
              <a:cs typeface="Calibri"/>
              <a:sym typeface="Calibri"/>
            </a:endParaRPr>
          </a:p>
        </p:txBody>
      </p:sp>
      <p:sp>
        <p:nvSpPr>
          <p:cNvPr id="19" name="Google Shape;19;p3"/>
          <p:cNvSpPr/>
          <p:nvPr/>
        </p:nvSpPr>
        <p:spPr>
          <a:xfrm>
            <a:off x="658368" y="1504112"/>
            <a:ext cx="8686800" cy="274320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Conversations</a:t>
            </a:r>
            <a:endParaRPr b="0" i="0" sz="5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API + Threads</a:t>
            </a:r>
            <a:endParaRPr b="0" i="0" sz="5600" u="none" cap="none" strike="noStrike">
              <a:solidFill>
                <a:schemeClr val="dk1"/>
              </a:solidFill>
              <a:latin typeface="Calibri"/>
              <a:ea typeface="Calibri"/>
              <a:cs typeface="Calibri"/>
              <a:sym typeface="Calibri"/>
            </a:endParaRPr>
          </a:p>
        </p:txBody>
      </p:sp>
      <p:sp>
        <p:nvSpPr>
          <p:cNvPr id="20" name="Google Shape;20;p3"/>
          <p:cNvSpPr/>
          <p:nvPr/>
        </p:nvSpPr>
        <p:spPr>
          <a:xfrm>
            <a:off x="685800" y="4343400"/>
            <a:ext cx="8686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600"/>
              <a:buFont typeface="Calibri"/>
              <a:buNone/>
            </a:pPr>
            <a:r>
              <a:rPr b="0" i="0" lang="en-US" sz="1600" u="none" cap="none" strike="noStrike">
                <a:solidFill>
                  <a:srgbClr val="8B92B8"/>
                </a:solidFill>
                <a:latin typeface="Calibri"/>
                <a:ea typeface="Calibri"/>
                <a:cs typeface="Calibri"/>
                <a:sym typeface="Calibri"/>
              </a:rPr>
              <a:t>Stateful multi-turn sessions · History management · Context economics · Spring Boot chatbot</a:t>
            </a:r>
            <a:endParaRPr b="0" i="0" sz="1600" u="none" cap="none" strike="noStrike">
              <a:solidFill>
                <a:schemeClr val="dk1"/>
              </a:solidFill>
              <a:latin typeface="Calibri"/>
              <a:ea typeface="Calibri"/>
              <a:cs typeface="Calibri"/>
              <a:sym typeface="Calibri"/>
            </a:endParaRPr>
          </a:p>
        </p:txBody>
      </p:sp>
      <p:sp>
        <p:nvSpPr>
          <p:cNvPr id="21" name="Google Shape;21;p3"/>
          <p:cNvSpPr/>
          <p:nvPr/>
        </p:nvSpPr>
        <p:spPr>
          <a:xfrm>
            <a:off x="685800" y="5047488"/>
            <a:ext cx="2236622" cy="438912"/>
          </a:xfrm>
          <a:prstGeom prst="roundRect">
            <a:avLst>
              <a:gd fmla="val 14583" name="adj"/>
            </a:avLst>
          </a:prstGeom>
          <a:solidFill>
            <a:srgbClr val="211B30"/>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685800" y="5047488"/>
            <a:ext cx="223662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Stateful Sessions</a:t>
            </a:r>
            <a:endParaRPr b="0" i="0" sz="1100" u="none" cap="none" strike="noStrike">
              <a:solidFill>
                <a:schemeClr val="dk1"/>
              </a:solidFill>
              <a:latin typeface="Calibri"/>
              <a:ea typeface="Calibri"/>
              <a:cs typeface="Calibri"/>
              <a:sym typeface="Calibri"/>
            </a:endParaRPr>
          </a:p>
        </p:txBody>
      </p:sp>
      <p:sp>
        <p:nvSpPr>
          <p:cNvPr id="23" name="Google Shape;23;p3"/>
          <p:cNvSpPr/>
          <p:nvPr/>
        </p:nvSpPr>
        <p:spPr>
          <a:xfrm>
            <a:off x="3050438" y="5047488"/>
            <a:ext cx="1697126" cy="438912"/>
          </a:xfrm>
          <a:prstGeom prst="roundRect">
            <a:avLst>
              <a:gd fmla="val 14583" name="adj"/>
            </a:avLst>
          </a:prstGeom>
          <a:solidFill>
            <a:srgbClr val="211B30"/>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3050438" y="5047488"/>
            <a:ext cx="1697126"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History Loop</a:t>
            </a:r>
            <a:endParaRPr b="0" i="0" sz="1100" u="none" cap="none" strike="noStrike">
              <a:solidFill>
                <a:schemeClr val="dk1"/>
              </a:solidFill>
              <a:latin typeface="Calibri"/>
              <a:ea typeface="Calibri"/>
              <a:cs typeface="Calibri"/>
              <a:sym typeface="Calibri"/>
            </a:endParaRPr>
          </a:p>
        </p:txBody>
      </p:sp>
      <p:sp>
        <p:nvSpPr>
          <p:cNvPr id="25" name="Google Shape;25;p3"/>
          <p:cNvSpPr/>
          <p:nvPr/>
        </p:nvSpPr>
        <p:spPr>
          <a:xfrm>
            <a:off x="4875581" y="5047488"/>
            <a:ext cx="2236622" cy="438912"/>
          </a:xfrm>
          <a:prstGeom prst="roundRect">
            <a:avLst>
              <a:gd fmla="val 14583" name="adj"/>
            </a:avLst>
          </a:prstGeom>
          <a:solidFill>
            <a:srgbClr val="211B30"/>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875581" y="5047488"/>
            <a:ext cx="223662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Context Economics</a:t>
            </a:r>
            <a:endParaRPr b="0" i="0" sz="1100" u="none" cap="none" strike="noStrike">
              <a:solidFill>
                <a:schemeClr val="dk1"/>
              </a:solidFill>
              <a:latin typeface="Calibri"/>
              <a:ea typeface="Calibri"/>
              <a:cs typeface="Calibri"/>
              <a:sym typeface="Calibri"/>
            </a:endParaRPr>
          </a:p>
        </p:txBody>
      </p:sp>
      <p:sp>
        <p:nvSpPr>
          <p:cNvPr id="27" name="Google Shape;27;p3"/>
          <p:cNvSpPr/>
          <p:nvPr/>
        </p:nvSpPr>
        <p:spPr>
          <a:xfrm>
            <a:off x="7240219" y="5047488"/>
            <a:ext cx="2236622" cy="438912"/>
          </a:xfrm>
          <a:prstGeom prst="roundRect">
            <a:avLst>
              <a:gd fmla="val 14583" name="adj"/>
            </a:avLst>
          </a:prstGeom>
          <a:solidFill>
            <a:srgbClr val="211B30"/>
          </a:solidFill>
          <a:ln cap="flat" cmpd="sng" w="12700">
            <a:solidFill>
              <a:srgbClr val="D97706">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7240219" y="5047488"/>
            <a:ext cx="223662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Persist vs Stream</a:t>
            </a:r>
            <a:endParaRPr b="0" i="0" sz="1100" u="none" cap="none" strike="noStrike">
              <a:solidFill>
                <a:schemeClr val="dk1"/>
              </a:solidFill>
              <a:latin typeface="Calibri"/>
              <a:ea typeface="Calibri"/>
              <a:cs typeface="Calibri"/>
              <a:sym typeface="Calibri"/>
            </a:endParaRPr>
          </a:p>
        </p:txBody>
      </p:sp>
      <p:sp>
        <p:nvSpPr>
          <p:cNvPr id="29" name="Google Shape;29;p3"/>
          <p:cNvSpPr/>
          <p:nvPr/>
        </p:nvSpPr>
        <p:spPr>
          <a:xfrm>
            <a:off x="9604858" y="5047488"/>
            <a:ext cx="1589227" cy="438912"/>
          </a:xfrm>
          <a:prstGeom prst="roundRect">
            <a:avLst>
              <a:gd fmla="val 14583" name="adj"/>
            </a:avLst>
          </a:prstGeom>
          <a:solidFill>
            <a:srgbClr val="211B30"/>
          </a:solidFill>
          <a:ln cap="flat" cmpd="sng" w="12700">
            <a:solidFill>
              <a:srgbClr val="E11D48">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9604858" y="5047488"/>
            <a:ext cx="1589227"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100"/>
              <a:buFont typeface="Calibri"/>
              <a:buNone/>
            </a:pPr>
            <a:r>
              <a:rPr b="1" i="0" lang="en-US" sz="1100" u="none" cap="none" strike="noStrike">
                <a:solidFill>
                  <a:srgbClr val="E11D48"/>
                </a:solidFill>
                <a:latin typeface="Calibri"/>
                <a:ea typeface="Calibri"/>
                <a:cs typeface="Calibri"/>
                <a:sym typeface="Calibri"/>
              </a:rPr>
              <a:t>Spring Boot</a:t>
            </a:r>
            <a:endParaRPr b="0" i="0" sz="1100" u="none" cap="none" strike="noStrike">
              <a:solidFill>
                <a:schemeClr val="dk1"/>
              </a:solidFill>
              <a:latin typeface="Calibri"/>
              <a:ea typeface="Calibri"/>
              <a:cs typeface="Calibri"/>
              <a:sym typeface="Calibri"/>
            </a:endParaRPr>
          </a:p>
        </p:txBody>
      </p:sp>
      <p:sp>
        <p:nvSpPr>
          <p:cNvPr id="31" name="Google Shape;31;p3"/>
          <p:cNvSpPr/>
          <p:nvPr/>
        </p:nvSpPr>
        <p:spPr>
          <a:xfrm>
            <a:off x="11322101" y="5047488"/>
            <a:ext cx="2020824" cy="438912"/>
          </a:xfrm>
          <a:prstGeom prst="roundRect">
            <a:avLst>
              <a:gd fmla="val 14583" name="adj"/>
            </a:avLst>
          </a:prstGeom>
          <a:solidFill>
            <a:srgbClr val="211B30"/>
          </a:solidFill>
          <a:ln cap="flat" cmpd="sng" w="12700">
            <a:solidFill>
              <a:srgbClr val="EA580C">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11322101" y="5047488"/>
            <a:ext cx="2020824"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580C"/>
              </a:buClr>
              <a:buSzPts val="1100"/>
              <a:buFont typeface="Calibri"/>
              <a:buNone/>
            </a:pPr>
            <a:r>
              <a:rPr b="1" i="0" lang="en-US" sz="1100" u="none" cap="none" strike="noStrike">
                <a:solidFill>
                  <a:srgbClr val="EA580C"/>
                </a:solidFill>
                <a:latin typeface="Calibri"/>
                <a:ea typeface="Calibri"/>
                <a:cs typeface="Calibri"/>
                <a:sym typeface="Calibri"/>
              </a:rPr>
              <a:t>Multi-turn Demo</a:t>
            </a:r>
            <a:endParaRPr b="0" i="0" sz="1100" u="none" cap="none" strike="noStrike">
              <a:solidFill>
                <a:schemeClr val="dk1"/>
              </a:solidFill>
              <a:latin typeface="Calibri"/>
              <a:ea typeface="Calibri"/>
              <a:cs typeface="Calibri"/>
              <a:sym typeface="Calibri"/>
            </a:endParaRPr>
          </a:p>
        </p:txBody>
      </p:sp>
      <p:sp>
        <p:nvSpPr>
          <p:cNvPr id="33" name="Google Shape;33;p3"/>
          <p:cNvSpPr/>
          <p:nvPr/>
        </p:nvSpPr>
        <p:spPr>
          <a:xfrm>
            <a:off x="685800" y="5669280"/>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4 theory sections  ·  3 code demos  ·  5 student Q&amp;As</a:t>
            </a:r>
            <a:endParaRPr b="0" i="0" sz="1300" u="none" cap="none" strike="noStrike">
              <a:solidFill>
                <a:schemeClr val="dk1"/>
              </a:solidFill>
              <a:latin typeface="Calibri"/>
              <a:ea typeface="Calibri"/>
              <a:cs typeface="Calibri"/>
              <a:sym typeface="Calibri"/>
            </a:endParaRPr>
          </a:p>
        </p:txBody>
      </p:sp>
      <p:sp>
        <p:nvSpPr>
          <p:cNvPr id="34" name="Google Shape;34;p3"/>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36" name="Google Shape;36;p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THE CORE PROBLEM</a:t>
            </a:r>
            <a:endParaRPr b="0" i="0" sz="1200" u="none" cap="none" strike="noStrike">
              <a:solidFill>
                <a:schemeClr val="dk1"/>
              </a:solidFill>
              <a:latin typeface="Calibri"/>
              <a:ea typeface="Calibri"/>
              <a:cs typeface="Calibri"/>
              <a:sym typeface="Calibri"/>
            </a:endParaRPr>
          </a:p>
        </p:txBody>
      </p:sp>
      <p:sp>
        <p:nvSpPr>
          <p:cNvPr id="43" name="Google Shape;43;p4"/>
          <p:cNvSpPr/>
          <p:nvPr/>
        </p:nvSpPr>
        <p:spPr>
          <a:xfrm>
            <a:off x="685800" y="749808"/>
            <a:ext cx="10789920" cy="1143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Your chatbot forgets everything</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the moment you call it.</a:t>
            </a:r>
            <a:endParaRPr b="0" i="0" sz="3400" u="none" cap="none" strike="noStrike">
              <a:solidFill>
                <a:schemeClr val="dk1"/>
              </a:solidFill>
              <a:latin typeface="Calibri"/>
              <a:ea typeface="Calibri"/>
              <a:cs typeface="Calibri"/>
              <a:sym typeface="Calibri"/>
            </a:endParaRPr>
          </a:p>
        </p:txBody>
      </p:sp>
      <p:sp>
        <p:nvSpPr>
          <p:cNvPr id="44" name="Google Shape;44;p4"/>
          <p:cNvSpPr/>
          <p:nvPr/>
        </p:nvSpPr>
        <p:spPr>
          <a:xfrm>
            <a:off x="5029200" y="2148840"/>
            <a:ext cx="6400800" cy="804672"/>
          </a:xfrm>
          <a:prstGeom prst="roundRect">
            <a:avLst>
              <a:gd fmla="val 10227"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5193792" y="222199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User: </a:t>
            </a:r>
            <a:endParaRPr b="0" i="0" sz="1200" u="none" cap="none" strike="noStrike">
              <a:solidFill>
                <a:schemeClr val="dk1"/>
              </a:solidFill>
              <a:latin typeface="Calibri"/>
              <a:ea typeface="Calibri"/>
              <a:cs typeface="Calibri"/>
              <a:sym typeface="Calibri"/>
            </a:endParaRPr>
          </a:p>
        </p:txBody>
      </p:sp>
      <p:sp>
        <p:nvSpPr>
          <p:cNvPr id="46" name="Google Shape;46;p4"/>
          <p:cNvSpPr/>
          <p:nvPr/>
        </p:nvSpPr>
        <p:spPr>
          <a:xfrm>
            <a:off x="5193792" y="2459736"/>
            <a:ext cx="60807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Hi, my name is Ravi and I want to book a flight to Mumbai.</a:t>
            </a:r>
            <a:endParaRPr b="0" i="0" sz="1200" u="none" cap="none" strike="noStrike">
              <a:solidFill>
                <a:schemeClr val="dk1"/>
              </a:solidFill>
              <a:latin typeface="Calibri"/>
              <a:ea typeface="Calibri"/>
              <a:cs typeface="Calibri"/>
              <a:sym typeface="Calibri"/>
            </a:endParaRPr>
          </a:p>
        </p:txBody>
      </p:sp>
      <p:sp>
        <p:nvSpPr>
          <p:cNvPr id="47" name="Google Shape;47;p4"/>
          <p:cNvSpPr/>
          <p:nvPr/>
        </p:nvSpPr>
        <p:spPr>
          <a:xfrm>
            <a:off x="502920" y="3136392"/>
            <a:ext cx="6400800" cy="804672"/>
          </a:xfrm>
          <a:prstGeom prst="roundRect">
            <a:avLst>
              <a:gd fmla="val 10227"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667512" y="3209544"/>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API: </a:t>
            </a:r>
            <a:endParaRPr b="0" i="0" sz="1200" u="none" cap="none" strike="noStrike">
              <a:solidFill>
                <a:schemeClr val="dk1"/>
              </a:solidFill>
              <a:latin typeface="Calibri"/>
              <a:ea typeface="Calibri"/>
              <a:cs typeface="Calibri"/>
              <a:sym typeface="Calibri"/>
            </a:endParaRPr>
          </a:p>
        </p:txBody>
      </p:sp>
      <p:sp>
        <p:nvSpPr>
          <p:cNvPr id="49" name="Google Shape;49;p4"/>
          <p:cNvSpPr/>
          <p:nvPr/>
        </p:nvSpPr>
        <p:spPr>
          <a:xfrm>
            <a:off x="667512" y="3447288"/>
            <a:ext cx="60807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"Hello Ravi! Happy to help you book a flight to Mumbai. When would you like to travel?"</a:t>
            </a:r>
            <a:endParaRPr b="0" i="0" sz="1200" u="none" cap="none" strike="noStrike">
              <a:solidFill>
                <a:schemeClr val="dk1"/>
              </a:solidFill>
              <a:latin typeface="Calibri"/>
              <a:ea typeface="Calibri"/>
              <a:cs typeface="Calibri"/>
              <a:sym typeface="Calibri"/>
            </a:endParaRPr>
          </a:p>
        </p:txBody>
      </p:sp>
      <p:sp>
        <p:nvSpPr>
          <p:cNvPr id="50" name="Google Shape;50;p4"/>
          <p:cNvSpPr/>
          <p:nvPr/>
        </p:nvSpPr>
        <p:spPr>
          <a:xfrm>
            <a:off x="5029200" y="4123944"/>
            <a:ext cx="6400800" cy="804672"/>
          </a:xfrm>
          <a:prstGeom prst="roundRect">
            <a:avLst>
              <a:gd fmla="val 10227"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5193792" y="4197096"/>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User: </a:t>
            </a:r>
            <a:endParaRPr b="0" i="0" sz="1200" u="none" cap="none" strike="noStrike">
              <a:solidFill>
                <a:schemeClr val="dk1"/>
              </a:solidFill>
              <a:latin typeface="Calibri"/>
              <a:ea typeface="Calibri"/>
              <a:cs typeface="Calibri"/>
              <a:sym typeface="Calibri"/>
            </a:endParaRPr>
          </a:p>
        </p:txBody>
      </p:sp>
      <p:sp>
        <p:nvSpPr>
          <p:cNvPr id="52" name="Google Shape;52;p4"/>
          <p:cNvSpPr/>
          <p:nvPr/>
        </p:nvSpPr>
        <p:spPr>
          <a:xfrm>
            <a:off x="5193792" y="4434840"/>
            <a:ext cx="60807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Next Friday. What are my options?</a:t>
            </a:r>
            <a:endParaRPr b="0" i="0" sz="1200" u="none" cap="none" strike="noStrike">
              <a:solidFill>
                <a:schemeClr val="dk1"/>
              </a:solidFill>
              <a:latin typeface="Calibri"/>
              <a:ea typeface="Calibri"/>
              <a:cs typeface="Calibri"/>
              <a:sym typeface="Calibri"/>
            </a:endParaRPr>
          </a:p>
        </p:txBody>
      </p:sp>
      <p:sp>
        <p:nvSpPr>
          <p:cNvPr id="53" name="Google Shape;53;p4"/>
          <p:cNvSpPr/>
          <p:nvPr/>
        </p:nvSpPr>
        <p:spPr>
          <a:xfrm>
            <a:off x="502920" y="5111496"/>
            <a:ext cx="6400800" cy="804672"/>
          </a:xfrm>
          <a:prstGeom prst="roundRect">
            <a:avLst>
              <a:gd fmla="val 10227"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67512" y="5184648"/>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API: </a:t>
            </a:r>
            <a:endParaRPr b="0" i="0" sz="1200" u="none" cap="none" strike="noStrike">
              <a:solidFill>
                <a:schemeClr val="dk1"/>
              </a:solidFill>
              <a:latin typeface="Calibri"/>
              <a:ea typeface="Calibri"/>
              <a:cs typeface="Calibri"/>
              <a:sym typeface="Calibri"/>
            </a:endParaRPr>
          </a:p>
        </p:txBody>
      </p:sp>
      <p:sp>
        <p:nvSpPr>
          <p:cNvPr id="55" name="Google Shape;55;p4"/>
          <p:cNvSpPr/>
          <p:nvPr/>
        </p:nvSpPr>
        <p:spPr>
          <a:xfrm>
            <a:off x="667512" y="5422392"/>
            <a:ext cx="6080760"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 apologize, but could you clarify — who are you, and where would you like to fly? I don't have any context from a previous message."</a:t>
            </a:r>
            <a:endParaRPr b="0" i="0" sz="1200" u="none" cap="none" strike="noStrike">
              <a:solidFill>
                <a:schemeClr val="dk1"/>
              </a:solidFill>
              <a:latin typeface="Calibri"/>
              <a:ea typeface="Calibri"/>
              <a:cs typeface="Calibri"/>
              <a:sym typeface="Calibri"/>
            </a:endParaRPr>
          </a:p>
        </p:txBody>
      </p:sp>
      <p:sp>
        <p:nvSpPr>
          <p:cNvPr id="56" name="Google Shape;56;p4"/>
          <p:cNvSpPr/>
          <p:nvPr/>
        </p:nvSpPr>
        <p:spPr>
          <a:xfrm>
            <a:off x="502920" y="6080760"/>
            <a:ext cx="11109960" cy="685800"/>
          </a:xfrm>
          <a:prstGeom prst="roundRect">
            <a:avLst>
              <a:gd fmla="val 12000"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713232" y="6153912"/>
            <a:ext cx="1065276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Why: </a:t>
            </a:r>
            <a:r>
              <a:rPr b="0" i="0" lang="en-US" sz="1500" u="none" cap="none" strike="noStrike">
                <a:solidFill>
                  <a:srgbClr val="475569"/>
                </a:solidFill>
                <a:latin typeface="Calibri"/>
                <a:ea typeface="Calibri"/>
                <a:cs typeface="Calibri"/>
                <a:sym typeface="Calibri"/>
              </a:rPr>
              <a:t>the OpenAI API is </a:t>
            </a:r>
            <a:r>
              <a:rPr b="1" i="0" lang="en-US" sz="1500" u="none" cap="none" strike="noStrike">
                <a:solidFill>
                  <a:srgbClr val="475569"/>
                </a:solidFill>
                <a:latin typeface="Calibri"/>
                <a:ea typeface="Calibri"/>
                <a:cs typeface="Calibri"/>
                <a:sym typeface="Calibri"/>
              </a:rPr>
              <a:t>completely stateless.</a:t>
            </a:r>
            <a:r>
              <a:rPr b="0" i="0" lang="en-US" sz="1500" u="none" cap="none" strike="noStrike">
                <a:solidFill>
                  <a:srgbClr val="475569"/>
                </a:solidFill>
                <a:latin typeface="Calibri"/>
                <a:ea typeface="Calibri"/>
                <a:cs typeface="Calibri"/>
                <a:sym typeface="Calibri"/>
              </a:rPr>
              <a:t> Every call is independent. The model has no memory between calls unless YOU send the history. This session teaches you how to be the model's memory.</a:t>
            </a:r>
            <a:endParaRPr b="0" i="0" sz="1500" u="none" cap="none" strike="noStrike">
              <a:solidFill>
                <a:schemeClr val="dk1"/>
              </a:solidFill>
              <a:latin typeface="Calibri"/>
              <a:ea typeface="Calibri"/>
              <a:cs typeface="Calibri"/>
              <a:sym typeface="Calibri"/>
            </a:endParaRPr>
          </a:p>
        </p:txBody>
      </p:sp>
      <p:sp>
        <p:nvSpPr>
          <p:cNvPr id="58" name="Google Shape;58;p4"/>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60" name="Google Shape;60;p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5" name="Shape 65"/>
        <p:cNvGrpSpPr/>
        <p:nvPr/>
      </p:nvGrpSpPr>
      <p:grpSpPr>
        <a:xfrm>
          <a:off x="0" y="0"/>
          <a:ext cx="0" cy="0"/>
          <a:chOff x="0" y="0"/>
          <a:chExt cx="0" cy="0"/>
        </a:xfrm>
      </p:grpSpPr>
      <p:sp>
        <p:nvSpPr>
          <p:cNvPr id="66" name="Google Shape;66;p5"/>
          <p:cNvSpPr/>
          <p:nvPr/>
        </p:nvSpPr>
        <p:spPr>
          <a:xfrm>
            <a:off x="685800" y="141732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The one truth that changes how you build chat apps:</a:t>
            </a:r>
            <a:endParaRPr b="0" i="0" sz="2000" u="none" cap="none" strike="noStrike">
              <a:solidFill>
                <a:schemeClr val="dk1"/>
              </a:solidFill>
              <a:latin typeface="Calibri"/>
              <a:ea typeface="Calibri"/>
              <a:cs typeface="Calibri"/>
              <a:sym typeface="Calibri"/>
            </a:endParaRPr>
          </a:p>
        </p:txBody>
      </p:sp>
      <p:sp>
        <p:nvSpPr>
          <p:cNvPr id="67" name="Google Shape;67;p5"/>
          <p:cNvSpPr/>
          <p:nvPr/>
        </p:nvSpPr>
        <p:spPr>
          <a:xfrm>
            <a:off x="658368" y="1965960"/>
            <a:ext cx="10515600" cy="219456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8ECFF"/>
              </a:buClr>
              <a:buSzPts val="5000"/>
              <a:buFont typeface="Calibri"/>
              <a:buNone/>
            </a:pPr>
            <a:r>
              <a:rPr b="1" i="0" lang="en-US" sz="5000" u="none" cap="none" strike="noStrike">
                <a:solidFill>
                  <a:srgbClr val="E8ECFF"/>
                </a:solidFill>
                <a:latin typeface="Calibri"/>
                <a:ea typeface="Calibri"/>
                <a:cs typeface="Calibri"/>
                <a:sym typeface="Calibri"/>
              </a:rPr>
              <a:t>The API is stateless.</a:t>
            </a:r>
            <a:br>
              <a:rPr b="1" i="0" lang="en-US" sz="5000" u="none" cap="none" strike="noStrike">
                <a:solidFill>
                  <a:srgbClr val="E8ECFF"/>
                </a:solidFill>
                <a:latin typeface="Calibri"/>
                <a:ea typeface="Calibri"/>
                <a:cs typeface="Calibri"/>
                <a:sym typeface="Calibri"/>
              </a:rPr>
            </a:br>
            <a:r>
              <a:rPr b="1" i="0" lang="en-US" sz="5000" u="none" cap="none" strike="noStrike">
                <a:solidFill>
                  <a:srgbClr val="C4B5FD"/>
                </a:solidFill>
                <a:latin typeface="Calibri"/>
                <a:ea typeface="Calibri"/>
                <a:cs typeface="Calibri"/>
                <a:sym typeface="Calibri"/>
              </a:rPr>
              <a:t>YOU </a:t>
            </a:r>
            <a:r>
              <a:rPr b="1" i="0" lang="en-US" sz="5000" u="none" cap="none" strike="noStrike">
                <a:solidFill>
                  <a:srgbClr val="E8ECFF"/>
                </a:solidFill>
                <a:latin typeface="Calibri"/>
                <a:ea typeface="Calibri"/>
                <a:cs typeface="Calibri"/>
                <a:sym typeface="Calibri"/>
              </a:rPr>
              <a:t>are the memory.</a:t>
            </a:r>
            <a:endParaRPr b="0" i="0" sz="5000" u="none" cap="none" strike="noStrike">
              <a:solidFill>
                <a:schemeClr val="dk1"/>
              </a:solidFill>
              <a:latin typeface="Calibri"/>
              <a:ea typeface="Calibri"/>
              <a:cs typeface="Calibri"/>
              <a:sym typeface="Calibri"/>
            </a:endParaRPr>
          </a:p>
        </p:txBody>
      </p:sp>
      <p:cxnSp>
        <p:nvCxnSpPr>
          <p:cNvPr id="68" name="Google Shape;68;p5"/>
          <p:cNvCxnSpPr/>
          <p:nvPr/>
        </p:nvCxnSpPr>
        <p:spPr>
          <a:xfrm>
            <a:off x="685800" y="4297680"/>
            <a:ext cx="10789920" cy="0"/>
          </a:xfrm>
          <a:prstGeom prst="straightConnector1">
            <a:avLst/>
          </a:prstGeom>
          <a:noFill/>
          <a:ln cap="flat" cmpd="sng" w="12700">
            <a:solidFill>
              <a:srgbClr val="2D2447"/>
            </a:solidFill>
            <a:prstDash val="solid"/>
            <a:round/>
            <a:headEnd len="sm" w="sm" type="none"/>
            <a:tailEnd len="sm" w="sm" type="none"/>
          </a:ln>
        </p:spPr>
      </p:cxnSp>
      <p:sp>
        <p:nvSpPr>
          <p:cNvPr id="69" name="Google Shape;69;p5"/>
          <p:cNvSpPr/>
          <p:nvPr/>
        </p:nvSpPr>
        <p:spPr>
          <a:xfrm>
            <a:off x="685800" y="4498848"/>
            <a:ext cx="105156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800"/>
              <a:buFont typeface="Calibri"/>
              <a:buNone/>
            </a:pPr>
            <a:r>
              <a:rPr b="0" i="0" lang="en-US" sz="1800" u="none" cap="none" strike="noStrike">
                <a:solidFill>
                  <a:srgbClr val="8B92B8"/>
                </a:solidFill>
                <a:latin typeface="Calibri"/>
                <a:ea typeface="Calibri"/>
                <a:cs typeface="Calibri"/>
                <a:sym typeface="Calibri"/>
              </a:rPr>
              <a:t>Every call to the API is treated as the very first message. The model has no memory, no session, no context beyond what you explicitly send in the request body.</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685800" y="5532120"/>
            <a:ext cx="3456432" cy="804672"/>
          </a:xfrm>
          <a:prstGeom prst="roundRect">
            <a:avLst>
              <a:gd fmla="val 10227" name="adj"/>
            </a:avLst>
          </a:prstGeom>
          <a:solidFill>
            <a:srgbClr val="1C2236"/>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868680" y="5596128"/>
            <a:ext cx="3108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500"/>
              <a:buFont typeface="Calibri"/>
              <a:buNone/>
            </a:pPr>
            <a:r>
              <a:rPr b="1" i="0" lang="en-US" sz="1500" u="none" cap="none" strike="noStrike">
                <a:solidFill>
                  <a:srgbClr val="C4B5FD"/>
                </a:solidFill>
                <a:latin typeface="Calibri"/>
                <a:ea typeface="Calibri"/>
                <a:cs typeface="Calibri"/>
                <a:sym typeface="Calibri"/>
              </a:rPr>
              <a:t>You store history</a:t>
            </a:r>
            <a:endParaRPr b="0" i="0" sz="1500" u="none" cap="none" strike="noStrike">
              <a:solidFill>
                <a:schemeClr val="dk1"/>
              </a:solidFill>
              <a:latin typeface="Calibri"/>
              <a:ea typeface="Calibri"/>
              <a:cs typeface="Calibri"/>
              <a:sym typeface="Calibri"/>
            </a:endParaRPr>
          </a:p>
        </p:txBody>
      </p:sp>
      <p:sp>
        <p:nvSpPr>
          <p:cNvPr id="72" name="Google Shape;72;p5"/>
          <p:cNvSpPr/>
          <p:nvPr/>
        </p:nvSpPr>
        <p:spPr>
          <a:xfrm>
            <a:off x="868680" y="594360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A list of all messages — in memory, Redis, or DB</a:t>
            </a:r>
            <a:endParaRPr b="0" i="0" sz="1200" u="none" cap="none" strike="noStrike">
              <a:solidFill>
                <a:schemeClr val="dk1"/>
              </a:solidFill>
              <a:latin typeface="Calibri"/>
              <a:ea typeface="Calibri"/>
              <a:cs typeface="Calibri"/>
              <a:sym typeface="Calibri"/>
            </a:endParaRPr>
          </a:p>
        </p:txBody>
      </p:sp>
      <p:sp>
        <p:nvSpPr>
          <p:cNvPr id="73" name="Google Shape;73;p5"/>
          <p:cNvSpPr/>
          <p:nvPr/>
        </p:nvSpPr>
        <p:spPr>
          <a:xfrm>
            <a:off x="4343400" y="5532120"/>
            <a:ext cx="3456432" cy="804672"/>
          </a:xfrm>
          <a:prstGeom prst="roundRect">
            <a:avLst>
              <a:gd fmla="val 10227" name="adj"/>
            </a:avLst>
          </a:prstGeom>
          <a:solidFill>
            <a:srgbClr val="1C2236"/>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4526280" y="5596128"/>
            <a:ext cx="3108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500"/>
              <a:buFont typeface="Calibri"/>
              <a:buNone/>
            </a:pPr>
            <a:r>
              <a:rPr b="1" i="0" lang="en-US" sz="1500" u="none" cap="none" strike="noStrike">
                <a:solidFill>
                  <a:srgbClr val="C4B5FD"/>
                </a:solidFill>
                <a:latin typeface="Calibri"/>
                <a:ea typeface="Calibri"/>
                <a:cs typeface="Calibri"/>
                <a:sym typeface="Calibri"/>
              </a:rPr>
              <a:t>You send it all</a:t>
            </a:r>
            <a:endParaRPr b="0" i="0" sz="1500" u="none" cap="none" strike="noStrike">
              <a:solidFill>
                <a:schemeClr val="dk1"/>
              </a:solidFill>
              <a:latin typeface="Calibri"/>
              <a:ea typeface="Calibri"/>
              <a:cs typeface="Calibri"/>
              <a:sym typeface="Calibri"/>
            </a:endParaRPr>
          </a:p>
        </p:txBody>
      </p:sp>
      <p:sp>
        <p:nvSpPr>
          <p:cNvPr id="75" name="Google Shape;75;p5"/>
          <p:cNvSpPr/>
          <p:nvPr/>
        </p:nvSpPr>
        <p:spPr>
          <a:xfrm>
            <a:off x="4526280" y="594360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Every turn you send the FULL conversation history</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8001000" y="5532120"/>
            <a:ext cx="3456432" cy="804672"/>
          </a:xfrm>
          <a:prstGeom prst="roundRect">
            <a:avLst>
              <a:gd fmla="val 10227" name="adj"/>
            </a:avLst>
          </a:prstGeom>
          <a:solidFill>
            <a:srgbClr val="1C2236"/>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8183880" y="5596128"/>
            <a:ext cx="3108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500"/>
              <a:buFont typeface="Calibri"/>
              <a:buNone/>
            </a:pPr>
            <a:r>
              <a:rPr b="1" i="0" lang="en-US" sz="1500" u="none" cap="none" strike="noStrike">
                <a:solidFill>
                  <a:srgbClr val="C4B5FD"/>
                </a:solidFill>
                <a:latin typeface="Calibri"/>
                <a:ea typeface="Calibri"/>
                <a:cs typeface="Calibri"/>
                <a:sym typeface="Calibri"/>
              </a:rPr>
              <a:t>You manage cost</a:t>
            </a:r>
            <a:endParaRPr b="0" i="0" sz="1500" u="none" cap="none" strike="noStrike">
              <a:solidFill>
                <a:schemeClr val="dk1"/>
              </a:solidFill>
              <a:latin typeface="Calibri"/>
              <a:ea typeface="Calibri"/>
              <a:cs typeface="Calibri"/>
              <a:sym typeface="Calibri"/>
            </a:endParaRPr>
          </a:p>
        </p:txBody>
      </p:sp>
      <p:sp>
        <p:nvSpPr>
          <p:cNvPr id="78" name="Google Shape;78;p5"/>
          <p:cNvSpPr/>
          <p:nvPr/>
        </p:nvSpPr>
        <p:spPr>
          <a:xfrm>
            <a:off x="8183880" y="594360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More history = more tokens = more cost, every turn</a:t>
            </a:r>
            <a:endParaRPr b="0" i="0" sz="1200" u="none" cap="none" strike="noStrike">
              <a:solidFill>
                <a:schemeClr val="dk1"/>
              </a:solidFill>
              <a:latin typeface="Calibri"/>
              <a:ea typeface="Calibri"/>
              <a:cs typeface="Calibri"/>
              <a:sym typeface="Calibri"/>
            </a:endParaRPr>
          </a:p>
        </p:txBody>
      </p:sp>
      <p:sp>
        <p:nvSpPr>
          <p:cNvPr id="79" name="Google Shape;79;p5"/>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81" name="Google Shape;81;p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86" name="Shape 86"/>
        <p:cNvGrpSpPr/>
        <p:nvPr/>
      </p:nvGrpSpPr>
      <p:grpSpPr>
        <a:xfrm>
          <a:off x="0" y="0"/>
          <a:ext cx="0" cy="0"/>
          <a:chOff x="0" y="0"/>
          <a:chExt cx="0" cy="0"/>
        </a:xfrm>
      </p:grpSpPr>
      <p:sp>
        <p:nvSpPr>
          <p:cNvPr id="87" name="Google Shape;87;p6"/>
          <p:cNvSpPr/>
          <p:nvPr/>
        </p:nvSpPr>
        <p:spPr>
          <a:xfrm>
            <a:off x="685800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9000"/>
              <a:buFont typeface="Calibri"/>
              <a:buNone/>
            </a:pPr>
            <a:r>
              <a:rPr b="1" i="0" lang="en-US" sz="19000" u="none" cap="none" strike="noStrike">
                <a:solidFill>
                  <a:srgbClr val="7C3AED"/>
                </a:solidFill>
                <a:latin typeface="Calibri"/>
                <a:ea typeface="Calibri"/>
                <a:cs typeface="Calibri"/>
                <a:sym typeface="Calibri"/>
              </a:rPr>
              <a:t>Stateless</a:t>
            </a:r>
            <a:endParaRPr b="0" i="0" sz="19000" u="none" cap="none" strike="noStrike">
              <a:solidFill>
                <a:schemeClr val="dk1"/>
              </a:solidFill>
              <a:latin typeface="Calibri"/>
              <a:ea typeface="Calibri"/>
              <a:cs typeface="Calibri"/>
              <a:sym typeface="Calibri"/>
            </a:endParaRPr>
          </a:p>
        </p:txBody>
      </p:sp>
      <p:sp>
        <p:nvSpPr>
          <p:cNvPr id="88" name="Google Shape;88;p6"/>
          <p:cNvSpPr/>
          <p:nvPr/>
        </p:nvSpPr>
        <p:spPr>
          <a:xfrm>
            <a:off x="475488" y="804672"/>
            <a:ext cx="749808" cy="749808"/>
          </a:xfrm>
          <a:prstGeom prst="roundRect">
            <a:avLst>
              <a:gd fmla="val 12195"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6"/>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90" name="Google Shape;90;p6"/>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SECTION</a:t>
            </a:r>
            <a:endParaRPr b="0" i="0" sz="1300" u="none" cap="none" strike="noStrike">
              <a:solidFill>
                <a:schemeClr val="dk1"/>
              </a:solidFill>
              <a:latin typeface="Calibri"/>
              <a:ea typeface="Calibri"/>
              <a:cs typeface="Calibri"/>
              <a:sym typeface="Calibri"/>
            </a:endParaRPr>
          </a:p>
        </p:txBody>
      </p:sp>
      <p:sp>
        <p:nvSpPr>
          <p:cNvPr id="91" name="Google Shape;91;p6"/>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Stateless</a:t>
            </a:r>
            <a:endParaRPr b="0" i="0" sz="54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API</a:t>
            </a:r>
            <a:endParaRPr b="0" i="0" sz="5400" u="none" cap="none" strike="noStrike">
              <a:solidFill>
                <a:schemeClr val="dk1"/>
              </a:solidFill>
              <a:latin typeface="Calibri"/>
              <a:ea typeface="Calibri"/>
              <a:cs typeface="Calibri"/>
              <a:sym typeface="Calibri"/>
            </a:endParaRPr>
          </a:p>
        </p:txBody>
      </p:sp>
      <p:sp>
        <p:nvSpPr>
          <p:cNvPr id="92" name="Google Shape;92;p6"/>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What stateless means, why it matters, and how every chat app solves it.</a:t>
            </a:r>
            <a:endParaRPr b="0" i="0" sz="2000" u="none" cap="none" strike="noStrike">
              <a:solidFill>
                <a:schemeClr val="dk1"/>
              </a:solidFill>
              <a:latin typeface="Calibri"/>
              <a:ea typeface="Calibri"/>
              <a:cs typeface="Calibri"/>
              <a:sym typeface="Calibri"/>
            </a:endParaRPr>
          </a:p>
        </p:txBody>
      </p:sp>
      <p:sp>
        <p:nvSpPr>
          <p:cNvPr id="93" name="Google Shape;93;p6"/>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95" name="Google Shape;95;p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SECTION 1 · THE STATELESS API — WHAT THIS REALLY MEANS</a:t>
            </a:r>
            <a:endParaRPr b="0" i="0" sz="1200" u="none" cap="none" strike="noStrike">
              <a:solidFill>
                <a:schemeClr val="dk1"/>
              </a:solidFill>
              <a:latin typeface="Calibri"/>
              <a:ea typeface="Calibri"/>
              <a:cs typeface="Calibri"/>
              <a:sym typeface="Calibri"/>
            </a:endParaRPr>
          </a:p>
        </p:txBody>
      </p:sp>
      <p:sp>
        <p:nvSpPr>
          <p:cNvPr id="102" name="Google Shape;102;p7"/>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800"/>
              <a:buFont typeface="Calibri"/>
              <a:buNone/>
            </a:pPr>
            <a:r>
              <a:rPr b="1" i="0" lang="en-US" sz="3800" u="none" cap="none" strike="noStrike">
                <a:solidFill>
                  <a:srgbClr val="475569"/>
                </a:solidFill>
                <a:latin typeface="Calibri"/>
                <a:ea typeface="Calibri"/>
                <a:cs typeface="Calibri"/>
                <a:sym typeface="Calibri"/>
              </a:rPr>
              <a:t>Each API call is a blank slate.</a:t>
            </a:r>
            <a:endParaRPr b="0" i="0" sz="3800" u="none" cap="none" strike="noStrike">
              <a:solidFill>
                <a:schemeClr val="dk1"/>
              </a:solidFill>
              <a:latin typeface="Calibri"/>
              <a:ea typeface="Calibri"/>
              <a:cs typeface="Calibri"/>
              <a:sym typeface="Calibri"/>
            </a:endParaRPr>
          </a:p>
        </p:txBody>
      </p:sp>
      <p:sp>
        <p:nvSpPr>
          <p:cNvPr id="103" name="Google Shape;103;p7"/>
          <p:cNvSpPr/>
          <p:nvPr/>
        </p:nvSpPr>
        <p:spPr>
          <a:xfrm>
            <a:off x="502920" y="1874520"/>
            <a:ext cx="3639312" cy="4041648"/>
          </a:xfrm>
          <a:prstGeom prst="roundRect">
            <a:avLst>
              <a:gd fmla="val 2513" name="adj"/>
            </a:avLst>
          </a:prstGeom>
          <a:solidFill>
            <a:srgbClr val="FFF1F2"/>
          </a:solidFill>
          <a:ln cap="flat" cmpd="sng" w="19050">
            <a:solidFill>
              <a:srgbClr val="E11D48">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p:nvPr/>
        </p:nvSpPr>
        <p:spPr>
          <a:xfrm>
            <a:off x="502920" y="1874520"/>
            <a:ext cx="3639312" cy="384048"/>
          </a:xfrm>
          <a:prstGeom prst="roundRect">
            <a:avLst>
              <a:gd fmla="val 23810"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p:nvPr/>
        </p:nvSpPr>
        <p:spPr>
          <a:xfrm>
            <a:off x="667512" y="1911096"/>
            <a:ext cx="3337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What you might think</a:t>
            </a:r>
            <a:endParaRPr b="0" i="0" sz="1300" u="none" cap="none" strike="noStrike">
              <a:solidFill>
                <a:schemeClr val="dk1"/>
              </a:solidFill>
              <a:latin typeface="Calibri"/>
              <a:ea typeface="Calibri"/>
              <a:cs typeface="Calibri"/>
              <a:sym typeface="Calibri"/>
            </a:endParaRPr>
          </a:p>
        </p:txBody>
      </p:sp>
      <p:sp>
        <p:nvSpPr>
          <p:cNvPr id="106" name="Google Shape;106;p7"/>
          <p:cNvSpPr/>
          <p:nvPr/>
        </p:nvSpPr>
        <p:spPr>
          <a:xfrm>
            <a:off x="704088" y="2532888"/>
            <a:ext cx="347472" cy="347472"/>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7"/>
          <p:cNvSpPr/>
          <p:nvPr/>
        </p:nvSpPr>
        <p:spPr>
          <a:xfrm>
            <a:off x="1188720" y="2468880"/>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The model knows who you are</a:t>
            </a:r>
            <a:endParaRPr b="0" i="0" sz="1300" u="none" cap="none" strike="noStrike">
              <a:solidFill>
                <a:schemeClr val="dk1"/>
              </a:solidFill>
              <a:latin typeface="Calibri"/>
              <a:ea typeface="Calibri"/>
              <a:cs typeface="Calibri"/>
              <a:sym typeface="Calibri"/>
            </a:endParaRPr>
          </a:p>
        </p:txBody>
      </p:sp>
      <p:sp>
        <p:nvSpPr>
          <p:cNvPr id="108" name="Google Shape;108;p7"/>
          <p:cNvSpPr/>
          <p:nvPr/>
        </p:nvSpPr>
        <p:spPr>
          <a:xfrm>
            <a:off x="704088" y="3337560"/>
            <a:ext cx="347472" cy="347472"/>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1188720" y="3273552"/>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It remembers previous messages</a:t>
            </a:r>
            <a:endParaRPr b="0" i="0" sz="1300" u="none" cap="none" strike="noStrike">
              <a:solidFill>
                <a:schemeClr val="dk1"/>
              </a:solidFill>
              <a:latin typeface="Calibri"/>
              <a:ea typeface="Calibri"/>
              <a:cs typeface="Calibri"/>
              <a:sym typeface="Calibri"/>
            </a:endParaRPr>
          </a:p>
        </p:txBody>
      </p:sp>
      <p:sp>
        <p:nvSpPr>
          <p:cNvPr id="110" name="Google Shape;110;p7"/>
          <p:cNvSpPr/>
          <p:nvPr/>
        </p:nvSpPr>
        <p:spPr>
          <a:xfrm>
            <a:off x="704088" y="4142232"/>
            <a:ext cx="347472" cy="347472"/>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1188720" y="4078224"/>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It tracks session context</a:t>
            </a:r>
            <a:endParaRPr b="0" i="0" sz="1300" u="none" cap="none" strike="noStrike">
              <a:solidFill>
                <a:schemeClr val="dk1"/>
              </a:solidFill>
              <a:latin typeface="Calibri"/>
              <a:ea typeface="Calibri"/>
              <a:cs typeface="Calibri"/>
              <a:sym typeface="Calibri"/>
            </a:endParaRPr>
          </a:p>
        </p:txBody>
      </p:sp>
      <p:sp>
        <p:nvSpPr>
          <p:cNvPr id="112" name="Google Shape;112;p7"/>
          <p:cNvSpPr/>
          <p:nvPr/>
        </p:nvSpPr>
        <p:spPr>
          <a:xfrm>
            <a:off x="704088" y="4946904"/>
            <a:ext cx="347472" cy="347472"/>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1188720" y="4882896"/>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Your user ID means something to it</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4343400" y="1874520"/>
            <a:ext cx="3639312" cy="4041648"/>
          </a:xfrm>
          <a:prstGeom prst="roundRect">
            <a:avLst>
              <a:gd fmla="val 2513" name="adj"/>
            </a:avLst>
          </a:prstGeom>
          <a:solidFill>
            <a:srgbClr val="FFFBEB"/>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4343400" y="1874520"/>
            <a:ext cx="3639312" cy="384048"/>
          </a:xfrm>
          <a:prstGeom prst="roundRect">
            <a:avLst>
              <a:gd fmla="val 23810"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4507992" y="1911096"/>
            <a:ext cx="3337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What actually happens</a:t>
            </a:r>
            <a:endParaRPr b="0" i="0" sz="1300" u="none" cap="none" strike="noStrike">
              <a:solidFill>
                <a:schemeClr val="dk1"/>
              </a:solidFill>
              <a:latin typeface="Calibri"/>
              <a:ea typeface="Calibri"/>
              <a:cs typeface="Calibri"/>
              <a:sym typeface="Calibri"/>
            </a:endParaRPr>
          </a:p>
        </p:txBody>
      </p:sp>
      <p:sp>
        <p:nvSpPr>
          <p:cNvPr id="117" name="Google Shape;117;p7"/>
          <p:cNvSpPr/>
          <p:nvPr/>
        </p:nvSpPr>
        <p:spPr>
          <a:xfrm>
            <a:off x="4544568" y="2532888"/>
            <a:ext cx="347472" cy="347472"/>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5029200" y="2468880"/>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The model sees ONLY the messages you send NOW</a:t>
            </a:r>
            <a:endParaRPr b="0" i="0" sz="1300" u="none" cap="none" strike="noStrike">
              <a:solidFill>
                <a:schemeClr val="dk1"/>
              </a:solidFill>
              <a:latin typeface="Calibri"/>
              <a:ea typeface="Calibri"/>
              <a:cs typeface="Calibri"/>
              <a:sym typeface="Calibri"/>
            </a:endParaRPr>
          </a:p>
        </p:txBody>
      </p:sp>
      <p:sp>
        <p:nvSpPr>
          <p:cNvPr id="119" name="Google Shape;119;p7"/>
          <p:cNvSpPr/>
          <p:nvPr/>
        </p:nvSpPr>
        <p:spPr>
          <a:xfrm>
            <a:off x="4544568" y="3337560"/>
            <a:ext cx="347472" cy="347472"/>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5029200" y="3273552"/>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Each request is processed independently</a:t>
            </a:r>
            <a:endParaRPr b="0" i="0" sz="1300" u="none" cap="none" strike="noStrike">
              <a:solidFill>
                <a:schemeClr val="dk1"/>
              </a:solidFill>
              <a:latin typeface="Calibri"/>
              <a:ea typeface="Calibri"/>
              <a:cs typeface="Calibri"/>
              <a:sym typeface="Calibri"/>
            </a:endParaRPr>
          </a:p>
        </p:txBody>
      </p:sp>
      <p:sp>
        <p:nvSpPr>
          <p:cNvPr id="121" name="Google Shape;121;p7"/>
          <p:cNvSpPr/>
          <p:nvPr/>
        </p:nvSpPr>
        <p:spPr>
          <a:xfrm>
            <a:off x="4544568" y="4142232"/>
            <a:ext cx="347472" cy="347472"/>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5029200" y="4078224"/>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There is no concept of a user or session</a:t>
            </a:r>
            <a:endParaRPr b="0" i="0" sz="1300" u="none" cap="none" strike="noStrike">
              <a:solidFill>
                <a:schemeClr val="dk1"/>
              </a:solidFill>
              <a:latin typeface="Calibri"/>
              <a:ea typeface="Calibri"/>
              <a:cs typeface="Calibri"/>
              <a:sym typeface="Calibri"/>
            </a:endParaRPr>
          </a:p>
        </p:txBody>
      </p:sp>
      <p:sp>
        <p:nvSpPr>
          <p:cNvPr id="123" name="Google Shape;123;p7"/>
          <p:cNvSpPr/>
          <p:nvPr/>
        </p:nvSpPr>
        <p:spPr>
          <a:xfrm>
            <a:off x="4544568" y="4946904"/>
            <a:ext cx="347472" cy="347472"/>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5029200" y="4882896"/>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Your user ID is invisible to the model</a:t>
            </a:r>
            <a:endParaRPr b="0" i="0" sz="1300" u="none" cap="none" strike="noStrike">
              <a:solidFill>
                <a:schemeClr val="dk1"/>
              </a:solidFill>
              <a:latin typeface="Calibri"/>
              <a:ea typeface="Calibri"/>
              <a:cs typeface="Calibri"/>
              <a:sym typeface="Calibri"/>
            </a:endParaRPr>
          </a:p>
        </p:txBody>
      </p:sp>
      <p:sp>
        <p:nvSpPr>
          <p:cNvPr id="125" name="Google Shape;125;p7"/>
          <p:cNvSpPr/>
          <p:nvPr/>
        </p:nvSpPr>
        <p:spPr>
          <a:xfrm>
            <a:off x="8183880" y="1874520"/>
            <a:ext cx="3639312" cy="4041648"/>
          </a:xfrm>
          <a:prstGeom prst="roundRect">
            <a:avLst>
              <a:gd fmla="val 2513" name="adj"/>
            </a:avLst>
          </a:prstGeom>
          <a:solidFill>
            <a:srgbClr val="F0FDF4"/>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8183880" y="1874520"/>
            <a:ext cx="3639312" cy="384048"/>
          </a:xfrm>
          <a:prstGeom prst="roundRect">
            <a:avLst>
              <a:gd fmla="val 2381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8348472" y="1911096"/>
            <a:ext cx="33375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What we build today</a:t>
            </a:r>
            <a:endParaRPr b="0" i="0" sz="1300" u="none" cap="none" strike="noStrike">
              <a:solidFill>
                <a:schemeClr val="dk1"/>
              </a:solidFill>
              <a:latin typeface="Calibri"/>
              <a:ea typeface="Calibri"/>
              <a:cs typeface="Calibri"/>
              <a:sym typeface="Calibri"/>
            </a:endParaRPr>
          </a:p>
        </p:txBody>
      </p:sp>
      <p:sp>
        <p:nvSpPr>
          <p:cNvPr id="128" name="Google Shape;128;p7"/>
          <p:cNvSpPr/>
          <p:nvPr/>
        </p:nvSpPr>
        <p:spPr>
          <a:xfrm>
            <a:off x="8385048" y="2532888"/>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8869680" y="2468880"/>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A message history per session ID</a:t>
            </a:r>
            <a:endParaRPr b="0" i="0" sz="1300" u="none" cap="none" strike="noStrike">
              <a:solidFill>
                <a:schemeClr val="dk1"/>
              </a:solidFill>
              <a:latin typeface="Calibri"/>
              <a:ea typeface="Calibri"/>
              <a:cs typeface="Calibri"/>
              <a:sym typeface="Calibri"/>
            </a:endParaRPr>
          </a:p>
        </p:txBody>
      </p:sp>
      <p:sp>
        <p:nvSpPr>
          <p:cNvPr id="130" name="Google Shape;130;p7"/>
          <p:cNvSpPr/>
          <p:nvPr/>
        </p:nvSpPr>
        <p:spPr>
          <a:xfrm>
            <a:off x="8385048" y="3337560"/>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8869680" y="3273552"/>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Append every user + assistant message</a:t>
            </a:r>
            <a:endParaRPr b="0" i="0" sz="1300" u="none" cap="none" strike="noStrike">
              <a:solidFill>
                <a:schemeClr val="dk1"/>
              </a:solidFill>
              <a:latin typeface="Calibri"/>
              <a:ea typeface="Calibri"/>
              <a:cs typeface="Calibri"/>
              <a:sym typeface="Calibri"/>
            </a:endParaRPr>
          </a:p>
        </p:txBody>
      </p:sp>
      <p:sp>
        <p:nvSpPr>
          <p:cNvPr id="132" name="Google Shape;132;p7"/>
          <p:cNvSpPr/>
          <p:nvPr/>
        </p:nvSpPr>
        <p:spPr>
          <a:xfrm>
            <a:off x="8385048" y="4142232"/>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8869680" y="4078224"/>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Send the full list on every API call</a:t>
            </a:r>
            <a:endParaRPr b="0" i="0" sz="1300" u="none" cap="none" strike="noStrike">
              <a:solidFill>
                <a:schemeClr val="dk1"/>
              </a:solidFill>
              <a:latin typeface="Calibri"/>
              <a:ea typeface="Calibri"/>
              <a:cs typeface="Calibri"/>
              <a:sym typeface="Calibri"/>
            </a:endParaRPr>
          </a:p>
        </p:txBody>
      </p:sp>
      <p:sp>
        <p:nvSpPr>
          <p:cNvPr id="134" name="Google Shape;134;p7"/>
          <p:cNvSpPr/>
          <p:nvPr/>
        </p:nvSpPr>
        <p:spPr>
          <a:xfrm>
            <a:off x="8385048" y="4946904"/>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8869680" y="4882896"/>
            <a:ext cx="2834640" cy="685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Clear or trim when context fills up</a:t>
            </a:r>
            <a:endParaRPr b="0" i="0" sz="1300" u="none" cap="none" strike="noStrike">
              <a:solidFill>
                <a:schemeClr val="dk1"/>
              </a:solidFill>
              <a:latin typeface="Calibri"/>
              <a:ea typeface="Calibri"/>
              <a:cs typeface="Calibri"/>
              <a:sym typeface="Calibri"/>
            </a:endParaRPr>
          </a:p>
        </p:txBody>
      </p:sp>
      <p:sp>
        <p:nvSpPr>
          <p:cNvPr id="136" name="Google Shape;136;p7"/>
          <p:cNvSpPr/>
          <p:nvPr/>
        </p:nvSpPr>
        <p:spPr>
          <a:xfrm>
            <a:off x="502920" y="6035040"/>
            <a:ext cx="11109960" cy="566928"/>
          </a:xfrm>
          <a:prstGeom prst="roundRect">
            <a:avLst>
              <a:gd fmla="val 12903"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713232" y="6108192"/>
            <a:ext cx="10652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The right mental model: </a:t>
            </a:r>
            <a:r>
              <a:rPr b="0" i="0" lang="en-US" sz="1300" u="none" cap="none" strike="noStrike">
                <a:solidFill>
                  <a:srgbClr val="475569"/>
                </a:solidFill>
                <a:latin typeface="Calibri"/>
                <a:ea typeface="Calibri"/>
                <a:cs typeface="Calibri"/>
                <a:sym typeface="Calibri"/>
              </a:rPr>
              <a:t>the model is a pure function — same input always produces equivalent output. State is your responsibility, not the model's. This is a feature, not a bug: it gives you complete control over what context the model sees.</a:t>
            </a:r>
            <a:endParaRPr b="0" i="0" sz="1300" u="none" cap="none" strike="noStrike">
              <a:solidFill>
                <a:schemeClr val="dk1"/>
              </a:solidFill>
              <a:latin typeface="Calibri"/>
              <a:ea typeface="Calibri"/>
              <a:cs typeface="Calibri"/>
              <a:sym typeface="Calibri"/>
            </a:endParaRPr>
          </a:p>
        </p:txBody>
      </p:sp>
      <p:sp>
        <p:nvSpPr>
          <p:cNvPr id="138" name="Google Shape;138;p7"/>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140" name="Google Shape;140;p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8"/>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SECTION 1 · HOW CHATGPT APPEARS TO REMEMBER</a:t>
            </a:r>
            <a:endParaRPr b="0" i="0" sz="1200" u="none" cap="none" strike="noStrike">
              <a:solidFill>
                <a:schemeClr val="dk1"/>
              </a:solidFill>
              <a:latin typeface="Calibri"/>
              <a:ea typeface="Calibri"/>
              <a:cs typeface="Calibri"/>
              <a:sym typeface="Calibri"/>
            </a:endParaRPr>
          </a:p>
        </p:txBody>
      </p:sp>
      <p:sp>
        <p:nvSpPr>
          <p:cNvPr id="147" name="Google Shape;147;p8"/>
          <p:cNvSpPr/>
          <p:nvPr/>
        </p:nvSpPr>
        <p:spPr>
          <a:xfrm>
            <a:off x="685800" y="749808"/>
            <a:ext cx="10789920" cy="9601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ChatGPT is not magic. It runs the same code you will write today.</a:t>
            </a:r>
            <a:endParaRPr b="0" i="0" sz="3000" u="none" cap="none" strike="noStrike">
              <a:solidFill>
                <a:schemeClr val="dk1"/>
              </a:solidFill>
              <a:latin typeface="Calibri"/>
              <a:ea typeface="Calibri"/>
              <a:cs typeface="Calibri"/>
              <a:sym typeface="Calibri"/>
            </a:endParaRPr>
          </a:p>
        </p:txBody>
      </p:sp>
      <p:sp>
        <p:nvSpPr>
          <p:cNvPr id="148" name="Google Shape;148;p8"/>
          <p:cNvSpPr/>
          <p:nvPr/>
        </p:nvSpPr>
        <p:spPr>
          <a:xfrm>
            <a:off x="502920" y="2743200"/>
            <a:ext cx="2212848" cy="1389888"/>
          </a:xfrm>
          <a:prstGeom prst="roundRect">
            <a:avLst>
              <a:gd fmla="val 5921"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640080" y="2926080"/>
            <a:ext cx="19659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You type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message 4</a:t>
            </a:r>
            <a:endParaRPr b="0" i="0" sz="1300" u="none" cap="none" strike="noStrike">
              <a:solidFill>
                <a:schemeClr val="dk1"/>
              </a:solidFill>
              <a:latin typeface="Calibri"/>
              <a:ea typeface="Calibri"/>
              <a:cs typeface="Calibri"/>
              <a:sym typeface="Calibri"/>
            </a:endParaRPr>
          </a:p>
        </p:txBody>
      </p:sp>
      <p:sp>
        <p:nvSpPr>
          <p:cNvPr id="150" name="Google Shape;150;p8"/>
          <p:cNvSpPr/>
          <p:nvPr/>
        </p:nvSpPr>
        <p:spPr>
          <a:xfrm>
            <a:off x="64008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cxnSp>
        <p:nvCxnSpPr>
          <p:cNvPr id="151" name="Google Shape;151;p8"/>
          <p:cNvCxnSpPr/>
          <p:nvPr/>
        </p:nvCxnSpPr>
        <p:spPr>
          <a:xfrm>
            <a:off x="2743200" y="3438144"/>
            <a:ext cx="438912" cy="0"/>
          </a:xfrm>
          <a:prstGeom prst="straightConnector1">
            <a:avLst/>
          </a:prstGeom>
          <a:noFill/>
          <a:ln cap="flat" cmpd="sng" w="25400">
            <a:solidFill>
              <a:srgbClr val="7C3AED"/>
            </a:solidFill>
            <a:prstDash val="solid"/>
            <a:round/>
            <a:headEnd len="sm" w="sm" type="none"/>
            <a:tailEnd len="med" w="med" type="triangle"/>
          </a:ln>
        </p:spPr>
      </p:cxnSp>
      <p:sp>
        <p:nvSpPr>
          <p:cNvPr id="152" name="Google Shape;152;p8"/>
          <p:cNvSpPr/>
          <p:nvPr/>
        </p:nvSpPr>
        <p:spPr>
          <a:xfrm>
            <a:off x="2880360" y="2743200"/>
            <a:ext cx="2212848" cy="1389888"/>
          </a:xfrm>
          <a:prstGeom prst="roundRect">
            <a:avLst>
              <a:gd fmla="val 5921" name="adj"/>
            </a:avLst>
          </a:prstGeom>
          <a:solidFill>
            <a:srgbClr val="F8FAFC"/>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3017520" y="2926080"/>
            <a:ext cx="19659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ChatGPT</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Server</a:t>
            </a:r>
            <a:endParaRPr b="0" i="0" sz="1300" u="none" cap="none" strike="noStrike">
              <a:solidFill>
                <a:schemeClr val="dk1"/>
              </a:solidFill>
              <a:latin typeface="Calibri"/>
              <a:ea typeface="Calibri"/>
              <a:cs typeface="Calibri"/>
              <a:sym typeface="Calibri"/>
            </a:endParaRPr>
          </a:p>
        </p:txBody>
      </p:sp>
      <p:sp>
        <p:nvSpPr>
          <p:cNvPr id="154" name="Google Shape;154;p8"/>
          <p:cNvSpPr/>
          <p:nvPr/>
        </p:nvSpPr>
        <p:spPr>
          <a:xfrm>
            <a:off x="301752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Your session manager</a:t>
            </a:r>
            <a:endParaRPr b="0" i="0" sz="1000" u="none" cap="none" strike="noStrike">
              <a:solidFill>
                <a:schemeClr val="dk1"/>
              </a:solidFill>
              <a:latin typeface="Calibri"/>
              <a:ea typeface="Calibri"/>
              <a:cs typeface="Calibri"/>
              <a:sym typeface="Calibri"/>
            </a:endParaRPr>
          </a:p>
        </p:txBody>
      </p:sp>
      <p:cxnSp>
        <p:nvCxnSpPr>
          <p:cNvPr id="155" name="Google Shape;155;p8"/>
          <p:cNvCxnSpPr/>
          <p:nvPr/>
        </p:nvCxnSpPr>
        <p:spPr>
          <a:xfrm>
            <a:off x="5120640" y="3438144"/>
            <a:ext cx="438912" cy="0"/>
          </a:xfrm>
          <a:prstGeom prst="straightConnector1">
            <a:avLst/>
          </a:prstGeom>
          <a:noFill/>
          <a:ln cap="flat" cmpd="sng" w="25400">
            <a:solidFill>
              <a:srgbClr val="0891B2"/>
            </a:solidFill>
            <a:prstDash val="solid"/>
            <a:round/>
            <a:headEnd len="sm" w="sm" type="none"/>
            <a:tailEnd len="med" w="med" type="triangle"/>
          </a:ln>
        </p:spPr>
      </p:cxnSp>
      <p:sp>
        <p:nvSpPr>
          <p:cNvPr id="156" name="Google Shape;156;p8"/>
          <p:cNvSpPr/>
          <p:nvPr/>
        </p:nvSpPr>
        <p:spPr>
          <a:xfrm>
            <a:off x="5257800" y="2743200"/>
            <a:ext cx="2212848" cy="1389888"/>
          </a:xfrm>
          <a:prstGeom prst="roundRect">
            <a:avLst>
              <a:gd fmla="val 5921"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5394960" y="2926080"/>
            <a:ext cx="19659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Message list:</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[msg1,msg2,</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msg3,msg4]</a:t>
            </a:r>
            <a:endParaRPr b="0" i="0" sz="1300" u="none" cap="none" strike="noStrike">
              <a:solidFill>
                <a:schemeClr val="dk1"/>
              </a:solidFill>
              <a:latin typeface="Calibri"/>
              <a:ea typeface="Calibri"/>
              <a:cs typeface="Calibri"/>
              <a:sym typeface="Calibri"/>
            </a:endParaRPr>
          </a:p>
        </p:txBody>
      </p:sp>
      <p:sp>
        <p:nvSpPr>
          <p:cNvPr id="158" name="Google Shape;158;p8"/>
          <p:cNvSpPr/>
          <p:nvPr/>
        </p:nvSpPr>
        <p:spPr>
          <a:xfrm>
            <a:off x="539496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Full history</a:t>
            </a:r>
            <a:endParaRPr b="0" i="0" sz="1000" u="none" cap="none" strike="noStrike">
              <a:solidFill>
                <a:schemeClr val="dk1"/>
              </a:solidFill>
              <a:latin typeface="Calibri"/>
              <a:ea typeface="Calibri"/>
              <a:cs typeface="Calibri"/>
              <a:sym typeface="Calibri"/>
            </a:endParaRPr>
          </a:p>
        </p:txBody>
      </p:sp>
      <p:cxnSp>
        <p:nvCxnSpPr>
          <p:cNvPr id="159" name="Google Shape;159;p8"/>
          <p:cNvCxnSpPr/>
          <p:nvPr/>
        </p:nvCxnSpPr>
        <p:spPr>
          <a:xfrm>
            <a:off x="7498080" y="3438144"/>
            <a:ext cx="438912" cy="0"/>
          </a:xfrm>
          <a:prstGeom prst="straightConnector1">
            <a:avLst/>
          </a:prstGeom>
          <a:noFill/>
          <a:ln cap="flat" cmpd="sng" w="25400">
            <a:solidFill>
              <a:srgbClr val="16A34A"/>
            </a:solidFill>
            <a:prstDash val="solid"/>
            <a:round/>
            <a:headEnd len="sm" w="sm" type="none"/>
            <a:tailEnd len="med" w="med" type="triangle"/>
          </a:ln>
        </p:spPr>
      </p:cxnSp>
      <p:sp>
        <p:nvSpPr>
          <p:cNvPr id="160" name="Google Shape;160;p8"/>
          <p:cNvSpPr/>
          <p:nvPr/>
        </p:nvSpPr>
        <p:spPr>
          <a:xfrm>
            <a:off x="7635240" y="2743200"/>
            <a:ext cx="2212848" cy="1389888"/>
          </a:xfrm>
          <a:prstGeom prst="roundRect">
            <a:avLst>
              <a:gd fmla="val 5921" name="adj"/>
            </a:avLst>
          </a:prstGeom>
          <a:solidFill>
            <a:srgbClr val="F8FAFC"/>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7772400" y="2926080"/>
            <a:ext cx="19659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OpenAI</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API</a:t>
            </a:r>
            <a:endParaRPr b="0" i="0" sz="1300" u="none" cap="none" strike="noStrike">
              <a:solidFill>
                <a:schemeClr val="dk1"/>
              </a:solidFill>
              <a:latin typeface="Calibri"/>
              <a:ea typeface="Calibri"/>
              <a:cs typeface="Calibri"/>
              <a:sym typeface="Calibri"/>
            </a:endParaRPr>
          </a:p>
        </p:txBody>
      </p:sp>
      <p:sp>
        <p:nvSpPr>
          <p:cNvPr id="162" name="Google Shape;162;p8"/>
          <p:cNvSpPr/>
          <p:nvPr/>
        </p:nvSpPr>
        <p:spPr>
          <a:xfrm>
            <a:off x="777240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Stateless endpoint</a:t>
            </a:r>
            <a:endParaRPr b="0" i="0" sz="1000" u="none" cap="none" strike="noStrike">
              <a:solidFill>
                <a:schemeClr val="dk1"/>
              </a:solidFill>
              <a:latin typeface="Calibri"/>
              <a:ea typeface="Calibri"/>
              <a:cs typeface="Calibri"/>
              <a:sym typeface="Calibri"/>
            </a:endParaRPr>
          </a:p>
        </p:txBody>
      </p:sp>
      <p:cxnSp>
        <p:nvCxnSpPr>
          <p:cNvPr id="163" name="Google Shape;163;p8"/>
          <p:cNvCxnSpPr/>
          <p:nvPr/>
        </p:nvCxnSpPr>
        <p:spPr>
          <a:xfrm>
            <a:off x="9875520" y="3438144"/>
            <a:ext cx="438912" cy="0"/>
          </a:xfrm>
          <a:prstGeom prst="straightConnector1">
            <a:avLst/>
          </a:prstGeom>
          <a:noFill/>
          <a:ln cap="flat" cmpd="sng" w="25400">
            <a:solidFill>
              <a:srgbClr val="D97706"/>
            </a:solidFill>
            <a:prstDash val="solid"/>
            <a:round/>
            <a:headEnd len="sm" w="sm" type="none"/>
            <a:tailEnd len="med" w="med" type="triangle"/>
          </a:ln>
        </p:spPr>
      </p:cxnSp>
      <p:sp>
        <p:nvSpPr>
          <p:cNvPr id="164" name="Google Shape;164;p8"/>
          <p:cNvSpPr/>
          <p:nvPr/>
        </p:nvSpPr>
        <p:spPr>
          <a:xfrm>
            <a:off x="10012680" y="2743200"/>
            <a:ext cx="2212848" cy="1389888"/>
          </a:xfrm>
          <a:prstGeom prst="roundRect">
            <a:avLst>
              <a:gd fmla="val 5921" name="adj"/>
            </a:avLst>
          </a:prstGeom>
          <a:solidFill>
            <a:srgbClr val="F8FAFC"/>
          </a:solidFill>
          <a:ln cap="flat" cmpd="sng" w="19050">
            <a:solidFill>
              <a:srgbClr val="E11D48">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0149840" y="2926080"/>
            <a:ext cx="1965960" cy="82296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Response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token stream</a:t>
            </a:r>
            <a:endParaRPr b="0" i="0" sz="1300" u="none" cap="none" strike="noStrike">
              <a:solidFill>
                <a:schemeClr val="dk1"/>
              </a:solidFill>
              <a:latin typeface="Calibri"/>
              <a:ea typeface="Calibri"/>
              <a:cs typeface="Calibri"/>
              <a:sym typeface="Calibri"/>
            </a:endParaRPr>
          </a:p>
        </p:txBody>
      </p:sp>
      <p:sp>
        <p:nvSpPr>
          <p:cNvPr id="166" name="Google Shape;166;p8"/>
          <p:cNvSpPr/>
          <p:nvPr/>
        </p:nvSpPr>
        <p:spPr>
          <a:xfrm>
            <a:off x="10149840" y="3767328"/>
            <a:ext cx="1965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167" name="Google Shape;167;p8"/>
          <p:cNvSpPr/>
          <p:nvPr/>
        </p:nvSpPr>
        <p:spPr>
          <a:xfrm>
            <a:off x="502920" y="4315968"/>
            <a:ext cx="11109960" cy="65836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600"/>
              <a:buFont typeface="Calibri"/>
              <a:buNone/>
            </a:pPr>
            <a:r>
              <a:rPr b="0" i="0" lang="en-US" sz="1600" u="none" cap="none" strike="noStrike">
                <a:solidFill>
                  <a:srgbClr val="475569"/>
                </a:solidFill>
                <a:latin typeface="Calibri"/>
                <a:ea typeface="Calibri"/>
                <a:cs typeface="Calibri"/>
                <a:sym typeface="Calibri"/>
              </a:rPr>
              <a:t>ChatGPT stores your conversation (steps 1-2). On every message it re-sends the ENTIRE history to the stateless API (step 3). The API has no idea it 'saw' messages 1-3 before. It's just processing a list.</a:t>
            </a:r>
            <a:endParaRPr b="0" i="0" sz="1600" u="none" cap="none" strike="noStrike">
              <a:solidFill>
                <a:schemeClr val="dk1"/>
              </a:solidFill>
              <a:latin typeface="Calibri"/>
              <a:ea typeface="Calibri"/>
              <a:cs typeface="Calibri"/>
              <a:sym typeface="Calibri"/>
            </a:endParaRPr>
          </a:p>
        </p:txBody>
      </p:sp>
      <p:sp>
        <p:nvSpPr>
          <p:cNvPr id="168" name="Google Shape;168;p8"/>
          <p:cNvSpPr/>
          <p:nvPr/>
        </p:nvSpPr>
        <p:spPr>
          <a:xfrm>
            <a:off x="502920" y="5138928"/>
            <a:ext cx="11109960" cy="1170432"/>
          </a:xfrm>
          <a:prstGeom prst="roundRect">
            <a:avLst>
              <a:gd fmla="val 7813"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713232" y="5257800"/>
            <a:ext cx="36576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What we build today</a:t>
            </a:r>
            <a:endParaRPr b="0" i="0" sz="1500" u="none" cap="none" strike="noStrike">
              <a:solidFill>
                <a:schemeClr val="dk1"/>
              </a:solidFill>
              <a:latin typeface="Calibri"/>
              <a:ea typeface="Calibri"/>
              <a:cs typeface="Calibri"/>
              <a:sym typeface="Calibri"/>
            </a:endParaRPr>
          </a:p>
        </p:txBody>
      </p:sp>
      <p:sp>
        <p:nvSpPr>
          <p:cNvPr id="170" name="Google Shape;170;p8"/>
          <p:cNvSpPr/>
          <p:nvPr/>
        </p:nvSpPr>
        <p:spPr>
          <a:xfrm>
            <a:off x="713232" y="5623560"/>
            <a:ext cx="10588752" cy="5943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Exactly the same thing — a session store (Map / Redis / DB), a history list per session, and logic to append every message and re-send the full list. By end of session you have a multi-turn chatbot indistinguishable in behaviour from ChatGPT.</a:t>
            </a:r>
            <a:endParaRPr b="0" i="0" sz="1400" u="none" cap="none" strike="noStrike">
              <a:solidFill>
                <a:schemeClr val="dk1"/>
              </a:solidFill>
              <a:latin typeface="Calibri"/>
              <a:ea typeface="Calibri"/>
              <a:cs typeface="Calibri"/>
              <a:sym typeface="Calibri"/>
            </a:endParaRPr>
          </a:p>
        </p:txBody>
      </p:sp>
      <p:sp>
        <p:nvSpPr>
          <p:cNvPr id="171" name="Google Shape;171;p8"/>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173" name="Google Shape;173;p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78" name="Shape 178"/>
        <p:cNvGrpSpPr/>
        <p:nvPr/>
      </p:nvGrpSpPr>
      <p:grpSpPr>
        <a:xfrm>
          <a:off x="0" y="0"/>
          <a:ext cx="0" cy="0"/>
          <a:chOff x="0" y="0"/>
          <a:chExt cx="0" cy="0"/>
        </a:xfrm>
      </p:grpSpPr>
      <p:sp>
        <p:nvSpPr>
          <p:cNvPr id="179" name="Google Shape;179;p9"/>
          <p:cNvSpPr/>
          <p:nvPr/>
        </p:nvSpPr>
        <p:spPr>
          <a:xfrm>
            <a:off x="685800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9000"/>
              <a:buFont typeface="Calibri"/>
              <a:buNone/>
            </a:pPr>
            <a:r>
              <a:rPr b="1" i="0" lang="en-US" sz="19000" u="none" cap="none" strike="noStrike">
                <a:solidFill>
                  <a:srgbClr val="0891B2"/>
                </a:solidFill>
                <a:latin typeface="Calibri"/>
                <a:ea typeface="Calibri"/>
                <a:cs typeface="Calibri"/>
                <a:sym typeface="Calibri"/>
              </a:rPr>
              <a:t>History</a:t>
            </a:r>
            <a:endParaRPr b="0" i="0" sz="19000" u="none" cap="none" strike="noStrike">
              <a:solidFill>
                <a:schemeClr val="dk1"/>
              </a:solidFill>
              <a:latin typeface="Calibri"/>
              <a:ea typeface="Calibri"/>
              <a:cs typeface="Calibri"/>
              <a:sym typeface="Calibri"/>
            </a:endParaRPr>
          </a:p>
        </p:txBody>
      </p:sp>
      <p:sp>
        <p:nvSpPr>
          <p:cNvPr id="180" name="Google Shape;180;p9"/>
          <p:cNvSpPr/>
          <p:nvPr/>
        </p:nvSpPr>
        <p:spPr>
          <a:xfrm>
            <a:off x="475488" y="804672"/>
            <a:ext cx="749808" cy="749808"/>
          </a:xfrm>
          <a:prstGeom prst="roundRect">
            <a:avLst>
              <a:gd fmla="val 12195"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82" name="Google Shape;182;p9"/>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SECTION</a:t>
            </a:r>
            <a:endParaRPr b="0" i="0" sz="1300" u="none" cap="none" strike="noStrike">
              <a:solidFill>
                <a:schemeClr val="dk1"/>
              </a:solidFill>
              <a:latin typeface="Calibri"/>
              <a:ea typeface="Calibri"/>
              <a:cs typeface="Calibri"/>
              <a:sym typeface="Calibri"/>
            </a:endParaRPr>
          </a:p>
        </p:txBody>
      </p:sp>
      <p:sp>
        <p:nvSpPr>
          <p:cNvPr id="183" name="Google Shape;183;p9"/>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History</a:t>
            </a:r>
            <a:endParaRPr b="0" i="0" sz="54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Management</a:t>
            </a:r>
            <a:endParaRPr b="0" i="0" sz="5400" u="none" cap="none" strike="noStrike">
              <a:solidFill>
                <a:schemeClr val="dk1"/>
              </a:solidFill>
              <a:latin typeface="Calibri"/>
              <a:ea typeface="Calibri"/>
              <a:cs typeface="Calibri"/>
              <a:sym typeface="Calibri"/>
            </a:endParaRPr>
          </a:p>
        </p:txBody>
      </p:sp>
      <p:sp>
        <p:nvSpPr>
          <p:cNvPr id="184" name="Google Shape;184;p9"/>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The message loop, the three rules you must never break, and what happens when you do.</a:t>
            </a:r>
            <a:endParaRPr b="0" i="0" sz="2000" u="none" cap="none" strike="noStrike">
              <a:solidFill>
                <a:schemeClr val="dk1"/>
              </a:solidFill>
              <a:latin typeface="Calibri"/>
              <a:ea typeface="Calibri"/>
              <a:cs typeface="Calibri"/>
              <a:sym typeface="Calibri"/>
            </a:endParaRPr>
          </a:p>
        </p:txBody>
      </p:sp>
      <p:sp>
        <p:nvSpPr>
          <p:cNvPr id="185" name="Google Shape;185;p9"/>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187" name="Google Shape;187;p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10"/>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SECTION 2 · THE CONVERSATION LOOP — THREE UNBREAKABLE RULES</a:t>
            </a:r>
            <a:endParaRPr b="0" i="0" sz="1200" u="none" cap="none" strike="noStrike">
              <a:solidFill>
                <a:schemeClr val="dk1"/>
              </a:solidFill>
              <a:latin typeface="Calibri"/>
              <a:ea typeface="Calibri"/>
              <a:cs typeface="Calibri"/>
              <a:sym typeface="Calibri"/>
            </a:endParaRPr>
          </a:p>
        </p:txBody>
      </p:sp>
      <p:sp>
        <p:nvSpPr>
          <p:cNvPr id="194" name="Google Shape;194;p10"/>
          <p:cNvSpPr/>
          <p:nvPr/>
        </p:nvSpPr>
        <p:spPr>
          <a:xfrm>
            <a:off x="685800" y="749808"/>
            <a:ext cx="107899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The 4-step turn. Get this right and everything else is easy.</a:t>
            </a:r>
            <a:endParaRPr b="0" i="0" sz="3000" u="none" cap="none" strike="noStrike">
              <a:solidFill>
                <a:schemeClr val="dk1"/>
              </a:solidFill>
              <a:latin typeface="Calibri"/>
              <a:ea typeface="Calibri"/>
              <a:cs typeface="Calibri"/>
              <a:sym typeface="Calibri"/>
            </a:endParaRPr>
          </a:p>
        </p:txBody>
      </p:sp>
      <p:sp>
        <p:nvSpPr>
          <p:cNvPr id="195" name="Google Shape;195;p10"/>
          <p:cNvSpPr/>
          <p:nvPr/>
        </p:nvSpPr>
        <p:spPr>
          <a:xfrm>
            <a:off x="502920" y="1874520"/>
            <a:ext cx="6784848" cy="4480560"/>
          </a:xfrm>
          <a:prstGeom prst="roundRect">
            <a:avLst>
              <a:gd fmla="val 2041"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502920" y="1874520"/>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
          <p:cNvSpPr/>
          <p:nvPr/>
        </p:nvSpPr>
        <p:spPr>
          <a:xfrm>
            <a:off x="667512" y="1975104"/>
            <a:ext cx="155448" cy="155448"/>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905256" y="1975104"/>
            <a:ext cx="155448" cy="15544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0"/>
          <p:cNvSpPr/>
          <p:nvPr/>
        </p:nvSpPr>
        <p:spPr>
          <a:xfrm>
            <a:off x="1143000" y="1975104"/>
            <a:ext cx="155448" cy="15544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p:nvPr/>
        </p:nvSpPr>
        <p:spPr>
          <a:xfrm>
            <a:off x="1417320" y="1938528"/>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b="0" i="0" lang="en-US" sz="1050" u="none" cap="none" strike="noStrike">
                <a:solidFill>
                  <a:srgbClr val="9CA3AF"/>
                </a:solidFill>
                <a:latin typeface="Courier New"/>
                <a:ea typeface="Courier New"/>
                <a:cs typeface="Courier New"/>
                <a:sym typeface="Courier New"/>
              </a:rPr>
              <a:t>ConversationLoop.java</a:t>
            </a:r>
            <a:endParaRPr b="0" i="0" sz="1050" u="none" cap="none" strike="noStrike">
              <a:solidFill>
                <a:schemeClr val="dk1"/>
              </a:solidFill>
              <a:latin typeface="Calibri"/>
              <a:ea typeface="Calibri"/>
              <a:cs typeface="Calibri"/>
              <a:sym typeface="Calibri"/>
            </a:endParaRPr>
          </a:p>
        </p:txBody>
      </p:sp>
      <p:sp>
        <p:nvSpPr>
          <p:cNvPr id="201" name="Google Shape;201;p10"/>
          <p:cNvSpPr/>
          <p:nvPr/>
        </p:nvSpPr>
        <p:spPr>
          <a:xfrm>
            <a:off x="704088" y="2331720"/>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SETUP: do this ONCE per conversation</a:t>
            </a:r>
            <a:endParaRPr b="0" i="0" sz="1050" u="none" cap="none" strike="noStrike">
              <a:solidFill>
                <a:schemeClr val="dk1"/>
              </a:solidFill>
              <a:latin typeface="Calibri"/>
              <a:ea typeface="Calibri"/>
              <a:cs typeface="Calibri"/>
              <a:sym typeface="Calibri"/>
            </a:endParaRPr>
          </a:p>
        </p:txBody>
      </p:sp>
      <p:sp>
        <p:nvSpPr>
          <p:cNvPr id="202" name="Google Shape;202;p10"/>
          <p:cNvSpPr/>
          <p:nvPr/>
        </p:nvSpPr>
        <p:spPr>
          <a:xfrm>
            <a:off x="704088" y="2522438"/>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var </a:t>
            </a:r>
            <a:r>
              <a:rPr b="0" i="0" lang="en-US" sz="1050" u="none" cap="none" strike="noStrike">
                <a:solidFill>
                  <a:srgbClr val="E5E7EB"/>
                </a:solidFill>
                <a:latin typeface="Courier New"/>
                <a:ea typeface="Courier New"/>
                <a:cs typeface="Courier New"/>
                <a:sym typeface="Courier New"/>
              </a:rPr>
              <a:t>history</a:t>
            </a:r>
            <a:r>
              <a:rPr b="0" i="0" lang="en-US" sz="1050" u="none" cap="none" strike="noStrike">
                <a:solidFill>
                  <a:srgbClr val="C4B5FD"/>
                </a:solidFill>
                <a:latin typeface="Courier New"/>
                <a:ea typeface="Courier New"/>
                <a:cs typeface="Courier New"/>
                <a:sym typeface="Courier New"/>
              </a:rPr>
              <a:t> = new </a:t>
            </a:r>
            <a:r>
              <a:rPr b="0" i="0" lang="en-US" sz="1050" u="none" cap="none" strike="noStrike">
                <a:solidFill>
                  <a:srgbClr val="67E8F9"/>
                </a:solidFill>
                <a:latin typeface="Courier New"/>
                <a:ea typeface="Courier New"/>
                <a:cs typeface="Courier New"/>
                <a:sym typeface="Courier New"/>
              </a:rPr>
              <a:t>ArrayList</a:t>
            </a:r>
            <a:r>
              <a:rPr b="0" i="0" lang="en-US" sz="1050" u="none" cap="none" strike="noStrike">
                <a:solidFill>
                  <a:srgbClr val="E5E7EB"/>
                </a:solidFill>
                <a:latin typeface="Courier New"/>
                <a:ea typeface="Courier New"/>
                <a:cs typeface="Courier New"/>
                <a:sym typeface="Courier New"/>
              </a:rPr>
              <a:t>&lt;</a:t>
            </a:r>
            <a:r>
              <a:rPr b="0" i="0" lang="en-US" sz="1050" u="none" cap="none" strike="noStrike">
                <a:solidFill>
                  <a:srgbClr val="67E8F9"/>
                </a:solidFill>
                <a:latin typeface="Courier New"/>
                <a:ea typeface="Courier New"/>
                <a:cs typeface="Courier New"/>
                <a:sym typeface="Courier New"/>
              </a:rPr>
              <a:t>ChatCompletionMessageParam</a:t>
            </a:r>
            <a:r>
              <a:rPr b="0" i="0" lang="en-US" sz="1050" u="none" cap="none" strike="noStrike">
                <a:solidFill>
                  <a:srgbClr val="E5E7EB"/>
                </a:solidFill>
                <a:latin typeface="Courier New"/>
                <a:ea typeface="Courier New"/>
                <a:cs typeface="Courier New"/>
                <a:sym typeface="Courier New"/>
              </a:rPr>
              <a:t>&gt;();</a:t>
            </a:r>
            <a:endParaRPr b="0" i="0" sz="1050" u="none" cap="none" strike="noStrike">
              <a:solidFill>
                <a:schemeClr val="dk1"/>
              </a:solidFill>
              <a:latin typeface="Calibri"/>
              <a:ea typeface="Calibri"/>
              <a:cs typeface="Calibri"/>
              <a:sym typeface="Calibri"/>
            </a:endParaRPr>
          </a:p>
        </p:txBody>
      </p:sp>
      <p:sp>
        <p:nvSpPr>
          <p:cNvPr id="203" name="Google Shape;203;p10"/>
          <p:cNvSpPr/>
          <p:nvPr/>
        </p:nvSpPr>
        <p:spPr>
          <a:xfrm>
            <a:off x="704088" y="2713155"/>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history.</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ofSystem</a:t>
            </a:r>
            <a:r>
              <a:rPr b="0" i="0" lang="en-US" sz="1050" u="none" cap="none" strike="noStrike">
                <a:solidFill>
                  <a:srgbClr val="6B7280"/>
                </a:solidFill>
                <a:latin typeface="Courier New"/>
                <a:ea typeface="Courier New"/>
                <a:cs typeface="Courier New"/>
                <a:sym typeface="Courier New"/>
              </a:rPr>
              <a:t>(systemPrompt));  // Rule 1: add ONCE</a:t>
            </a:r>
            <a:endParaRPr b="0" i="0" sz="1050" u="none" cap="none" strike="noStrike">
              <a:solidFill>
                <a:schemeClr val="dk1"/>
              </a:solidFill>
              <a:latin typeface="Calibri"/>
              <a:ea typeface="Calibri"/>
              <a:cs typeface="Calibri"/>
              <a:sym typeface="Calibri"/>
            </a:endParaRPr>
          </a:p>
        </p:txBody>
      </p:sp>
      <p:sp>
        <p:nvSpPr>
          <p:cNvPr id="204" name="Google Shape;204;p10"/>
          <p:cNvSpPr/>
          <p:nvPr/>
        </p:nvSpPr>
        <p:spPr>
          <a:xfrm>
            <a:off x="704088" y="2903873"/>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05" name="Google Shape;205;p10"/>
          <p:cNvSpPr/>
          <p:nvPr/>
        </p:nvSpPr>
        <p:spPr>
          <a:xfrm>
            <a:off x="704088" y="3094591"/>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EACH TURN: repeat this loop</a:t>
            </a:r>
            <a:endParaRPr b="0" i="0" sz="1050" u="none" cap="none" strike="noStrike">
              <a:solidFill>
                <a:schemeClr val="dk1"/>
              </a:solidFill>
              <a:latin typeface="Calibri"/>
              <a:ea typeface="Calibri"/>
              <a:cs typeface="Calibri"/>
              <a:sym typeface="Calibri"/>
            </a:endParaRPr>
          </a:p>
        </p:txBody>
      </p:sp>
      <p:sp>
        <p:nvSpPr>
          <p:cNvPr id="206" name="Google Shape;206;p10"/>
          <p:cNvSpPr/>
          <p:nvPr/>
        </p:nvSpPr>
        <p:spPr>
          <a:xfrm>
            <a:off x="704088" y="3285309"/>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while </a:t>
            </a:r>
            <a:r>
              <a:rPr b="0" i="0" lang="en-US" sz="1050" u="none" cap="none" strike="noStrike">
                <a:solidFill>
                  <a:srgbClr val="E5E7EB"/>
                </a:solidFill>
                <a:latin typeface="Courier New"/>
                <a:ea typeface="Courier New"/>
                <a:cs typeface="Courier New"/>
                <a:sym typeface="Courier New"/>
              </a:rPr>
              <a:t>(userIsTyping) {</a:t>
            </a:r>
            <a:endParaRPr b="0" i="0" sz="1050" u="none" cap="none" strike="noStrike">
              <a:solidFill>
                <a:schemeClr val="dk1"/>
              </a:solidFill>
              <a:latin typeface="Calibri"/>
              <a:ea typeface="Calibri"/>
              <a:cs typeface="Calibri"/>
              <a:sym typeface="Calibri"/>
            </a:endParaRPr>
          </a:p>
        </p:txBody>
      </p:sp>
      <p:sp>
        <p:nvSpPr>
          <p:cNvPr id="207" name="Google Shape;207;p10"/>
          <p:cNvSpPr/>
          <p:nvPr/>
        </p:nvSpPr>
        <p:spPr>
          <a:xfrm>
            <a:off x="704088" y="3476026"/>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08" name="Google Shape;208;p10"/>
          <p:cNvSpPr/>
          <p:nvPr/>
        </p:nvSpPr>
        <p:spPr>
          <a:xfrm>
            <a:off x="704088" y="3666744"/>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 Rule 2: append user message BEFORE calling API</a:t>
            </a:r>
            <a:endParaRPr b="0" i="0" sz="1050" u="none" cap="none" strike="noStrike">
              <a:solidFill>
                <a:schemeClr val="dk1"/>
              </a:solidFill>
              <a:latin typeface="Calibri"/>
              <a:ea typeface="Calibri"/>
              <a:cs typeface="Calibri"/>
              <a:sym typeface="Calibri"/>
            </a:endParaRPr>
          </a:p>
        </p:txBody>
      </p:sp>
      <p:sp>
        <p:nvSpPr>
          <p:cNvPr id="209" name="Google Shape;209;p10"/>
          <p:cNvSpPr/>
          <p:nvPr/>
        </p:nvSpPr>
        <p:spPr>
          <a:xfrm>
            <a:off x="704088" y="3857462"/>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history.</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ofUser</a:t>
            </a:r>
            <a:r>
              <a:rPr b="0" i="0" lang="en-US" sz="1050" u="none" cap="none" strike="noStrike">
                <a:solidFill>
                  <a:srgbClr val="E5E7EB"/>
                </a:solidFill>
                <a:latin typeface="Courier New"/>
                <a:ea typeface="Courier New"/>
                <a:cs typeface="Courier New"/>
                <a:sym typeface="Courier New"/>
              </a:rPr>
              <a:t>(userInput));</a:t>
            </a:r>
            <a:endParaRPr b="0" i="0" sz="1050" u="none" cap="none" strike="noStrike">
              <a:solidFill>
                <a:schemeClr val="dk1"/>
              </a:solidFill>
              <a:latin typeface="Calibri"/>
              <a:ea typeface="Calibri"/>
              <a:cs typeface="Calibri"/>
              <a:sym typeface="Calibri"/>
            </a:endParaRPr>
          </a:p>
        </p:txBody>
      </p:sp>
      <p:sp>
        <p:nvSpPr>
          <p:cNvPr id="210" name="Google Shape;210;p10"/>
          <p:cNvSpPr/>
          <p:nvPr/>
        </p:nvSpPr>
        <p:spPr>
          <a:xfrm>
            <a:off x="704088" y="4048179"/>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11" name="Google Shape;211;p10"/>
          <p:cNvSpPr/>
          <p:nvPr/>
        </p:nvSpPr>
        <p:spPr>
          <a:xfrm>
            <a:off x="704088" y="4238897"/>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 Call API with FULL history every time</a:t>
            </a:r>
            <a:endParaRPr b="0" i="0" sz="1050" u="none" cap="none" strike="noStrike">
              <a:solidFill>
                <a:schemeClr val="dk1"/>
              </a:solidFill>
              <a:latin typeface="Calibri"/>
              <a:ea typeface="Calibri"/>
              <a:cs typeface="Calibri"/>
              <a:sym typeface="Calibri"/>
            </a:endParaRPr>
          </a:p>
        </p:txBody>
      </p:sp>
      <p:sp>
        <p:nvSpPr>
          <p:cNvPr id="212" name="Google Shape;212;p10"/>
          <p:cNvSpPr/>
          <p:nvPr/>
        </p:nvSpPr>
        <p:spPr>
          <a:xfrm>
            <a:off x="704088" y="4429615"/>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var </a:t>
            </a:r>
            <a:r>
              <a:rPr b="0" i="0" lang="en-US" sz="1050" u="none" cap="none" strike="noStrike">
                <a:solidFill>
                  <a:srgbClr val="E5E7EB"/>
                </a:solidFill>
                <a:latin typeface="Courier New"/>
                <a:ea typeface="Courier New"/>
                <a:cs typeface="Courier New"/>
                <a:sym typeface="Courier New"/>
              </a:rPr>
              <a:t>response = client.</a:t>
            </a:r>
            <a:r>
              <a:rPr b="0" i="0" lang="en-US" sz="1050" u="none" cap="none" strike="noStrike">
                <a:solidFill>
                  <a:srgbClr val="FDA4AF"/>
                </a:solidFill>
                <a:latin typeface="Courier New"/>
                <a:ea typeface="Courier New"/>
                <a:cs typeface="Courier New"/>
                <a:sym typeface="Courier New"/>
              </a:rPr>
              <a:t>chat</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completions</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create</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213" name="Google Shape;213;p10"/>
          <p:cNvSpPr/>
          <p:nvPr/>
        </p:nvSpPr>
        <p:spPr>
          <a:xfrm>
            <a:off x="704088" y="4620333"/>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builder().</a:t>
            </a:r>
            <a:r>
              <a:rPr b="0" i="0" lang="en-US" sz="1050" u="none" cap="none" strike="noStrike">
                <a:solidFill>
                  <a:srgbClr val="FDA4AF"/>
                </a:solidFill>
                <a:latin typeface="Courier New"/>
                <a:ea typeface="Courier New"/>
                <a:cs typeface="Courier New"/>
                <a:sym typeface="Courier New"/>
              </a:rPr>
              <a:t>model</a:t>
            </a:r>
            <a:r>
              <a:rPr b="0" i="0" lang="en-US" sz="1050" u="none" cap="none" strike="noStrike">
                <a:solidFill>
                  <a:srgbClr val="E5E7EB"/>
                </a:solidFill>
                <a:latin typeface="Courier New"/>
                <a:ea typeface="Courier New"/>
                <a:cs typeface="Courier New"/>
                <a:sym typeface="Courier New"/>
              </a:rPr>
              <a:t>(GPT_4O_MINI).</a:t>
            </a:r>
            <a:r>
              <a:rPr b="0" i="0" lang="en-US" sz="1050" u="none" cap="none" strike="noStrike">
                <a:solidFill>
                  <a:srgbClr val="FDA4AF"/>
                </a:solidFill>
                <a:latin typeface="Courier New"/>
                <a:ea typeface="Courier New"/>
                <a:cs typeface="Courier New"/>
                <a:sym typeface="Courier New"/>
              </a:rPr>
              <a:t>messages</a:t>
            </a:r>
            <a:r>
              <a:rPr b="0" i="0" lang="en-US" sz="1050" u="none" cap="none" strike="noStrike">
                <a:solidFill>
                  <a:srgbClr val="E5E7EB"/>
                </a:solidFill>
                <a:latin typeface="Courier New"/>
                <a:ea typeface="Courier New"/>
                <a:cs typeface="Courier New"/>
                <a:sym typeface="Courier New"/>
              </a:rPr>
              <a:t>(history).</a:t>
            </a:r>
            <a:r>
              <a:rPr b="0" i="0" lang="en-US" sz="1050" u="none" cap="none" strike="noStrike">
                <a:solidFill>
                  <a:srgbClr val="FDA4AF"/>
                </a:solidFill>
                <a:latin typeface="Courier New"/>
                <a:ea typeface="Courier New"/>
                <a:cs typeface="Courier New"/>
                <a:sym typeface="Courier New"/>
              </a:rPr>
              <a:t>build</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214" name="Google Shape;214;p10"/>
          <p:cNvSpPr/>
          <p:nvPr/>
        </p:nvSpPr>
        <p:spPr>
          <a:xfrm>
            <a:off x="704088" y="4811050"/>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15" name="Google Shape;215;p10"/>
          <p:cNvSpPr/>
          <p:nvPr/>
        </p:nvSpPr>
        <p:spPr>
          <a:xfrm>
            <a:off x="704088" y="5001768"/>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String </a:t>
            </a:r>
            <a:r>
              <a:rPr b="0" i="0" lang="en-US" sz="1050" u="none" cap="none" strike="noStrike">
                <a:solidFill>
                  <a:srgbClr val="E5E7EB"/>
                </a:solidFill>
                <a:latin typeface="Courier New"/>
                <a:ea typeface="Courier New"/>
                <a:cs typeface="Courier New"/>
                <a:sym typeface="Courier New"/>
              </a:rPr>
              <a:t>reply = response.</a:t>
            </a:r>
            <a:r>
              <a:rPr b="0" i="0" lang="en-US" sz="1050" u="none" cap="none" strike="noStrike">
                <a:solidFill>
                  <a:srgbClr val="FDA4AF"/>
                </a:solidFill>
                <a:latin typeface="Courier New"/>
                <a:ea typeface="Courier New"/>
                <a:cs typeface="Courier New"/>
                <a:sym typeface="Courier New"/>
              </a:rPr>
              <a:t>choices</a:t>
            </a:r>
            <a:r>
              <a:rPr b="0" i="0" lang="en-US" sz="1050" u="none" cap="none" strike="noStrike">
                <a:solidFill>
                  <a:srgbClr val="E5E7EB"/>
                </a:solidFill>
                <a:latin typeface="Courier New"/>
                <a:ea typeface="Courier New"/>
                <a:cs typeface="Courier New"/>
                <a:sym typeface="Courier New"/>
              </a:rPr>
              <a:t>().get(0).</a:t>
            </a:r>
            <a:r>
              <a:rPr b="0" i="0" lang="en-US" sz="1050" u="none" cap="none" strike="noStrike">
                <a:solidFill>
                  <a:srgbClr val="FDA4AF"/>
                </a:solidFill>
                <a:latin typeface="Courier New"/>
                <a:ea typeface="Courier New"/>
                <a:cs typeface="Courier New"/>
                <a:sym typeface="Courier New"/>
              </a:rPr>
              <a:t>message</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content</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orElse</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216" name="Google Shape;216;p10"/>
          <p:cNvSpPr/>
          <p:nvPr/>
        </p:nvSpPr>
        <p:spPr>
          <a:xfrm>
            <a:off x="704088" y="5192486"/>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17" name="Google Shape;217;p10"/>
          <p:cNvSpPr/>
          <p:nvPr/>
        </p:nvSpPr>
        <p:spPr>
          <a:xfrm>
            <a:off x="704088" y="5383203"/>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 Rule 3: append assistant reply AFTER — NEVER skip this</a:t>
            </a:r>
            <a:endParaRPr b="0" i="0" sz="1050" u="none" cap="none" strike="noStrike">
              <a:solidFill>
                <a:schemeClr val="dk1"/>
              </a:solidFill>
              <a:latin typeface="Calibri"/>
              <a:ea typeface="Calibri"/>
              <a:cs typeface="Calibri"/>
              <a:sym typeface="Calibri"/>
            </a:endParaRPr>
          </a:p>
        </p:txBody>
      </p:sp>
      <p:sp>
        <p:nvSpPr>
          <p:cNvPr id="218" name="Google Shape;218;p10"/>
          <p:cNvSpPr/>
          <p:nvPr/>
        </p:nvSpPr>
        <p:spPr>
          <a:xfrm>
            <a:off x="704088" y="5573921"/>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history.</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ofAssistant</a:t>
            </a:r>
            <a:r>
              <a:rPr b="0" i="0" lang="en-US" sz="1050" u="none" cap="none" strike="noStrike">
                <a:solidFill>
                  <a:srgbClr val="E5E7EB"/>
                </a:solidFill>
                <a:latin typeface="Courier New"/>
                <a:ea typeface="Courier New"/>
                <a:cs typeface="Courier New"/>
                <a:sym typeface="Courier New"/>
              </a:rPr>
              <a:t>(reply));</a:t>
            </a:r>
            <a:endParaRPr b="0" i="0" sz="1050" u="none" cap="none" strike="noStrike">
              <a:solidFill>
                <a:schemeClr val="dk1"/>
              </a:solidFill>
              <a:latin typeface="Calibri"/>
              <a:ea typeface="Calibri"/>
              <a:cs typeface="Calibri"/>
              <a:sym typeface="Calibri"/>
            </a:endParaRPr>
          </a:p>
        </p:txBody>
      </p:sp>
      <p:sp>
        <p:nvSpPr>
          <p:cNvPr id="219" name="Google Shape;219;p10"/>
          <p:cNvSpPr/>
          <p:nvPr/>
        </p:nvSpPr>
        <p:spPr>
          <a:xfrm>
            <a:off x="704088" y="5764639"/>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220" name="Google Shape;220;p10"/>
          <p:cNvSpPr/>
          <p:nvPr/>
        </p:nvSpPr>
        <p:spPr>
          <a:xfrm>
            <a:off x="704088" y="5955357"/>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sendToUser(reply);</a:t>
            </a:r>
            <a:endParaRPr b="0" i="0" sz="1050" u="none" cap="none" strike="noStrike">
              <a:solidFill>
                <a:schemeClr val="dk1"/>
              </a:solidFill>
              <a:latin typeface="Calibri"/>
              <a:ea typeface="Calibri"/>
              <a:cs typeface="Calibri"/>
              <a:sym typeface="Calibri"/>
            </a:endParaRPr>
          </a:p>
        </p:txBody>
      </p:sp>
      <p:sp>
        <p:nvSpPr>
          <p:cNvPr id="221" name="Google Shape;221;p10"/>
          <p:cNvSpPr/>
          <p:nvPr/>
        </p:nvSpPr>
        <p:spPr>
          <a:xfrm>
            <a:off x="704088" y="6146074"/>
            <a:ext cx="6464808" cy="19071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222" name="Google Shape;222;p10"/>
          <p:cNvSpPr/>
          <p:nvPr/>
        </p:nvSpPr>
        <p:spPr>
          <a:xfrm>
            <a:off x="7388352" y="1874520"/>
            <a:ext cx="4572000" cy="1389888"/>
          </a:xfrm>
          <a:prstGeom prst="roundRect">
            <a:avLst>
              <a:gd fmla="val 5921" name="adj"/>
            </a:avLst>
          </a:prstGeom>
          <a:solidFill>
            <a:srgbClr val="F8FAFC"/>
          </a:solidFill>
          <a:ln cap="flat" cmpd="sng" w="1905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7543800" y="2350008"/>
            <a:ext cx="384048" cy="384048"/>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7543800" y="235000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225" name="Google Shape;225;p10"/>
          <p:cNvSpPr/>
          <p:nvPr/>
        </p:nvSpPr>
        <p:spPr>
          <a:xfrm>
            <a:off x="8065008" y="1984248"/>
            <a:ext cx="3749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System message: add ONCE</a:t>
            </a:r>
            <a:endParaRPr b="0" i="0" sz="1400" u="none" cap="none" strike="noStrike">
              <a:solidFill>
                <a:schemeClr val="dk1"/>
              </a:solidFill>
              <a:latin typeface="Calibri"/>
              <a:ea typeface="Calibri"/>
              <a:cs typeface="Calibri"/>
              <a:sym typeface="Calibri"/>
            </a:endParaRPr>
          </a:p>
        </p:txBody>
      </p:sp>
      <p:sp>
        <p:nvSpPr>
          <p:cNvPr id="226" name="Google Shape;226;p10"/>
          <p:cNvSpPr/>
          <p:nvPr/>
        </p:nvSpPr>
        <p:spPr>
          <a:xfrm>
            <a:off x="7543800" y="2468880"/>
            <a:ext cx="4251960"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Re-adding it every turn duplicates context and wastes tokens.</a:t>
            </a:r>
            <a:endParaRPr b="0" i="0" sz="1300" u="none" cap="none" strike="noStrike">
              <a:solidFill>
                <a:schemeClr val="dk1"/>
              </a:solidFill>
              <a:latin typeface="Calibri"/>
              <a:ea typeface="Calibri"/>
              <a:cs typeface="Calibri"/>
              <a:sym typeface="Calibri"/>
            </a:endParaRPr>
          </a:p>
        </p:txBody>
      </p:sp>
      <p:sp>
        <p:nvSpPr>
          <p:cNvPr id="227" name="Google Shape;227;p10"/>
          <p:cNvSpPr/>
          <p:nvPr/>
        </p:nvSpPr>
        <p:spPr>
          <a:xfrm>
            <a:off x="7388352" y="3383280"/>
            <a:ext cx="4572000" cy="1389888"/>
          </a:xfrm>
          <a:prstGeom prst="roundRect">
            <a:avLst>
              <a:gd fmla="val 5921" name="adj"/>
            </a:avLst>
          </a:prstGeom>
          <a:solidFill>
            <a:srgbClr val="F8FAFC"/>
          </a:solidFill>
          <a:ln cap="flat" cmpd="sng" w="19050">
            <a:solidFill>
              <a:srgbClr val="0891B2">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7543800" y="3858768"/>
            <a:ext cx="384048" cy="38404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7543800" y="385876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30" name="Google Shape;230;p10"/>
          <p:cNvSpPr/>
          <p:nvPr/>
        </p:nvSpPr>
        <p:spPr>
          <a:xfrm>
            <a:off x="8065008" y="3493008"/>
            <a:ext cx="3749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alibri"/>
              <a:buNone/>
            </a:pPr>
            <a:r>
              <a:rPr b="1" i="0" lang="en-US" sz="1400" u="none" cap="none" strike="noStrike">
                <a:solidFill>
                  <a:srgbClr val="0891B2"/>
                </a:solidFill>
                <a:latin typeface="Calibri"/>
                <a:ea typeface="Calibri"/>
                <a:cs typeface="Calibri"/>
                <a:sym typeface="Calibri"/>
              </a:rPr>
              <a:t>User message: BEFORE the API call</a:t>
            </a:r>
            <a:endParaRPr b="0" i="0" sz="1400" u="none" cap="none" strike="noStrike">
              <a:solidFill>
                <a:schemeClr val="dk1"/>
              </a:solidFill>
              <a:latin typeface="Calibri"/>
              <a:ea typeface="Calibri"/>
              <a:cs typeface="Calibri"/>
              <a:sym typeface="Calibri"/>
            </a:endParaRPr>
          </a:p>
        </p:txBody>
      </p:sp>
      <p:sp>
        <p:nvSpPr>
          <p:cNvPr id="231" name="Google Shape;231;p10"/>
          <p:cNvSpPr/>
          <p:nvPr/>
        </p:nvSpPr>
        <p:spPr>
          <a:xfrm>
            <a:off x="7543800" y="3977640"/>
            <a:ext cx="4251960"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The model must see the question before it can answer it.</a:t>
            </a:r>
            <a:endParaRPr b="0" i="0" sz="1300" u="none" cap="none" strike="noStrike">
              <a:solidFill>
                <a:schemeClr val="dk1"/>
              </a:solidFill>
              <a:latin typeface="Calibri"/>
              <a:ea typeface="Calibri"/>
              <a:cs typeface="Calibri"/>
              <a:sym typeface="Calibri"/>
            </a:endParaRPr>
          </a:p>
        </p:txBody>
      </p:sp>
      <p:sp>
        <p:nvSpPr>
          <p:cNvPr id="232" name="Google Shape;232;p10"/>
          <p:cNvSpPr/>
          <p:nvPr/>
        </p:nvSpPr>
        <p:spPr>
          <a:xfrm>
            <a:off x="7388352" y="4892040"/>
            <a:ext cx="4572000" cy="1389888"/>
          </a:xfrm>
          <a:prstGeom prst="roundRect">
            <a:avLst>
              <a:gd fmla="val 5921" name="adj"/>
            </a:avLst>
          </a:prstGeom>
          <a:solidFill>
            <a:srgbClr val="F8FAFC"/>
          </a:solidFill>
          <a:ln cap="flat" cmpd="sng" w="1905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7543800" y="5367528"/>
            <a:ext cx="384048" cy="38404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7543800" y="536752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235" name="Google Shape;235;p10"/>
          <p:cNvSpPr/>
          <p:nvPr/>
        </p:nvSpPr>
        <p:spPr>
          <a:xfrm>
            <a:off x="8065008" y="5001768"/>
            <a:ext cx="374904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Assistant message: AFTER, never skip</a:t>
            </a:r>
            <a:endParaRPr b="0" i="0" sz="1400" u="none" cap="none" strike="noStrike">
              <a:solidFill>
                <a:schemeClr val="dk1"/>
              </a:solidFill>
              <a:latin typeface="Calibri"/>
              <a:ea typeface="Calibri"/>
              <a:cs typeface="Calibri"/>
              <a:sym typeface="Calibri"/>
            </a:endParaRPr>
          </a:p>
        </p:txBody>
      </p:sp>
      <p:sp>
        <p:nvSpPr>
          <p:cNvPr id="236" name="Google Shape;236;p10"/>
          <p:cNvSpPr/>
          <p:nvPr/>
        </p:nvSpPr>
        <p:spPr>
          <a:xfrm>
            <a:off x="7543800" y="5486400"/>
            <a:ext cx="4251960" cy="71323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Skip this and the model has no memory of its own answer next turn.</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239" name="Google Shape;239;p1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1"/>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SECTION 2 · WHAT BREAKS WHEN YOU GET THE LOOP WRONG</a:t>
            </a:r>
            <a:endParaRPr b="0" i="0" sz="1200" u="none" cap="none" strike="noStrike">
              <a:solidFill>
                <a:schemeClr val="dk1"/>
              </a:solidFill>
              <a:latin typeface="Calibri"/>
              <a:ea typeface="Calibri"/>
              <a:cs typeface="Calibri"/>
              <a:sym typeface="Calibri"/>
            </a:endParaRPr>
          </a:p>
        </p:txBody>
      </p:sp>
      <p:sp>
        <p:nvSpPr>
          <p:cNvPr id="246" name="Google Shape;246;p11"/>
          <p:cNvSpPr/>
          <p:nvPr/>
        </p:nvSpPr>
        <p:spPr>
          <a:xfrm>
            <a:off x="685800" y="749808"/>
            <a:ext cx="107899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Three bugs. All from the same mistake: wrong history.</a:t>
            </a:r>
            <a:endParaRPr b="0" i="0" sz="3400" u="none" cap="none" strike="noStrike">
              <a:solidFill>
                <a:schemeClr val="dk1"/>
              </a:solidFill>
              <a:latin typeface="Calibri"/>
              <a:ea typeface="Calibri"/>
              <a:cs typeface="Calibri"/>
              <a:sym typeface="Calibri"/>
            </a:endParaRPr>
          </a:p>
        </p:txBody>
      </p:sp>
      <p:sp>
        <p:nvSpPr>
          <p:cNvPr id="247" name="Google Shape;247;p11"/>
          <p:cNvSpPr/>
          <p:nvPr/>
        </p:nvSpPr>
        <p:spPr>
          <a:xfrm>
            <a:off x="502920" y="1874520"/>
            <a:ext cx="11109960" cy="1444752"/>
          </a:xfrm>
          <a:prstGeom prst="roundRect">
            <a:avLst>
              <a:gd fmla="val 5696" name="adj"/>
            </a:avLst>
          </a:prstGeom>
          <a:solidFill>
            <a:srgbClr val="F8FAFC"/>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658368" y="2331720"/>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49" name="Google Shape;249;p11"/>
          <p:cNvSpPr/>
          <p:nvPr/>
        </p:nvSpPr>
        <p:spPr>
          <a:xfrm>
            <a:off x="1234440" y="1965960"/>
            <a:ext cx="3200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500"/>
              <a:buFont typeface="Calibri"/>
              <a:buNone/>
            </a:pPr>
            <a:r>
              <a:rPr b="1" i="0" lang="en-US" sz="1500" u="none" cap="none" strike="noStrike">
                <a:solidFill>
                  <a:srgbClr val="E11D48"/>
                </a:solidFill>
                <a:latin typeface="Calibri"/>
                <a:ea typeface="Calibri"/>
                <a:cs typeface="Calibri"/>
                <a:sym typeface="Calibri"/>
              </a:rPr>
              <a:t>Forgot to add assistant reply</a:t>
            </a:r>
            <a:endParaRPr b="0" i="0" sz="1500" u="none" cap="none" strike="noStrike">
              <a:solidFill>
                <a:schemeClr val="dk1"/>
              </a:solidFill>
              <a:latin typeface="Calibri"/>
              <a:ea typeface="Calibri"/>
              <a:cs typeface="Calibri"/>
              <a:sym typeface="Calibri"/>
            </a:endParaRPr>
          </a:p>
        </p:txBody>
      </p:sp>
      <p:sp>
        <p:nvSpPr>
          <p:cNvPr id="250" name="Google Shape;250;p11"/>
          <p:cNvSpPr/>
          <p:nvPr/>
        </p:nvSpPr>
        <p:spPr>
          <a:xfrm>
            <a:off x="1234440" y="2377440"/>
            <a:ext cx="320040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User: Who are you?</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Bot: I am your Java tutor.</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User: What did you just say?</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Bot: I did not say anything. How can I help you?</a:t>
            </a:r>
            <a:endParaRPr b="0" i="0" sz="1050" u="none" cap="none" strike="noStrike">
              <a:solidFill>
                <a:schemeClr val="dk1"/>
              </a:solidFill>
              <a:latin typeface="Calibri"/>
              <a:ea typeface="Calibri"/>
              <a:cs typeface="Calibri"/>
              <a:sym typeface="Calibri"/>
            </a:endParaRPr>
          </a:p>
        </p:txBody>
      </p:sp>
      <p:cxnSp>
        <p:nvCxnSpPr>
          <p:cNvPr id="251" name="Google Shape;251;p11"/>
          <p:cNvCxnSpPr/>
          <p:nvPr/>
        </p:nvCxnSpPr>
        <p:spPr>
          <a:xfrm>
            <a:off x="4553712" y="2057400"/>
            <a:ext cx="0" cy="1097280"/>
          </a:xfrm>
          <a:prstGeom prst="straightConnector1">
            <a:avLst/>
          </a:prstGeom>
          <a:noFill/>
          <a:ln cap="flat" cmpd="sng" w="9525">
            <a:solidFill>
              <a:srgbClr val="E11D48">
                <a:alpha val="45098"/>
              </a:srgbClr>
            </a:solidFill>
            <a:prstDash val="solid"/>
            <a:round/>
            <a:headEnd len="sm" w="sm" type="none"/>
            <a:tailEnd len="sm" w="sm" type="none"/>
          </a:ln>
        </p:spPr>
      </p:cxnSp>
      <p:sp>
        <p:nvSpPr>
          <p:cNvPr id="252" name="Google Shape;252;p11"/>
          <p:cNvSpPr/>
          <p:nvPr/>
        </p:nvSpPr>
        <p:spPr>
          <a:xfrm>
            <a:off x="4709160" y="1965960"/>
            <a:ext cx="3063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Why it happens:</a:t>
            </a:r>
            <a:endParaRPr b="0" i="0" sz="1200" u="none" cap="none" strike="noStrike">
              <a:solidFill>
                <a:schemeClr val="dk1"/>
              </a:solidFill>
              <a:latin typeface="Calibri"/>
              <a:ea typeface="Calibri"/>
              <a:cs typeface="Calibri"/>
              <a:sym typeface="Calibri"/>
            </a:endParaRPr>
          </a:p>
        </p:txBody>
      </p:sp>
      <p:sp>
        <p:nvSpPr>
          <p:cNvPr id="253" name="Google Shape;253;p11"/>
          <p:cNvSpPr/>
          <p:nvPr/>
        </p:nvSpPr>
        <p:spPr>
          <a:xfrm>
            <a:off x="4709160" y="2276856"/>
            <a:ext cx="306324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history has [SYSTEM, USER] but not [ASSISTANT]. Model has no memory of its own output.</a:t>
            </a:r>
            <a:endParaRPr b="0" i="0" sz="1200" u="none" cap="none" strike="noStrike">
              <a:solidFill>
                <a:schemeClr val="dk1"/>
              </a:solidFill>
              <a:latin typeface="Calibri"/>
              <a:ea typeface="Calibri"/>
              <a:cs typeface="Calibri"/>
              <a:sym typeface="Calibri"/>
            </a:endParaRPr>
          </a:p>
        </p:txBody>
      </p:sp>
      <p:cxnSp>
        <p:nvCxnSpPr>
          <p:cNvPr id="254" name="Google Shape;254;p11"/>
          <p:cNvCxnSpPr/>
          <p:nvPr/>
        </p:nvCxnSpPr>
        <p:spPr>
          <a:xfrm>
            <a:off x="7882128" y="2057400"/>
            <a:ext cx="0" cy="1097280"/>
          </a:xfrm>
          <a:prstGeom prst="straightConnector1">
            <a:avLst/>
          </a:prstGeom>
          <a:noFill/>
          <a:ln cap="flat" cmpd="sng" w="9525">
            <a:solidFill>
              <a:srgbClr val="E11D48">
                <a:alpha val="45098"/>
              </a:srgbClr>
            </a:solidFill>
            <a:prstDash val="solid"/>
            <a:round/>
            <a:headEnd len="sm" w="sm" type="none"/>
            <a:tailEnd len="sm" w="sm" type="none"/>
          </a:ln>
        </p:spPr>
      </p:cxnSp>
      <p:sp>
        <p:nvSpPr>
          <p:cNvPr id="255" name="Google Shape;255;p11"/>
          <p:cNvSpPr/>
          <p:nvPr/>
        </p:nvSpPr>
        <p:spPr>
          <a:xfrm>
            <a:off x="8028432" y="1965960"/>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Fix:</a:t>
            </a:r>
            <a:endParaRPr b="0" i="0" sz="1200" u="none" cap="none" strike="noStrike">
              <a:solidFill>
                <a:schemeClr val="dk1"/>
              </a:solidFill>
              <a:latin typeface="Calibri"/>
              <a:ea typeface="Calibri"/>
              <a:cs typeface="Calibri"/>
              <a:sym typeface="Calibri"/>
            </a:endParaRPr>
          </a:p>
        </p:txBody>
      </p:sp>
      <p:sp>
        <p:nvSpPr>
          <p:cNvPr id="256" name="Google Shape;256;p11"/>
          <p:cNvSpPr/>
          <p:nvPr/>
        </p:nvSpPr>
        <p:spPr>
          <a:xfrm>
            <a:off x="8028432" y="2276856"/>
            <a:ext cx="338328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6EFAC"/>
              </a:buClr>
              <a:buSzPts val="1100"/>
              <a:buFont typeface="Courier New"/>
              <a:buNone/>
            </a:pPr>
            <a:r>
              <a:rPr b="0" i="0" lang="en-US" sz="1100" u="none" cap="none" strike="noStrike">
                <a:solidFill>
                  <a:srgbClr val="86EFAC"/>
                </a:solidFill>
                <a:latin typeface="Courier New"/>
                <a:ea typeface="Courier New"/>
                <a:cs typeface="Courier New"/>
                <a:sym typeface="Courier New"/>
              </a:rPr>
              <a:t>history.add(ofAssistant(reply)) after EVERY call. No exceptions.</a:t>
            </a:r>
            <a:endParaRPr b="0" i="0" sz="1100" u="none" cap="none" strike="noStrike">
              <a:solidFill>
                <a:schemeClr val="dk1"/>
              </a:solidFill>
              <a:latin typeface="Calibri"/>
              <a:ea typeface="Calibri"/>
              <a:cs typeface="Calibri"/>
              <a:sym typeface="Calibri"/>
            </a:endParaRPr>
          </a:p>
        </p:txBody>
      </p:sp>
      <p:sp>
        <p:nvSpPr>
          <p:cNvPr id="257" name="Google Shape;257;p11"/>
          <p:cNvSpPr/>
          <p:nvPr/>
        </p:nvSpPr>
        <p:spPr>
          <a:xfrm>
            <a:off x="502920" y="3447288"/>
            <a:ext cx="11109960" cy="1444752"/>
          </a:xfrm>
          <a:prstGeom prst="roundRect">
            <a:avLst>
              <a:gd fmla="val 5696" name="adj"/>
            </a:avLst>
          </a:prstGeom>
          <a:solidFill>
            <a:srgbClr val="F8FAFC"/>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658368" y="3904488"/>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59" name="Google Shape;259;p11"/>
          <p:cNvSpPr/>
          <p:nvPr/>
        </p:nvSpPr>
        <p:spPr>
          <a:xfrm>
            <a:off x="1234440" y="3538728"/>
            <a:ext cx="3200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500"/>
              <a:buFont typeface="Calibri"/>
              <a:buNone/>
            </a:pPr>
            <a:r>
              <a:rPr b="1" i="0" lang="en-US" sz="1500" u="none" cap="none" strike="noStrike">
                <a:solidFill>
                  <a:srgbClr val="D97706"/>
                </a:solidFill>
                <a:latin typeface="Calibri"/>
                <a:ea typeface="Calibri"/>
                <a:cs typeface="Calibri"/>
                <a:sym typeface="Calibri"/>
              </a:rPr>
              <a:t>Re-added system message each turn</a:t>
            </a:r>
            <a:endParaRPr b="0" i="0" sz="1500" u="none" cap="none" strike="noStrike">
              <a:solidFill>
                <a:schemeClr val="dk1"/>
              </a:solidFill>
              <a:latin typeface="Calibri"/>
              <a:ea typeface="Calibri"/>
              <a:cs typeface="Calibri"/>
              <a:sym typeface="Calibri"/>
            </a:endParaRPr>
          </a:p>
        </p:txBody>
      </p:sp>
      <p:sp>
        <p:nvSpPr>
          <p:cNvPr id="260" name="Google Shape;260;p11"/>
          <p:cNvSpPr/>
          <p:nvPr/>
        </p:nvSpPr>
        <p:spPr>
          <a:xfrm>
            <a:off x="1234440" y="3950208"/>
            <a:ext cx="320040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After 5 turns the model behaves strangely. Role confusion. Contradicts itself. Inconsistent tone.</a:t>
            </a:r>
            <a:endParaRPr b="0" i="0" sz="1050" u="none" cap="none" strike="noStrike">
              <a:solidFill>
                <a:schemeClr val="dk1"/>
              </a:solidFill>
              <a:latin typeface="Calibri"/>
              <a:ea typeface="Calibri"/>
              <a:cs typeface="Calibri"/>
              <a:sym typeface="Calibri"/>
            </a:endParaRPr>
          </a:p>
        </p:txBody>
      </p:sp>
      <p:cxnSp>
        <p:nvCxnSpPr>
          <p:cNvPr id="261" name="Google Shape;261;p11"/>
          <p:cNvCxnSpPr/>
          <p:nvPr/>
        </p:nvCxnSpPr>
        <p:spPr>
          <a:xfrm>
            <a:off x="4553712" y="3630168"/>
            <a:ext cx="0" cy="1097280"/>
          </a:xfrm>
          <a:prstGeom prst="straightConnector1">
            <a:avLst/>
          </a:prstGeom>
          <a:noFill/>
          <a:ln cap="flat" cmpd="sng" w="9525">
            <a:solidFill>
              <a:srgbClr val="D97706">
                <a:alpha val="45098"/>
              </a:srgbClr>
            </a:solidFill>
            <a:prstDash val="solid"/>
            <a:round/>
            <a:headEnd len="sm" w="sm" type="none"/>
            <a:tailEnd len="sm" w="sm" type="none"/>
          </a:ln>
        </p:spPr>
      </p:cxnSp>
      <p:sp>
        <p:nvSpPr>
          <p:cNvPr id="262" name="Google Shape;262;p11"/>
          <p:cNvSpPr/>
          <p:nvPr/>
        </p:nvSpPr>
        <p:spPr>
          <a:xfrm>
            <a:off x="4709160" y="3538728"/>
            <a:ext cx="3063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Why it happens:</a:t>
            </a:r>
            <a:endParaRPr b="0" i="0" sz="1200" u="none" cap="none" strike="noStrike">
              <a:solidFill>
                <a:schemeClr val="dk1"/>
              </a:solidFill>
              <a:latin typeface="Calibri"/>
              <a:ea typeface="Calibri"/>
              <a:cs typeface="Calibri"/>
              <a:sym typeface="Calibri"/>
            </a:endParaRPr>
          </a:p>
        </p:txBody>
      </p:sp>
      <p:sp>
        <p:nvSpPr>
          <p:cNvPr id="263" name="Google Shape;263;p11"/>
          <p:cNvSpPr/>
          <p:nvPr/>
        </p:nvSpPr>
        <p:spPr>
          <a:xfrm>
            <a:off x="4709160" y="3849624"/>
            <a:ext cx="306324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history = [SYS, USER1, ASS1, SYS, USER2, ASS2, SYS, USER3...] — model gets conflicting instructions from repeated system messages.</a:t>
            </a:r>
            <a:endParaRPr b="0" i="0" sz="1200" u="none" cap="none" strike="noStrike">
              <a:solidFill>
                <a:schemeClr val="dk1"/>
              </a:solidFill>
              <a:latin typeface="Calibri"/>
              <a:ea typeface="Calibri"/>
              <a:cs typeface="Calibri"/>
              <a:sym typeface="Calibri"/>
            </a:endParaRPr>
          </a:p>
        </p:txBody>
      </p:sp>
      <p:cxnSp>
        <p:nvCxnSpPr>
          <p:cNvPr id="264" name="Google Shape;264;p11"/>
          <p:cNvCxnSpPr/>
          <p:nvPr/>
        </p:nvCxnSpPr>
        <p:spPr>
          <a:xfrm>
            <a:off x="7882128" y="3630168"/>
            <a:ext cx="0" cy="1097280"/>
          </a:xfrm>
          <a:prstGeom prst="straightConnector1">
            <a:avLst/>
          </a:prstGeom>
          <a:noFill/>
          <a:ln cap="flat" cmpd="sng" w="9525">
            <a:solidFill>
              <a:srgbClr val="D97706">
                <a:alpha val="45098"/>
              </a:srgbClr>
            </a:solidFill>
            <a:prstDash val="solid"/>
            <a:round/>
            <a:headEnd len="sm" w="sm" type="none"/>
            <a:tailEnd len="sm" w="sm" type="none"/>
          </a:ln>
        </p:spPr>
      </p:cxnSp>
      <p:sp>
        <p:nvSpPr>
          <p:cNvPr id="265" name="Google Shape;265;p11"/>
          <p:cNvSpPr/>
          <p:nvPr/>
        </p:nvSpPr>
        <p:spPr>
          <a:xfrm>
            <a:off x="8028432" y="3538728"/>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Fix:</a:t>
            </a:r>
            <a:endParaRPr b="0" i="0" sz="1200" u="none" cap="none" strike="noStrike">
              <a:solidFill>
                <a:schemeClr val="dk1"/>
              </a:solidFill>
              <a:latin typeface="Calibri"/>
              <a:ea typeface="Calibri"/>
              <a:cs typeface="Calibri"/>
              <a:sym typeface="Calibri"/>
            </a:endParaRPr>
          </a:p>
        </p:txBody>
      </p:sp>
      <p:sp>
        <p:nvSpPr>
          <p:cNvPr id="266" name="Google Shape;266;p11"/>
          <p:cNvSpPr/>
          <p:nvPr/>
        </p:nvSpPr>
        <p:spPr>
          <a:xfrm>
            <a:off x="8028432" y="3849624"/>
            <a:ext cx="338328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6EFAC"/>
              </a:buClr>
              <a:buSzPts val="1100"/>
              <a:buFont typeface="Courier New"/>
              <a:buNone/>
            </a:pPr>
            <a:r>
              <a:rPr b="0" i="0" lang="en-US" sz="1100" u="none" cap="none" strike="noStrike">
                <a:solidFill>
                  <a:srgbClr val="86EFAC"/>
                </a:solidFill>
                <a:latin typeface="Courier New"/>
                <a:ea typeface="Courier New"/>
                <a:cs typeface="Courier New"/>
                <a:sym typeface="Courier New"/>
              </a:rPr>
              <a:t>Add the system message exactly once before the loop starts. Never inside the loop.</a:t>
            </a:r>
            <a:endParaRPr b="0" i="0" sz="1100" u="none" cap="none" strike="noStrike">
              <a:solidFill>
                <a:schemeClr val="dk1"/>
              </a:solidFill>
              <a:latin typeface="Calibri"/>
              <a:ea typeface="Calibri"/>
              <a:cs typeface="Calibri"/>
              <a:sym typeface="Calibri"/>
            </a:endParaRPr>
          </a:p>
        </p:txBody>
      </p:sp>
      <p:sp>
        <p:nvSpPr>
          <p:cNvPr id="267" name="Google Shape;267;p11"/>
          <p:cNvSpPr/>
          <p:nvPr/>
        </p:nvSpPr>
        <p:spPr>
          <a:xfrm>
            <a:off x="502920" y="5020056"/>
            <a:ext cx="11109960" cy="1444752"/>
          </a:xfrm>
          <a:prstGeom prst="roundRect">
            <a:avLst>
              <a:gd fmla="val 5696" name="adj"/>
            </a:avLst>
          </a:prstGeom>
          <a:solidFill>
            <a:srgbClr val="F8FAFC"/>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658368" y="5477256"/>
            <a:ext cx="502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200"/>
              <a:buFont typeface="Calibri"/>
              <a:buNone/>
            </a:pPr>
            <a:r>
              <a:rPr b="0" i="0" lang="en-US" sz="2200" u="none" cap="none" strike="noStrike">
                <a:solidFill>
                  <a:srgbClr val="000000"/>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269" name="Google Shape;269;p11"/>
          <p:cNvSpPr/>
          <p:nvPr/>
        </p:nvSpPr>
        <p:spPr>
          <a:xfrm>
            <a:off x="1234440" y="5111496"/>
            <a:ext cx="32004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Sent empty or null history</a:t>
            </a:r>
            <a:endParaRPr b="0" i="0" sz="1500" u="none" cap="none" strike="noStrike">
              <a:solidFill>
                <a:schemeClr val="dk1"/>
              </a:solidFill>
              <a:latin typeface="Calibri"/>
              <a:ea typeface="Calibri"/>
              <a:cs typeface="Calibri"/>
              <a:sym typeface="Calibri"/>
            </a:endParaRPr>
          </a:p>
        </p:txBody>
      </p:sp>
      <p:sp>
        <p:nvSpPr>
          <p:cNvPr id="270" name="Google Shape;270;p11"/>
          <p:cNvSpPr/>
          <p:nvPr/>
        </p:nvSpPr>
        <p:spPr>
          <a:xfrm>
            <a:off x="1234440" y="5522976"/>
            <a:ext cx="3200400"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400 Bad Request: "messages array cannot be empty" or NullPointerException in your code before the API call.</a:t>
            </a:r>
            <a:endParaRPr b="0" i="0" sz="1050" u="none" cap="none" strike="noStrike">
              <a:solidFill>
                <a:schemeClr val="dk1"/>
              </a:solidFill>
              <a:latin typeface="Calibri"/>
              <a:ea typeface="Calibri"/>
              <a:cs typeface="Calibri"/>
              <a:sym typeface="Calibri"/>
            </a:endParaRPr>
          </a:p>
        </p:txBody>
      </p:sp>
      <p:cxnSp>
        <p:nvCxnSpPr>
          <p:cNvPr id="271" name="Google Shape;271;p11"/>
          <p:cNvCxnSpPr/>
          <p:nvPr/>
        </p:nvCxnSpPr>
        <p:spPr>
          <a:xfrm>
            <a:off x="4553712" y="5202936"/>
            <a:ext cx="0" cy="1097280"/>
          </a:xfrm>
          <a:prstGeom prst="straightConnector1">
            <a:avLst/>
          </a:prstGeom>
          <a:noFill/>
          <a:ln cap="flat" cmpd="sng" w="9525">
            <a:solidFill>
              <a:srgbClr val="16A34A">
                <a:alpha val="45098"/>
              </a:srgbClr>
            </a:solidFill>
            <a:prstDash val="solid"/>
            <a:round/>
            <a:headEnd len="sm" w="sm" type="none"/>
            <a:tailEnd len="sm" w="sm" type="none"/>
          </a:ln>
        </p:spPr>
      </p:cxnSp>
      <p:sp>
        <p:nvSpPr>
          <p:cNvPr id="272" name="Google Shape;272;p11"/>
          <p:cNvSpPr/>
          <p:nvPr/>
        </p:nvSpPr>
        <p:spPr>
          <a:xfrm>
            <a:off x="4709160" y="5111496"/>
            <a:ext cx="30632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Why it happens:</a:t>
            </a:r>
            <a:endParaRPr b="0" i="0" sz="1200" u="none" cap="none" strike="noStrike">
              <a:solidFill>
                <a:schemeClr val="dk1"/>
              </a:solidFill>
              <a:latin typeface="Calibri"/>
              <a:ea typeface="Calibri"/>
              <a:cs typeface="Calibri"/>
              <a:sym typeface="Calibri"/>
            </a:endParaRPr>
          </a:p>
        </p:txBody>
      </p:sp>
      <p:sp>
        <p:nvSpPr>
          <p:cNvPr id="273" name="Google Shape;273;p11"/>
          <p:cNvSpPr/>
          <p:nvPr/>
        </p:nvSpPr>
        <p:spPr>
          <a:xfrm>
            <a:off x="4709160" y="5422392"/>
            <a:ext cx="306324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History was null (never initialised) or cleared accidentally mid-conversation.</a:t>
            </a:r>
            <a:endParaRPr b="0" i="0" sz="1200" u="none" cap="none" strike="noStrike">
              <a:solidFill>
                <a:schemeClr val="dk1"/>
              </a:solidFill>
              <a:latin typeface="Calibri"/>
              <a:ea typeface="Calibri"/>
              <a:cs typeface="Calibri"/>
              <a:sym typeface="Calibri"/>
            </a:endParaRPr>
          </a:p>
        </p:txBody>
      </p:sp>
      <p:cxnSp>
        <p:nvCxnSpPr>
          <p:cNvPr id="274" name="Google Shape;274;p11"/>
          <p:cNvCxnSpPr/>
          <p:nvPr/>
        </p:nvCxnSpPr>
        <p:spPr>
          <a:xfrm>
            <a:off x="7882128" y="5202936"/>
            <a:ext cx="0" cy="1097280"/>
          </a:xfrm>
          <a:prstGeom prst="straightConnector1">
            <a:avLst/>
          </a:prstGeom>
          <a:noFill/>
          <a:ln cap="flat" cmpd="sng" w="9525">
            <a:solidFill>
              <a:srgbClr val="16A34A">
                <a:alpha val="45098"/>
              </a:srgbClr>
            </a:solidFill>
            <a:prstDash val="solid"/>
            <a:round/>
            <a:headEnd len="sm" w="sm" type="none"/>
            <a:tailEnd len="sm" w="sm" type="none"/>
          </a:ln>
        </p:spPr>
      </p:cxnSp>
      <p:sp>
        <p:nvSpPr>
          <p:cNvPr id="275" name="Google Shape;275;p11"/>
          <p:cNvSpPr/>
          <p:nvPr/>
        </p:nvSpPr>
        <p:spPr>
          <a:xfrm>
            <a:off x="8028432" y="5111496"/>
            <a:ext cx="3383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Fix:</a:t>
            </a:r>
            <a:endParaRPr b="0" i="0" sz="1200" u="none" cap="none" strike="noStrike">
              <a:solidFill>
                <a:schemeClr val="dk1"/>
              </a:solidFill>
              <a:latin typeface="Calibri"/>
              <a:ea typeface="Calibri"/>
              <a:cs typeface="Calibri"/>
              <a:sym typeface="Calibri"/>
            </a:endParaRPr>
          </a:p>
        </p:txBody>
      </p:sp>
      <p:sp>
        <p:nvSpPr>
          <p:cNvPr id="276" name="Google Shape;276;p11"/>
          <p:cNvSpPr/>
          <p:nvPr/>
        </p:nvSpPr>
        <p:spPr>
          <a:xfrm>
            <a:off x="8028432" y="5422392"/>
            <a:ext cx="3383280" cy="9601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6EFAC"/>
              </a:buClr>
              <a:buSzPts val="1100"/>
              <a:buFont typeface="Courier New"/>
              <a:buNone/>
            </a:pPr>
            <a:r>
              <a:rPr b="0" i="0" lang="en-US" sz="1100" u="none" cap="none" strike="noStrike">
                <a:solidFill>
                  <a:srgbClr val="86EFAC"/>
                </a:solidFill>
                <a:latin typeface="Courier New"/>
                <a:ea typeface="Courier New"/>
                <a:cs typeface="Courier New"/>
                <a:sym typeface="Courier New"/>
              </a:rPr>
              <a:t>Initialise history = new ArrayList() before the session starts. Never set it to null.</a:t>
            </a:r>
            <a:endParaRPr b="0" i="0" sz="1100" u="none" cap="none" strike="noStrike">
              <a:solidFill>
                <a:schemeClr val="dk1"/>
              </a:solidFill>
              <a:latin typeface="Calibri"/>
              <a:ea typeface="Calibri"/>
              <a:cs typeface="Calibri"/>
              <a:sym typeface="Calibri"/>
            </a:endParaRPr>
          </a:p>
        </p:txBody>
      </p:sp>
      <p:sp>
        <p:nvSpPr>
          <p:cNvPr id="277" name="Google Shape;277;p11"/>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279" name="Google Shape;279;p1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284" name="Shape 284"/>
        <p:cNvGrpSpPr/>
        <p:nvPr/>
      </p:nvGrpSpPr>
      <p:grpSpPr>
        <a:xfrm>
          <a:off x="0" y="0"/>
          <a:ext cx="0" cy="0"/>
          <a:chOff x="0" y="0"/>
          <a:chExt cx="0" cy="0"/>
        </a:xfrm>
      </p:grpSpPr>
      <p:sp>
        <p:nvSpPr>
          <p:cNvPr id="285" name="Google Shape;285;p12"/>
          <p:cNvSpPr/>
          <p:nvPr/>
        </p:nvSpPr>
        <p:spPr>
          <a:xfrm>
            <a:off x="6015000" y="-137167"/>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9000"/>
              <a:buFont typeface="Calibri"/>
              <a:buNone/>
            </a:pPr>
            <a:r>
              <a:rPr b="1" i="0" lang="en-US" sz="15000" u="none" cap="none" strike="noStrike">
                <a:solidFill>
                  <a:srgbClr val="16A34A"/>
                </a:solidFill>
                <a:latin typeface="Calibri"/>
                <a:ea typeface="Calibri"/>
                <a:cs typeface="Calibri"/>
                <a:sym typeface="Calibri"/>
              </a:rPr>
              <a:t>Context</a:t>
            </a:r>
            <a:endParaRPr b="0" i="0" sz="15000" u="none" cap="none" strike="noStrike">
              <a:solidFill>
                <a:schemeClr val="dk1"/>
              </a:solidFill>
              <a:latin typeface="Calibri"/>
              <a:ea typeface="Calibri"/>
              <a:cs typeface="Calibri"/>
              <a:sym typeface="Calibri"/>
            </a:endParaRPr>
          </a:p>
        </p:txBody>
      </p:sp>
      <p:sp>
        <p:nvSpPr>
          <p:cNvPr id="286" name="Google Shape;286;p12"/>
          <p:cNvSpPr/>
          <p:nvPr/>
        </p:nvSpPr>
        <p:spPr>
          <a:xfrm>
            <a:off x="475488" y="804672"/>
            <a:ext cx="749808" cy="749808"/>
          </a:xfrm>
          <a:prstGeom prst="roundRect">
            <a:avLst>
              <a:gd fmla="val 12195"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288" name="Google Shape;288;p12"/>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SECTION</a:t>
            </a:r>
            <a:endParaRPr b="0" i="0" sz="1300" u="none" cap="none" strike="noStrike">
              <a:solidFill>
                <a:schemeClr val="dk1"/>
              </a:solidFill>
              <a:latin typeface="Calibri"/>
              <a:ea typeface="Calibri"/>
              <a:cs typeface="Calibri"/>
              <a:sym typeface="Calibri"/>
            </a:endParaRPr>
          </a:p>
        </p:txBody>
      </p:sp>
      <p:sp>
        <p:nvSpPr>
          <p:cNvPr id="289" name="Google Shape;289;p12"/>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Context</a:t>
            </a:r>
            <a:endParaRPr b="0" i="0" sz="54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Economics</a:t>
            </a:r>
            <a:endParaRPr b="0" i="0" sz="5400" u="none" cap="none" strike="noStrike">
              <a:solidFill>
                <a:schemeClr val="dk1"/>
              </a:solidFill>
              <a:latin typeface="Calibri"/>
              <a:ea typeface="Calibri"/>
              <a:cs typeface="Calibri"/>
              <a:sym typeface="Calibri"/>
            </a:endParaRPr>
          </a:p>
        </p:txBody>
      </p:sp>
      <p:sp>
        <p:nvSpPr>
          <p:cNvPr id="290" name="Google Shape;290;p12"/>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Tokens accumulate every turn. 128k sounds huge until you see the cost curve.</a:t>
            </a:r>
            <a:endParaRPr b="0" i="0" sz="2000" u="none" cap="none" strike="noStrike">
              <a:solidFill>
                <a:schemeClr val="dk1"/>
              </a:solidFill>
              <a:latin typeface="Calibri"/>
              <a:ea typeface="Calibri"/>
              <a:cs typeface="Calibri"/>
              <a:sym typeface="Calibri"/>
            </a:endParaRPr>
          </a:p>
        </p:txBody>
      </p:sp>
      <p:sp>
        <p:nvSpPr>
          <p:cNvPr id="291" name="Google Shape;291;p12"/>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293" name="Google Shape;293;p1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10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8" name="Shape 298"/>
        <p:cNvGrpSpPr/>
        <p:nvPr/>
      </p:nvGrpSpPr>
      <p:grpSpPr>
        <a:xfrm>
          <a:off x="0" y="0"/>
          <a:ext cx="0" cy="0"/>
          <a:chOff x="0" y="0"/>
          <a:chExt cx="0" cy="0"/>
        </a:xfrm>
      </p:grpSpPr>
      <p:sp>
        <p:nvSpPr>
          <p:cNvPr id="299" name="Google Shape;299;p13"/>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SECTION 3 · CONTEXT ECONOMICS — THE ACCUMULATION PROBLEM</a:t>
            </a:r>
            <a:endParaRPr b="0" i="0" sz="1200" u="none" cap="none" strike="noStrike">
              <a:solidFill>
                <a:schemeClr val="dk1"/>
              </a:solidFill>
              <a:latin typeface="Calibri"/>
              <a:ea typeface="Calibri"/>
              <a:cs typeface="Calibri"/>
              <a:sym typeface="Calibri"/>
            </a:endParaRPr>
          </a:p>
        </p:txBody>
      </p:sp>
      <p:sp>
        <p:nvSpPr>
          <p:cNvPr id="300" name="Google Shape;300;p13"/>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Every turn you pay for ALL previous turns.</a:t>
            </a:r>
            <a:endParaRPr b="0" i="0" sz="3600" u="none" cap="none" strike="noStrike">
              <a:solidFill>
                <a:schemeClr val="dk1"/>
              </a:solidFill>
              <a:latin typeface="Calibri"/>
              <a:ea typeface="Calibri"/>
              <a:cs typeface="Calibri"/>
              <a:sym typeface="Calibri"/>
            </a:endParaRPr>
          </a:p>
        </p:txBody>
      </p:sp>
      <p:sp>
        <p:nvSpPr>
          <p:cNvPr id="301" name="Google Shape;301;p13"/>
          <p:cNvSpPr/>
          <p:nvPr/>
        </p:nvSpPr>
        <p:spPr>
          <a:xfrm>
            <a:off x="685800" y="5353396"/>
            <a:ext cx="1417320" cy="41564"/>
          </a:xfrm>
          <a:prstGeom prst="roundRect">
            <a:avLst>
              <a:gd fmla="val 109999"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594360" y="4941916"/>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$0.000075</a:t>
            </a:r>
            <a:endParaRPr b="0" i="0" sz="1100" u="none" cap="none" strike="noStrike">
              <a:solidFill>
                <a:schemeClr val="dk1"/>
              </a:solidFill>
              <a:latin typeface="Calibri"/>
              <a:ea typeface="Calibri"/>
              <a:cs typeface="Calibri"/>
              <a:sym typeface="Calibri"/>
            </a:endParaRPr>
          </a:p>
        </p:txBody>
      </p:sp>
      <p:sp>
        <p:nvSpPr>
          <p:cNvPr id="303" name="Google Shape;303;p13"/>
          <p:cNvSpPr/>
          <p:nvPr/>
        </p:nvSpPr>
        <p:spPr>
          <a:xfrm>
            <a:off x="59436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Turn 1</a:t>
            </a:r>
            <a:endParaRPr b="0" i="0" sz="1050" u="none" cap="none" strike="noStrike">
              <a:solidFill>
                <a:schemeClr val="dk1"/>
              </a:solidFill>
              <a:latin typeface="Calibri"/>
              <a:ea typeface="Calibri"/>
              <a:cs typeface="Calibri"/>
              <a:sym typeface="Calibri"/>
            </a:endParaRPr>
          </a:p>
        </p:txBody>
      </p:sp>
      <p:sp>
        <p:nvSpPr>
          <p:cNvPr id="304" name="Google Shape;304;p13"/>
          <p:cNvSpPr/>
          <p:nvPr/>
        </p:nvSpPr>
        <p:spPr>
          <a:xfrm>
            <a:off x="2331720" y="5162204"/>
            <a:ext cx="1417320" cy="232756"/>
          </a:xfrm>
          <a:prstGeom prst="roundRect">
            <a:avLst>
              <a:gd fmla="val 19643"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a:off x="2240280" y="4750724"/>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$0.00042</a:t>
            </a:r>
            <a:endParaRPr b="0" i="0" sz="1100" u="none" cap="none" strike="noStrike">
              <a:solidFill>
                <a:schemeClr val="dk1"/>
              </a:solidFill>
              <a:latin typeface="Calibri"/>
              <a:ea typeface="Calibri"/>
              <a:cs typeface="Calibri"/>
              <a:sym typeface="Calibri"/>
            </a:endParaRPr>
          </a:p>
        </p:txBody>
      </p:sp>
      <p:sp>
        <p:nvSpPr>
          <p:cNvPr id="306" name="Google Shape;306;p13"/>
          <p:cNvSpPr/>
          <p:nvPr/>
        </p:nvSpPr>
        <p:spPr>
          <a:xfrm>
            <a:off x="224028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Turn 5</a:t>
            </a:r>
            <a:endParaRPr b="0" i="0" sz="1050" u="none" cap="none" strike="noStrike">
              <a:solidFill>
                <a:schemeClr val="dk1"/>
              </a:solidFill>
              <a:latin typeface="Calibri"/>
              <a:ea typeface="Calibri"/>
              <a:cs typeface="Calibri"/>
              <a:sym typeface="Calibri"/>
            </a:endParaRPr>
          </a:p>
        </p:txBody>
      </p:sp>
      <p:sp>
        <p:nvSpPr>
          <p:cNvPr id="307" name="Google Shape;307;p13"/>
          <p:cNvSpPr/>
          <p:nvPr/>
        </p:nvSpPr>
        <p:spPr>
          <a:xfrm>
            <a:off x="3977640" y="4887884"/>
            <a:ext cx="1417320" cy="507076"/>
          </a:xfrm>
          <a:prstGeom prst="roundRect">
            <a:avLst>
              <a:gd fmla="val 90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p:nvPr/>
        </p:nvSpPr>
        <p:spPr>
          <a:xfrm>
            <a:off x="3886200" y="4476404"/>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$0.000915</a:t>
            </a:r>
            <a:endParaRPr b="0" i="0" sz="1100" u="none" cap="none" strike="noStrike">
              <a:solidFill>
                <a:schemeClr val="dk1"/>
              </a:solidFill>
              <a:latin typeface="Calibri"/>
              <a:ea typeface="Calibri"/>
              <a:cs typeface="Calibri"/>
              <a:sym typeface="Calibri"/>
            </a:endParaRPr>
          </a:p>
        </p:txBody>
      </p:sp>
      <p:sp>
        <p:nvSpPr>
          <p:cNvPr id="309" name="Google Shape;309;p13"/>
          <p:cNvSpPr/>
          <p:nvPr/>
        </p:nvSpPr>
        <p:spPr>
          <a:xfrm>
            <a:off x="388620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Turn 10</a:t>
            </a:r>
            <a:endParaRPr b="0" i="0" sz="1050" u="none" cap="none" strike="noStrike">
              <a:solidFill>
                <a:schemeClr val="dk1"/>
              </a:solidFill>
              <a:latin typeface="Calibri"/>
              <a:ea typeface="Calibri"/>
              <a:cs typeface="Calibri"/>
              <a:sym typeface="Calibri"/>
            </a:endParaRPr>
          </a:p>
        </p:txBody>
      </p:sp>
      <p:sp>
        <p:nvSpPr>
          <p:cNvPr id="310" name="Google Shape;310;p13"/>
          <p:cNvSpPr/>
          <p:nvPr/>
        </p:nvSpPr>
        <p:spPr>
          <a:xfrm>
            <a:off x="5623560" y="4330931"/>
            <a:ext cx="1417320" cy="1064029"/>
          </a:xfrm>
          <a:prstGeom prst="roundRect">
            <a:avLst>
              <a:gd fmla="val 4297"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5532120" y="3919451"/>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$0.00192</a:t>
            </a:r>
            <a:endParaRPr b="0" i="0" sz="1100" u="none" cap="none" strike="noStrike">
              <a:solidFill>
                <a:schemeClr val="dk1"/>
              </a:solidFill>
              <a:latin typeface="Calibri"/>
              <a:ea typeface="Calibri"/>
              <a:cs typeface="Calibri"/>
              <a:sym typeface="Calibri"/>
            </a:endParaRPr>
          </a:p>
        </p:txBody>
      </p:sp>
      <p:sp>
        <p:nvSpPr>
          <p:cNvPr id="312" name="Google Shape;312;p13"/>
          <p:cNvSpPr/>
          <p:nvPr/>
        </p:nvSpPr>
        <p:spPr>
          <a:xfrm>
            <a:off x="553212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Turn 20</a:t>
            </a:r>
            <a:endParaRPr b="0" i="0" sz="1050" u="none" cap="none" strike="noStrike">
              <a:solidFill>
                <a:schemeClr val="dk1"/>
              </a:solidFill>
              <a:latin typeface="Calibri"/>
              <a:ea typeface="Calibri"/>
              <a:cs typeface="Calibri"/>
              <a:sym typeface="Calibri"/>
            </a:endParaRPr>
          </a:p>
        </p:txBody>
      </p:sp>
      <p:sp>
        <p:nvSpPr>
          <p:cNvPr id="313" name="Google Shape;313;p13"/>
          <p:cNvSpPr/>
          <p:nvPr/>
        </p:nvSpPr>
        <p:spPr>
          <a:xfrm>
            <a:off x="7269480" y="2651760"/>
            <a:ext cx="1417320" cy="2743200"/>
          </a:xfrm>
          <a:prstGeom prst="roundRect">
            <a:avLst>
              <a:gd fmla="val 322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7178040" y="2240280"/>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$0.00495</a:t>
            </a:r>
            <a:endParaRPr b="0" i="0" sz="1100" u="none" cap="none" strike="noStrike">
              <a:solidFill>
                <a:schemeClr val="dk1"/>
              </a:solidFill>
              <a:latin typeface="Calibri"/>
              <a:ea typeface="Calibri"/>
              <a:cs typeface="Calibri"/>
              <a:sym typeface="Calibri"/>
            </a:endParaRPr>
          </a:p>
        </p:txBody>
      </p:sp>
      <p:sp>
        <p:nvSpPr>
          <p:cNvPr id="315" name="Google Shape;315;p13"/>
          <p:cNvSpPr/>
          <p:nvPr/>
        </p:nvSpPr>
        <p:spPr>
          <a:xfrm>
            <a:off x="717804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Turn 50</a:t>
            </a:r>
            <a:endParaRPr b="0" i="0" sz="1050" u="none" cap="none" strike="noStrike">
              <a:solidFill>
                <a:schemeClr val="dk1"/>
              </a:solidFill>
              <a:latin typeface="Calibri"/>
              <a:ea typeface="Calibri"/>
              <a:cs typeface="Calibri"/>
              <a:sym typeface="Calibri"/>
            </a:endParaRPr>
          </a:p>
        </p:txBody>
      </p:sp>
      <p:sp>
        <p:nvSpPr>
          <p:cNvPr id="316" name="Google Shape;316;p13"/>
          <p:cNvSpPr/>
          <p:nvPr/>
        </p:nvSpPr>
        <p:spPr>
          <a:xfrm>
            <a:off x="8915400" y="2651760"/>
            <a:ext cx="1417320" cy="2743200"/>
          </a:xfrm>
          <a:prstGeom prst="roundRect">
            <a:avLst>
              <a:gd fmla="val 322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8823960" y="2240280"/>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$0.495/min</a:t>
            </a:r>
            <a:endParaRPr b="0" i="0" sz="1300" u="none" cap="none" strike="noStrike">
              <a:solidFill>
                <a:schemeClr val="dk1"/>
              </a:solidFill>
              <a:latin typeface="Calibri"/>
              <a:ea typeface="Calibri"/>
              <a:cs typeface="Calibri"/>
              <a:sym typeface="Calibri"/>
            </a:endParaRPr>
          </a:p>
        </p:txBody>
      </p:sp>
      <p:sp>
        <p:nvSpPr>
          <p:cNvPr id="318" name="Google Shape;318;p13"/>
          <p:cNvSpPr/>
          <p:nvPr/>
        </p:nvSpPr>
        <p:spPr>
          <a:xfrm>
            <a:off x="8823960" y="5468112"/>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100 users</a:t>
            </a:r>
            <a:endParaRPr b="0" i="0" sz="105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 Turn 50</a:t>
            </a:r>
            <a:endParaRPr b="0" i="0" sz="1050" u="none" cap="none" strike="noStrike">
              <a:solidFill>
                <a:schemeClr val="dk1"/>
              </a:solidFill>
              <a:latin typeface="Calibri"/>
              <a:ea typeface="Calibri"/>
              <a:cs typeface="Calibri"/>
              <a:sym typeface="Calibri"/>
            </a:endParaRPr>
          </a:p>
        </p:txBody>
      </p:sp>
      <p:cxnSp>
        <p:nvCxnSpPr>
          <p:cNvPr id="319" name="Google Shape;319;p13"/>
          <p:cNvCxnSpPr/>
          <p:nvPr/>
        </p:nvCxnSpPr>
        <p:spPr>
          <a:xfrm>
            <a:off x="685800" y="5394960"/>
            <a:ext cx="10789920" cy="0"/>
          </a:xfrm>
          <a:prstGeom prst="straightConnector1">
            <a:avLst/>
          </a:prstGeom>
          <a:noFill/>
          <a:ln cap="flat" cmpd="sng" w="12700">
            <a:solidFill>
              <a:srgbClr val="CBD5E1"/>
            </a:solidFill>
            <a:prstDash val="solid"/>
            <a:round/>
            <a:headEnd len="sm" w="sm" type="none"/>
            <a:tailEnd len="sm" w="sm" type="none"/>
          </a:ln>
        </p:spPr>
      </p:cxnSp>
      <p:sp>
        <p:nvSpPr>
          <p:cNvPr id="320" name="Google Shape;320;p13"/>
          <p:cNvSpPr/>
          <p:nvPr/>
        </p:nvSpPr>
        <p:spPr>
          <a:xfrm>
            <a:off x="502920" y="6053328"/>
            <a:ext cx="11109960" cy="658368"/>
          </a:xfrm>
          <a:prstGeom prst="roundRect">
            <a:avLst>
              <a:gd fmla="val 11111"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713232" y="6126480"/>
            <a:ext cx="10652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The trap: </a:t>
            </a:r>
            <a:r>
              <a:rPr b="0" i="0" lang="en-US" sz="1300" u="none" cap="none" strike="noStrike">
                <a:solidFill>
                  <a:srgbClr val="475569"/>
                </a:solidFill>
                <a:latin typeface="Calibri"/>
                <a:ea typeface="Calibri"/>
                <a:cs typeface="Calibri"/>
                <a:sym typeface="Calibri"/>
              </a:rPr>
              <a:t>at turn 50 each user pays for 33,000 tokens. With 100 concurrent users that is $0.50/min = $720/day just in input tokens. Without context management, your LLM bill scales linearly with conversation length × user count.</a:t>
            </a:r>
            <a:endParaRPr b="0" i="0" sz="1300" u="none" cap="none" strike="noStrike">
              <a:solidFill>
                <a:schemeClr val="dk1"/>
              </a:solidFill>
              <a:latin typeface="Calibri"/>
              <a:ea typeface="Calibri"/>
              <a:cs typeface="Calibri"/>
              <a:sym typeface="Calibri"/>
            </a:endParaRPr>
          </a:p>
        </p:txBody>
      </p:sp>
      <p:sp>
        <p:nvSpPr>
          <p:cNvPr id="322" name="Google Shape;322;p13"/>
          <p:cNvSpPr/>
          <p:nvPr/>
        </p:nvSpPr>
        <p:spPr>
          <a:xfrm>
            <a:off x="713232" y="5650992"/>
            <a:ext cx="10515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50"/>
              <a:buFont typeface="Calibri"/>
              <a:buNone/>
            </a:pPr>
            <a:r>
              <a:rPr b="0" i="1" lang="en-US" sz="950" u="none" cap="none" strike="noStrike">
                <a:solidFill>
                  <a:srgbClr val="8B92B8"/>
                </a:solidFill>
                <a:latin typeface="Calibri"/>
                <a:ea typeface="Calibri"/>
                <a:cs typeface="Calibri"/>
                <a:sym typeface="Calibri"/>
              </a:rPr>
              <a:t>Assumptions: GPT-4o-mini @ $0.15/1M input tokens · 500 tokens avg per turn · these are input tokens only, output adds more</a:t>
            </a:r>
            <a:endParaRPr b="0" i="0" sz="950" u="none" cap="none" strike="noStrike">
              <a:solidFill>
                <a:schemeClr val="dk1"/>
              </a:solidFill>
              <a:latin typeface="Calibri"/>
              <a:ea typeface="Calibri"/>
              <a:cs typeface="Calibri"/>
              <a:sym typeface="Calibri"/>
            </a:endParaRPr>
          </a:p>
        </p:txBody>
      </p:sp>
      <p:sp>
        <p:nvSpPr>
          <p:cNvPr id="323" name="Google Shape;323;p13"/>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325" name="Google Shape;325;p1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sp>
        <p:nvSpPr>
          <p:cNvPr id="331" name="Google Shape;331;p1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SECTION 3 · CONTEXT ECONOMICS — THREE MANAGEMENT STRATEGIES</a:t>
            </a:r>
            <a:endParaRPr b="0" i="0" sz="1200" u="none" cap="none" strike="noStrike">
              <a:solidFill>
                <a:schemeClr val="dk1"/>
              </a:solidFill>
              <a:latin typeface="Calibri"/>
              <a:ea typeface="Calibri"/>
              <a:cs typeface="Calibri"/>
              <a:sym typeface="Calibri"/>
            </a:endParaRPr>
          </a:p>
        </p:txBody>
      </p:sp>
      <p:sp>
        <p:nvSpPr>
          <p:cNvPr id="332" name="Google Shape;332;p14"/>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Three ways to keep context under control</a:t>
            </a:r>
            <a:endParaRPr b="0" i="0" sz="3400" u="none" cap="none" strike="noStrike">
              <a:solidFill>
                <a:schemeClr val="dk1"/>
              </a:solidFill>
              <a:latin typeface="Calibri"/>
              <a:ea typeface="Calibri"/>
              <a:cs typeface="Calibri"/>
              <a:sym typeface="Calibri"/>
            </a:endParaRPr>
          </a:p>
        </p:txBody>
      </p:sp>
      <p:sp>
        <p:nvSpPr>
          <p:cNvPr id="333" name="Google Shape;333;p14"/>
          <p:cNvSpPr/>
          <p:nvPr/>
        </p:nvSpPr>
        <p:spPr>
          <a:xfrm>
            <a:off x="502920" y="1847088"/>
            <a:ext cx="3639312" cy="4553712"/>
          </a:xfrm>
          <a:prstGeom prst="roundRect">
            <a:avLst>
              <a:gd fmla="val 2513"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4"/>
          <p:cNvSpPr/>
          <p:nvPr/>
        </p:nvSpPr>
        <p:spPr>
          <a:xfrm>
            <a:off x="685800" y="2029968"/>
            <a:ext cx="438912" cy="43891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68580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36" name="Google Shape;336;p14"/>
          <p:cNvSpPr/>
          <p:nvPr/>
        </p:nvSpPr>
        <p:spPr>
          <a:xfrm>
            <a:off x="125272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Sliding Window</a:t>
            </a:r>
            <a:endParaRPr b="0" i="0" sz="1600" u="none" cap="none" strike="noStrike">
              <a:solidFill>
                <a:schemeClr val="dk1"/>
              </a:solidFill>
              <a:latin typeface="Calibri"/>
              <a:ea typeface="Calibri"/>
              <a:cs typeface="Calibri"/>
              <a:sym typeface="Calibri"/>
            </a:endParaRPr>
          </a:p>
        </p:txBody>
      </p:sp>
      <p:sp>
        <p:nvSpPr>
          <p:cNvPr id="337" name="Google Shape;337;p14"/>
          <p:cNvSpPr/>
          <p:nvPr/>
        </p:nvSpPr>
        <p:spPr>
          <a:xfrm>
            <a:off x="1252728" y="2468880"/>
            <a:ext cx="2743200" cy="292608"/>
          </a:xfrm>
          <a:prstGeom prst="roundRect">
            <a:avLst>
              <a:gd fmla="val 18750" name="adj"/>
            </a:avLst>
          </a:prstGeom>
          <a:solidFill>
            <a:srgbClr val="16A34A"/>
          </a:solidFill>
          <a:ln cap="flat" cmpd="sng" w="12700">
            <a:solidFill>
              <a:srgbClr val="16A3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1280160" y="2487168"/>
            <a:ext cx="271576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000"/>
              <a:buFont typeface="Calibri"/>
              <a:buNone/>
            </a:pPr>
            <a:r>
              <a:rPr b="1" i="0" lang="en-US" sz="1000" u="none" cap="none" strike="noStrike">
                <a:solidFill>
                  <a:srgbClr val="16A34A"/>
                </a:solidFill>
                <a:latin typeface="Calibri"/>
                <a:ea typeface="Calibri"/>
                <a:cs typeface="Calibri"/>
                <a:sym typeface="Calibri"/>
              </a:rPr>
              <a:t>simplest</a:t>
            </a:r>
            <a:endParaRPr b="0" i="0" sz="1000" u="none" cap="none" strike="noStrike">
              <a:solidFill>
                <a:schemeClr val="dk1"/>
              </a:solidFill>
              <a:latin typeface="Calibri"/>
              <a:ea typeface="Calibri"/>
              <a:cs typeface="Calibri"/>
              <a:sym typeface="Calibri"/>
            </a:endParaRPr>
          </a:p>
        </p:txBody>
      </p:sp>
      <p:sp>
        <p:nvSpPr>
          <p:cNvPr id="339" name="Google Shape;339;p14"/>
          <p:cNvSpPr/>
          <p:nvPr/>
        </p:nvSpPr>
        <p:spPr>
          <a:xfrm>
            <a:off x="667512" y="2852928"/>
            <a:ext cx="3337560" cy="8412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Keep only the last N messages (plus system prompt). Drop the oldest when you exceed the limit.</a:t>
            </a:r>
            <a:endParaRPr b="0" i="0" sz="1200" u="none" cap="none" strike="noStrike">
              <a:solidFill>
                <a:schemeClr val="dk1"/>
              </a:solidFill>
              <a:latin typeface="Calibri"/>
              <a:ea typeface="Calibri"/>
              <a:cs typeface="Calibri"/>
              <a:sym typeface="Calibri"/>
            </a:endParaRPr>
          </a:p>
        </p:txBody>
      </p:sp>
      <p:sp>
        <p:nvSpPr>
          <p:cNvPr id="340" name="Google Shape;340;p14"/>
          <p:cNvSpPr/>
          <p:nvPr/>
        </p:nvSpPr>
        <p:spPr>
          <a:xfrm>
            <a:off x="667512" y="3730752"/>
            <a:ext cx="3337560" cy="804672"/>
          </a:xfrm>
          <a:prstGeom prst="roundRect">
            <a:avLst>
              <a:gd fmla="val 7955"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758952" y="3767328"/>
            <a:ext cx="3182112" cy="7315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if (history.size() &gt; MAX_MESSAGES + 1)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 keep system[0] + last N user/assistant pairs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history.subList(1, history.size()-MAX_MESSAGES).clear();</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342" name="Google Shape;342;p14"/>
          <p:cNvSpPr/>
          <p:nvPr/>
        </p:nvSpPr>
        <p:spPr>
          <a:xfrm>
            <a:off x="667512" y="4590288"/>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 Zero API cost. Instant. Simple to implement.</a:t>
            </a:r>
            <a:endParaRPr b="0" i="0" sz="1100" u="none" cap="none" strike="noStrike">
              <a:solidFill>
                <a:schemeClr val="dk1"/>
              </a:solidFill>
              <a:latin typeface="Calibri"/>
              <a:ea typeface="Calibri"/>
              <a:cs typeface="Calibri"/>
              <a:sym typeface="Calibri"/>
            </a:endParaRPr>
          </a:p>
        </p:txBody>
      </p:sp>
      <p:sp>
        <p:nvSpPr>
          <p:cNvPr id="343" name="Google Shape;343;p14"/>
          <p:cNvSpPr/>
          <p:nvPr/>
        </p:nvSpPr>
        <p:spPr>
          <a:xfrm>
            <a:off x="667512" y="4992624"/>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Model loses memory of early conversation. Breaks if early context is critical.</a:t>
            </a:r>
            <a:endParaRPr b="0" i="0" sz="1100" u="none" cap="none" strike="noStrike">
              <a:solidFill>
                <a:schemeClr val="dk1"/>
              </a:solidFill>
              <a:latin typeface="Calibri"/>
              <a:ea typeface="Calibri"/>
              <a:cs typeface="Calibri"/>
              <a:sym typeface="Calibri"/>
            </a:endParaRPr>
          </a:p>
        </p:txBody>
      </p:sp>
      <p:sp>
        <p:nvSpPr>
          <p:cNvPr id="344" name="Google Shape;344;p14"/>
          <p:cNvSpPr/>
          <p:nvPr/>
        </p:nvSpPr>
        <p:spPr>
          <a:xfrm>
            <a:off x="4343400" y="1847088"/>
            <a:ext cx="3639312" cy="4553712"/>
          </a:xfrm>
          <a:prstGeom prst="roundRect">
            <a:avLst>
              <a:gd fmla="val 2513" name="adj"/>
            </a:avLst>
          </a:prstGeom>
          <a:solidFill>
            <a:srgbClr val="F8FAFC"/>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4526280" y="2029968"/>
            <a:ext cx="438912" cy="438912"/>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
          <p:cNvSpPr/>
          <p:nvPr/>
        </p:nvSpPr>
        <p:spPr>
          <a:xfrm>
            <a:off x="452628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47" name="Google Shape;347;p14"/>
          <p:cNvSpPr/>
          <p:nvPr/>
        </p:nvSpPr>
        <p:spPr>
          <a:xfrm>
            <a:off x="509320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600"/>
              <a:buFont typeface="Calibri"/>
              <a:buNone/>
            </a:pPr>
            <a:r>
              <a:rPr b="1" i="0" lang="en-US" sz="1600" u="none" cap="none" strike="noStrike">
                <a:solidFill>
                  <a:srgbClr val="0891B2"/>
                </a:solidFill>
                <a:latin typeface="Calibri"/>
                <a:ea typeface="Calibri"/>
                <a:cs typeface="Calibri"/>
                <a:sym typeface="Calibri"/>
              </a:rPr>
              <a:t>Summarisation</a:t>
            </a:r>
            <a:endParaRPr b="0" i="0" sz="1600" u="none" cap="none" strike="noStrike">
              <a:solidFill>
                <a:schemeClr val="dk1"/>
              </a:solidFill>
              <a:latin typeface="Calibri"/>
              <a:ea typeface="Calibri"/>
              <a:cs typeface="Calibri"/>
              <a:sym typeface="Calibri"/>
            </a:endParaRPr>
          </a:p>
        </p:txBody>
      </p:sp>
      <p:sp>
        <p:nvSpPr>
          <p:cNvPr id="348" name="Google Shape;348;p14"/>
          <p:cNvSpPr/>
          <p:nvPr/>
        </p:nvSpPr>
        <p:spPr>
          <a:xfrm>
            <a:off x="5093208" y="2468880"/>
            <a:ext cx="2743200" cy="292608"/>
          </a:xfrm>
          <a:prstGeom prst="roundRect">
            <a:avLst>
              <a:gd fmla="val 18750" name="adj"/>
            </a:avLst>
          </a:prstGeom>
          <a:solidFill>
            <a:srgbClr val="0891B2"/>
          </a:solidFill>
          <a:ln cap="flat" cmpd="sng" w="12700">
            <a:solidFill>
              <a:srgbClr val="0891B2">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p:nvPr/>
        </p:nvSpPr>
        <p:spPr>
          <a:xfrm>
            <a:off x="5120640" y="2487168"/>
            <a:ext cx="271576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Calibri"/>
              <a:buNone/>
            </a:pPr>
            <a:r>
              <a:rPr b="1" i="0" lang="en-US" sz="1000" u="none" cap="none" strike="noStrike">
                <a:solidFill>
                  <a:srgbClr val="0891B2"/>
                </a:solidFill>
                <a:latin typeface="Calibri"/>
                <a:ea typeface="Calibri"/>
                <a:cs typeface="Calibri"/>
                <a:sym typeface="Calibri"/>
              </a:rPr>
              <a:t>most intelligent</a:t>
            </a:r>
            <a:endParaRPr b="0" i="0" sz="1000" u="none" cap="none" strike="noStrike">
              <a:solidFill>
                <a:schemeClr val="dk1"/>
              </a:solidFill>
              <a:latin typeface="Calibri"/>
              <a:ea typeface="Calibri"/>
              <a:cs typeface="Calibri"/>
              <a:sym typeface="Calibri"/>
            </a:endParaRPr>
          </a:p>
        </p:txBody>
      </p:sp>
      <p:sp>
        <p:nvSpPr>
          <p:cNvPr id="350" name="Google Shape;350;p14"/>
          <p:cNvSpPr/>
          <p:nvPr/>
        </p:nvSpPr>
        <p:spPr>
          <a:xfrm>
            <a:off x="4507992" y="2852928"/>
            <a:ext cx="3337560" cy="8412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When history.size() &gt; THRESHOLD, call the model: "Summarise this conversation in 3 sentences" → replace history with [SYSTEM, summary, current_user_msg].</a:t>
            </a:r>
            <a:endParaRPr b="0" i="0" sz="1200" u="none" cap="none" strike="noStrike">
              <a:solidFill>
                <a:schemeClr val="dk1"/>
              </a:solidFill>
              <a:latin typeface="Calibri"/>
              <a:ea typeface="Calibri"/>
              <a:cs typeface="Calibri"/>
              <a:sym typeface="Calibri"/>
            </a:endParaRPr>
          </a:p>
        </p:txBody>
      </p:sp>
      <p:sp>
        <p:nvSpPr>
          <p:cNvPr id="351" name="Google Shape;351;p14"/>
          <p:cNvSpPr/>
          <p:nvPr/>
        </p:nvSpPr>
        <p:spPr>
          <a:xfrm>
            <a:off x="4507992" y="3730752"/>
            <a:ext cx="3337560" cy="804672"/>
          </a:xfrm>
          <a:prstGeom prst="roundRect">
            <a:avLst>
              <a:gd fmla="val 7955"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p:nvPr/>
        </p:nvSpPr>
        <p:spPr>
          <a:xfrm>
            <a:off x="4599432" y="3767328"/>
            <a:ext cx="3182112" cy="7315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String summary = callModel("Summarise the key facts from this conversation:\n" + historyToText());</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history.clear();</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history.add(ofSystem(systemPrompt));</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history.add(ofSystem("Context summary: " + summary));</a:t>
            </a:r>
            <a:endParaRPr b="0" i="0" sz="950" u="none" cap="none" strike="noStrike">
              <a:solidFill>
                <a:schemeClr val="dk1"/>
              </a:solidFill>
              <a:latin typeface="Calibri"/>
              <a:ea typeface="Calibri"/>
              <a:cs typeface="Calibri"/>
              <a:sym typeface="Calibri"/>
            </a:endParaRPr>
          </a:p>
        </p:txBody>
      </p:sp>
      <p:sp>
        <p:nvSpPr>
          <p:cNvPr id="353" name="Google Shape;353;p14"/>
          <p:cNvSpPr/>
          <p:nvPr/>
        </p:nvSpPr>
        <p:spPr>
          <a:xfrm>
            <a:off x="4507992" y="4590288"/>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 Preserves key facts. Handles long sessions gracefully.</a:t>
            </a:r>
            <a:endParaRPr b="0" i="0" sz="1100" u="none" cap="none" strike="noStrike">
              <a:solidFill>
                <a:schemeClr val="dk1"/>
              </a:solidFill>
              <a:latin typeface="Calibri"/>
              <a:ea typeface="Calibri"/>
              <a:cs typeface="Calibri"/>
              <a:sym typeface="Calibri"/>
            </a:endParaRPr>
          </a:p>
        </p:txBody>
      </p:sp>
      <p:sp>
        <p:nvSpPr>
          <p:cNvPr id="354" name="Google Shape;354;p14"/>
          <p:cNvSpPr/>
          <p:nvPr/>
        </p:nvSpPr>
        <p:spPr>
          <a:xfrm>
            <a:off x="4507992" y="4992624"/>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Costs one extra API call per summarisation. May lose nuance.</a:t>
            </a:r>
            <a:endParaRPr b="0" i="0" sz="1100" u="none" cap="none" strike="noStrike">
              <a:solidFill>
                <a:schemeClr val="dk1"/>
              </a:solidFill>
              <a:latin typeface="Calibri"/>
              <a:ea typeface="Calibri"/>
              <a:cs typeface="Calibri"/>
              <a:sym typeface="Calibri"/>
            </a:endParaRPr>
          </a:p>
        </p:txBody>
      </p:sp>
      <p:sp>
        <p:nvSpPr>
          <p:cNvPr id="355" name="Google Shape;355;p14"/>
          <p:cNvSpPr/>
          <p:nvPr/>
        </p:nvSpPr>
        <p:spPr>
          <a:xfrm>
            <a:off x="8183880" y="1847088"/>
            <a:ext cx="3639312" cy="4553712"/>
          </a:xfrm>
          <a:prstGeom prst="roundRect">
            <a:avLst>
              <a:gd fmla="val 2513"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8366760" y="2029968"/>
            <a:ext cx="438912" cy="438912"/>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4"/>
          <p:cNvSpPr/>
          <p:nvPr/>
        </p:nvSpPr>
        <p:spPr>
          <a:xfrm>
            <a:off x="836676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358" name="Google Shape;358;p14"/>
          <p:cNvSpPr/>
          <p:nvPr/>
        </p:nvSpPr>
        <p:spPr>
          <a:xfrm>
            <a:off x="893368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600"/>
              <a:buFont typeface="Calibri"/>
              <a:buNone/>
            </a:pPr>
            <a:r>
              <a:rPr b="1" i="0" lang="en-US" sz="1600" u="none" cap="none" strike="noStrike">
                <a:solidFill>
                  <a:srgbClr val="7C3AED"/>
                </a:solidFill>
                <a:latin typeface="Calibri"/>
                <a:ea typeface="Calibri"/>
                <a:cs typeface="Calibri"/>
                <a:sym typeface="Calibri"/>
              </a:rPr>
              <a:t>Selective Context (RAG)</a:t>
            </a:r>
            <a:endParaRPr b="0" i="0" sz="1600" u="none" cap="none" strike="noStrike">
              <a:solidFill>
                <a:schemeClr val="dk1"/>
              </a:solidFill>
              <a:latin typeface="Calibri"/>
              <a:ea typeface="Calibri"/>
              <a:cs typeface="Calibri"/>
              <a:sym typeface="Calibri"/>
            </a:endParaRPr>
          </a:p>
        </p:txBody>
      </p:sp>
      <p:sp>
        <p:nvSpPr>
          <p:cNvPr id="359" name="Google Shape;359;p14"/>
          <p:cNvSpPr/>
          <p:nvPr/>
        </p:nvSpPr>
        <p:spPr>
          <a:xfrm>
            <a:off x="8933688" y="2468880"/>
            <a:ext cx="2743200" cy="292608"/>
          </a:xfrm>
          <a:prstGeom prst="roundRect">
            <a:avLst>
              <a:gd fmla="val 18750" name="adj"/>
            </a:avLst>
          </a:prstGeom>
          <a:solidFill>
            <a:srgbClr val="7C3AED"/>
          </a:solidFill>
          <a:ln cap="flat" cmpd="sng" w="12700">
            <a:solidFill>
              <a:srgbClr val="7C3AED">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8961120" y="2487168"/>
            <a:ext cx="271576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Calibri"/>
              <a:buNone/>
            </a:pPr>
            <a:r>
              <a:rPr b="1" i="0" lang="en-US" sz="1000" u="none" cap="none" strike="noStrike">
                <a:solidFill>
                  <a:srgbClr val="7C3AED"/>
                </a:solidFill>
                <a:latin typeface="Calibri"/>
                <a:ea typeface="Calibri"/>
                <a:cs typeface="Calibri"/>
                <a:sym typeface="Calibri"/>
              </a:rPr>
              <a:t>most powerful</a:t>
            </a:r>
            <a:endParaRPr b="0" i="0" sz="1000" u="none" cap="none" strike="noStrike">
              <a:solidFill>
                <a:schemeClr val="dk1"/>
              </a:solidFill>
              <a:latin typeface="Calibri"/>
              <a:ea typeface="Calibri"/>
              <a:cs typeface="Calibri"/>
              <a:sym typeface="Calibri"/>
            </a:endParaRPr>
          </a:p>
        </p:txBody>
      </p:sp>
      <p:sp>
        <p:nvSpPr>
          <p:cNvPr id="361" name="Google Shape;361;p14"/>
          <p:cNvSpPr/>
          <p:nvPr/>
        </p:nvSpPr>
        <p:spPr>
          <a:xfrm>
            <a:off x="8348472" y="2852928"/>
            <a:ext cx="3337560" cy="841248"/>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Store ALL messages in a vector DB. At each turn, retrieve only the most semantically relevant past messages and inject them.</a:t>
            </a:r>
            <a:endParaRPr b="0" i="0" sz="1200" u="none" cap="none" strike="noStrike">
              <a:solidFill>
                <a:schemeClr val="dk1"/>
              </a:solidFill>
              <a:latin typeface="Calibri"/>
              <a:ea typeface="Calibri"/>
              <a:cs typeface="Calibri"/>
              <a:sym typeface="Calibri"/>
            </a:endParaRPr>
          </a:p>
        </p:txBody>
      </p:sp>
      <p:sp>
        <p:nvSpPr>
          <p:cNvPr id="362" name="Google Shape;362;p14"/>
          <p:cNvSpPr/>
          <p:nvPr/>
        </p:nvSpPr>
        <p:spPr>
          <a:xfrm>
            <a:off x="8348472" y="3730752"/>
            <a:ext cx="3337560" cy="804672"/>
          </a:xfrm>
          <a:prstGeom prst="roundRect">
            <a:avLst>
              <a:gd fmla="val 7955"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8439912" y="3767328"/>
            <a:ext cx="3182112" cy="73152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Session 5 (RAG) — preview</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List&lt;String&gt; relevant = vectorDB.searchSimilar(currentQuestion, topK=5);</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history = buildPromptFrom(systemPrompt, relevant, currentMessage);</a:t>
            </a:r>
            <a:endParaRPr b="0" i="0" sz="950" u="none" cap="none" strike="noStrike">
              <a:solidFill>
                <a:schemeClr val="dk1"/>
              </a:solidFill>
              <a:latin typeface="Calibri"/>
              <a:ea typeface="Calibri"/>
              <a:cs typeface="Calibri"/>
              <a:sym typeface="Calibri"/>
            </a:endParaRPr>
          </a:p>
        </p:txBody>
      </p:sp>
      <p:sp>
        <p:nvSpPr>
          <p:cNvPr id="364" name="Google Shape;364;p14"/>
          <p:cNvSpPr/>
          <p:nvPr/>
        </p:nvSpPr>
        <p:spPr>
          <a:xfrm>
            <a:off x="8348472" y="4590288"/>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100"/>
              <a:buFont typeface="Calibri"/>
              <a:buNone/>
            </a:pPr>
            <a:r>
              <a:rPr b="0" i="0" lang="en-US" sz="1100" u="none" cap="none" strike="noStrike">
                <a:solidFill>
                  <a:srgbClr val="16A34A"/>
                </a:solidFill>
                <a:latin typeface="Calibri"/>
                <a:ea typeface="Calibri"/>
                <a:cs typeface="Calibri"/>
                <a:sym typeface="Calibri"/>
              </a:rPr>
              <a:t>✓ Effectively unlimited conversation length. Retrieves exactly what is needed.</a:t>
            </a:r>
            <a:endParaRPr b="0" i="0" sz="1100" u="none" cap="none" strike="noStrike">
              <a:solidFill>
                <a:schemeClr val="dk1"/>
              </a:solidFill>
              <a:latin typeface="Calibri"/>
              <a:ea typeface="Calibri"/>
              <a:cs typeface="Calibri"/>
              <a:sym typeface="Calibri"/>
            </a:endParaRPr>
          </a:p>
        </p:txBody>
      </p:sp>
      <p:sp>
        <p:nvSpPr>
          <p:cNvPr id="365" name="Google Shape;365;p14"/>
          <p:cNvSpPr/>
          <p:nvPr/>
        </p:nvSpPr>
        <p:spPr>
          <a:xfrm>
            <a:off x="8348472" y="4992624"/>
            <a:ext cx="33375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Requires embedding infrastructure. Most complex to build.</a:t>
            </a:r>
            <a:endParaRPr b="0" i="0" sz="1100" u="none" cap="none" strike="noStrike">
              <a:solidFill>
                <a:schemeClr val="dk1"/>
              </a:solidFill>
              <a:latin typeface="Calibri"/>
              <a:ea typeface="Calibri"/>
              <a:cs typeface="Calibri"/>
              <a:sym typeface="Calibri"/>
            </a:endParaRPr>
          </a:p>
        </p:txBody>
      </p:sp>
      <p:sp>
        <p:nvSpPr>
          <p:cNvPr id="366" name="Google Shape;366;p14"/>
          <p:cNvSpPr/>
          <p:nvPr/>
        </p:nvSpPr>
        <p:spPr>
          <a:xfrm>
            <a:off x="502920" y="6473952"/>
            <a:ext cx="11109960" cy="45720"/>
          </a:xfrm>
          <a:prstGeom prst="roundRect">
            <a:avLst>
              <a:gd fmla="val 16667"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369" name="Google Shape;369;p1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74" name="Shape 374"/>
        <p:cNvGrpSpPr/>
        <p:nvPr/>
      </p:nvGrpSpPr>
      <p:grpSpPr>
        <a:xfrm>
          <a:off x="0" y="0"/>
          <a:ext cx="0" cy="0"/>
          <a:chOff x="0" y="0"/>
          <a:chExt cx="0" cy="0"/>
        </a:xfrm>
      </p:grpSpPr>
      <p:sp>
        <p:nvSpPr>
          <p:cNvPr id="375" name="Google Shape;375;p15"/>
          <p:cNvSpPr/>
          <p:nvPr/>
        </p:nvSpPr>
        <p:spPr>
          <a:xfrm>
            <a:off x="685800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9000"/>
              <a:buFont typeface="Calibri"/>
              <a:buNone/>
            </a:pPr>
            <a:r>
              <a:rPr b="1" i="0" lang="en-US" sz="19000" u="none" cap="none" strike="noStrike">
                <a:solidFill>
                  <a:srgbClr val="D97706"/>
                </a:solidFill>
                <a:latin typeface="Calibri"/>
                <a:ea typeface="Calibri"/>
                <a:cs typeface="Calibri"/>
                <a:sym typeface="Calibri"/>
              </a:rPr>
              <a:t>Persist vs</a:t>
            </a:r>
            <a:endParaRPr b="0" i="0" sz="19000" u="none" cap="none" strike="noStrike">
              <a:solidFill>
                <a:schemeClr val="dk1"/>
              </a:solidFill>
              <a:latin typeface="Calibri"/>
              <a:ea typeface="Calibri"/>
              <a:cs typeface="Calibri"/>
              <a:sym typeface="Calibri"/>
            </a:endParaRPr>
          </a:p>
        </p:txBody>
      </p:sp>
      <p:sp>
        <p:nvSpPr>
          <p:cNvPr id="376" name="Google Shape;376;p15"/>
          <p:cNvSpPr/>
          <p:nvPr/>
        </p:nvSpPr>
        <p:spPr>
          <a:xfrm>
            <a:off x="475488" y="804672"/>
            <a:ext cx="749808" cy="749808"/>
          </a:xfrm>
          <a:prstGeom prst="roundRect">
            <a:avLst>
              <a:gd fmla="val 12195"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378" name="Google Shape;378;p15"/>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SECTION</a:t>
            </a:r>
            <a:endParaRPr b="0" i="0" sz="1300" u="none" cap="none" strike="noStrike">
              <a:solidFill>
                <a:schemeClr val="dk1"/>
              </a:solidFill>
              <a:latin typeface="Calibri"/>
              <a:ea typeface="Calibri"/>
              <a:cs typeface="Calibri"/>
              <a:sym typeface="Calibri"/>
            </a:endParaRPr>
          </a:p>
        </p:txBody>
      </p:sp>
      <p:sp>
        <p:nvSpPr>
          <p:cNvPr id="379" name="Google Shape;379;p15"/>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Persist vs</a:t>
            </a:r>
            <a:endParaRPr b="0" i="0" sz="54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Stream</a:t>
            </a:r>
            <a:endParaRPr b="0" i="0" sz="5400" u="none" cap="none" strike="noStrike">
              <a:solidFill>
                <a:schemeClr val="dk1"/>
              </a:solidFill>
              <a:latin typeface="Calibri"/>
              <a:ea typeface="Calibri"/>
              <a:cs typeface="Calibri"/>
              <a:sym typeface="Calibri"/>
            </a:endParaRPr>
          </a:p>
        </p:txBody>
      </p:sp>
      <p:sp>
        <p:nvSpPr>
          <p:cNvPr id="380" name="Google Shape;380;p15"/>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In-memory, Redis, or database? The right choice depends on your scaling needs.</a:t>
            </a:r>
            <a:endParaRPr b="0" i="0" sz="2000" u="none" cap="none" strike="noStrike">
              <a:solidFill>
                <a:schemeClr val="dk1"/>
              </a:solidFill>
              <a:latin typeface="Calibri"/>
              <a:ea typeface="Calibri"/>
              <a:cs typeface="Calibri"/>
              <a:sym typeface="Calibri"/>
            </a:endParaRPr>
          </a:p>
        </p:txBody>
      </p:sp>
      <p:sp>
        <p:nvSpPr>
          <p:cNvPr id="381" name="Google Shape;381;p15"/>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383" name="Google Shape;383;p1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8" name="Shape 388"/>
        <p:cNvGrpSpPr/>
        <p:nvPr/>
      </p:nvGrpSpPr>
      <p:grpSpPr>
        <a:xfrm>
          <a:off x="0" y="0"/>
          <a:ext cx="0" cy="0"/>
          <a:chOff x="0" y="0"/>
          <a:chExt cx="0" cy="0"/>
        </a:xfrm>
      </p:grpSpPr>
      <p:sp>
        <p:nvSpPr>
          <p:cNvPr id="389" name="Google Shape;389;p16"/>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SECTION 4 · PERSIST VS STREAM — CHOOSING YOUR SESSION STORE</a:t>
            </a:r>
            <a:endParaRPr b="0" i="0" sz="1200" u="none" cap="none" strike="noStrike">
              <a:solidFill>
                <a:schemeClr val="dk1"/>
              </a:solidFill>
              <a:latin typeface="Calibri"/>
              <a:ea typeface="Calibri"/>
              <a:cs typeface="Calibri"/>
              <a:sym typeface="Calibri"/>
            </a:endParaRPr>
          </a:p>
        </p:txBody>
      </p:sp>
      <p:sp>
        <p:nvSpPr>
          <p:cNvPr id="390" name="Google Shape;390;p16"/>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Three storage options. One correct choice for each stage.</a:t>
            </a:r>
            <a:endParaRPr b="0" i="0" sz="3200" u="none" cap="none" strike="noStrike">
              <a:solidFill>
                <a:schemeClr val="dk1"/>
              </a:solidFill>
              <a:latin typeface="Calibri"/>
              <a:ea typeface="Calibri"/>
              <a:cs typeface="Calibri"/>
              <a:sym typeface="Calibri"/>
            </a:endParaRPr>
          </a:p>
        </p:txBody>
      </p:sp>
      <p:sp>
        <p:nvSpPr>
          <p:cNvPr id="391" name="Google Shape;391;p16"/>
          <p:cNvSpPr/>
          <p:nvPr/>
        </p:nvSpPr>
        <p:spPr>
          <a:xfrm>
            <a:off x="502920" y="1874520"/>
            <a:ext cx="3639312" cy="4498848"/>
          </a:xfrm>
          <a:prstGeom prst="roundRect">
            <a:avLst>
              <a:gd fmla="val 2513" name="adj"/>
            </a:avLst>
          </a:prstGeom>
          <a:solidFill>
            <a:srgbClr val="F0FDF4"/>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667512" y="1993392"/>
            <a:ext cx="33375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A34A"/>
              </a:buClr>
              <a:buSzPts val="1700"/>
              <a:buFont typeface="Calibri"/>
              <a:buNone/>
            </a:pPr>
            <a:r>
              <a:rPr b="1" i="0" lang="en-US" sz="1700" u="none" cap="none" strike="noStrike">
                <a:solidFill>
                  <a:srgbClr val="16A34A"/>
                </a:solidFill>
                <a:latin typeface="Calibri"/>
                <a:ea typeface="Calibri"/>
                <a:cs typeface="Calibri"/>
                <a:sym typeface="Calibri"/>
              </a:rPr>
              <a:t>🏃 In-Memory</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6A34A"/>
              </a:buClr>
              <a:buSzPts val="1700"/>
              <a:buFont typeface="Calibri"/>
              <a:buNone/>
            </a:pPr>
            <a:r>
              <a:rPr b="1" i="0" lang="en-US" sz="1700" u="none" cap="none" strike="noStrike">
                <a:solidFill>
                  <a:srgbClr val="16A34A"/>
                </a:solidFill>
                <a:latin typeface="Calibri"/>
                <a:ea typeface="Calibri"/>
                <a:cs typeface="Calibri"/>
                <a:sym typeface="Calibri"/>
              </a:rPr>
              <a:t>(HashMap)</a:t>
            </a:r>
            <a:endParaRPr b="0" i="0" sz="1700" u="none" cap="none" strike="noStrike">
              <a:solidFill>
                <a:schemeClr val="dk1"/>
              </a:solidFill>
              <a:latin typeface="Calibri"/>
              <a:ea typeface="Calibri"/>
              <a:cs typeface="Calibri"/>
              <a:sym typeface="Calibri"/>
            </a:endParaRPr>
          </a:p>
        </p:txBody>
      </p:sp>
      <p:cxnSp>
        <p:nvCxnSpPr>
          <p:cNvPr id="393" name="Google Shape;393;p16"/>
          <p:cNvCxnSpPr/>
          <p:nvPr/>
        </p:nvCxnSpPr>
        <p:spPr>
          <a:xfrm>
            <a:off x="667512" y="2697480"/>
            <a:ext cx="3337560" cy="0"/>
          </a:xfrm>
          <a:prstGeom prst="straightConnector1">
            <a:avLst/>
          </a:prstGeom>
          <a:noFill/>
          <a:ln cap="flat" cmpd="sng" w="9525">
            <a:solidFill>
              <a:srgbClr val="16A34A">
                <a:alpha val="45098"/>
              </a:srgbClr>
            </a:solidFill>
            <a:prstDash val="solid"/>
            <a:round/>
            <a:headEnd len="sm" w="sm" type="none"/>
            <a:tailEnd len="sm" w="sm" type="none"/>
          </a:ln>
        </p:spPr>
      </p:cxnSp>
      <p:sp>
        <p:nvSpPr>
          <p:cNvPr id="394" name="Google Shape;394;p16"/>
          <p:cNvSpPr/>
          <p:nvPr/>
        </p:nvSpPr>
        <p:spPr>
          <a:xfrm>
            <a:off x="667512" y="2788920"/>
            <a:ext cx="3337560" cy="4114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Use when: Prototyping, demos, single-instance apps</a:t>
            </a:r>
            <a:endParaRPr b="0" i="0" sz="1200" u="none" cap="none" strike="noStrike">
              <a:solidFill>
                <a:schemeClr val="dk1"/>
              </a:solidFill>
              <a:latin typeface="Calibri"/>
              <a:ea typeface="Calibri"/>
              <a:cs typeface="Calibri"/>
              <a:sym typeface="Calibri"/>
            </a:endParaRPr>
          </a:p>
        </p:txBody>
      </p:sp>
      <p:sp>
        <p:nvSpPr>
          <p:cNvPr id="395" name="Google Shape;395;p16"/>
          <p:cNvSpPr/>
          <p:nvPr/>
        </p:nvSpPr>
        <p:spPr>
          <a:xfrm>
            <a:off x="667512" y="3273552"/>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Lost on server restart</a:t>
            </a:r>
            <a:endParaRPr b="0" i="0" sz="1150" u="none" cap="none" strike="noStrike">
              <a:solidFill>
                <a:schemeClr val="dk1"/>
              </a:solidFill>
              <a:latin typeface="Calibri"/>
              <a:ea typeface="Calibri"/>
              <a:cs typeface="Calibri"/>
              <a:sym typeface="Calibri"/>
            </a:endParaRPr>
          </a:p>
        </p:txBody>
      </p:sp>
      <p:sp>
        <p:nvSpPr>
          <p:cNvPr id="396" name="Google Shape;396;p16"/>
          <p:cNvSpPr/>
          <p:nvPr/>
        </p:nvSpPr>
        <p:spPr>
          <a:xfrm>
            <a:off x="667512" y="3621024"/>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Not shared across instances</a:t>
            </a:r>
            <a:endParaRPr b="0" i="0" sz="1150" u="none" cap="none" strike="noStrike">
              <a:solidFill>
                <a:schemeClr val="dk1"/>
              </a:solidFill>
              <a:latin typeface="Calibri"/>
              <a:ea typeface="Calibri"/>
              <a:cs typeface="Calibri"/>
              <a:sym typeface="Calibri"/>
            </a:endParaRPr>
          </a:p>
        </p:txBody>
      </p:sp>
      <p:sp>
        <p:nvSpPr>
          <p:cNvPr id="397" name="Google Shape;397;p16"/>
          <p:cNvSpPr/>
          <p:nvPr/>
        </p:nvSpPr>
        <p:spPr>
          <a:xfrm>
            <a:off x="667512" y="3968496"/>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Memory grows with user count</a:t>
            </a:r>
            <a:endParaRPr b="0" i="0" sz="1150" u="none" cap="none" strike="noStrike">
              <a:solidFill>
                <a:schemeClr val="dk1"/>
              </a:solidFill>
              <a:latin typeface="Calibri"/>
              <a:ea typeface="Calibri"/>
              <a:cs typeface="Calibri"/>
              <a:sym typeface="Calibri"/>
            </a:endParaRPr>
          </a:p>
        </p:txBody>
      </p:sp>
      <p:sp>
        <p:nvSpPr>
          <p:cNvPr id="398" name="Google Shape;398;p16"/>
          <p:cNvSpPr/>
          <p:nvPr/>
        </p:nvSpPr>
        <p:spPr>
          <a:xfrm>
            <a:off x="667512" y="4315968"/>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No persistence across sessions</a:t>
            </a:r>
            <a:endParaRPr b="0" i="0" sz="1150" u="none" cap="none" strike="noStrike">
              <a:solidFill>
                <a:schemeClr val="dk1"/>
              </a:solidFill>
              <a:latin typeface="Calibri"/>
              <a:ea typeface="Calibri"/>
              <a:cs typeface="Calibri"/>
              <a:sym typeface="Calibri"/>
            </a:endParaRPr>
          </a:p>
        </p:txBody>
      </p:sp>
      <p:sp>
        <p:nvSpPr>
          <p:cNvPr id="399" name="Google Shape;399;p16"/>
          <p:cNvSpPr/>
          <p:nvPr/>
        </p:nvSpPr>
        <p:spPr>
          <a:xfrm>
            <a:off x="667512" y="4681728"/>
            <a:ext cx="3337560" cy="658368"/>
          </a:xfrm>
          <a:prstGeom prst="roundRect">
            <a:avLst>
              <a:gd fmla="val 9722"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731520" y="4709160"/>
            <a:ext cx="3200400" cy="60350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Map&lt;String,List&lt;Msg&gt;&gt; sessions =</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  new ConcurrentHashMap&lt;&gt;();</a:t>
            </a:r>
            <a:endParaRPr b="0" i="0" sz="1050" u="none" cap="none" strike="noStrike">
              <a:solidFill>
                <a:schemeClr val="dk1"/>
              </a:solidFill>
              <a:latin typeface="Calibri"/>
              <a:ea typeface="Calibri"/>
              <a:cs typeface="Calibri"/>
              <a:sym typeface="Calibri"/>
            </a:endParaRPr>
          </a:p>
        </p:txBody>
      </p:sp>
      <p:sp>
        <p:nvSpPr>
          <p:cNvPr id="401" name="Google Shape;401;p16"/>
          <p:cNvSpPr/>
          <p:nvPr/>
        </p:nvSpPr>
        <p:spPr>
          <a:xfrm>
            <a:off x="4343400" y="1874520"/>
            <a:ext cx="3639312" cy="4498848"/>
          </a:xfrm>
          <a:prstGeom prst="roundRect">
            <a:avLst>
              <a:gd fmla="val 2513" name="adj"/>
            </a:avLst>
          </a:prstGeom>
          <a:solidFill>
            <a:srgbClr val="ECFEFF"/>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4507992" y="1993392"/>
            <a:ext cx="33375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891B2"/>
              </a:buClr>
              <a:buSzPts val="1700"/>
              <a:buFont typeface="Calibri"/>
              <a:buNone/>
            </a:pPr>
            <a:r>
              <a:rPr b="1" i="0" lang="en-US" sz="1700" u="none" cap="none" strike="noStrike">
                <a:solidFill>
                  <a:srgbClr val="0891B2"/>
                </a:solidFill>
                <a:latin typeface="Calibri"/>
                <a:ea typeface="Calibri"/>
                <a:cs typeface="Calibri"/>
                <a:sym typeface="Calibri"/>
              </a:rPr>
              <a:t>⚡ Redis</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891B2"/>
              </a:buClr>
              <a:buSzPts val="1700"/>
              <a:buFont typeface="Calibri"/>
              <a:buNone/>
            </a:pPr>
            <a:r>
              <a:rPr b="1" i="0" lang="en-US" sz="1700" u="none" cap="none" strike="noStrike">
                <a:solidFill>
                  <a:srgbClr val="0891B2"/>
                </a:solidFill>
                <a:latin typeface="Calibri"/>
                <a:ea typeface="Calibri"/>
                <a:cs typeface="Calibri"/>
                <a:sym typeface="Calibri"/>
              </a:rPr>
              <a:t>(Recommended)</a:t>
            </a:r>
            <a:endParaRPr b="0" i="0" sz="1700" u="none" cap="none" strike="noStrike">
              <a:solidFill>
                <a:schemeClr val="dk1"/>
              </a:solidFill>
              <a:latin typeface="Calibri"/>
              <a:ea typeface="Calibri"/>
              <a:cs typeface="Calibri"/>
              <a:sym typeface="Calibri"/>
            </a:endParaRPr>
          </a:p>
        </p:txBody>
      </p:sp>
      <p:cxnSp>
        <p:nvCxnSpPr>
          <p:cNvPr id="403" name="Google Shape;403;p16"/>
          <p:cNvCxnSpPr/>
          <p:nvPr/>
        </p:nvCxnSpPr>
        <p:spPr>
          <a:xfrm>
            <a:off x="4507992" y="2697480"/>
            <a:ext cx="3337560" cy="0"/>
          </a:xfrm>
          <a:prstGeom prst="straightConnector1">
            <a:avLst/>
          </a:prstGeom>
          <a:noFill/>
          <a:ln cap="flat" cmpd="sng" w="9525">
            <a:solidFill>
              <a:srgbClr val="0891B2">
                <a:alpha val="45098"/>
              </a:srgbClr>
            </a:solidFill>
            <a:prstDash val="solid"/>
            <a:round/>
            <a:headEnd len="sm" w="sm" type="none"/>
            <a:tailEnd len="sm" w="sm" type="none"/>
          </a:ln>
        </p:spPr>
      </p:cxnSp>
      <p:sp>
        <p:nvSpPr>
          <p:cNvPr id="404" name="Google Shape;404;p16"/>
          <p:cNvSpPr/>
          <p:nvPr/>
        </p:nvSpPr>
        <p:spPr>
          <a:xfrm>
            <a:off x="4507992" y="2788920"/>
            <a:ext cx="3337560" cy="4114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Use when: Production apps, multi-instance deployments</a:t>
            </a:r>
            <a:endParaRPr b="0" i="0" sz="1200" u="none" cap="none" strike="noStrike">
              <a:solidFill>
                <a:schemeClr val="dk1"/>
              </a:solidFill>
              <a:latin typeface="Calibri"/>
              <a:ea typeface="Calibri"/>
              <a:cs typeface="Calibri"/>
              <a:sym typeface="Calibri"/>
            </a:endParaRPr>
          </a:p>
        </p:txBody>
      </p:sp>
      <p:sp>
        <p:nvSpPr>
          <p:cNvPr id="405" name="Google Shape;405;p16"/>
          <p:cNvSpPr/>
          <p:nvPr/>
        </p:nvSpPr>
        <p:spPr>
          <a:xfrm>
            <a:off x="4507992" y="3273552"/>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Survives restarts (with persistence)</a:t>
            </a:r>
            <a:endParaRPr b="0" i="0" sz="1150" u="none" cap="none" strike="noStrike">
              <a:solidFill>
                <a:schemeClr val="dk1"/>
              </a:solidFill>
              <a:latin typeface="Calibri"/>
              <a:ea typeface="Calibri"/>
              <a:cs typeface="Calibri"/>
              <a:sym typeface="Calibri"/>
            </a:endParaRPr>
          </a:p>
        </p:txBody>
      </p:sp>
      <p:sp>
        <p:nvSpPr>
          <p:cNvPr id="406" name="Google Shape;406;p16"/>
          <p:cNvSpPr/>
          <p:nvPr/>
        </p:nvSpPr>
        <p:spPr>
          <a:xfrm>
            <a:off x="4507992" y="3621024"/>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Shared across all instances</a:t>
            </a:r>
            <a:endParaRPr b="0" i="0" sz="1150" u="none" cap="none" strike="noStrike">
              <a:solidFill>
                <a:schemeClr val="dk1"/>
              </a:solidFill>
              <a:latin typeface="Calibri"/>
              <a:ea typeface="Calibri"/>
              <a:cs typeface="Calibri"/>
              <a:sym typeface="Calibri"/>
            </a:endParaRPr>
          </a:p>
        </p:txBody>
      </p:sp>
      <p:sp>
        <p:nvSpPr>
          <p:cNvPr id="407" name="Google Shape;407;p16"/>
          <p:cNvSpPr/>
          <p:nvPr/>
        </p:nvSpPr>
        <p:spPr>
          <a:xfrm>
            <a:off x="4507992" y="3968496"/>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TTL expiry keeps memory bounded</a:t>
            </a:r>
            <a:endParaRPr b="0" i="0" sz="1150" u="none" cap="none" strike="noStrike">
              <a:solidFill>
                <a:schemeClr val="dk1"/>
              </a:solidFill>
              <a:latin typeface="Calibri"/>
              <a:ea typeface="Calibri"/>
              <a:cs typeface="Calibri"/>
              <a:sym typeface="Calibri"/>
            </a:endParaRPr>
          </a:p>
        </p:txBody>
      </p:sp>
      <p:sp>
        <p:nvSpPr>
          <p:cNvPr id="408" name="Google Shape;408;p16"/>
          <p:cNvSpPr/>
          <p:nvPr/>
        </p:nvSpPr>
        <p:spPr>
          <a:xfrm>
            <a:off x="4507992" y="4315968"/>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JSON serialisation needed</a:t>
            </a:r>
            <a:endParaRPr b="0" i="0" sz="1150" u="none" cap="none" strike="noStrike">
              <a:solidFill>
                <a:schemeClr val="dk1"/>
              </a:solidFill>
              <a:latin typeface="Calibri"/>
              <a:ea typeface="Calibri"/>
              <a:cs typeface="Calibri"/>
              <a:sym typeface="Calibri"/>
            </a:endParaRPr>
          </a:p>
        </p:txBody>
      </p:sp>
      <p:sp>
        <p:nvSpPr>
          <p:cNvPr id="409" name="Google Shape;409;p16"/>
          <p:cNvSpPr/>
          <p:nvPr/>
        </p:nvSpPr>
        <p:spPr>
          <a:xfrm>
            <a:off x="4507992" y="4681728"/>
            <a:ext cx="3337560" cy="658368"/>
          </a:xfrm>
          <a:prstGeom prst="roundRect">
            <a:avLst>
              <a:gd fmla="val 9722"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a:off x="4572000" y="4709160"/>
            <a:ext cx="3200400" cy="60350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redisTemplate.opsForList()</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  .rightPushAll(key, messages);</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redisTemplate.expire(key, 1, HOURS);</a:t>
            </a:r>
            <a:endParaRPr b="0" i="0" sz="1050" u="none" cap="none" strike="noStrike">
              <a:solidFill>
                <a:schemeClr val="dk1"/>
              </a:solidFill>
              <a:latin typeface="Calibri"/>
              <a:ea typeface="Calibri"/>
              <a:cs typeface="Calibri"/>
              <a:sym typeface="Calibri"/>
            </a:endParaRPr>
          </a:p>
        </p:txBody>
      </p:sp>
      <p:sp>
        <p:nvSpPr>
          <p:cNvPr id="411" name="Google Shape;411;p16"/>
          <p:cNvSpPr/>
          <p:nvPr/>
        </p:nvSpPr>
        <p:spPr>
          <a:xfrm>
            <a:off x="8183880" y="1874520"/>
            <a:ext cx="3639312" cy="4498848"/>
          </a:xfrm>
          <a:prstGeom prst="roundRect">
            <a:avLst>
              <a:gd fmla="val 2513" name="adj"/>
            </a:avLst>
          </a:prstGeom>
          <a:solidFill>
            <a:srgbClr val="FFFBEB"/>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8348472" y="1993392"/>
            <a:ext cx="333756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97706"/>
              </a:buClr>
              <a:buSzPts val="1700"/>
              <a:buFont typeface="Calibri"/>
              <a:buNone/>
            </a:pPr>
            <a:r>
              <a:rPr b="1" i="0" lang="en-US" sz="1700" u="none" cap="none" strike="noStrike">
                <a:solidFill>
                  <a:srgbClr val="D97706"/>
                </a:solidFill>
                <a:latin typeface="Calibri"/>
                <a:ea typeface="Calibri"/>
                <a:cs typeface="Calibri"/>
                <a:sym typeface="Calibri"/>
              </a:rPr>
              <a:t>🗄️ Database</a:t>
            </a:r>
            <a:endParaRPr b="0" i="0" sz="17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7706"/>
              </a:buClr>
              <a:buSzPts val="1700"/>
              <a:buFont typeface="Calibri"/>
              <a:buNone/>
            </a:pPr>
            <a:r>
              <a:rPr b="1" i="0" lang="en-US" sz="1700" u="none" cap="none" strike="noStrike">
                <a:solidFill>
                  <a:srgbClr val="D97706"/>
                </a:solidFill>
                <a:latin typeface="Calibri"/>
                <a:ea typeface="Calibri"/>
                <a:cs typeface="Calibri"/>
                <a:sym typeface="Calibri"/>
              </a:rPr>
              <a:t>(Full audit)</a:t>
            </a:r>
            <a:endParaRPr b="0" i="0" sz="1700" u="none" cap="none" strike="noStrike">
              <a:solidFill>
                <a:schemeClr val="dk1"/>
              </a:solidFill>
              <a:latin typeface="Calibri"/>
              <a:ea typeface="Calibri"/>
              <a:cs typeface="Calibri"/>
              <a:sym typeface="Calibri"/>
            </a:endParaRPr>
          </a:p>
        </p:txBody>
      </p:sp>
      <p:cxnSp>
        <p:nvCxnSpPr>
          <p:cNvPr id="413" name="Google Shape;413;p16"/>
          <p:cNvCxnSpPr/>
          <p:nvPr/>
        </p:nvCxnSpPr>
        <p:spPr>
          <a:xfrm>
            <a:off x="8348472" y="2697480"/>
            <a:ext cx="3337560" cy="0"/>
          </a:xfrm>
          <a:prstGeom prst="straightConnector1">
            <a:avLst/>
          </a:prstGeom>
          <a:noFill/>
          <a:ln cap="flat" cmpd="sng" w="9525">
            <a:solidFill>
              <a:srgbClr val="D97706">
                <a:alpha val="45098"/>
              </a:srgbClr>
            </a:solidFill>
            <a:prstDash val="solid"/>
            <a:round/>
            <a:headEnd len="sm" w="sm" type="none"/>
            <a:tailEnd len="sm" w="sm" type="none"/>
          </a:ln>
        </p:spPr>
      </p:cxnSp>
      <p:sp>
        <p:nvSpPr>
          <p:cNvPr id="414" name="Google Shape;414;p16"/>
          <p:cNvSpPr/>
          <p:nvPr/>
        </p:nvSpPr>
        <p:spPr>
          <a:xfrm>
            <a:off x="8348472" y="2788920"/>
            <a:ext cx="3337560" cy="4114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Use when: Regulated industries, audit requirements, analytics</a:t>
            </a:r>
            <a:endParaRPr b="0" i="0" sz="1200" u="none" cap="none" strike="noStrike">
              <a:solidFill>
                <a:schemeClr val="dk1"/>
              </a:solidFill>
              <a:latin typeface="Calibri"/>
              <a:ea typeface="Calibri"/>
              <a:cs typeface="Calibri"/>
              <a:sym typeface="Calibri"/>
            </a:endParaRPr>
          </a:p>
        </p:txBody>
      </p:sp>
      <p:sp>
        <p:nvSpPr>
          <p:cNvPr id="415" name="Google Shape;415;p16"/>
          <p:cNvSpPr/>
          <p:nvPr/>
        </p:nvSpPr>
        <p:spPr>
          <a:xfrm>
            <a:off x="8348472" y="3273552"/>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Full history permanently stored</a:t>
            </a:r>
            <a:endParaRPr b="0" i="0" sz="1150" u="none" cap="none" strike="noStrike">
              <a:solidFill>
                <a:schemeClr val="dk1"/>
              </a:solidFill>
              <a:latin typeface="Calibri"/>
              <a:ea typeface="Calibri"/>
              <a:cs typeface="Calibri"/>
              <a:sym typeface="Calibri"/>
            </a:endParaRPr>
          </a:p>
        </p:txBody>
      </p:sp>
      <p:sp>
        <p:nvSpPr>
          <p:cNvPr id="416" name="Google Shape;416;p16"/>
          <p:cNvSpPr/>
          <p:nvPr/>
        </p:nvSpPr>
        <p:spPr>
          <a:xfrm>
            <a:off x="8348472" y="3621024"/>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50"/>
              <a:buFont typeface="Calibri"/>
              <a:buNone/>
            </a:pPr>
            <a:r>
              <a:rPr b="0" i="0" lang="en-US" sz="1150" u="none" cap="none" strike="noStrike">
                <a:solidFill>
                  <a:srgbClr val="16A34A"/>
                </a:solidFill>
                <a:latin typeface="Calibri"/>
                <a:ea typeface="Calibri"/>
                <a:cs typeface="Calibri"/>
                <a:sym typeface="Calibri"/>
              </a:rPr>
              <a:t>✓ Queryable for analytics</a:t>
            </a:r>
            <a:endParaRPr b="0" i="0" sz="1150" u="none" cap="none" strike="noStrike">
              <a:solidFill>
                <a:schemeClr val="dk1"/>
              </a:solidFill>
              <a:latin typeface="Calibri"/>
              <a:ea typeface="Calibri"/>
              <a:cs typeface="Calibri"/>
              <a:sym typeface="Calibri"/>
            </a:endParaRPr>
          </a:p>
        </p:txBody>
      </p:sp>
      <p:sp>
        <p:nvSpPr>
          <p:cNvPr id="417" name="Google Shape;417;p16"/>
          <p:cNvSpPr/>
          <p:nvPr/>
        </p:nvSpPr>
        <p:spPr>
          <a:xfrm>
            <a:off x="8348472" y="3968496"/>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User can resume any session</a:t>
            </a:r>
            <a:endParaRPr b="0" i="0" sz="1150" u="none" cap="none" strike="noStrike">
              <a:solidFill>
                <a:schemeClr val="dk1"/>
              </a:solidFill>
              <a:latin typeface="Calibri"/>
              <a:ea typeface="Calibri"/>
              <a:cs typeface="Calibri"/>
              <a:sym typeface="Calibri"/>
            </a:endParaRPr>
          </a:p>
        </p:txBody>
      </p:sp>
      <p:sp>
        <p:nvSpPr>
          <p:cNvPr id="418" name="Google Shape;418;p16"/>
          <p:cNvSpPr/>
          <p:nvPr/>
        </p:nvSpPr>
        <p:spPr>
          <a:xfrm>
            <a:off x="8348472" y="4315968"/>
            <a:ext cx="3337560" cy="32918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1150"/>
              <a:buFont typeface="Calibri"/>
              <a:buNone/>
            </a:pPr>
            <a:r>
              <a:rPr b="0" i="0" lang="en-US" sz="1150" u="none" cap="none" strike="noStrike">
                <a:solidFill>
                  <a:srgbClr val="E11D48"/>
                </a:solidFill>
                <a:latin typeface="Calibri"/>
                <a:ea typeface="Calibri"/>
                <a:cs typeface="Calibri"/>
                <a:sym typeface="Calibri"/>
              </a:rPr>
              <a:t>✗ Most complex to implement</a:t>
            </a:r>
            <a:endParaRPr b="0" i="0" sz="1150" u="none" cap="none" strike="noStrike">
              <a:solidFill>
                <a:schemeClr val="dk1"/>
              </a:solidFill>
              <a:latin typeface="Calibri"/>
              <a:ea typeface="Calibri"/>
              <a:cs typeface="Calibri"/>
              <a:sym typeface="Calibri"/>
            </a:endParaRPr>
          </a:p>
        </p:txBody>
      </p:sp>
      <p:sp>
        <p:nvSpPr>
          <p:cNvPr id="419" name="Google Shape;419;p16"/>
          <p:cNvSpPr/>
          <p:nvPr/>
        </p:nvSpPr>
        <p:spPr>
          <a:xfrm>
            <a:off x="8348472" y="4681728"/>
            <a:ext cx="3337560" cy="658368"/>
          </a:xfrm>
          <a:prstGeom prst="roundRect">
            <a:avLst>
              <a:gd fmla="val 9722"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8412480" y="4709160"/>
            <a:ext cx="3200400" cy="60350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conversationRepo.save(</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  new Message(sessionId, role, content)</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421" name="Google Shape;421;p16"/>
          <p:cNvSpPr/>
          <p:nvPr/>
        </p:nvSpPr>
        <p:spPr>
          <a:xfrm>
            <a:off x="502920" y="6473952"/>
            <a:ext cx="11109960" cy="45720"/>
          </a:xfrm>
          <a:prstGeom prst="roundRect">
            <a:avLst>
              <a:gd fmla="val 16667"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424" name="Google Shape;424;p1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9" name="Shape 429"/>
        <p:cNvGrpSpPr/>
        <p:nvPr/>
      </p:nvGrpSpPr>
      <p:grpSpPr>
        <a:xfrm>
          <a:off x="0" y="0"/>
          <a:ext cx="0" cy="0"/>
          <a:chOff x="0" y="0"/>
          <a:chExt cx="0" cy="0"/>
        </a:xfrm>
      </p:grpSpPr>
      <p:sp>
        <p:nvSpPr>
          <p:cNvPr id="430" name="Google Shape;430;p1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SECTION 4 · PERSIST VS STREAM — WHEN TO CLEAR SESSIONS</a:t>
            </a:r>
            <a:endParaRPr b="0" i="0" sz="1200" u="none" cap="none" strike="noStrike">
              <a:solidFill>
                <a:schemeClr val="dk1"/>
              </a:solidFill>
              <a:latin typeface="Calibri"/>
              <a:ea typeface="Calibri"/>
              <a:cs typeface="Calibri"/>
              <a:sym typeface="Calibri"/>
            </a:endParaRPr>
          </a:p>
        </p:txBody>
      </p:sp>
      <p:sp>
        <p:nvSpPr>
          <p:cNvPr id="431" name="Google Shape;431;p17"/>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Four triggers to clear or compress conversation history</a:t>
            </a:r>
            <a:endParaRPr b="0" i="0" sz="3400" u="none" cap="none" strike="noStrike">
              <a:solidFill>
                <a:schemeClr val="dk1"/>
              </a:solidFill>
              <a:latin typeface="Calibri"/>
              <a:ea typeface="Calibri"/>
              <a:cs typeface="Calibri"/>
              <a:sym typeface="Calibri"/>
            </a:endParaRPr>
          </a:p>
        </p:txBody>
      </p:sp>
      <p:sp>
        <p:nvSpPr>
          <p:cNvPr id="432" name="Google Shape;432;p17"/>
          <p:cNvSpPr/>
          <p:nvPr/>
        </p:nvSpPr>
        <p:spPr>
          <a:xfrm>
            <a:off x="502920" y="1847088"/>
            <a:ext cx="5577840" cy="2176272"/>
          </a:xfrm>
          <a:prstGeom prst="roundRect">
            <a:avLst>
              <a:gd fmla="val 3782" name="adj"/>
            </a:avLst>
          </a:prstGeom>
          <a:solidFill>
            <a:srgbClr val="F8FAFC"/>
          </a:solidFill>
          <a:ln cap="flat" cmpd="sng" w="12700">
            <a:solidFill>
              <a:srgbClr val="0891B2">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a:off x="667512" y="1956816"/>
            <a:ext cx="3200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600"/>
              <a:buFont typeface="Calibri"/>
              <a:buNone/>
            </a:pPr>
            <a:r>
              <a:rPr b="1" i="0" lang="en-US" sz="1600" u="none" cap="none" strike="noStrike">
                <a:solidFill>
                  <a:srgbClr val="0891B2"/>
                </a:solidFill>
                <a:latin typeface="Calibri"/>
                <a:ea typeface="Calibri"/>
                <a:cs typeface="Calibri"/>
                <a:sym typeface="Calibri"/>
              </a:rPr>
              <a:t>⏱ Time-based expiry</a:t>
            </a:r>
            <a:endParaRPr b="0" i="0" sz="1600" u="none" cap="none" strike="noStrike">
              <a:solidFill>
                <a:schemeClr val="dk1"/>
              </a:solidFill>
              <a:latin typeface="Calibri"/>
              <a:ea typeface="Calibri"/>
              <a:cs typeface="Calibri"/>
              <a:sym typeface="Calibri"/>
            </a:endParaRPr>
          </a:p>
        </p:txBody>
      </p:sp>
      <p:sp>
        <p:nvSpPr>
          <p:cNvPr id="434" name="Google Shape;434;p17"/>
          <p:cNvSpPr/>
          <p:nvPr/>
        </p:nvSpPr>
        <p:spPr>
          <a:xfrm>
            <a:off x="667512" y="2414016"/>
            <a:ext cx="2606040" cy="1389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Clear sessions inactive for N minutes/hours. A Redis TTL does this for free. Map-based: schedule a cleanup task. Most user sessions naturally expire after 30–60 minutes of inactivity.</a:t>
            </a:r>
            <a:endParaRPr b="0" i="0" sz="1200" u="none" cap="none" strike="noStrike">
              <a:solidFill>
                <a:schemeClr val="dk1"/>
              </a:solidFill>
              <a:latin typeface="Calibri"/>
              <a:ea typeface="Calibri"/>
              <a:cs typeface="Calibri"/>
              <a:sym typeface="Calibri"/>
            </a:endParaRPr>
          </a:p>
        </p:txBody>
      </p:sp>
      <p:sp>
        <p:nvSpPr>
          <p:cNvPr id="435" name="Google Shape;435;p17"/>
          <p:cNvSpPr/>
          <p:nvPr/>
        </p:nvSpPr>
        <p:spPr>
          <a:xfrm>
            <a:off x="3355848" y="1938528"/>
            <a:ext cx="2578608" cy="1993392"/>
          </a:xfrm>
          <a:prstGeom prst="roundRect">
            <a:avLst>
              <a:gd fmla="val 3211"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p:nvPr/>
        </p:nvSpPr>
        <p:spPr>
          <a:xfrm>
            <a:off x="3429000" y="1975104"/>
            <a:ext cx="2450592" cy="1920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Redis: auto-expires with TTL</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redis.expire(key, 30, MINUTES);</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Map: scheduled cleanup</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@Scheduled(fixedRate=60_000)</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void cleanupStaleSessions()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sessions.entrySet().removeIf(</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e -&gt; isStale(e.getValue())); }</a:t>
            </a:r>
            <a:endParaRPr b="0" i="0" sz="950" u="none" cap="none" strike="noStrike">
              <a:solidFill>
                <a:schemeClr val="dk1"/>
              </a:solidFill>
              <a:latin typeface="Calibri"/>
              <a:ea typeface="Calibri"/>
              <a:cs typeface="Calibri"/>
              <a:sym typeface="Calibri"/>
            </a:endParaRPr>
          </a:p>
        </p:txBody>
      </p:sp>
      <p:sp>
        <p:nvSpPr>
          <p:cNvPr id="437" name="Google Shape;437;p17"/>
          <p:cNvSpPr/>
          <p:nvPr/>
        </p:nvSpPr>
        <p:spPr>
          <a:xfrm>
            <a:off x="6309360" y="1847088"/>
            <a:ext cx="5577840" cy="2176272"/>
          </a:xfrm>
          <a:prstGeom prst="roundRect">
            <a:avLst>
              <a:gd fmla="val 3782" name="adj"/>
            </a:avLst>
          </a:prstGeom>
          <a:solidFill>
            <a:srgbClr val="F8FAFC"/>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6473952" y="1956816"/>
            <a:ext cx="3200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600"/>
              <a:buFont typeface="Calibri"/>
              <a:buNone/>
            </a:pPr>
            <a:r>
              <a:rPr b="1" i="0" lang="en-US" sz="1600" u="none" cap="none" strike="noStrike">
                <a:solidFill>
                  <a:srgbClr val="16A34A"/>
                </a:solidFill>
                <a:latin typeface="Calibri"/>
                <a:ea typeface="Calibri"/>
                <a:cs typeface="Calibri"/>
                <a:sym typeface="Calibri"/>
              </a:rPr>
              <a:t>📏 Size-based threshold</a:t>
            </a:r>
            <a:endParaRPr b="0" i="0" sz="1600" u="none" cap="none" strike="noStrike">
              <a:solidFill>
                <a:schemeClr val="dk1"/>
              </a:solidFill>
              <a:latin typeface="Calibri"/>
              <a:ea typeface="Calibri"/>
              <a:cs typeface="Calibri"/>
              <a:sym typeface="Calibri"/>
            </a:endParaRPr>
          </a:p>
        </p:txBody>
      </p:sp>
      <p:sp>
        <p:nvSpPr>
          <p:cNvPr id="439" name="Google Shape;439;p17"/>
          <p:cNvSpPr/>
          <p:nvPr/>
        </p:nvSpPr>
        <p:spPr>
          <a:xfrm>
            <a:off x="6473952" y="2414016"/>
            <a:ext cx="2606040" cy="1389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When history.size() &gt; MAX, apply sliding window or trigger summarisation. This is the most important trigger for cost control. Cap at 20 messages for most use cases.</a:t>
            </a:r>
            <a:endParaRPr b="0" i="0" sz="1200" u="none" cap="none" strike="noStrike">
              <a:solidFill>
                <a:schemeClr val="dk1"/>
              </a:solidFill>
              <a:latin typeface="Calibri"/>
              <a:ea typeface="Calibri"/>
              <a:cs typeface="Calibri"/>
              <a:sym typeface="Calibri"/>
            </a:endParaRPr>
          </a:p>
        </p:txBody>
      </p:sp>
      <p:sp>
        <p:nvSpPr>
          <p:cNvPr id="440" name="Google Shape;440;p17"/>
          <p:cNvSpPr/>
          <p:nvPr/>
        </p:nvSpPr>
        <p:spPr>
          <a:xfrm>
            <a:off x="9162288" y="1938528"/>
            <a:ext cx="2578608" cy="1993392"/>
          </a:xfrm>
          <a:prstGeom prst="roundRect">
            <a:avLst>
              <a:gd fmla="val 3211"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9235440" y="1975104"/>
            <a:ext cx="2450592" cy="1920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private void enforceLimit(</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List&lt;Msg&gt; history, int max)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while (history.size() &gt; max + 1)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 keep system msg at index 0</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history.remove(1);</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442" name="Google Shape;442;p17"/>
          <p:cNvSpPr/>
          <p:nvPr/>
        </p:nvSpPr>
        <p:spPr>
          <a:xfrm>
            <a:off x="502920" y="4151376"/>
            <a:ext cx="5577840" cy="2176272"/>
          </a:xfrm>
          <a:prstGeom prst="roundRect">
            <a:avLst>
              <a:gd fmla="val 3782" name="adj"/>
            </a:avLst>
          </a:prstGeom>
          <a:solidFill>
            <a:srgbClr val="F8FAFC"/>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667512" y="4261104"/>
            <a:ext cx="3200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600"/>
              <a:buFont typeface="Calibri"/>
              <a:buNone/>
            </a:pPr>
            <a:r>
              <a:rPr b="1" i="0" lang="en-US" sz="1600" u="none" cap="none" strike="noStrike">
                <a:solidFill>
                  <a:srgbClr val="7C3AED"/>
                </a:solidFill>
                <a:latin typeface="Calibri"/>
                <a:ea typeface="Calibri"/>
                <a:cs typeface="Calibri"/>
                <a:sym typeface="Calibri"/>
              </a:rPr>
              <a:t>🔑 Explicit user action</a:t>
            </a:r>
            <a:endParaRPr b="0" i="0" sz="1600" u="none" cap="none" strike="noStrike">
              <a:solidFill>
                <a:schemeClr val="dk1"/>
              </a:solidFill>
              <a:latin typeface="Calibri"/>
              <a:ea typeface="Calibri"/>
              <a:cs typeface="Calibri"/>
              <a:sym typeface="Calibri"/>
            </a:endParaRPr>
          </a:p>
        </p:txBody>
      </p:sp>
      <p:sp>
        <p:nvSpPr>
          <p:cNvPr id="444" name="Google Shape;444;p17"/>
          <p:cNvSpPr/>
          <p:nvPr/>
        </p:nvSpPr>
        <p:spPr>
          <a:xfrm>
            <a:off x="667512" y="4718304"/>
            <a:ext cx="2606040" cy="1389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User clicks "New Chat" or "Clear History". Provide this as a UI affordance. Never silently clear without user consent — users expect their context to persist across refreshes.</a:t>
            </a:r>
            <a:endParaRPr b="0" i="0" sz="1200" u="none" cap="none" strike="noStrike">
              <a:solidFill>
                <a:schemeClr val="dk1"/>
              </a:solidFill>
              <a:latin typeface="Calibri"/>
              <a:ea typeface="Calibri"/>
              <a:cs typeface="Calibri"/>
              <a:sym typeface="Calibri"/>
            </a:endParaRPr>
          </a:p>
        </p:txBody>
      </p:sp>
      <p:sp>
        <p:nvSpPr>
          <p:cNvPr id="445" name="Google Shape;445;p17"/>
          <p:cNvSpPr/>
          <p:nvPr/>
        </p:nvSpPr>
        <p:spPr>
          <a:xfrm>
            <a:off x="3355848" y="4242816"/>
            <a:ext cx="2578608" cy="1993392"/>
          </a:xfrm>
          <a:prstGeom prst="roundRect">
            <a:avLst>
              <a:gd fmla="val 3211"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3429000" y="4279392"/>
            <a:ext cx="2450592" cy="1920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@DeleteMapping("/session/{id}")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public void clearSession(</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@PathVariable String id)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sessionStore.remove(id);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log.info("Cleared: {}", id);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447" name="Google Shape;447;p17"/>
          <p:cNvSpPr/>
          <p:nvPr/>
        </p:nvSpPr>
        <p:spPr>
          <a:xfrm>
            <a:off x="6309360" y="4151376"/>
            <a:ext cx="5577840" cy="2176272"/>
          </a:xfrm>
          <a:prstGeom prst="roundRect">
            <a:avLst>
              <a:gd fmla="val 3782" name="adj"/>
            </a:avLst>
          </a:prstGeom>
          <a:solidFill>
            <a:srgbClr val="F8FAFC"/>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6473952" y="4261104"/>
            <a:ext cx="32004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600"/>
              <a:buFont typeface="Calibri"/>
              <a:buNone/>
            </a:pPr>
            <a:r>
              <a:rPr b="1" i="0" lang="en-US" sz="1600" u="none" cap="none" strike="noStrike">
                <a:solidFill>
                  <a:srgbClr val="D97706"/>
                </a:solidFill>
                <a:latin typeface="Calibri"/>
                <a:ea typeface="Calibri"/>
                <a:cs typeface="Calibri"/>
                <a:sym typeface="Calibri"/>
              </a:rPr>
              <a:t>✅ Task completion signal</a:t>
            </a:r>
            <a:endParaRPr b="0" i="0" sz="1600" u="none" cap="none" strike="noStrike">
              <a:solidFill>
                <a:schemeClr val="dk1"/>
              </a:solidFill>
              <a:latin typeface="Calibri"/>
              <a:ea typeface="Calibri"/>
              <a:cs typeface="Calibri"/>
              <a:sym typeface="Calibri"/>
            </a:endParaRPr>
          </a:p>
        </p:txBody>
      </p:sp>
      <p:sp>
        <p:nvSpPr>
          <p:cNvPr id="449" name="Google Shape;449;p17"/>
          <p:cNvSpPr/>
          <p:nvPr/>
        </p:nvSpPr>
        <p:spPr>
          <a:xfrm>
            <a:off x="6473952" y="4718304"/>
            <a:ext cx="2606040" cy="138988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Model outputs a "conversation complete" signal you define in the system prompt: "When the task is fully resolved, output &lt;DONE&gt;." Parse this and archive the conversation.</a:t>
            </a:r>
            <a:endParaRPr b="0" i="0" sz="1200" u="none" cap="none" strike="noStrike">
              <a:solidFill>
                <a:schemeClr val="dk1"/>
              </a:solidFill>
              <a:latin typeface="Calibri"/>
              <a:ea typeface="Calibri"/>
              <a:cs typeface="Calibri"/>
              <a:sym typeface="Calibri"/>
            </a:endParaRPr>
          </a:p>
        </p:txBody>
      </p:sp>
      <p:sp>
        <p:nvSpPr>
          <p:cNvPr id="450" name="Google Shape;450;p17"/>
          <p:cNvSpPr/>
          <p:nvPr/>
        </p:nvSpPr>
        <p:spPr>
          <a:xfrm>
            <a:off x="9162288" y="4242816"/>
            <a:ext cx="2578608" cy="1993392"/>
          </a:xfrm>
          <a:prstGeom prst="roundRect">
            <a:avLst>
              <a:gd fmla="val 3211"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9235440" y="4279392"/>
            <a:ext cx="2450592" cy="1920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if (reply.contains("&lt;DONE&gt;")) {</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archiveConversation(sessionId);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sessions.remove(sessionId);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  return "Session completed";</a:t>
            </a:r>
            <a:endParaRPr b="0" i="0" sz="9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950"/>
              <a:buFont typeface="Courier New"/>
              <a:buNone/>
            </a:pPr>
            <a:r>
              <a:rPr b="0" i="0" lang="en-US" sz="950" u="none" cap="none" strike="noStrike">
                <a:solidFill>
                  <a:srgbClr val="86EFAC"/>
                </a:solidFill>
                <a:latin typeface="Courier New"/>
                <a:ea typeface="Courier New"/>
                <a:cs typeface="Courier New"/>
                <a:sym typeface="Courier New"/>
              </a:rPr>
              <a:t>}</a:t>
            </a:r>
            <a:endParaRPr b="0" i="0" sz="950" u="none" cap="none" strike="noStrike">
              <a:solidFill>
                <a:schemeClr val="dk1"/>
              </a:solidFill>
              <a:latin typeface="Calibri"/>
              <a:ea typeface="Calibri"/>
              <a:cs typeface="Calibri"/>
              <a:sym typeface="Calibri"/>
            </a:endParaRPr>
          </a:p>
        </p:txBody>
      </p:sp>
      <p:sp>
        <p:nvSpPr>
          <p:cNvPr id="452" name="Google Shape;452;p17"/>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454" name="Google Shape;454;p1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459" name="Shape 459"/>
        <p:cNvGrpSpPr/>
        <p:nvPr/>
      </p:nvGrpSpPr>
      <p:grpSpPr>
        <a:xfrm>
          <a:off x="0" y="0"/>
          <a:ext cx="0" cy="0"/>
          <a:chOff x="0" y="0"/>
          <a:chExt cx="0" cy="0"/>
        </a:xfrm>
      </p:grpSpPr>
      <p:sp>
        <p:nvSpPr>
          <p:cNvPr id="460" name="Google Shape;460;p18"/>
          <p:cNvSpPr/>
          <p:nvPr/>
        </p:nvSpPr>
        <p:spPr>
          <a:xfrm>
            <a:off x="6858000" y="-182880"/>
            <a:ext cx="64008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9000"/>
              <a:buFont typeface="Calibri"/>
              <a:buNone/>
            </a:pPr>
            <a:r>
              <a:rPr b="1" i="0" lang="en-US" sz="19000" u="none" cap="none" strike="noStrike">
                <a:solidFill>
                  <a:srgbClr val="E11D48"/>
                </a:solidFill>
                <a:latin typeface="Calibri"/>
                <a:ea typeface="Calibri"/>
                <a:cs typeface="Calibri"/>
                <a:sym typeface="Calibri"/>
              </a:rPr>
              <a:t>Spring Boot</a:t>
            </a:r>
            <a:endParaRPr b="0" i="0" sz="19000" u="none" cap="none" strike="noStrike">
              <a:solidFill>
                <a:schemeClr val="dk1"/>
              </a:solidFill>
              <a:latin typeface="Calibri"/>
              <a:ea typeface="Calibri"/>
              <a:cs typeface="Calibri"/>
              <a:sym typeface="Calibri"/>
            </a:endParaRPr>
          </a:p>
        </p:txBody>
      </p:sp>
      <p:sp>
        <p:nvSpPr>
          <p:cNvPr id="461" name="Google Shape;461;p18"/>
          <p:cNvSpPr/>
          <p:nvPr/>
        </p:nvSpPr>
        <p:spPr>
          <a:xfrm>
            <a:off x="475488" y="804672"/>
            <a:ext cx="749808" cy="749808"/>
          </a:xfrm>
          <a:prstGeom prst="roundRect">
            <a:avLst>
              <a:gd fmla="val 12195"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475488" y="804672"/>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600"/>
              <a:buFont typeface="Calibri"/>
              <a:buNone/>
            </a:pPr>
            <a:r>
              <a:rPr b="0" i="0" lang="en-US" sz="2600" u="none" cap="none" strike="noStrike">
                <a:solidFill>
                  <a:srgbClr val="000000"/>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463" name="Google Shape;463;p18"/>
          <p:cNvSpPr/>
          <p:nvPr/>
        </p:nvSpPr>
        <p:spPr>
          <a:xfrm>
            <a:off x="1371600" y="841248"/>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SECTION</a:t>
            </a:r>
            <a:endParaRPr b="0" i="0" sz="1300" u="none" cap="none" strike="noStrike">
              <a:solidFill>
                <a:schemeClr val="dk1"/>
              </a:solidFill>
              <a:latin typeface="Calibri"/>
              <a:ea typeface="Calibri"/>
              <a:cs typeface="Calibri"/>
              <a:sym typeface="Calibri"/>
            </a:endParaRPr>
          </a:p>
        </p:txBody>
      </p:sp>
      <p:sp>
        <p:nvSpPr>
          <p:cNvPr id="464" name="Google Shape;464;p18"/>
          <p:cNvSpPr/>
          <p:nvPr/>
        </p:nvSpPr>
        <p:spPr>
          <a:xfrm>
            <a:off x="685800" y="1417320"/>
            <a:ext cx="9144000" cy="192024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Spring Boot</a:t>
            </a:r>
            <a:endParaRPr b="0" i="0" sz="54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Session Design</a:t>
            </a:r>
            <a:endParaRPr b="0" i="0" sz="5400" u="none" cap="none" strike="noStrike">
              <a:solidFill>
                <a:schemeClr val="dk1"/>
              </a:solidFill>
              <a:latin typeface="Calibri"/>
              <a:ea typeface="Calibri"/>
              <a:cs typeface="Calibri"/>
              <a:sym typeface="Calibri"/>
            </a:endParaRPr>
          </a:p>
        </p:txBody>
      </p:sp>
      <p:sp>
        <p:nvSpPr>
          <p:cNvPr id="465" name="Google Shape;465;p18"/>
          <p:cNvSpPr/>
          <p:nvPr/>
        </p:nvSpPr>
        <p:spPr>
          <a:xfrm>
            <a:off x="685800" y="3493008"/>
            <a:ext cx="9144000" cy="7772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Session IDs, the session service, ConcurrentHashMap now, Redis later.</a:t>
            </a:r>
            <a:endParaRPr b="0" i="0" sz="2000" u="none" cap="none" strike="noStrike">
              <a:solidFill>
                <a:schemeClr val="dk1"/>
              </a:solidFill>
              <a:latin typeface="Calibri"/>
              <a:ea typeface="Calibri"/>
              <a:cs typeface="Calibri"/>
              <a:sym typeface="Calibri"/>
            </a:endParaRPr>
          </a:p>
        </p:txBody>
      </p:sp>
      <p:sp>
        <p:nvSpPr>
          <p:cNvPr id="466" name="Google Shape;466;p18"/>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468" name="Google Shape;468;p1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19"/>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SECTION 5 · SPRING BOOT SESSION DESIGN — THE ARCHITECTURE</a:t>
            </a:r>
            <a:endParaRPr b="0" i="0" sz="1200" u="none" cap="none" strike="noStrike">
              <a:solidFill>
                <a:schemeClr val="dk1"/>
              </a:solidFill>
              <a:latin typeface="Calibri"/>
              <a:ea typeface="Calibri"/>
              <a:cs typeface="Calibri"/>
              <a:sym typeface="Calibri"/>
            </a:endParaRPr>
          </a:p>
        </p:txBody>
      </p:sp>
      <p:sp>
        <p:nvSpPr>
          <p:cNvPr id="475" name="Google Shape;475;p19"/>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Session ID is the key. Everything else follows.</a:t>
            </a:r>
            <a:endParaRPr b="0" i="0" sz="3600" u="none" cap="none" strike="noStrike">
              <a:solidFill>
                <a:schemeClr val="dk1"/>
              </a:solidFill>
              <a:latin typeface="Calibri"/>
              <a:ea typeface="Calibri"/>
              <a:cs typeface="Calibri"/>
              <a:sym typeface="Calibri"/>
            </a:endParaRPr>
          </a:p>
        </p:txBody>
      </p:sp>
      <p:sp>
        <p:nvSpPr>
          <p:cNvPr id="476" name="Google Shape;476;p19"/>
          <p:cNvSpPr/>
          <p:nvPr/>
        </p:nvSpPr>
        <p:spPr>
          <a:xfrm>
            <a:off x="502920" y="2514600"/>
            <a:ext cx="2057400" cy="1389888"/>
          </a:xfrm>
          <a:prstGeom prst="roundRect">
            <a:avLst>
              <a:gd fmla="val 5921"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612648" y="2697480"/>
            <a:ext cx="187452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Browser / Mobile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Client</a:t>
            </a:r>
            <a:endParaRPr b="0" i="0" sz="1300" u="none" cap="none" strike="noStrike">
              <a:solidFill>
                <a:schemeClr val="dk1"/>
              </a:solidFill>
              <a:latin typeface="Calibri"/>
              <a:ea typeface="Calibri"/>
              <a:cs typeface="Calibri"/>
              <a:sym typeface="Calibri"/>
            </a:endParaRPr>
          </a:p>
        </p:txBody>
      </p:sp>
      <p:sp>
        <p:nvSpPr>
          <p:cNvPr id="478" name="Google Shape;478;p19"/>
          <p:cNvSpPr/>
          <p:nvPr/>
        </p:nvSpPr>
        <p:spPr>
          <a:xfrm>
            <a:off x="612648" y="3383280"/>
            <a:ext cx="187452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Sends sessionId</a:t>
            </a:r>
            <a:endParaRPr b="0" i="0" sz="9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in header or cookie</a:t>
            </a:r>
            <a:endParaRPr b="0" i="0" sz="950" u="none" cap="none" strike="noStrike">
              <a:solidFill>
                <a:schemeClr val="dk1"/>
              </a:solidFill>
              <a:latin typeface="Calibri"/>
              <a:ea typeface="Calibri"/>
              <a:cs typeface="Calibri"/>
              <a:sym typeface="Calibri"/>
            </a:endParaRPr>
          </a:p>
        </p:txBody>
      </p:sp>
      <p:cxnSp>
        <p:nvCxnSpPr>
          <p:cNvPr id="479" name="Google Shape;479;p19"/>
          <p:cNvCxnSpPr/>
          <p:nvPr/>
        </p:nvCxnSpPr>
        <p:spPr>
          <a:xfrm>
            <a:off x="2606040" y="3209544"/>
            <a:ext cx="411480" cy="0"/>
          </a:xfrm>
          <a:prstGeom prst="straightConnector1">
            <a:avLst/>
          </a:prstGeom>
          <a:noFill/>
          <a:ln cap="flat" cmpd="sng" w="25400">
            <a:solidFill>
              <a:srgbClr val="7C3AED"/>
            </a:solidFill>
            <a:prstDash val="solid"/>
            <a:round/>
            <a:headEnd len="sm" w="sm" type="none"/>
            <a:tailEnd len="med" w="med" type="triangle"/>
          </a:ln>
        </p:spPr>
      </p:cxnSp>
      <p:sp>
        <p:nvSpPr>
          <p:cNvPr id="480" name="Google Shape;480;p19"/>
          <p:cNvSpPr/>
          <p:nvPr/>
        </p:nvSpPr>
        <p:spPr>
          <a:xfrm>
            <a:off x="3017520" y="2514600"/>
            <a:ext cx="2057400" cy="1389888"/>
          </a:xfrm>
          <a:prstGeom prst="roundRect">
            <a:avLst>
              <a:gd fmla="val 5921" name="adj"/>
            </a:avLst>
          </a:prstGeom>
          <a:solidFill>
            <a:srgbClr val="F8FAFC"/>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9"/>
          <p:cNvSpPr/>
          <p:nvPr/>
        </p:nvSpPr>
        <p:spPr>
          <a:xfrm>
            <a:off x="3127248" y="2697480"/>
            <a:ext cx="187452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Chat</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Controller</a:t>
            </a:r>
            <a:endParaRPr b="0" i="0" sz="1300" u="none" cap="none" strike="noStrike">
              <a:solidFill>
                <a:schemeClr val="dk1"/>
              </a:solidFill>
              <a:latin typeface="Calibri"/>
              <a:ea typeface="Calibri"/>
              <a:cs typeface="Calibri"/>
              <a:sym typeface="Calibri"/>
            </a:endParaRPr>
          </a:p>
        </p:txBody>
      </p:sp>
      <p:sp>
        <p:nvSpPr>
          <p:cNvPr id="482" name="Google Shape;482;p19"/>
          <p:cNvSpPr/>
          <p:nvPr/>
        </p:nvSpPr>
        <p:spPr>
          <a:xfrm>
            <a:off x="3127248" y="3383280"/>
            <a:ext cx="187452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@RestController</a:t>
            </a:r>
            <a:endParaRPr b="0" i="0" sz="9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/api/chat</a:t>
            </a:r>
            <a:endParaRPr b="0" i="0" sz="950" u="none" cap="none" strike="noStrike">
              <a:solidFill>
                <a:schemeClr val="dk1"/>
              </a:solidFill>
              <a:latin typeface="Calibri"/>
              <a:ea typeface="Calibri"/>
              <a:cs typeface="Calibri"/>
              <a:sym typeface="Calibri"/>
            </a:endParaRPr>
          </a:p>
        </p:txBody>
      </p:sp>
      <p:cxnSp>
        <p:nvCxnSpPr>
          <p:cNvPr id="483" name="Google Shape;483;p19"/>
          <p:cNvCxnSpPr/>
          <p:nvPr/>
        </p:nvCxnSpPr>
        <p:spPr>
          <a:xfrm>
            <a:off x="5120640" y="3209544"/>
            <a:ext cx="411480" cy="0"/>
          </a:xfrm>
          <a:prstGeom prst="straightConnector1">
            <a:avLst/>
          </a:prstGeom>
          <a:noFill/>
          <a:ln cap="flat" cmpd="sng" w="25400">
            <a:solidFill>
              <a:srgbClr val="0891B2"/>
            </a:solidFill>
            <a:prstDash val="solid"/>
            <a:round/>
            <a:headEnd len="sm" w="sm" type="none"/>
            <a:tailEnd len="med" w="med" type="triangle"/>
          </a:ln>
        </p:spPr>
      </p:cxnSp>
      <p:sp>
        <p:nvSpPr>
          <p:cNvPr id="484" name="Google Shape;484;p19"/>
          <p:cNvSpPr/>
          <p:nvPr/>
        </p:nvSpPr>
        <p:spPr>
          <a:xfrm>
            <a:off x="5532120" y="2514600"/>
            <a:ext cx="2057400" cy="1389888"/>
          </a:xfrm>
          <a:prstGeom prst="roundRect">
            <a:avLst>
              <a:gd fmla="val 5921"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9"/>
          <p:cNvSpPr/>
          <p:nvPr/>
        </p:nvSpPr>
        <p:spPr>
          <a:xfrm>
            <a:off x="5641848" y="2697480"/>
            <a:ext cx="187452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Session</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Service</a:t>
            </a:r>
            <a:endParaRPr b="0" i="0" sz="1300" u="none" cap="none" strike="noStrike">
              <a:solidFill>
                <a:schemeClr val="dk1"/>
              </a:solidFill>
              <a:latin typeface="Calibri"/>
              <a:ea typeface="Calibri"/>
              <a:cs typeface="Calibri"/>
              <a:sym typeface="Calibri"/>
            </a:endParaRPr>
          </a:p>
        </p:txBody>
      </p:sp>
      <p:sp>
        <p:nvSpPr>
          <p:cNvPr id="486" name="Google Shape;486;p19"/>
          <p:cNvSpPr/>
          <p:nvPr/>
        </p:nvSpPr>
        <p:spPr>
          <a:xfrm>
            <a:off x="5641848" y="3383280"/>
            <a:ext cx="187452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Manages Map</a:t>
            </a:r>
            <a:endParaRPr b="0" i="0" sz="9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 Redis / DB</a:t>
            </a:r>
            <a:endParaRPr b="0" i="0" sz="950" u="none" cap="none" strike="noStrike">
              <a:solidFill>
                <a:schemeClr val="dk1"/>
              </a:solidFill>
              <a:latin typeface="Calibri"/>
              <a:ea typeface="Calibri"/>
              <a:cs typeface="Calibri"/>
              <a:sym typeface="Calibri"/>
            </a:endParaRPr>
          </a:p>
        </p:txBody>
      </p:sp>
      <p:cxnSp>
        <p:nvCxnSpPr>
          <p:cNvPr id="487" name="Google Shape;487;p19"/>
          <p:cNvCxnSpPr/>
          <p:nvPr/>
        </p:nvCxnSpPr>
        <p:spPr>
          <a:xfrm>
            <a:off x="7635240" y="3209544"/>
            <a:ext cx="411480" cy="0"/>
          </a:xfrm>
          <a:prstGeom prst="straightConnector1">
            <a:avLst/>
          </a:prstGeom>
          <a:noFill/>
          <a:ln cap="flat" cmpd="sng" w="25400">
            <a:solidFill>
              <a:srgbClr val="16A34A"/>
            </a:solidFill>
            <a:prstDash val="solid"/>
            <a:round/>
            <a:headEnd len="sm" w="sm" type="none"/>
            <a:tailEnd len="med" w="med" type="triangle"/>
          </a:ln>
        </p:spPr>
      </p:cxnSp>
      <p:sp>
        <p:nvSpPr>
          <p:cNvPr id="488" name="Google Shape;488;p19"/>
          <p:cNvSpPr/>
          <p:nvPr/>
        </p:nvSpPr>
        <p:spPr>
          <a:xfrm>
            <a:off x="8046720" y="2514600"/>
            <a:ext cx="2057400" cy="1389888"/>
          </a:xfrm>
          <a:prstGeom prst="roundRect">
            <a:avLst>
              <a:gd fmla="val 5921" name="adj"/>
            </a:avLst>
          </a:prstGeom>
          <a:solidFill>
            <a:srgbClr val="F8FAFC"/>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8156448" y="2697480"/>
            <a:ext cx="1874520"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Message</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History</a:t>
            </a:r>
            <a:endParaRPr b="0" i="0" sz="1300" u="none" cap="none" strike="noStrike">
              <a:solidFill>
                <a:schemeClr val="dk1"/>
              </a:solidFill>
              <a:latin typeface="Calibri"/>
              <a:ea typeface="Calibri"/>
              <a:cs typeface="Calibri"/>
              <a:sym typeface="Calibri"/>
            </a:endParaRPr>
          </a:p>
        </p:txBody>
      </p:sp>
      <p:sp>
        <p:nvSpPr>
          <p:cNvPr id="490" name="Google Shape;490;p19"/>
          <p:cNvSpPr/>
          <p:nvPr/>
        </p:nvSpPr>
        <p:spPr>
          <a:xfrm>
            <a:off x="8156448" y="3383280"/>
            <a:ext cx="187452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List per sessionId</a:t>
            </a:r>
            <a:endParaRPr b="0" i="0" sz="950" u="none" cap="none" strike="noStrike">
              <a:solidFill>
                <a:schemeClr val="dk1"/>
              </a:solidFill>
              <a:latin typeface="Calibri"/>
              <a:ea typeface="Calibri"/>
              <a:cs typeface="Calibri"/>
              <a:sym typeface="Calibri"/>
            </a:endParaRPr>
          </a:p>
        </p:txBody>
      </p:sp>
      <p:cxnSp>
        <p:nvCxnSpPr>
          <p:cNvPr id="491" name="Google Shape;491;p19"/>
          <p:cNvCxnSpPr/>
          <p:nvPr/>
        </p:nvCxnSpPr>
        <p:spPr>
          <a:xfrm>
            <a:off x="10149840" y="3209544"/>
            <a:ext cx="411480" cy="0"/>
          </a:xfrm>
          <a:prstGeom prst="straightConnector1">
            <a:avLst/>
          </a:prstGeom>
          <a:noFill/>
          <a:ln cap="flat" cmpd="sng" w="25400">
            <a:solidFill>
              <a:srgbClr val="D97706"/>
            </a:solidFill>
            <a:prstDash val="solid"/>
            <a:round/>
            <a:headEnd len="sm" w="sm" type="none"/>
            <a:tailEnd len="med" w="med" type="triangle"/>
          </a:ln>
        </p:spPr>
      </p:cxnSp>
      <p:sp>
        <p:nvSpPr>
          <p:cNvPr id="492" name="Google Shape;492;p19"/>
          <p:cNvSpPr/>
          <p:nvPr/>
        </p:nvSpPr>
        <p:spPr>
          <a:xfrm>
            <a:off x="10561320" y="2514600"/>
            <a:ext cx="1115568" cy="1389888"/>
          </a:xfrm>
          <a:prstGeom prst="roundRect">
            <a:avLst>
              <a:gd fmla="val 7377" name="adj"/>
            </a:avLst>
          </a:prstGeom>
          <a:solidFill>
            <a:srgbClr val="F8FAFC"/>
          </a:solidFill>
          <a:ln cap="flat" cmpd="sng" w="19050">
            <a:solidFill>
              <a:srgbClr val="E11D48">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9"/>
          <p:cNvSpPr/>
          <p:nvPr/>
        </p:nvSpPr>
        <p:spPr>
          <a:xfrm>
            <a:off x="10671048" y="2697480"/>
            <a:ext cx="932688" cy="65836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OpenAI</a:t>
            </a:r>
            <a:endParaRPr b="0" i="0" sz="13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E11D48"/>
              </a:buClr>
              <a:buSzPts val="1300"/>
              <a:buFont typeface="Calibri"/>
              <a:buNone/>
            </a:pPr>
            <a:r>
              <a:rPr b="1" i="0" lang="en-US" sz="1300" u="none" cap="none" strike="noStrike">
                <a:solidFill>
                  <a:srgbClr val="E11D48"/>
                </a:solidFill>
                <a:latin typeface="Calibri"/>
                <a:ea typeface="Calibri"/>
                <a:cs typeface="Calibri"/>
                <a:sym typeface="Calibri"/>
              </a:rPr>
              <a:t>API</a:t>
            </a:r>
            <a:endParaRPr b="0" i="0" sz="1300" u="none" cap="none" strike="noStrike">
              <a:solidFill>
                <a:schemeClr val="dk1"/>
              </a:solidFill>
              <a:latin typeface="Calibri"/>
              <a:ea typeface="Calibri"/>
              <a:cs typeface="Calibri"/>
              <a:sym typeface="Calibri"/>
            </a:endParaRPr>
          </a:p>
        </p:txBody>
      </p:sp>
      <p:sp>
        <p:nvSpPr>
          <p:cNvPr id="494" name="Google Shape;494;p19"/>
          <p:cNvSpPr/>
          <p:nvPr/>
        </p:nvSpPr>
        <p:spPr>
          <a:xfrm>
            <a:off x="10671048" y="3383280"/>
            <a:ext cx="932688"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Stateless</a:t>
            </a:r>
            <a:endParaRPr b="0" i="0" sz="95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8B92B8"/>
              </a:buClr>
              <a:buSzPts val="950"/>
              <a:buFont typeface="Courier New"/>
              <a:buNone/>
            </a:pPr>
            <a:r>
              <a:rPr b="0" i="1" lang="en-US" sz="950" u="none" cap="none" strike="noStrike">
                <a:solidFill>
                  <a:srgbClr val="8B92B8"/>
                </a:solidFill>
                <a:latin typeface="Courier New"/>
                <a:ea typeface="Courier New"/>
                <a:cs typeface="Courier New"/>
                <a:sym typeface="Courier New"/>
              </a:rPr>
              <a:t>chat endpoint</a:t>
            </a:r>
            <a:endParaRPr b="0" i="0" sz="950" u="none" cap="none" strike="noStrike">
              <a:solidFill>
                <a:schemeClr val="dk1"/>
              </a:solidFill>
              <a:latin typeface="Calibri"/>
              <a:ea typeface="Calibri"/>
              <a:cs typeface="Calibri"/>
              <a:sym typeface="Calibri"/>
            </a:endParaRPr>
          </a:p>
        </p:txBody>
      </p:sp>
      <p:sp>
        <p:nvSpPr>
          <p:cNvPr id="495" name="Google Shape;495;p19"/>
          <p:cNvSpPr/>
          <p:nvPr/>
        </p:nvSpPr>
        <p:spPr>
          <a:xfrm>
            <a:off x="502920" y="4160520"/>
            <a:ext cx="5349240" cy="2148840"/>
          </a:xfrm>
          <a:prstGeom prst="roundRect">
            <a:avLst>
              <a:gd fmla="val 4255"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713232" y="4279392"/>
            <a:ext cx="49377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Where session IDs come from</a:t>
            </a:r>
            <a:endParaRPr b="0" i="0" sz="1400" u="none" cap="none" strike="noStrike">
              <a:solidFill>
                <a:schemeClr val="dk1"/>
              </a:solidFill>
              <a:latin typeface="Calibri"/>
              <a:ea typeface="Calibri"/>
              <a:cs typeface="Calibri"/>
              <a:sym typeface="Calibri"/>
            </a:endParaRPr>
          </a:p>
        </p:txBody>
      </p:sp>
      <p:sp>
        <p:nvSpPr>
          <p:cNvPr id="497" name="Google Shape;497;p19"/>
          <p:cNvSpPr/>
          <p:nvPr/>
        </p:nvSpPr>
        <p:spPr>
          <a:xfrm>
            <a:off x="713232" y="4681728"/>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  UUID per tab</a:t>
            </a:r>
            <a:endParaRPr b="0" i="0" sz="1200" u="none" cap="none" strike="noStrike">
              <a:solidFill>
                <a:schemeClr val="dk1"/>
              </a:solidFill>
              <a:latin typeface="Calibri"/>
              <a:ea typeface="Calibri"/>
              <a:cs typeface="Calibri"/>
              <a:sym typeface="Calibri"/>
            </a:endParaRPr>
          </a:p>
        </p:txBody>
      </p:sp>
      <p:sp>
        <p:nvSpPr>
          <p:cNvPr id="498" name="Google Shape;498;p19"/>
          <p:cNvSpPr/>
          <p:nvPr/>
        </p:nvSpPr>
        <p:spPr>
          <a:xfrm>
            <a:off x="2907792" y="4681728"/>
            <a:ext cx="2880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window.crypto.randomUUID() on page load</a:t>
            </a:r>
            <a:endParaRPr b="0" i="0" sz="1200" u="none" cap="none" strike="noStrike">
              <a:solidFill>
                <a:schemeClr val="dk1"/>
              </a:solidFill>
              <a:latin typeface="Calibri"/>
              <a:ea typeface="Calibri"/>
              <a:cs typeface="Calibri"/>
              <a:sym typeface="Calibri"/>
            </a:endParaRPr>
          </a:p>
        </p:txBody>
      </p:sp>
      <p:sp>
        <p:nvSpPr>
          <p:cNvPr id="499" name="Google Shape;499;p19"/>
          <p:cNvSpPr/>
          <p:nvPr/>
        </p:nvSpPr>
        <p:spPr>
          <a:xfrm>
            <a:off x="713232" y="5029200"/>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  JWT subject</a:t>
            </a:r>
            <a:endParaRPr b="0" i="0" sz="1200" u="none" cap="none" strike="noStrike">
              <a:solidFill>
                <a:schemeClr val="dk1"/>
              </a:solidFill>
              <a:latin typeface="Calibri"/>
              <a:ea typeface="Calibri"/>
              <a:cs typeface="Calibri"/>
              <a:sym typeface="Calibri"/>
            </a:endParaRPr>
          </a:p>
        </p:txBody>
      </p:sp>
      <p:sp>
        <p:nvSpPr>
          <p:cNvPr id="500" name="Google Shape;500;p19"/>
          <p:cNvSpPr/>
          <p:nvPr/>
        </p:nvSpPr>
        <p:spPr>
          <a:xfrm>
            <a:off x="2907792" y="5029200"/>
            <a:ext cx="2880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Extract userId from auth token</a:t>
            </a:r>
            <a:endParaRPr b="0" i="0" sz="1200" u="none" cap="none" strike="noStrike">
              <a:solidFill>
                <a:schemeClr val="dk1"/>
              </a:solidFill>
              <a:latin typeface="Calibri"/>
              <a:ea typeface="Calibri"/>
              <a:cs typeface="Calibri"/>
              <a:sym typeface="Calibri"/>
            </a:endParaRPr>
          </a:p>
        </p:txBody>
      </p:sp>
      <p:sp>
        <p:nvSpPr>
          <p:cNvPr id="501" name="Google Shape;501;p19"/>
          <p:cNvSpPr/>
          <p:nvPr/>
        </p:nvSpPr>
        <p:spPr>
          <a:xfrm>
            <a:off x="713232" y="5376672"/>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  Conversation ID</a:t>
            </a:r>
            <a:endParaRPr b="0" i="0" sz="1200" u="none" cap="none" strike="noStrike">
              <a:solidFill>
                <a:schemeClr val="dk1"/>
              </a:solidFill>
              <a:latin typeface="Calibri"/>
              <a:ea typeface="Calibri"/>
              <a:cs typeface="Calibri"/>
              <a:sym typeface="Calibri"/>
            </a:endParaRPr>
          </a:p>
        </p:txBody>
      </p:sp>
      <p:sp>
        <p:nvSpPr>
          <p:cNvPr id="502" name="Google Shape;502;p19"/>
          <p:cNvSpPr/>
          <p:nvPr/>
        </p:nvSpPr>
        <p:spPr>
          <a:xfrm>
            <a:off x="2907792" y="5376672"/>
            <a:ext cx="2880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DB-generated, persistent across sessions</a:t>
            </a:r>
            <a:endParaRPr b="0" i="0" sz="1200" u="none" cap="none" strike="noStrike">
              <a:solidFill>
                <a:schemeClr val="dk1"/>
              </a:solidFill>
              <a:latin typeface="Calibri"/>
              <a:ea typeface="Calibri"/>
              <a:cs typeface="Calibri"/>
              <a:sym typeface="Calibri"/>
            </a:endParaRPr>
          </a:p>
        </p:txBody>
      </p:sp>
      <p:sp>
        <p:nvSpPr>
          <p:cNvPr id="503" name="Google Shape;503;p19"/>
          <p:cNvSpPr/>
          <p:nvPr/>
        </p:nvSpPr>
        <p:spPr>
          <a:xfrm>
            <a:off x="713232" y="5724144"/>
            <a:ext cx="2148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  User ID + timestamp</a:t>
            </a:r>
            <a:endParaRPr b="0" i="0" sz="1200" u="none" cap="none" strike="noStrike">
              <a:solidFill>
                <a:schemeClr val="dk1"/>
              </a:solidFill>
              <a:latin typeface="Calibri"/>
              <a:ea typeface="Calibri"/>
              <a:cs typeface="Calibri"/>
              <a:sym typeface="Calibri"/>
            </a:endParaRPr>
          </a:p>
        </p:txBody>
      </p:sp>
      <p:sp>
        <p:nvSpPr>
          <p:cNvPr id="504" name="Google Shape;504;p19"/>
          <p:cNvSpPr/>
          <p:nvPr/>
        </p:nvSpPr>
        <p:spPr>
          <a:xfrm>
            <a:off x="2907792" y="5724144"/>
            <a:ext cx="28803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userId + Date.now() for simple apps</a:t>
            </a:r>
            <a:endParaRPr b="0" i="0" sz="1200" u="none" cap="none" strike="noStrike">
              <a:solidFill>
                <a:schemeClr val="dk1"/>
              </a:solidFill>
              <a:latin typeface="Calibri"/>
              <a:ea typeface="Calibri"/>
              <a:cs typeface="Calibri"/>
              <a:sym typeface="Calibri"/>
            </a:endParaRPr>
          </a:p>
        </p:txBody>
      </p:sp>
      <p:sp>
        <p:nvSpPr>
          <p:cNvPr id="505" name="Google Shape;505;p19"/>
          <p:cNvSpPr/>
          <p:nvPr/>
        </p:nvSpPr>
        <p:spPr>
          <a:xfrm>
            <a:off x="5989320" y="4160520"/>
            <a:ext cx="5623560" cy="2148840"/>
          </a:xfrm>
          <a:prstGeom prst="roundRect">
            <a:avLst>
              <a:gd fmla="val 4255"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6199632" y="4279392"/>
            <a:ext cx="52120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Request shape from client</a:t>
            </a:r>
            <a:endParaRPr b="0" i="0" sz="1400" u="none" cap="none" strike="noStrike">
              <a:solidFill>
                <a:schemeClr val="dk1"/>
              </a:solidFill>
              <a:latin typeface="Calibri"/>
              <a:ea typeface="Calibri"/>
              <a:cs typeface="Calibri"/>
              <a:sym typeface="Calibri"/>
            </a:endParaRPr>
          </a:p>
        </p:txBody>
      </p:sp>
      <p:sp>
        <p:nvSpPr>
          <p:cNvPr id="507" name="Google Shape;507;p19"/>
          <p:cNvSpPr/>
          <p:nvPr/>
        </p:nvSpPr>
        <p:spPr>
          <a:xfrm>
            <a:off x="6199632" y="4681728"/>
            <a:ext cx="5257800" cy="1536192"/>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POST /api/chat</a:t>
            </a:r>
            <a:endParaRPr b="0" i="0" sz="12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  "sessionId": "uuid-1234-abcd",</a:t>
            </a:r>
            <a:endParaRPr b="0" i="0" sz="12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  "message":   "How do I fix this bug?"</a:t>
            </a:r>
            <a:endParaRPr b="0" i="0" sz="12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p:txBody>
      </p:sp>
      <p:sp>
        <p:nvSpPr>
          <p:cNvPr id="508" name="Google Shape;508;p19"/>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510" name="Google Shape;510;p1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20"/>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SECTION 5 · SPRING BOOT SESSION SERVICE — FULL IMPLEMENTATION</a:t>
            </a:r>
            <a:endParaRPr b="0" i="0" sz="1200" u="none" cap="none" strike="noStrike">
              <a:solidFill>
                <a:schemeClr val="dk1"/>
              </a:solidFill>
              <a:latin typeface="Calibri"/>
              <a:ea typeface="Calibri"/>
              <a:cs typeface="Calibri"/>
              <a:sym typeface="Calibri"/>
            </a:endParaRPr>
          </a:p>
        </p:txBody>
      </p:sp>
      <p:sp>
        <p:nvSpPr>
          <p:cNvPr id="517" name="Google Shape;517;p20"/>
          <p:cNvSpPr/>
          <p:nvPr/>
        </p:nvSpPr>
        <p:spPr>
          <a:xfrm>
            <a:off x="685800" y="749808"/>
            <a:ext cx="10789920" cy="8046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The complete session service in Java</a:t>
            </a:r>
            <a:endParaRPr b="0" i="0" sz="3400" u="none" cap="none" strike="noStrike">
              <a:solidFill>
                <a:schemeClr val="dk1"/>
              </a:solidFill>
              <a:latin typeface="Calibri"/>
              <a:ea typeface="Calibri"/>
              <a:cs typeface="Calibri"/>
              <a:sym typeface="Calibri"/>
            </a:endParaRPr>
          </a:p>
        </p:txBody>
      </p:sp>
      <p:sp>
        <p:nvSpPr>
          <p:cNvPr id="518" name="Google Shape;518;p20"/>
          <p:cNvSpPr/>
          <p:nvPr/>
        </p:nvSpPr>
        <p:spPr>
          <a:xfrm>
            <a:off x="502920" y="1828800"/>
            <a:ext cx="6784848" cy="4572000"/>
          </a:xfrm>
          <a:prstGeom prst="roundRect">
            <a:avLst>
              <a:gd fmla="val 2000"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502920" y="1828800"/>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667512" y="1929384"/>
            <a:ext cx="155448" cy="155448"/>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905256" y="1929384"/>
            <a:ext cx="155448" cy="15544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0"/>
          <p:cNvSpPr/>
          <p:nvPr/>
        </p:nvSpPr>
        <p:spPr>
          <a:xfrm>
            <a:off x="1143000" y="1929384"/>
            <a:ext cx="155448" cy="15544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1417320" y="1892808"/>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b="0" i="0" lang="en-US" sz="1050" u="none" cap="none" strike="noStrike">
                <a:solidFill>
                  <a:srgbClr val="9CA3AF"/>
                </a:solidFill>
                <a:latin typeface="Courier New"/>
                <a:ea typeface="Courier New"/>
                <a:cs typeface="Courier New"/>
                <a:sym typeface="Courier New"/>
              </a:rPr>
              <a:t>ConversationSessionService.java</a:t>
            </a:r>
            <a:endParaRPr b="0" i="0" sz="1050" u="none" cap="none" strike="noStrike">
              <a:solidFill>
                <a:schemeClr val="dk1"/>
              </a:solidFill>
              <a:latin typeface="Calibri"/>
              <a:ea typeface="Calibri"/>
              <a:cs typeface="Calibri"/>
              <a:sym typeface="Calibri"/>
            </a:endParaRPr>
          </a:p>
        </p:txBody>
      </p:sp>
      <p:sp>
        <p:nvSpPr>
          <p:cNvPr id="524" name="Google Shape;524;p20"/>
          <p:cNvSpPr/>
          <p:nvPr/>
        </p:nvSpPr>
        <p:spPr>
          <a:xfrm>
            <a:off x="704088" y="2286000"/>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b="0" i="0" lang="en-US" sz="1050" u="none" cap="none" strike="noStrike">
                <a:solidFill>
                  <a:srgbClr val="FED7AA"/>
                </a:solidFill>
                <a:latin typeface="Courier New"/>
                <a:ea typeface="Courier New"/>
                <a:cs typeface="Courier New"/>
                <a:sym typeface="Courier New"/>
              </a:rPr>
              <a:t>@Service</a:t>
            </a:r>
            <a:endParaRPr b="0" i="0" sz="1050" u="none" cap="none" strike="noStrike">
              <a:solidFill>
                <a:schemeClr val="dk1"/>
              </a:solidFill>
              <a:latin typeface="Calibri"/>
              <a:ea typeface="Calibri"/>
              <a:cs typeface="Calibri"/>
              <a:sym typeface="Calibri"/>
            </a:endParaRPr>
          </a:p>
        </p:txBody>
      </p:sp>
      <p:sp>
        <p:nvSpPr>
          <p:cNvPr id="525" name="Google Shape;525;p20"/>
          <p:cNvSpPr/>
          <p:nvPr/>
        </p:nvSpPr>
        <p:spPr>
          <a:xfrm>
            <a:off x="704088" y="2422550"/>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public class </a:t>
            </a:r>
            <a:r>
              <a:rPr b="0" i="0" lang="en-US" sz="1050" u="none" cap="none" strike="noStrike">
                <a:solidFill>
                  <a:srgbClr val="67E8F9"/>
                </a:solidFill>
                <a:latin typeface="Courier New"/>
                <a:ea typeface="Courier New"/>
                <a:cs typeface="Courier New"/>
                <a:sym typeface="Courier New"/>
              </a:rPr>
              <a:t>ConversationSessionService</a:t>
            </a: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26" name="Google Shape;526;p20"/>
          <p:cNvSpPr/>
          <p:nvPr/>
        </p:nvSpPr>
        <p:spPr>
          <a:xfrm>
            <a:off x="704088" y="2559101"/>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27" name="Google Shape;527;p20"/>
          <p:cNvSpPr/>
          <p:nvPr/>
        </p:nvSpPr>
        <p:spPr>
          <a:xfrm>
            <a:off x="704088" y="2695651"/>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private final </a:t>
            </a:r>
            <a:r>
              <a:rPr b="0" i="0" lang="en-US" sz="1050" u="none" cap="none" strike="noStrike">
                <a:solidFill>
                  <a:srgbClr val="67E8F9"/>
                </a:solidFill>
                <a:latin typeface="Courier New"/>
                <a:ea typeface="Courier New"/>
                <a:cs typeface="Courier New"/>
                <a:sym typeface="Courier New"/>
              </a:rPr>
              <a:t>OpenAIClient</a:t>
            </a:r>
            <a:r>
              <a:rPr b="0" i="0" lang="en-US" sz="1050" u="none" cap="none" strike="noStrike">
                <a:solidFill>
                  <a:srgbClr val="E5E7EB"/>
                </a:solidFill>
                <a:latin typeface="Courier New"/>
                <a:ea typeface="Courier New"/>
                <a:cs typeface="Courier New"/>
                <a:sym typeface="Courier New"/>
              </a:rPr>
              <a:t> client = </a:t>
            </a:r>
            <a:r>
              <a:rPr b="0" i="0" lang="en-US" sz="1050" u="none" cap="none" strike="noStrike">
                <a:solidFill>
                  <a:srgbClr val="67E8F9"/>
                </a:solidFill>
                <a:latin typeface="Courier New"/>
                <a:ea typeface="Courier New"/>
                <a:cs typeface="Courier New"/>
                <a:sym typeface="Courier New"/>
              </a:rPr>
              <a:t>OpenAIClient</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fromEnv</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28" name="Google Shape;528;p20"/>
          <p:cNvSpPr/>
          <p:nvPr/>
        </p:nvSpPr>
        <p:spPr>
          <a:xfrm>
            <a:off x="704088" y="2832202"/>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private static final int </a:t>
            </a:r>
            <a:r>
              <a:rPr b="0" i="0" lang="en-US" sz="1050" u="none" cap="none" strike="noStrike">
                <a:solidFill>
                  <a:srgbClr val="FCD34D"/>
                </a:solidFill>
                <a:latin typeface="Courier New"/>
                <a:ea typeface="Courier New"/>
                <a:cs typeface="Courier New"/>
                <a:sym typeface="Courier New"/>
              </a:rPr>
              <a:t>MAX_HISTORY = 20</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29" name="Google Shape;529;p20"/>
          <p:cNvSpPr/>
          <p:nvPr/>
        </p:nvSpPr>
        <p:spPr>
          <a:xfrm>
            <a:off x="704088" y="2968752"/>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30" name="Google Shape;530;p20"/>
          <p:cNvSpPr/>
          <p:nvPr/>
        </p:nvSpPr>
        <p:spPr>
          <a:xfrm>
            <a:off x="704088" y="3105302"/>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 Session store: sessionId -&gt; message history</a:t>
            </a:r>
            <a:endParaRPr b="0" i="0" sz="1050" u="none" cap="none" strike="noStrike">
              <a:solidFill>
                <a:schemeClr val="dk1"/>
              </a:solidFill>
              <a:latin typeface="Calibri"/>
              <a:ea typeface="Calibri"/>
              <a:cs typeface="Calibri"/>
              <a:sym typeface="Calibri"/>
            </a:endParaRPr>
          </a:p>
        </p:txBody>
      </p:sp>
      <p:sp>
        <p:nvSpPr>
          <p:cNvPr id="531" name="Google Shape;531;p20"/>
          <p:cNvSpPr/>
          <p:nvPr/>
        </p:nvSpPr>
        <p:spPr>
          <a:xfrm>
            <a:off x="704088" y="3241853"/>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private final </a:t>
            </a:r>
            <a:r>
              <a:rPr b="0" i="0" lang="en-US" sz="1050" u="none" cap="none" strike="noStrike">
                <a:solidFill>
                  <a:srgbClr val="67E8F9"/>
                </a:solidFill>
                <a:latin typeface="Courier New"/>
                <a:ea typeface="Courier New"/>
                <a:cs typeface="Courier New"/>
                <a:sym typeface="Courier New"/>
              </a:rPr>
              <a:t>Map&lt;String, List&lt;ChatCompletionMessageParam</a:t>
            </a:r>
            <a:r>
              <a:rPr b="0" i="0" lang="en-US" sz="1050" u="none" cap="none" strike="noStrike">
                <a:solidFill>
                  <a:srgbClr val="E5E7EB"/>
                </a:solidFill>
                <a:latin typeface="Courier New"/>
                <a:ea typeface="Courier New"/>
                <a:cs typeface="Courier New"/>
                <a:sym typeface="Courier New"/>
              </a:rPr>
              <a:t>&gt;&gt;</a:t>
            </a:r>
            <a:endParaRPr b="0" i="0" sz="1050" u="none" cap="none" strike="noStrike">
              <a:solidFill>
                <a:schemeClr val="dk1"/>
              </a:solidFill>
              <a:latin typeface="Calibri"/>
              <a:ea typeface="Calibri"/>
              <a:cs typeface="Calibri"/>
              <a:sym typeface="Calibri"/>
            </a:endParaRPr>
          </a:p>
        </p:txBody>
      </p:sp>
      <p:sp>
        <p:nvSpPr>
          <p:cNvPr id="532" name="Google Shape;532;p20"/>
          <p:cNvSpPr/>
          <p:nvPr/>
        </p:nvSpPr>
        <p:spPr>
          <a:xfrm>
            <a:off x="704088" y="3378403"/>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sessions = </a:t>
            </a:r>
            <a:r>
              <a:rPr b="0" i="0" lang="en-US" sz="1050" u="none" cap="none" strike="noStrike">
                <a:solidFill>
                  <a:srgbClr val="C4B5FD"/>
                </a:solidFill>
                <a:latin typeface="Courier New"/>
                <a:ea typeface="Courier New"/>
                <a:cs typeface="Courier New"/>
                <a:sym typeface="Courier New"/>
              </a:rPr>
              <a:t>new </a:t>
            </a:r>
            <a:r>
              <a:rPr b="0" i="0" lang="en-US" sz="1050" u="none" cap="none" strike="noStrike">
                <a:solidFill>
                  <a:srgbClr val="67E8F9"/>
                </a:solidFill>
                <a:latin typeface="Courier New"/>
                <a:ea typeface="Courier New"/>
                <a:cs typeface="Courier New"/>
                <a:sym typeface="Courier New"/>
              </a:rPr>
              <a:t>ConcurrentHashMap</a:t>
            </a:r>
            <a:r>
              <a:rPr b="0" i="0" lang="en-US" sz="1050" u="none" cap="none" strike="noStrike">
                <a:solidFill>
                  <a:srgbClr val="E5E7EB"/>
                </a:solidFill>
                <a:latin typeface="Courier New"/>
                <a:ea typeface="Courier New"/>
                <a:cs typeface="Courier New"/>
                <a:sym typeface="Courier New"/>
              </a:rPr>
              <a:t>&lt;&gt;();</a:t>
            </a:r>
            <a:endParaRPr b="0" i="0" sz="1050" u="none" cap="none" strike="noStrike">
              <a:solidFill>
                <a:schemeClr val="dk1"/>
              </a:solidFill>
              <a:latin typeface="Calibri"/>
              <a:ea typeface="Calibri"/>
              <a:cs typeface="Calibri"/>
              <a:sym typeface="Calibri"/>
            </a:endParaRPr>
          </a:p>
        </p:txBody>
      </p:sp>
      <p:sp>
        <p:nvSpPr>
          <p:cNvPr id="533" name="Google Shape;533;p20"/>
          <p:cNvSpPr/>
          <p:nvPr/>
        </p:nvSpPr>
        <p:spPr>
          <a:xfrm>
            <a:off x="704088" y="3514954"/>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34" name="Google Shape;534;p20"/>
          <p:cNvSpPr/>
          <p:nvPr/>
        </p:nvSpPr>
        <p:spPr>
          <a:xfrm>
            <a:off x="704088" y="3651504"/>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public String </a:t>
            </a:r>
            <a:r>
              <a:rPr b="0" i="0" lang="en-US" sz="1050" u="none" cap="none" strike="noStrike">
                <a:solidFill>
                  <a:srgbClr val="FDA4AF"/>
                </a:solidFill>
                <a:latin typeface="Courier New"/>
                <a:ea typeface="Courier New"/>
                <a:cs typeface="Courier New"/>
                <a:sym typeface="Courier New"/>
              </a:rPr>
              <a:t>chat</a:t>
            </a:r>
            <a:r>
              <a:rPr b="0" i="0" lang="en-US" sz="1050" u="none" cap="none" strike="noStrike">
                <a:solidFill>
                  <a:srgbClr val="E5E7EB"/>
                </a:solidFill>
                <a:latin typeface="Courier New"/>
                <a:ea typeface="Courier New"/>
                <a:cs typeface="Courier New"/>
                <a:sym typeface="Courier New"/>
              </a:rPr>
              <a:t>(String sessionId, String userMessage) {</a:t>
            </a:r>
            <a:endParaRPr b="0" i="0" sz="1050" u="none" cap="none" strike="noStrike">
              <a:solidFill>
                <a:schemeClr val="dk1"/>
              </a:solidFill>
              <a:latin typeface="Calibri"/>
              <a:ea typeface="Calibri"/>
              <a:cs typeface="Calibri"/>
              <a:sym typeface="Calibri"/>
            </a:endParaRPr>
          </a:p>
        </p:txBody>
      </p:sp>
      <p:sp>
        <p:nvSpPr>
          <p:cNvPr id="535" name="Google Shape;535;p20"/>
          <p:cNvSpPr/>
          <p:nvPr/>
        </p:nvSpPr>
        <p:spPr>
          <a:xfrm>
            <a:off x="704088" y="3788054"/>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36" name="Google Shape;536;p20"/>
          <p:cNvSpPr/>
          <p:nvPr/>
        </p:nvSpPr>
        <p:spPr>
          <a:xfrm>
            <a:off x="704088" y="3924605"/>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 Get or create history for this session</a:t>
            </a:r>
            <a:endParaRPr b="0" i="0" sz="1050" u="none" cap="none" strike="noStrike">
              <a:solidFill>
                <a:schemeClr val="dk1"/>
              </a:solidFill>
              <a:latin typeface="Calibri"/>
              <a:ea typeface="Calibri"/>
              <a:cs typeface="Calibri"/>
              <a:sym typeface="Calibri"/>
            </a:endParaRPr>
          </a:p>
        </p:txBody>
      </p:sp>
      <p:sp>
        <p:nvSpPr>
          <p:cNvPr id="537" name="Google Shape;537;p20"/>
          <p:cNvSpPr/>
          <p:nvPr/>
        </p:nvSpPr>
        <p:spPr>
          <a:xfrm>
            <a:off x="704088" y="4061155"/>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var </a:t>
            </a:r>
            <a:r>
              <a:rPr b="0" i="0" lang="en-US" sz="1050" u="none" cap="none" strike="noStrike">
                <a:solidFill>
                  <a:srgbClr val="E5E7EB"/>
                </a:solidFill>
                <a:latin typeface="Courier New"/>
                <a:ea typeface="Courier New"/>
                <a:cs typeface="Courier New"/>
                <a:sym typeface="Courier New"/>
              </a:rPr>
              <a:t>history = sessions.</a:t>
            </a:r>
            <a:r>
              <a:rPr b="0" i="0" lang="en-US" sz="1050" u="none" cap="none" strike="noStrike">
                <a:solidFill>
                  <a:srgbClr val="FDA4AF"/>
                </a:solidFill>
                <a:latin typeface="Courier New"/>
                <a:ea typeface="Courier New"/>
                <a:cs typeface="Courier New"/>
                <a:sym typeface="Courier New"/>
              </a:rPr>
              <a:t>computeIfAbsent</a:t>
            </a:r>
            <a:r>
              <a:rPr b="0" i="0" lang="en-US" sz="1050" u="none" cap="none" strike="noStrike">
                <a:solidFill>
                  <a:srgbClr val="E5E7EB"/>
                </a:solidFill>
                <a:latin typeface="Courier New"/>
                <a:ea typeface="Courier New"/>
                <a:cs typeface="Courier New"/>
                <a:sym typeface="Courier New"/>
              </a:rPr>
              <a:t>(sessionId, id -&gt; {</a:t>
            </a:r>
            <a:endParaRPr b="0" i="0" sz="1050" u="none" cap="none" strike="noStrike">
              <a:solidFill>
                <a:schemeClr val="dk1"/>
              </a:solidFill>
              <a:latin typeface="Calibri"/>
              <a:ea typeface="Calibri"/>
              <a:cs typeface="Calibri"/>
              <a:sym typeface="Calibri"/>
            </a:endParaRPr>
          </a:p>
        </p:txBody>
      </p:sp>
      <p:sp>
        <p:nvSpPr>
          <p:cNvPr id="538" name="Google Shape;538;p20"/>
          <p:cNvSpPr/>
          <p:nvPr/>
        </p:nvSpPr>
        <p:spPr>
          <a:xfrm>
            <a:off x="704088" y="4197706"/>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var </a:t>
            </a:r>
            <a:r>
              <a:rPr b="0" i="0" lang="en-US" sz="1050" u="none" cap="none" strike="noStrike">
                <a:solidFill>
                  <a:srgbClr val="E5E7EB"/>
                </a:solidFill>
                <a:latin typeface="Courier New"/>
                <a:ea typeface="Courier New"/>
                <a:cs typeface="Courier New"/>
                <a:sym typeface="Courier New"/>
              </a:rPr>
              <a:t>h</a:t>
            </a:r>
            <a:r>
              <a:rPr b="0" i="0" lang="en-US" sz="1050" u="none" cap="none" strike="noStrike">
                <a:solidFill>
                  <a:srgbClr val="C4B5FD"/>
                </a:solidFill>
                <a:latin typeface="Courier New"/>
                <a:ea typeface="Courier New"/>
                <a:cs typeface="Courier New"/>
                <a:sym typeface="Courier New"/>
              </a:rPr>
              <a:t> = new </a:t>
            </a:r>
            <a:r>
              <a:rPr b="0" i="0" lang="en-US" sz="1050" u="none" cap="none" strike="noStrike">
                <a:solidFill>
                  <a:srgbClr val="67E8F9"/>
                </a:solidFill>
                <a:latin typeface="Courier New"/>
                <a:ea typeface="Courier New"/>
                <a:cs typeface="Courier New"/>
                <a:sym typeface="Courier New"/>
              </a:rPr>
              <a:t>ArrayList</a:t>
            </a:r>
            <a:r>
              <a:rPr b="0" i="0" lang="en-US" sz="1050" u="none" cap="none" strike="noStrike">
                <a:solidFill>
                  <a:srgbClr val="E5E7EB"/>
                </a:solidFill>
                <a:latin typeface="Courier New"/>
                <a:ea typeface="Courier New"/>
                <a:cs typeface="Courier New"/>
                <a:sym typeface="Courier New"/>
              </a:rPr>
              <a:t>&lt;</a:t>
            </a:r>
            <a:r>
              <a:rPr b="0" i="0" lang="en-US" sz="1050" u="none" cap="none" strike="noStrike">
                <a:solidFill>
                  <a:srgbClr val="67E8F9"/>
                </a:solidFill>
                <a:latin typeface="Courier New"/>
                <a:ea typeface="Courier New"/>
                <a:cs typeface="Courier New"/>
                <a:sym typeface="Courier New"/>
              </a:rPr>
              <a:t>ChatCompletionMessageParam</a:t>
            </a:r>
            <a:r>
              <a:rPr b="0" i="0" lang="en-US" sz="1050" u="none" cap="none" strike="noStrike">
                <a:solidFill>
                  <a:srgbClr val="E5E7EB"/>
                </a:solidFill>
                <a:latin typeface="Courier New"/>
                <a:ea typeface="Courier New"/>
                <a:cs typeface="Courier New"/>
                <a:sym typeface="Courier New"/>
              </a:rPr>
              <a:t>&gt;();</a:t>
            </a:r>
            <a:endParaRPr b="0" i="0" sz="1050" u="none" cap="none" strike="noStrike">
              <a:solidFill>
                <a:schemeClr val="dk1"/>
              </a:solidFill>
              <a:latin typeface="Calibri"/>
              <a:ea typeface="Calibri"/>
              <a:cs typeface="Calibri"/>
              <a:sym typeface="Calibri"/>
            </a:endParaRPr>
          </a:p>
        </p:txBody>
      </p:sp>
      <p:sp>
        <p:nvSpPr>
          <p:cNvPr id="539" name="Google Shape;539;p20"/>
          <p:cNvSpPr/>
          <p:nvPr/>
        </p:nvSpPr>
        <p:spPr>
          <a:xfrm>
            <a:off x="704088" y="4334256"/>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h.</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ofSystem</a:t>
            </a:r>
            <a:r>
              <a:rPr b="0" i="0" lang="en-US" sz="1050" u="none" cap="none" strike="noStrike">
                <a:solidFill>
                  <a:srgbClr val="E5E7EB"/>
                </a:solidFill>
                <a:latin typeface="Courier New"/>
                <a:ea typeface="Courier New"/>
                <a:cs typeface="Courier New"/>
                <a:sym typeface="Courier New"/>
              </a:rPr>
              <a:t>(SYSTEM_PROMPT));</a:t>
            </a:r>
            <a:endParaRPr b="0" i="0" sz="1050" u="none" cap="none" strike="noStrike">
              <a:solidFill>
                <a:schemeClr val="dk1"/>
              </a:solidFill>
              <a:latin typeface="Calibri"/>
              <a:ea typeface="Calibri"/>
              <a:cs typeface="Calibri"/>
              <a:sym typeface="Calibri"/>
            </a:endParaRPr>
          </a:p>
        </p:txBody>
      </p:sp>
      <p:sp>
        <p:nvSpPr>
          <p:cNvPr id="540" name="Google Shape;540;p20"/>
          <p:cNvSpPr/>
          <p:nvPr/>
        </p:nvSpPr>
        <p:spPr>
          <a:xfrm>
            <a:off x="704088" y="4470806"/>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return </a:t>
            </a:r>
            <a:r>
              <a:rPr b="0" i="0" lang="en-US" sz="1050" u="none" cap="none" strike="noStrike">
                <a:solidFill>
                  <a:srgbClr val="E5E7EB"/>
                </a:solidFill>
                <a:latin typeface="Courier New"/>
                <a:ea typeface="Courier New"/>
                <a:cs typeface="Courier New"/>
                <a:sym typeface="Courier New"/>
              </a:rPr>
              <a:t>h;</a:t>
            </a:r>
            <a:endParaRPr b="0" i="0" sz="1050" u="none" cap="none" strike="noStrike">
              <a:solidFill>
                <a:schemeClr val="dk1"/>
              </a:solidFill>
              <a:latin typeface="Calibri"/>
              <a:ea typeface="Calibri"/>
              <a:cs typeface="Calibri"/>
              <a:sym typeface="Calibri"/>
            </a:endParaRPr>
          </a:p>
        </p:txBody>
      </p:sp>
      <p:sp>
        <p:nvSpPr>
          <p:cNvPr id="541" name="Google Shape;541;p20"/>
          <p:cNvSpPr/>
          <p:nvPr/>
        </p:nvSpPr>
        <p:spPr>
          <a:xfrm>
            <a:off x="704088" y="4607357"/>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42" name="Google Shape;542;p20"/>
          <p:cNvSpPr/>
          <p:nvPr/>
        </p:nvSpPr>
        <p:spPr>
          <a:xfrm>
            <a:off x="704088" y="4743907"/>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43" name="Google Shape;543;p20"/>
          <p:cNvSpPr/>
          <p:nvPr/>
        </p:nvSpPr>
        <p:spPr>
          <a:xfrm>
            <a:off x="704088" y="4880458"/>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history.</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ofUser</a:t>
            </a:r>
            <a:r>
              <a:rPr b="0" i="0" lang="en-US" sz="1050" u="none" cap="none" strike="noStrike">
                <a:solidFill>
                  <a:srgbClr val="E5E7EB"/>
                </a:solidFill>
                <a:latin typeface="Courier New"/>
                <a:ea typeface="Courier New"/>
                <a:cs typeface="Courier New"/>
                <a:sym typeface="Courier New"/>
              </a:rPr>
              <a:t>(userMessage));</a:t>
            </a:r>
            <a:endParaRPr b="0" i="0" sz="1050" u="none" cap="none" strike="noStrike">
              <a:solidFill>
                <a:schemeClr val="dk1"/>
              </a:solidFill>
              <a:latin typeface="Calibri"/>
              <a:ea typeface="Calibri"/>
              <a:cs typeface="Calibri"/>
              <a:sym typeface="Calibri"/>
            </a:endParaRPr>
          </a:p>
        </p:txBody>
      </p:sp>
      <p:sp>
        <p:nvSpPr>
          <p:cNvPr id="544" name="Google Shape;544;p20"/>
          <p:cNvSpPr/>
          <p:nvPr/>
        </p:nvSpPr>
        <p:spPr>
          <a:xfrm>
            <a:off x="704088" y="5017008"/>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enforceLimit(history);  // sliding window</a:t>
            </a:r>
            <a:endParaRPr b="0" i="0" sz="1050" u="none" cap="none" strike="noStrike">
              <a:solidFill>
                <a:schemeClr val="dk1"/>
              </a:solidFill>
              <a:latin typeface="Calibri"/>
              <a:ea typeface="Calibri"/>
              <a:cs typeface="Calibri"/>
              <a:sym typeface="Calibri"/>
            </a:endParaRPr>
          </a:p>
        </p:txBody>
      </p:sp>
      <p:sp>
        <p:nvSpPr>
          <p:cNvPr id="545" name="Google Shape;545;p20"/>
          <p:cNvSpPr/>
          <p:nvPr/>
        </p:nvSpPr>
        <p:spPr>
          <a:xfrm>
            <a:off x="704088" y="5153558"/>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46" name="Google Shape;546;p20"/>
          <p:cNvSpPr/>
          <p:nvPr/>
        </p:nvSpPr>
        <p:spPr>
          <a:xfrm>
            <a:off x="704088" y="5290109"/>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var </a:t>
            </a:r>
            <a:r>
              <a:rPr b="0" i="0" lang="en-US" sz="1050" u="none" cap="none" strike="noStrike">
                <a:solidFill>
                  <a:srgbClr val="E5E7EB"/>
                </a:solidFill>
                <a:latin typeface="Courier New"/>
                <a:ea typeface="Courier New"/>
                <a:cs typeface="Courier New"/>
                <a:sym typeface="Courier New"/>
              </a:rPr>
              <a:t>resp = client.</a:t>
            </a:r>
            <a:r>
              <a:rPr b="0" i="0" lang="en-US" sz="1050" u="none" cap="none" strike="noStrike">
                <a:solidFill>
                  <a:srgbClr val="FDA4AF"/>
                </a:solidFill>
                <a:latin typeface="Courier New"/>
                <a:ea typeface="Courier New"/>
                <a:cs typeface="Courier New"/>
                <a:sym typeface="Courier New"/>
              </a:rPr>
              <a:t>chat</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completions</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create</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47" name="Google Shape;547;p20"/>
          <p:cNvSpPr/>
          <p:nvPr/>
        </p:nvSpPr>
        <p:spPr>
          <a:xfrm>
            <a:off x="704088" y="5426659"/>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builder().</a:t>
            </a:r>
            <a:r>
              <a:rPr b="0" i="0" lang="en-US" sz="1050" u="none" cap="none" strike="noStrike">
                <a:solidFill>
                  <a:srgbClr val="FDA4AF"/>
                </a:solidFill>
                <a:latin typeface="Courier New"/>
                <a:ea typeface="Courier New"/>
                <a:cs typeface="Courier New"/>
                <a:sym typeface="Courier New"/>
              </a:rPr>
              <a:t>model</a:t>
            </a:r>
            <a:r>
              <a:rPr b="0" i="0" lang="en-US" sz="1050" u="none" cap="none" strike="noStrike">
                <a:solidFill>
                  <a:srgbClr val="E5E7EB"/>
                </a:solidFill>
                <a:latin typeface="Courier New"/>
                <a:ea typeface="Courier New"/>
                <a:cs typeface="Courier New"/>
                <a:sym typeface="Courier New"/>
              </a:rPr>
              <a:t>(GPT_4O_MINI).</a:t>
            </a:r>
            <a:r>
              <a:rPr b="0" i="0" lang="en-US" sz="1050" u="none" cap="none" strike="noStrike">
                <a:solidFill>
                  <a:srgbClr val="FDA4AF"/>
                </a:solidFill>
                <a:latin typeface="Courier New"/>
                <a:ea typeface="Courier New"/>
                <a:cs typeface="Courier New"/>
                <a:sym typeface="Courier New"/>
              </a:rPr>
              <a:t>messages</a:t>
            </a:r>
            <a:r>
              <a:rPr b="0" i="0" lang="en-US" sz="1050" u="none" cap="none" strike="noStrike">
                <a:solidFill>
                  <a:srgbClr val="E5E7EB"/>
                </a:solidFill>
                <a:latin typeface="Courier New"/>
                <a:ea typeface="Courier New"/>
                <a:cs typeface="Courier New"/>
                <a:sym typeface="Courier New"/>
              </a:rPr>
              <a:t>(history).</a:t>
            </a:r>
            <a:r>
              <a:rPr b="0" i="0" lang="en-US" sz="1050" u="none" cap="none" strike="noStrike">
                <a:solidFill>
                  <a:srgbClr val="FDA4AF"/>
                </a:solidFill>
                <a:latin typeface="Courier New"/>
                <a:ea typeface="Courier New"/>
                <a:cs typeface="Courier New"/>
                <a:sym typeface="Courier New"/>
              </a:rPr>
              <a:t>build</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48" name="Google Shape;548;p20"/>
          <p:cNvSpPr/>
          <p:nvPr/>
        </p:nvSpPr>
        <p:spPr>
          <a:xfrm>
            <a:off x="704088" y="5563210"/>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49" name="Google Shape;549;p20"/>
          <p:cNvSpPr/>
          <p:nvPr/>
        </p:nvSpPr>
        <p:spPr>
          <a:xfrm>
            <a:off x="704088" y="5699760"/>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String </a:t>
            </a:r>
            <a:r>
              <a:rPr b="0" i="0" lang="en-US" sz="1050" u="none" cap="none" strike="noStrike">
                <a:solidFill>
                  <a:srgbClr val="E5E7EB"/>
                </a:solidFill>
                <a:latin typeface="Courier New"/>
                <a:ea typeface="Courier New"/>
                <a:cs typeface="Courier New"/>
                <a:sym typeface="Courier New"/>
              </a:rPr>
              <a:t>reply = resp.</a:t>
            </a:r>
            <a:r>
              <a:rPr b="0" i="0" lang="en-US" sz="1050" u="none" cap="none" strike="noStrike">
                <a:solidFill>
                  <a:srgbClr val="FDA4AF"/>
                </a:solidFill>
                <a:latin typeface="Courier New"/>
                <a:ea typeface="Courier New"/>
                <a:cs typeface="Courier New"/>
                <a:sym typeface="Courier New"/>
              </a:rPr>
              <a:t>choices</a:t>
            </a:r>
            <a:r>
              <a:rPr b="0" i="0" lang="en-US" sz="1050" u="none" cap="none" strike="noStrike">
                <a:solidFill>
                  <a:srgbClr val="E5E7EB"/>
                </a:solidFill>
                <a:latin typeface="Courier New"/>
                <a:ea typeface="Courier New"/>
                <a:cs typeface="Courier New"/>
                <a:sym typeface="Courier New"/>
              </a:rPr>
              <a:t>().get(0).</a:t>
            </a:r>
            <a:r>
              <a:rPr b="0" i="0" lang="en-US" sz="1050" u="none" cap="none" strike="noStrike">
                <a:solidFill>
                  <a:srgbClr val="FDA4AF"/>
                </a:solidFill>
                <a:latin typeface="Courier New"/>
                <a:ea typeface="Courier New"/>
                <a:cs typeface="Courier New"/>
                <a:sym typeface="Courier New"/>
              </a:rPr>
              <a:t>message</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content</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orElse</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50" name="Google Shape;550;p20"/>
          <p:cNvSpPr/>
          <p:nvPr/>
        </p:nvSpPr>
        <p:spPr>
          <a:xfrm>
            <a:off x="704088" y="5836310"/>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history.</a:t>
            </a:r>
            <a:r>
              <a:rPr b="0" i="0" lang="en-US" sz="1050" u="none" cap="none" strike="noStrike">
                <a:solidFill>
                  <a:srgbClr val="FDA4AF"/>
                </a:solidFill>
                <a:latin typeface="Courier New"/>
                <a:ea typeface="Courier New"/>
                <a:cs typeface="Courier New"/>
                <a:sym typeface="Courier New"/>
              </a:rPr>
              <a:t>add</a:t>
            </a:r>
            <a:r>
              <a:rPr b="0" i="0" lang="en-US" sz="1050" u="none" cap="none" strike="noStrike">
                <a:solidFill>
                  <a:srgbClr val="E5E7EB"/>
                </a:solidFill>
                <a:latin typeface="Courier New"/>
                <a:ea typeface="Courier New"/>
                <a:cs typeface="Courier New"/>
                <a:sym typeface="Courier New"/>
              </a:rPr>
              <a:t>(</a:t>
            </a:r>
            <a:r>
              <a:rPr b="0" i="0" lang="en-US" sz="1050" u="none" cap="none" strike="noStrike">
                <a:solidFill>
                  <a:srgbClr val="FDA4AF"/>
                </a:solidFill>
                <a:latin typeface="Courier New"/>
                <a:ea typeface="Courier New"/>
                <a:cs typeface="Courier New"/>
                <a:sym typeface="Courier New"/>
              </a:rPr>
              <a:t>ofAssistant</a:t>
            </a:r>
            <a:r>
              <a:rPr b="0" i="0" lang="en-US" sz="1050" u="none" cap="none" strike="noStrike">
                <a:solidFill>
                  <a:srgbClr val="E5E7EB"/>
                </a:solidFill>
                <a:latin typeface="Courier New"/>
                <a:ea typeface="Courier New"/>
                <a:cs typeface="Courier New"/>
                <a:sym typeface="Courier New"/>
              </a:rPr>
              <a:t>(reply));</a:t>
            </a:r>
            <a:endParaRPr b="0" i="0" sz="1050" u="none" cap="none" strike="noStrike">
              <a:solidFill>
                <a:schemeClr val="dk1"/>
              </a:solidFill>
              <a:latin typeface="Calibri"/>
              <a:ea typeface="Calibri"/>
              <a:cs typeface="Calibri"/>
              <a:sym typeface="Calibri"/>
            </a:endParaRPr>
          </a:p>
        </p:txBody>
      </p:sp>
      <p:sp>
        <p:nvSpPr>
          <p:cNvPr id="551" name="Google Shape;551;p20"/>
          <p:cNvSpPr/>
          <p:nvPr/>
        </p:nvSpPr>
        <p:spPr>
          <a:xfrm>
            <a:off x="704088" y="5972861"/>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return </a:t>
            </a:r>
            <a:r>
              <a:rPr b="0" i="0" lang="en-US" sz="1050" u="none" cap="none" strike="noStrike">
                <a:solidFill>
                  <a:srgbClr val="E5E7EB"/>
                </a:solidFill>
                <a:latin typeface="Courier New"/>
                <a:ea typeface="Courier New"/>
                <a:cs typeface="Courier New"/>
                <a:sym typeface="Courier New"/>
              </a:rPr>
              <a:t>reply;</a:t>
            </a:r>
            <a:endParaRPr b="0" i="0" sz="1050" u="none" cap="none" strike="noStrike">
              <a:solidFill>
                <a:schemeClr val="dk1"/>
              </a:solidFill>
              <a:latin typeface="Calibri"/>
              <a:ea typeface="Calibri"/>
              <a:cs typeface="Calibri"/>
              <a:sym typeface="Calibri"/>
            </a:endParaRPr>
          </a:p>
        </p:txBody>
      </p:sp>
      <p:sp>
        <p:nvSpPr>
          <p:cNvPr id="552" name="Google Shape;552;p20"/>
          <p:cNvSpPr/>
          <p:nvPr/>
        </p:nvSpPr>
        <p:spPr>
          <a:xfrm>
            <a:off x="704088" y="6109411"/>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53" name="Google Shape;553;p20"/>
          <p:cNvSpPr/>
          <p:nvPr/>
        </p:nvSpPr>
        <p:spPr>
          <a:xfrm>
            <a:off x="704088" y="6245962"/>
            <a:ext cx="6464808" cy="136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54" name="Google Shape;554;p20"/>
          <p:cNvSpPr/>
          <p:nvPr/>
        </p:nvSpPr>
        <p:spPr>
          <a:xfrm>
            <a:off x="7406640" y="2724912"/>
            <a:ext cx="4572000" cy="457200"/>
          </a:xfrm>
          <a:prstGeom prst="roundRect">
            <a:avLst>
              <a:gd fmla="val 14000" name="adj"/>
            </a:avLst>
          </a:prstGeom>
          <a:solidFill>
            <a:srgbClr val="F8FAFC"/>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0"/>
          <p:cNvSpPr/>
          <p:nvPr/>
        </p:nvSpPr>
        <p:spPr>
          <a:xfrm>
            <a:off x="7552944" y="2798064"/>
            <a:ext cx="4251960" cy="31089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  computeIfAbsent creates new history only on first call</a:t>
            </a:r>
            <a:endParaRPr b="0" i="0" sz="1100" u="none" cap="none" strike="noStrike">
              <a:solidFill>
                <a:schemeClr val="dk1"/>
              </a:solidFill>
              <a:latin typeface="Calibri"/>
              <a:ea typeface="Calibri"/>
              <a:cs typeface="Calibri"/>
              <a:sym typeface="Calibri"/>
            </a:endParaRPr>
          </a:p>
        </p:txBody>
      </p:sp>
      <p:sp>
        <p:nvSpPr>
          <p:cNvPr id="556" name="Google Shape;556;p20"/>
          <p:cNvSpPr/>
          <p:nvPr/>
        </p:nvSpPr>
        <p:spPr>
          <a:xfrm>
            <a:off x="7406640" y="3977640"/>
            <a:ext cx="4572000" cy="457200"/>
          </a:xfrm>
          <a:prstGeom prst="roundRect">
            <a:avLst>
              <a:gd fmla="val 14000"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0"/>
          <p:cNvSpPr/>
          <p:nvPr/>
        </p:nvSpPr>
        <p:spPr>
          <a:xfrm>
            <a:off x="7552944" y="4050792"/>
            <a:ext cx="4251960" cy="31089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  System msg added once inside the factory — never duplicated</a:t>
            </a:r>
            <a:endParaRPr b="0" i="0" sz="1100" u="none" cap="none" strike="noStrike">
              <a:solidFill>
                <a:schemeClr val="dk1"/>
              </a:solidFill>
              <a:latin typeface="Calibri"/>
              <a:ea typeface="Calibri"/>
              <a:cs typeface="Calibri"/>
              <a:sym typeface="Calibri"/>
            </a:endParaRPr>
          </a:p>
        </p:txBody>
      </p:sp>
      <p:sp>
        <p:nvSpPr>
          <p:cNvPr id="558" name="Google Shape;558;p20"/>
          <p:cNvSpPr/>
          <p:nvPr/>
        </p:nvSpPr>
        <p:spPr>
          <a:xfrm>
            <a:off x="7406640" y="5230368"/>
            <a:ext cx="4572000" cy="457200"/>
          </a:xfrm>
          <a:prstGeom prst="roundRect">
            <a:avLst>
              <a:gd fmla="val 14000"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0"/>
          <p:cNvSpPr/>
          <p:nvPr/>
        </p:nvSpPr>
        <p:spPr>
          <a:xfrm>
            <a:off x="7552944" y="5303520"/>
            <a:ext cx="4251960" cy="310896"/>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  enforceLimit is your sliding window or summarisation hook</a:t>
            </a:r>
            <a:endParaRPr b="0" i="0" sz="1100" u="none" cap="none" strike="noStrike">
              <a:solidFill>
                <a:schemeClr val="dk1"/>
              </a:solidFill>
              <a:latin typeface="Calibri"/>
              <a:ea typeface="Calibri"/>
              <a:cs typeface="Calibri"/>
              <a:sym typeface="Calibri"/>
            </a:endParaRPr>
          </a:p>
        </p:txBody>
      </p:sp>
      <p:sp>
        <p:nvSpPr>
          <p:cNvPr id="560" name="Google Shape;560;p20"/>
          <p:cNvSpPr/>
          <p:nvPr/>
        </p:nvSpPr>
        <p:spPr>
          <a:xfrm>
            <a:off x="7406640" y="5897880"/>
            <a:ext cx="4572000" cy="1353312"/>
          </a:xfrm>
          <a:prstGeom prst="roundRect">
            <a:avLst>
              <a:gd fmla="val 6081"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0"/>
          <p:cNvSpPr/>
          <p:nvPr/>
        </p:nvSpPr>
        <p:spPr>
          <a:xfrm>
            <a:off x="7571232" y="6016752"/>
            <a:ext cx="42976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Redis upgrade path</a:t>
            </a:r>
            <a:endParaRPr b="0" i="0" sz="1300" u="none" cap="none" strike="noStrike">
              <a:solidFill>
                <a:schemeClr val="dk1"/>
              </a:solidFill>
              <a:latin typeface="Calibri"/>
              <a:ea typeface="Calibri"/>
              <a:cs typeface="Calibri"/>
              <a:sym typeface="Calibri"/>
            </a:endParaRPr>
          </a:p>
        </p:txBody>
      </p:sp>
      <p:sp>
        <p:nvSpPr>
          <p:cNvPr id="562" name="Google Shape;562;p20"/>
          <p:cNvSpPr/>
          <p:nvPr/>
        </p:nvSpPr>
        <p:spPr>
          <a:xfrm>
            <a:off x="7571232" y="6355080"/>
            <a:ext cx="4297680" cy="8046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 Swap this one line:</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Map&lt;..&gt; sessions = new ConcurrentHashMap&lt;&gt;();</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 For:</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@Autowired RedisTemplate&lt;String,List&lt;Msg&gt;&gt; redis;</a:t>
            </a:r>
            <a:endParaRPr b="0" i="0" sz="10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050"/>
              <a:buFont typeface="Courier New"/>
              <a:buNone/>
            </a:pPr>
            <a:r>
              <a:rPr b="0" i="0" lang="en-US" sz="1050" u="none" cap="none" strike="noStrike">
                <a:solidFill>
                  <a:srgbClr val="475569"/>
                </a:solidFill>
                <a:latin typeface="Courier New"/>
                <a:ea typeface="Courier New"/>
                <a:cs typeface="Courier New"/>
                <a:sym typeface="Courier New"/>
              </a:rPr>
              <a:t>// Everything else stays the same.</a:t>
            </a:r>
            <a:endParaRPr b="0" i="0" sz="1050" u="none" cap="none" strike="noStrike">
              <a:solidFill>
                <a:schemeClr val="dk1"/>
              </a:solidFill>
              <a:latin typeface="Calibri"/>
              <a:ea typeface="Calibri"/>
              <a:cs typeface="Calibri"/>
              <a:sym typeface="Calibri"/>
            </a:endParaRPr>
          </a:p>
        </p:txBody>
      </p:sp>
      <p:sp>
        <p:nvSpPr>
          <p:cNvPr id="563" name="Google Shape;563;p20"/>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565" name="Google Shape;565;p2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21"/>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SECTION 5 · SPRING BOOT — CONTROLLER + STREAMING WIRING</a:t>
            </a:r>
            <a:endParaRPr b="0" i="0" sz="1200" u="none" cap="none" strike="noStrike">
              <a:solidFill>
                <a:schemeClr val="dk1"/>
              </a:solidFill>
              <a:latin typeface="Calibri"/>
              <a:ea typeface="Calibri"/>
              <a:cs typeface="Calibri"/>
              <a:sym typeface="Calibri"/>
            </a:endParaRPr>
          </a:p>
        </p:txBody>
      </p:sp>
      <p:sp>
        <p:nvSpPr>
          <p:cNvPr id="572" name="Google Shape;572;p21"/>
          <p:cNvSpPr/>
          <p:nvPr/>
        </p:nvSpPr>
        <p:spPr>
          <a:xfrm>
            <a:off x="685800" y="749808"/>
            <a:ext cx="10789920" cy="80467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Wire the session service to the REST controller</a:t>
            </a:r>
            <a:endParaRPr b="0" i="0" sz="3400" u="none" cap="none" strike="noStrike">
              <a:solidFill>
                <a:schemeClr val="dk1"/>
              </a:solidFill>
              <a:latin typeface="Calibri"/>
              <a:ea typeface="Calibri"/>
              <a:cs typeface="Calibri"/>
              <a:sym typeface="Calibri"/>
            </a:endParaRPr>
          </a:p>
        </p:txBody>
      </p:sp>
      <p:sp>
        <p:nvSpPr>
          <p:cNvPr id="573" name="Google Shape;573;p21"/>
          <p:cNvSpPr/>
          <p:nvPr/>
        </p:nvSpPr>
        <p:spPr>
          <a:xfrm>
            <a:off x="502920" y="1828800"/>
            <a:ext cx="6784848" cy="2880360"/>
          </a:xfrm>
          <a:prstGeom prst="roundRect">
            <a:avLst>
              <a:gd fmla="val 3175"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1"/>
          <p:cNvSpPr/>
          <p:nvPr/>
        </p:nvSpPr>
        <p:spPr>
          <a:xfrm>
            <a:off x="502920" y="1828800"/>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1"/>
          <p:cNvSpPr/>
          <p:nvPr/>
        </p:nvSpPr>
        <p:spPr>
          <a:xfrm>
            <a:off x="667512" y="1929384"/>
            <a:ext cx="155448" cy="155448"/>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1"/>
          <p:cNvSpPr/>
          <p:nvPr/>
        </p:nvSpPr>
        <p:spPr>
          <a:xfrm>
            <a:off x="905256" y="1929384"/>
            <a:ext cx="155448" cy="15544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1"/>
          <p:cNvSpPr/>
          <p:nvPr/>
        </p:nvSpPr>
        <p:spPr>
          <a:xfrm>
            <a:off x="1143000" y="1929384"/>
            <a:ext cx="155448" cy="15544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1"/>
          <p:cNvSpPr/>
          <p:nvPr/>
        </p:nvSpPr>
        <p:spPr>
          <a:xfrm>
            <a:off x="1417320" y="1892808"/>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b="0" i="0" lang="en-US" sz="1050" u="none" cap="none" strike="noStrike">
                <a:solidFill>
                  <a:srgbClr val="9CA3AF"/>
                </a:solidFill>
                <a:latin typeface="Courier New"/>
                <a:ea typeface="Courier New"/>
                <a:cs typeface="Courier New"/>
                <a:sym typeface="Courier New"/>
              </a:rPr>
              <a:t>ChatController.java</a:t>
            </a:r>
            <a:endParaRPr b="0" i="0" sz="1050" u="none" cap="none" strike="noStrike">
              <a:solidFill>
                <a:schemeClr val="dk1"/>
              </a:solidFill>
              <a:latin typeface="Calibri"/>
              <a:ea typeface="Calibri"/>
              <a:cs typeface="Calibri"/>
              <a:sym typeface="Calibri"/>
            </a:endParaRPr>
          </a:p>
        </p:txBody>
      </p:sp>
      <p:sp>
        <p:nvSpPr>
          <p:cNvPr id="579" name="Google Shape;579;p21"/>
          <p:cNvSpPr/>
          <p:nvPr/>
        </p:nvSpPr>
        <p:spPr>
          <a:xfrm>
            <a:off x="704088" y="2286000"/>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b="0" i="0" lang="en-US" sz="1050" u="none" cap="none" strike="noStrike">
                <a:solidFill>
                  <a:srgbClr val="FED7AA"/>
                </a:solidFill>
                <a:latin typeface="Courier New"/>
                <a:ea typeface="Courier New"/>
                <a:cs typeface="Courier New"/>
                <a:sym typeface="Courier New"/>
              </a:rPr>
              <a:t>@RestController @RequestMapping</a:t>
            </a:r>
            <a:r>
              <a:rPr b="0" i="0" lang="en-US" sz="1050" u="none" cap="none" strike="noStrike">
                <a:solidFill>
                  <a:srgbClr val="86EFAC"/>
                </a:solidFill>
                <a:latin typeface="Courier New"/>
                <a:ea typeface="Courier New"/>
                <a:cs typeface="Courier New"/>
                <a:sym typeface="Courier New"/>
              </a:rPr>
              <a:t>("/api"</a:t>
            </a:r>
            <a:r>
              <a:rPr b="0" i="0" lang="en-US" sz="1050" u="none" cap="none" strike="noStrike">
                <a:solidFill>
                  <a:srgbClr val="C4B5FD"/>
                </a:solidFill>
                <a:latin typeface="Courier New"/>
                <a:ea typeface="Courier New"/>
                <a:cs typeface="Courier New"/>
                <a:sym typeface="Courier New"/>
              </a:rPr>
              <a:t>) public class </a:t>
            </a:r>
            <a:r>
              <a:rPr b="0" i="0" lang="en-US" sz="1050" u="none" cap="none" strike="noStrike">
                <a:solidFill>
                  <a:srgbClr val="67E8F9"/>
                </a:solidFill>
                <a:latin typeface="Courier New"/>
                <a:ea typeface="Courier New"/>
                <a:cs typeface="Courier New"/>
                <a:sym typeface="Courier New"/>
              </a:rPr>
              <a:t>ChatController</a:t>
            </a: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80" name="Google Shape;580;p21"/>
          <p:cNvSpPr/>
          <p:nvPr/>
        </p:nvSpPr>
        <p:spPr>
          <a:xfrm>
            <a:off x="704088" y="2486406"/>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81" name="Google Shape;581;p21"/>
          <p:cNvSpPr/>
          <p:nvPr/>
        </p:nvSpPr>
        <p:spPr>
          <a:xfrm>
            <a:off x="704088" y="2686812"/>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b="0" i="0" lang="en-US" sz="1050" u="none" cap="none" strike="noStrike">
                <a:solidFill>
                  <a:srgbClr val="FED7AA"/>
                </a:solidFill>
                <a:latin typeface="Courier New"/>
                <a:ea typeface="Courier New"/>
                <a:cs typeface="Courier New"/>
                <a:sym typeface="Courier New"/>
              </a:rPr>
              <a:t>  @Autowired</a:t>
            </a: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67E8F9"/>
                </a:solidFill>
                <a:latin typeface="Courier New"/>
                <a:ea typeface="Courier New"/>
                <a:cs typeface="Courier New"/>
                <a:sym typeface="Courier New"/>
              </a:rPr>
              <a:t>ConversationSessionService</a:t>
            </a:r>
            <a:r>
              <a:rPr b="0" i="0" lang="en-US" sz="1050" u="none" cap="none" strike="noStrike">
                <a:solidFill>
                  <a:srgbClr val="E5E7EB"/>
                </a:solidFill>
                <a:latin typeface="Courier New"/>
                <a:ea typeface="Courier New"/>
                <a:cs typeface="Courier New"/>
                <a:sym typeface="Courier New"/>
              </a:rPr>
              <a:t> service;</a:t>
            </a:r>
            <a:endParaRPr b="0" i="0" sz="1050" u="none" cap="none" strike="noStrike">
              <a:solidFill>
                <a:schemeClr val="dk1"/>
              </a:solidFill>
              <a:latin typeface="Calibri"/>
              <a:ea typeface="Calibri"/>
              <a:cs typeface="Calibri"/>
              <a:sym typeface="Calibri"/>
            </a:endParaRPr>
          </a:p>
        </p:txBody>
      </p:sp>
      <p:sp>
        <p:nvSpPr>
          <p:cNvPr id="582" name="Google Shape;582;p21"/>
          <p:cNvSpPr/>
          <p:nvPr/>
        </p:nvSpPr>
        <p:spPr>
          <a:xfrm>
            <a:off x="704088" y="2887218"/>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83" name="Google Shape;583;p21"/>
          <p:cNvSpPr/>
          <p:nvPr/>
        </p:nvSpPr>
        <p:spPr>
          <a:xfrm>
            <a:off x="704088" y="3087624"/>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ED7AA"/>
              </a:buClr>
              <a:buSzPts val="1050"/>
              <a:buFont typeface="Courier New"/>
              <a:buNone/>
            </a:pPr>
            <a:r>
              <a:rPr b="0" i="0" lang="en-US" sz="1050" u="none" cap="none" strike="noStrike">
                <a:solidFill>
                  <a:srgbClr val="FED7AA"/>
                </a:solidFill>
                <a:latin typeface="Courier New"/>
                <a:ea typeface="Courier New"/>
                <a:cs typeface="Courier New"/>
                <a:sym typeface="Courier New"/>
              </a:rPr>
              <a:t>  @PostMapping</a:t>
            </a:r>
            <a:r>
              <a:rPr b="0" i="0" lang="en-US" sz="1050" u="none" cap="none" strike="noStrike">
                <a:solidFill>
                  <a:srgbClr val="86EFAC"/>
                </a:solidFill>
                <a:latin typeface="Courier New"/>
                <a:ea typeface="Courier New"/>
                <a:cs typeface="Courier New"/>
                <a:sym typeface="Courier New"/>
              </a:rPr>
              <a:t>("/chat"</a:t>
            </a:r>
            <a:r>
              <a:rPr b="0" i="0" lang="en-US" sz="1050" u="none" cap="none" strike="noStrike">
                <a:solidFill>
                  <a:srgbClr val="67E8F9"/>
                </a:solidFill>
                <a:latin typeface="Courier New"/>
                <a:ea typeface="Courier New"/>
                <a:cs typeface="Courier New"/>
                <a:sym typeface="Courier New"/>
              </a:rPr>
              <a:t>) public ChatResponse</a:t>
            </a:r>
            <a:r>
              <a:rPr b="0" i="0" lang="en-US" sz="1050" u="none" cap="none" strike="noStrike">
                <a:solidFill>
                  <a:srgbClr val="FED7AA"/>
                </a:solidFill>
                <a:latin typeface="Courier New"/>
                <a:ea typeface="Courier New"/>
                <a:cs typeface="Courier New"/>
                <a:sym typeface="Courier New"/>
              </a:rPr>
              <a:t> chat(@RequestBody</a:t>
            </a:r>
            <a:r>
              <a:rPr b="0" i="0" lang="en-US" sz="1050" u="none" cap="none" strike="noStrike">
                <a:solidFill>
                  <a:srgbClr val="67E8F9"/>
                </a:solidFill>
                <a:latin typeface="Courier New"/>
                <a:ea typeface="Courier New"/>
                <a:cs typeface="Courier New"/>
                <a:sym typeface="Courier New"/>
              </a:rPr>
              <a:t> ChatRequest</a:t>
            </a:r>
            <a:r>
              <a:rPr b="0" i="0" lang="en-US" sz="1050" u="none" cap="none" strike="noStrike">
                <a:solidFill>
                  <a:srgbClr val="E5E7EB"/>
                </a:solidFill>
                <a:latin typeface="Courier New"/>
                <a:ea typeface="Courier New"/>
                <a:cs typeface="Courier New"/>
                <a:sym typeface="Courier New"/>
              </a:rPr>
              <a:t> req) {</a:t>
            </a:r>
            <a:endParaRPr b="0" i="0" sz="1050" u="none" cap="none" strike="noStrike">
              <a:solidFill>
                <a:schemeClr val="dk1"/>
              </a:solidFill>
              <a:latin typeface="Calibri"/>
              <a:ea typeface="Calibri"/>
              <a:cs typeface="Calibri"/>
              <a:sym typeface="Calibri"/>
            </a:endParaRPr>
          </a:p>
        </p:txBody>
      </p:sp>
      <p:sp>
        <p:nvSpPr>
          <p:cNvPr id="584" name="Google Shape;584;p21"/>
          <p:cNvSpPr/>
          <p:nvPr/>
        </p:nvSpPr>
        <p:spPr>
          <a:xfrm>
            <a:off x="704088" y="3288030"/>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String </a:t>
            </a:r>
            <a:r>
              <a:rPr b="0" i="0" lang="en-US" sz="1050" u="none" cap="none" strike="noStrike">
                <a:solidFill>
                  <a:srgbClr val="E5E7EB"/>
                </a:solidFill>
                <a:latin typeface="Courier New"/>
                <a:ea typeface="Courier New"/>
                <a:cs typeface="Courier New"/>
                <a:sym typeface="Courier New"/>
              </a:rPr>
              <a:t>reply = service.</a:t>
            </a:r>
            <a:r>
              <a:rPr b="0" i="0" lang="en-US" sz="1050" u="none" cap="none" strike="noStrike">
                <a:solidFill>
                  <a:srgbClr val="FDA4AF"/>
                </a:solidFill>
                <a:latin typeface="Courier New"/>
                <a:ea typeface="Courier New"/>
                <a:cs typeface="Courier New"/>
                <a:sym typeface="Courier New"/>
              </a:rPr>
              <a:t>chat</a:t>
            </a:r>
            <a:r>
              <a:rPr b="0" i="0" lang="en-US" sz="1050" u="none" cap="none" strike="noStrike">
                <a:solidFill>
                  <a:srgbClr val="E5E7EB"/>
                </a:solidFill>
                <a:latin typeface="Courier New"/>
                <a:ea typeface="Courier New"/>
                <a:cs typeface="Courier New"/>
                <a:sym typeface="Courier New"/>
              </a:rPr>
              <a:t>(req.</a:t>
            </a:r>
            <a:r>
              <a:rPr b="0" i="0" lang="en-US" sz="1050" u="none" cap="none" strike="noStrike">
                <a:solidFill>
                  <a:srgbClr val="FDA4AF"/>
                </a:solidFill>
                <a:latin typeface="Courier New"/>
                <a:ea typeface="Courier New"/>
                <a:cs typeface="Courier New"/>
                <a:sym typeface="Courier New"/>
              </a:rPr>
              <a:t>sessionId</a:t>
            </a:r>
            <a:r>
              <a:rPr b="0" i="0" lang="en-US" sz="1050" u="none" cap="none" strike="noStrike">
                <a:solidFill>
                  <a:srgbClr val="E5E7EB"/>
                </a:solidFill>
                <a:latin typeface="Courier New"/>
                <a:ea typeface="Courier New"/>
                <a:cs typeface="Courier New"/>
                <a:sym typeface="Courier New"/>
              </a:rPr>
              <a:t>(), req.</a:t>
            </a:r>
            <a:r>
              <a:rPr b="0" i="0" lang="en-US" sz="1050" u="none" cap="none" strike="noStrike">
                <a:solidFill>
                  <a:srgbClr val="FDA4AF"/>
                </a:solidFill>
                <a:latin typeface="Courier New"/>
                <a:ea typeface="Courier New"/>
                <a:cs typeface="Courier New"/>
                <a:sym typeface="Courier New"/>
              </a:rPr>
              <a:t>message</a:t>
            </a: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85" name="Google Shape;585;p21"/>
          <p:cNvSpPr/>
          <p:nvPr/>
        </p:nvSpPr>
        <p:spPr>
          <a:xfrm>
            <a:off x="704088" y="3488436"/>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return new </a:t>
            </a:r>
            <a:r>
              <a:rPr b="0" i="0" lang="en-US" sz="1050" u="none" cap="none" strike="noStrike">
                <a:solidFill>
                  <a:srgbClr val="67E8F9"/>
                </a:solidFill>
                <a:latin typeface="Courier New"/>
                <a:ea typeface="Courier New"/>
                <a:cs typeface="Courier New"/>
                <a:sym typeface="Courier New"/>
              </a:rPr>
              <a:t>ChatResponse</a:t>
            </a:r>
            <a:r>
              <a:rPr b="0" i="0" lang="en-US" sz="1050" u="none" cap="none" strike="noStrike">
                <a:solidFill>
                  <a:srgbClr val="E5E7EB"/>
                </a:solidFill>
                <a:latin typeface="Courier New"/>
                <a:ea typeface="Courier New"/>
                <a:cs typeface="Courier New"/>
                <a:sym typeface="Courier New"/>
              </a:rPr>
              <a:t>(reply);</a:t>
            </a:r>
            <a:endParaRPr b="0" i="0" sz="1050" u="none" cap="none" strike="noStrike">
              <a:solidFill>
                <a:schemeClr val="dk1"/>
              </a:solidFill>
              <a:latin typeface="Calibri"/>
              <a:ea typeface="Calibri"/>
              <a:cs typeface="Calibri"/>
              <a:sym typeface="Calibri"/>
            </a:endParaRPr>
          </a:p>
        </p:txBody>
      </p:sp>
      <p:sp>
        <p:nvSpPr>
          <p:cNvPr id="586" name="Google Shape;586;p21"/>
          <p:cNvSpPr/>
          <p:nvPr/>
        </p:nvSpPr>
        <p:spPr>
          <a:xfrm>
            <a:off x="704088" y="3688842"/>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87" name="Google Shape;587;p21"/>
          <p:cNvSpPr/>
          <p:nvPr/>
        </p:nvSpPr>
        <p:spPr>
          <a:xfrm>
            <a:off x="704088" y="3889248"/>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Courier New"/>
              <a:buNone/>
            </a:pPr>
            <a:r>
              <a:rPr b="0" i="0" lang="en-US" sz="1050" u="none" cap="none" strike="noStrike">
                <a:solidFill>
                  <a:srgbClr val="000000"/>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588" name="Google Shape;588;p21"/>
          <p:cNvSpPr/>
          <p:nvPr/>
        </p:nvSpPr>
        <p:spPr>
          <a:xfrm>
            <a:off x="704088" y="4089654"/>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record </a:t>
            </a:r>
            <a:r>
              <a:rPr b="0" i="0" lang="en-US" sz="1050" u="none" cap="none" strike="noStrike">
                <a:solidFill>
                  <a:srgbClr val="67E8F9"/>
                </a:solidFill>
                <a:latin typeface="Courier New"/>
                <a:ea typeface="Courier New"/>
                <a:cs typeface="Courier New"/>
                <a:sym typeface="Courier New"/>
              </a:rPr>
              <a:t>ChatRequest</a:t>
            </a:r>
            <a:r>
              <a:rPr b="0" i="0" lang="en-US" sz="1050" u="none" cap="none" strike="noStrike">
                <a:solidFill>
                  <a:srgbClr val="E5E7EB"/>
                </a:solidFill>
                <a:latin typeface="Courier New"/>
                <a:ea typeface="Courier New"/>
                <a:cs typeface="Courier New"/>
                <a:sym typeface="Courier New"/>
              </a:rPr>
              <a:t>(String sessionId, String message) {}</a:t>
            </a:r>
            <a:endParaRPr b="0" i="0" sz="1050" u="none" cap="none" strike="noStrike">
              <a:solidFill>
                <a:schemeClr val="dk1"/>
              </a:solidFill>
              <a:latin typeface="Calibri"/>
              <a:ea typeface="Calibri"/>
              <a:cs typeface="Calibri"/>
              <a:sym typeface="Calibri"/>
            </a:endParaRPr>
          </a:p>
        </p:txBody>
      </p:sp>
      <p:sp>
        <p:nvSpPr>
          <p:cNvPr id="589" name="Google Shape;589;p21"/>
          <p:cNvSpPr/>
          <p:nvPr/>
        </p:nvSpPr>
        <p:spPr>
          <a:xfrm>
            <a:off x="704088" y="4290060"/>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4B5FD"/>
              </a:buClr>
              <a:buSzPts val="1050"/>
              <a:buFont typeface="Courier New"/>
              <a:buNone/>
            </a:pPr>
            <a:r>
              <a:rPr b="0" i="0" lang="en-US" sz="1050" u="none" cap="none" strike="noStrike">
                <a:solidFill>
                  <a:srgbClr val="C4B5FD"/>
                </a:solidFill>
                <a:latin typeface="Courier New"/>
                <a:ea typeface="Courier New"/>
                <a:cs typeface="Courier New"/>
                <a:sym typeface="Courier New"/>
              </a:rPr>
              <a:t>  record </a:t>
            </a:r>
            <a:r>
              <a:rPr b="0" i="0" lang="en-US" sz="1050" u="none" cap="none" strike="noStrike">
                <a:solidFill>
                  <a:srgbClr val="67E8F9"/>
                </a:solidFill>
                <a:latin typeface="Courier New"/>
                <a:ea typeface="Courier New"/>
                <a:cs typeface="Courier New"/>
                <a:sym typeface="Courier New"/>
              </a:rPr>
              <a:t>ChatResponse</a:t>
            </a:r>
            <a:r>
              <a:rPr b="0" i="0" lang="en-US" sz="1050" u="none" cap="none" strike="noStrike">
                <a:solidFill>
                  <a:srgbClr val="E5E7EB"/>
                </a:solidFill>
                <a:latin typeface="Courier New"/>
                <a:ea typeface="Courier New"/>
                <a:cs typeface="Courier New"/>
                <a:sym typeface="Courier New"/>
              </a:rPr>
              <a:t>(String reply) {}</a:t>
            </a:r>
            <a:endParaRPr b="0" i="0" sz="1050" u="none" cap="none" strike="noStrike">
              <a:solidFill>
                <a:schemeClr val="dk1"/>
              </a:solidFill>
              <a:latin typeface="Calibri"/>
              <a:ea typeface="Calibri"/>
              <a:cs typeface="Calibri"/>
              <a:sym typeface="Calibri"/>
            </a:endParaRPr>
          </a:p>
        </p:txBody>
      </p:sp>
      <p:sp>
        <p:nvSpPr>
          <p:cNvPr id="590" name="Google Shape;590;p21"/>
          <p:cNvSpPr/>
          <p:nvPr/>
        </p:nvSpPr>
        <p:spPr>
          <a:xfrm>
            <a:off x="704088" y="4490466"/>
            <a:ext cx="6464808" cy="20040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p:txBody>
      </p:sp>
      <p:sp>
        <p:nvSpPr>
          <p:cNvPr id="591" name="Google Shape;591;p21"/>
          <p:cNvSpPr/>
          <p:nvPr/>
        </p:nvSpPr>
        <p:spPr>
          <a:xfrm>
            <a:off x="502920" y="4892040"/>
            <a:ext cx="6784848" cy="1627632"/>
          </a:xfrm>
          <a:prstGeom prst="roundRect">
            <a:avLst>
              <a:gd fmla="val 5618" name="adj"/>
            </a:avLst>
          </a:prstGeom>
          <a:solidFill>
            <a:srgbClr val="111827"/>
          </a:solidFill>
          <a:ln cap="flat" cmpd="sng" w="12700">
            <a:solidFill>
              <a:srgbClr val="374151"/>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1"/>
          <p:cNvSpPr/>
          <p:nvPr/>
        </p:nvSpPr>
        <p:spPr>
          <a:xfrm>
            <a:off x="502920" y="4892040"/>
            <a:ext cx="6784848" cy="365760"/>
          </a:xfrm>
          <a:prstGeom prst="roundRect">
            <a:avLst>
              <a:gd fmla="val 25000" name="adj"/>
            </a:avLst>
          </a:prstGeom>
          <a:solidFill>
            <a:srgbClr val="1F293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1"/>
          <p:cNvSpPr/>
          <p:nvPr/>
        </p:nvSpPr>
        <p:spPr>
          <a:xfrm>
            <a:off x="667512" y="4992624"/>
            <a:ext cx="155448" cy="155448"/>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1"/>
          <p:cNvSpPr/>
          <p:nvPr/>
        </p:nvSpPr>
        <p:spPr>
          <a:xfrm>
            <a:off x="905256" y="4992624"/>
            <a:ext cx="155448" cy="155448"/>
          </a:xfrm>
          <a:prstGeom prst="ellipse">
            <a:avLst/>
          </a:prstGeom>
          <a:solidFill>
            <a:srgbClr val="F59E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1"/>
          <p:cNvSpPr/>
          <p:nvPr/>
        </p:nvSpPr>
        <p:spPr>
          <a:xfrm>
            <a:off x="1143000" y="4992624"/>
            <a:ext cx="155448" cy="15544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1"/>
          <p:cNvSpPr/>
          <p:nvPr/>
        </p:nvSpPr>
        <p:spPr>
          <a:xfrm>
            <a:off x="1417320" y="4956048"/>
            <a:ext cx="5733288"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050"/>
              <a:buFont typeface="Courier New"/>
              <a:buNone/>
            </a:pPr>
            <a:r>
              <a:rPr b="0" i="0" lang="en-US" sz="1050" u="none" cap="none" strike="noStrike">
                <a:solidFill>
                  <a:srgbClr val="9CA3AF"/>
                </a:solidFill>
                <a:latin typeface="Courier New"/>
                <a:ea typeface="Courier New"/>
                <a:cs typeface="Courier New"/>
                <a:sym typeface="Courier New"/>
              </a:rPr>
              <a:t>test.http — REST Client test</a:t>
            </a:r>
            <a:endParaRPr b="0" i="0" sz="1050" u="none" cap="none" strike="noStrike">
              <a:solidFill>
                <a:schemeClr val="dk1"/>
              </a:solidFill>
              <a:latin typeface="Calibri"/>
              <a:ea typeface="Calibri"/>
              <a:cs typeface="Calibri"/>
              <a:sym typeface="Calibri"/>
            </a:endParaRPr>
          </a:p>
        </p:txBody>
      </p:sp>
      <p:sp>
        <p:nvSpPr>
          <p:cNvPr id="597" name="Google Shape;597;p21"/>
          <p:cNvSpPr/>
          <p:nvPr/>
        </p:nvSpPr>
        <p:spPr>
          <a:xfrm>
            <a:off x="704088" y="5349240"/>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Turn 1</a:t>
            </a:r>
            <a:endParaRPr b="0" i="0" sz="1050" u="none" cap="none" strike="noStrike">
              <a:solidFill>
                <a:schemeClr val="dk1"/>
              </a:solidFill>
              <a:latin typeface="Calibri"/>
              <a:ea typeface="Calibri"/>
              <a:cs typeface="Calibri"/>
              <a:sym typeface="Calibri"/>
            </a:endParaRPr>
          </a:p>
        </p:txBody>
      </p:sp>
      <p:sp>
        <p:nvSpPr>
          <p:cNvPr id="598" name="Google Shape;598;p21"/>
          <p:cNvSpPr/>
          <p:nvPr/>
        </p:nvSpPr>
        <p:spPr>
          <a:xfrm>
            <a:off x="704088" y="5513832"/>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POST http://localhost:8080/api/chat</a:t>
            </a:r>
            <a:endParaRPr b="0" i="0" sz="1050" u="none" cap="none" strike="noStrike">
              <a:solidFill>
                <a:schemeClr val="dk1"/>
              </a:solidFill>
              <a:latin typeface="Calibri"/>
              <a:ea typeface="Calibri"/>
              <a:cs typeface="Calibri"/>
              <a:sym typeface="Calibri"/>
            </a:endParaRPr>
          </a:p>
        </p:txBody>
      </p:sp>
      <p:sp>
        <p:nvSpPr>
          <p:cNvPr id="599" name="Google Shape;599;p21"/>
          <p:cNvSpPr/>
          <p:nvPr/>
        </p:nvSpPr>
        <p:spPr>
          <a:xfrm>
            <a:off x="704088" y="5678424"/>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Content-Type: application/json</a:t>
            </a:r>
            <a:endParaRPr b="0" i="0" sz="1050" u="none" cap="none" strike="noStrike">
              <a:solidFill>
                <a:schemeClr val="dk1"/>
              </a:solidFill>
              <a:latin typeface="Calibri"/>
              <a:ea typeface="Calibri"/>
              <a:cs typeface="Calibri"/>
              <a:sym typeface="Calibri"/>
            </a:endParaRPr>
          </a:p>
        </p:txBody>
      </p:sp>
      <p:sp>
        <p:nvSpPr>
          <p:cNvPr id="600" name="Google Shape;600;p21"/>
          <p:cNvSpPr/>
          <p:nvPr/>
        </p:nvSpPr>
        <p:spPr>
          <a:xfrm>
            <a:off x="704088" y="5843016"/>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"sessionId"</a:t>
            </a: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"demo-1"</a:t>
            </a: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"message": "My name is Ravi"</a:t>
            </a: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601" name="Google Shape;601;p21"/>
          <p:cNvSpPr/>
          <p:nvPr/>
        </p:nvSpPr>
        <p:spPr>
          <a:xfrm>
            <a:off x="704088" y="6007608"/>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B7280"/>
              </a:buClr>
              <a:buSzPts val="1050"/>
              <a:buFont typeface="Courier New"/>
              <a:buNone/>
            </a:pPr>
            <a:r>
              <a:rPr b="0" i="0" lang="en-US" sz="1050" u="none" cap="none" strike="noStrike">
                <a:solidFill>
                  <a:srgbClr val="6B7280"/>
                </a:solidFill>
                <a:latin typeface="Courier New"/>
                <a:ea typeface="Courier New"/>
                <a:cs typeface="Courier New"/>
                <a:sym typeface="Courier New"/>
              </a:rPr>
              <a:t>### Turn 2 — same sessionId</a:t>
            </a:r>
            <a:endParaRPr b="0" i="0" sz="1050" u="none" cap="none" strike="noStrike">
              <a:solidFill>
                <a:schemeClr val="dk1"/>
              </a:solidFill>
              <a:latin typeface="Calibri"/>
              <a:ea typeface="Calibri"/>
              <a:cs typeface="Calibri"/>
              <a:sym typeface="Calibri"/>
            </a:endParaRPr>
          </a:p>
        </p:txBody>
      </p:sp>
      <p:sp>
        <p:nvSpPr>
          <p:cNvPr id="602" name="Google Shape;602;p21"/>
          <p:cNvSpPr/>
          <p:nvPr/>
        </p:nvSpPr>
        <p:spPr>
          <a:xfrm>
            <a:off x="704088" y="6172200"/>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6EFAC"/>
              </a:buClr>
              <a:buSzPts val="1050"/>
              <a:buFont typeface="Courier New"/>
              <a:buNone/>
            </a:pPr>
            <a:r>
              <a:rPr b="0" i="0" lang="en-US" sz="1050" u="none" cap="none" strike="noStrike">
                <a:solidFill>
                  <a:srgbClr val="86EFAC"/>
                </a:solidFill>
                <a:latin typeface="Courier New"/>
                <a:ea typeface="Courier New"/>
                <a:cs typeface="Courier New"/>
                <a:sym typeface="Courier New"/>
              </a:rPr>
              <a:t>POST http://localhost:8080/api/chat</a:t>
            </a:r>
            <a:endParaRPr b="0" i="0" sz="1050" u="none" cap="none" strike="noStrike">
              <a:solidFill>
                <a:schemeClr val="dk1"/>
              </a:solidFill>
              <a:latin typeface="Calibri"/>
              <a:ea typeface="Calibri"/>
              <a:cs typeface="Calibri"/>
              <a:sym typeface="Calibri"/>
            </a:endParaRPr>
          </a:p>
        </p:txBody>
      </p:sp>
      <p:sp>
        <p:nvSpPr>
          <p:cNvPr id="603" name="Google Shape;603;p21"/>
          <p:cNvSpPr/>
          <p:nvPr/>
        </p:nvSpPr>
        <p:spPr>
          <a:xfrm>
            <a:off x="704088" y="6336792"/>
            <a:ext cx="6464808"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7EB"/>
              </a:buClr>
              <a:buSzPts val="1050"/>
              <a:buFont typeface="Courier New"/>
              <a:buNone/>
            </a:pP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"sessionId"</a:t>
            </a: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"demo-1"</a:t>
            </a:r>
            <a:r>
              <a:rPr b="0" i="0" lang="en-US" sz="1050" u="none" cap="none" strike="noStrike">
                <a:solidFill>
                  <a:srgbClr val="E5E7EB"/>
                </a:solidFill>
                <a:latin typeface="Courier New"/>
                <a:ea typeface="Courier New"/>
                <a:cs typeface="Courier New"/>
                <a:sym typeface="Courier New"/>
              </a:rPr>
              <a:t>, </a:t>
            </a:r>
            <a:r>
              <a:rPr b="0" i="0" lang="en-US" sz="1050" u="none" cap="none" strike="noStrike">
                <a:solidFill>
                  <a:srgbClr val="86EFAC"/>
                </a:solidFill>
                <a:latin typeface="Courier New"/>
                <a:ea typeface="Courier New"/>
                <a:cs typeface="Courier New"/>
                <a:sym typeface="Courier New"/>
              </a:rPr>
              <a:t>"message": "What is my name?"</a:t>
            </a:r>
            <a:r>
              <a:rPr b="0" i="0" lang="en-US" sz="1050" u="none" cap="none" strike="noStrike">
                <a:solidFill>
                  <a:srgbClr val="E5E7EB"/>
                </a:solidFill>
                <a:latin typeface="Courier New"/>
                <a:ea typeface="Courier New"/>
                <a:cs typeface="Courier New"/>
                <a:sym typeface="Courier New"/>
              </a:rPr>
              <a:t> }</a:t>
            </a:r>
            <a:endParaRPr b="0" i="0" sz="1050" u="none" cap="none" strike="noStrike">
              <a:solidFill>
                <a:schemeClr val="dk1"/>
              </a:solidFill>
              <a:latin typeface="Calibri"/>
              <a:ea typeface="Calibri"/>
              <a:cs typeface="Calibri"/>
              <a:sym typeface="Calibri"/>
            </a:endParaRPr>
          </a:p>
        </p:txBody>
      </p:sp>
      <p:sp>
        <p:nvSpPr>
          <p:cNvPr id="604" name="Google Shape;604;p21"/>
          <p:cNvSpPr/>
          <p:nvPr/>
        </p:nvSpPr>
        <p:spPr>
          <a:xfrm>
            <a:off x="7424928" y="1828800"/>
            <a:ext cx="4590288" cy="4681728"/>
          </a:xfrm>
          <a:prstGeom prst="roundRect">
            <a:avLst>
              <a:gd fmla="val 1992" name="adj"/>
            </a:avLst>
          </a:prstGeom>
          <a:solidFill>
            <a:srgbClr val="F8FAFC"/>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1"/>
          <p:cNvSpPr/>
          <p:nvPr/>
        </p:nvSpPr>
        <p:spPr>
          <a:xfrm>
            <a:off x="7589520" y="1938528"/>
            <a:ext cx="42976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Expected output</a:t>
            </a:r>
            <a:endParaRPr b="0" i="0" sz="1400" u="none" cap="none" strike="noStrike">
              <a:solidFill>
                <a:schemeClr val="dk1"/>
              </a:solidFill>
              <a:latin typeface="Calibri"/>
              <a:ea typeface="Calibri"/>
              <a:cs typeface="Calibri"/>
              <a:sym typeface="Calibri"/>
            </a:endParaRPr>
          </a:p>
        </p:txBody>
      </p:sp>
      <p:sp>
        <p:nvSpPr>
          <p:cNvPr id="606" name="Google Shape;606;p21"/>
          <p:cNvSpPr/>
          <p:nvPr/>
        </p:nvSpPr>
        <p:spPr>
          <a:xfrm>
            <a:off x="7571232" y="2423160"/>
            <a:ext cx="4297680" cy="1143000"/>
          </a:xfrm>
          <a:prstGeom prst="roundRect">
            <a:avLst>
              <a:gd fmla="val 6400"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1"/>
          <p:cNvSpPr/>
          <p:nvPr/>
        </p:nvSpPr>
        <p:spPr>
          <a:xfrm>
            <a:off x="7726680" y="2514600"/>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Turn 1 reply:</a:t>
            </a:r>
            <a:endParaRPr b="0" i="0" sz="1200" u="none" cap="none" strike="noStrike">
              <a:solidFill>
                <a:schemeClr val="dk1"/>
              </a:solidFill>
              <a:latin typeface="Calibri"/>
              <a:ea typeface="Calibri"/>
              <a:cs typeface="Calibri"/>
              <a:sym typeface="Calibri"/>
            </a:endParaRPr>
          </a:p>
        </p:txBody>
      </p:sp>
      <p:sp>
        <p:nvSpPr>
          <p:cNvPr id="608" name="Google Shape;608;p21"/>
          <p:cNvSpPr/>
          <p:nvPr/>
        </p:nvSpPr>
        <p:spPr>
          <a:xfrm>
            <a:off x="7726680" y="2834640"/>
            <a:ext cx="3977640" cy="62179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"Nice to meet you, Ravi! How can I help?"</a:t>
            </a:r>
            <a:endParaRPr b="0" i="0" sz="1100" u="none" cap="none" strike="noStrike">
              <a:solidFill>
                <a:schemeClr val="dk1"/>
              </a:solidFill>
              <a:latin typeface="Calibri"/>
              <a:ea typeface="Calibri"/>
              <a:cs typeface="Calibri"/>
              <a:sym typeface="Calibri"/>
            </a:endParaRPr>
          </a:p>
        </p:txBody>
      </p:sp>
      <p:sp>
        <p:nvSpPr>
          <p:cNvPr id="609" name="Google Shape;609;p21"/>
          <p:cNvSpPr/>
          <p:nvPr/>
        </p:nvSpPr>
        <p:spPr>
          <a:xfrm>
            <a:off x="7571232" y="3685032"/>
            <a:ext cx="4297680" cy="1143000"/>
          </a:xfrm>
          <a:prstGeom prst="roundRect">
            <a:avLst>
              <a:gd fmla="val 6400"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1"/>
          <p:cNvSpPr/>
          <p:nvPr/>
        </p:nvSpPr>
        <p:spPr>
          <a:xfrm>
            <a:off x="7726680" y="3776472"/>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Turn 2 reply:</a:t>
            </a:r>
            <a:endParaRPr b="0" i="0" sz="1200" u="none" cap="none" strike="noStrike">
              <a:solidFill>
                <a:schemeClr val="dk1"/>
              </a:solidFill>
              <a:latin typeface="Calibri"/>
              <a:ea typeface="Calibri"/>
              <a:cs typeface="Calibri"/>
              <a:sym typeface="Calibri"/>
            </a:endParaRPr>
          </a:p>
        </p:txBody>
      </p:sp>
      <p:sp>
        <p:nvSpPr>
          <p:cNvPr id="611" name="Google Shape;611;p21"/>
          <p:cNvSpPr/>
          <p:nvPr/>
        </p:nvSpPr>
        <p:spPr>
          <a:xfrm>
            <a:off x="7726680" y="4096512"/>
            <a:ext cx="3977640" cy="62179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"Your name is Ravi, as you told me a moment ago."</a:t>
            </a:r>
            <a:endParaRPr b="0" i="0" sz="1100" u="none" cap="none" strike="noStrike">
              <a:solidFill>
                <a:schemeClr val="dk1"/>
              </a:solidFill>
              <a:latin typeface="Calibri"/>
              <a:ea typeface="Calibri"/>
              <a:cs typeface="Calibri"/>
              <a:sym typeface="Calibri"/>
            </a:endParaRPr>
          </a:p>
        </p:txBody>
      </p:sp>
      <p:sp>
        <p:nvSpPr>
          <p:cNvPr id="612" name="Google Shape;612;p21"/>
          <p:cNvSpPr/>
          <p:nvPr/>
        </p:nvSpPr>
        <p:spPr>
          <a:xfrm>
            <a:off x="7571232" y="4946904"/>
            <a:ext cx="4297680" cy="1143000"/>
          </a:xfrm>
          <a:prstGeom prst="roundRect">
            <a:avLst>
              <a:gd fmla="val 6400"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1"/>
          <p:cNvSpPr/>
          <p:nvPr/>
        </p:nvSpPr>
        <p:spPr>
          <a:xfrm>
            <a:off x="7726680" y="5038344"/>
            <a:ext cx="3977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Turn 3 (new session):</a:t>
            </a:r>
            <a:endParaRPr b="0" i="0" sz="1200" u="none" cap="none" strike="noStrike">
              <a:solidFill>
                <a:schemeClr val="dk1"/>
              </a:solidFill>
              <a:latin typeface="Calibri"/>
              <a:ea typeface="Calibri"/>
              <a:cs typeface="Calibri"/>
              <a:sym typeface="Calibri"/>
            </a:endParaRPr>
          </a:p>
        </p:txBody>
      </p:sp>
      <p:sp>
        <p:nvSpPr>
          <p:cNvPr id="614" name="Google Shape;614;p21"/>
          <p:cNvSpPr/>
          <p:nvPr/>
        </p:nvSpPr>
        <p:spPr>
          <a:xfrm>
            <a:off x="7726680" y="5358384"/>
            <a:ext cx="3977640" cy="621792"/>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"I do not know your name — could you introduce yourself?"</a:t>
            </a:r>
            <a:endParaRPr b="0" i="0" sz="1100" u="none" cap="none" strike="noStrike">
              <a:solidFill>
                <a:schemeClr val="dk1"/>
              </a:solidFill>
              <a:latin typeface="Calibri"/>
              <a:ea typeface="Calibri"/>
              <a:cs typeface="Calibri"/>
              <a:sym typeface="Calibri"/>
            </a:endParaRPr>
          </a:p>
        </p:txBody>
      </p:sp>
      <p:sp>
        <p:nvSpPr>
          <p:cNvPr id="615" name="Google Shape;615;p21"/>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617" name="Google Shape;617;p2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22" name="Shape 622"/>
        <p:cNvGrpSpPr/>
        <p:nvPr/>
      </p:nvGrpSpPr>
      <p:grpSpPr>
        <a:xfrm>
          <a:off x="0" y="0"/>
          <a:ext cx="0" cy="0"/>
          <a:chOff x="0" y="0"/>
          <a:chExt cx="0" cy="0"/>
        </a:xfrm>
      </p:grpSpPr>
      <p:sp>
        <p:nvSpPr>
          <p:cNvPr id="623" name="Google Shape;623;p22"/>
          <p:cNvSpPr/>
          <p:nvPr/>
        </p:nvSpPr>
        <p:spPr>
          <a:xfrm>
            <a:off x="8046720" y="-1371600"/>
            <a:ext cx="5943600" cy="5943600"/>
          </a:xfrm>
          <a:prstGeom prst="ellipse">
            <a:avLst/>
          </a:prstGeom>
          <a:solidFill>
            <a:srgbClr val="16A34A">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2"/>
          <p:cNvSpPr/>
          <p:nvPr/>
        </p:nvSpPr>
        <p:spPr>
          <a:xfrm>
            <a:off x="685800" y="164592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400"/>
              <a:buFont typeface="Calibri"/>
              <a:buNone/>
            </a:pPr>
            <a:r>
              <a:rPr b="1" i="0" lang="en-US" sz="1400" u="none" cap="none" strike="noStrike">
                <a:solidFill>
                  <a:srgbClr val="86EFAC"/>
                </a:solidFill>
                <a:latin typeface="Calibri"/>
                <a:ea typeface="Calibri"/>
                <a:cs typeface="Calibri"/>
                <a:sym typeface="Calibri"/>
              </a:rPr>
              <a:t>LIVE DEMO</a:t>
            </a:r>
            <a:endParaRPr b="0" i="0" sz="1400" u="none" cap="none" strike="noStrike">
              <a:solidFill>
                <a:schemeClr val="dk1"/>
              </a:solidFill>
              <a:latin typeface="Calibri"/>
              <a:ea typeface="Calibri"/>
              <a:cs typeface="Calibri"/>
              <a:sym typeface="Calibri"/>
            </a:endParaRPr>
          </a:p>
        </p:txBody>
      </p:sp>
      <p:sp>
        <p:nvSpPr>
          <p:cNvPr id="625" name="Google Shape;625;p22"/>
          <p:cNvSpPr/>
          <p:nvPr/>
        </p:nvSpPr>
        <p:spPr>
          <a:xfrm>
            <a:off x="658368" y="2011680"/>
            <a:ext cx="8229600" cy="26517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Multi-Turn</a:t>
            </a:r>
            <a:endParaRPr b="0" i="0" sz="5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Java Chatbot</a:t>
            </a:r>
            <a:endParaRPr b="0" i="0" sz="5400" u="none" cap="none" strike="noStrike">
              <a:solidFill>
                <a:schemeClr val="dk1"/>
              </a:solidFill>
              <a:latin typeface="Calibri"/>
              <a:ea typeface="Calibri"/>
              <a:cs typeface="Calibri"/>
              <a:sym typeface="Calibri"/>
            </a:endParaRPr>
          </a:p>
        </p:txBody>
      </p:sp>
      <p:sp>
        <p:nvSpPr>
          <p:cNvPr id="626" name="Google Shape;626;p22"/>
          <p:cNvSpPr/>
          <p:nvPr/>
        </p:nvSpPr>
        <p:spPr>
          <a:xfrm>
            <a:off x="685800" y="4800600"/>
            <a:ext cx="82296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Full Spring Boot chatbot with session management — end to end.</a:t>
            </a:r>
            <a:endParaRPr b="0" i="0" sz="2000" u="none" cap="none" strike="noStrike">
              <a:solidFill>
                <a:schemeClr val="dk1"/>
              </a:solidFill>
              <a:latin typeface="Calibri"/>
              <a:ea typeface="Calibri"/>
              <a:cs typeface="Calibri"/>
              <a:sym typeface="Calibri"/>
            </a:endParaRPr>
          </a:p>
        </p:txBody>
      </p:sp>
      <p:sp>
        <p:nvSpPr>
          <p:cNvPr id="627" name="Google Shape;627;p22"/>
          <p:cNvSpPr/>
          <p:nvPr/>
        </p:nvSpPr>
        <p:spPr>
          <a:xfrm>
            <a:off x="685800"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2"/>
          <p:cNvSpPr/>
          <p:nvPr/>
        </p:nvSpPr>
        <p:spPr>
          <a:xfrm>
            <a:off x="795528"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1. Session Service</a:t>
            </a:r>
            <a:endParaRPr b="0" i="0" sz="1100" u="none" cap="none" strike="noStrike">
              <a:solidFill>
                <a:schemeClr val="dk1"/>
              </a:solidFill>
              <a:latin typeface="Calibri"/>
              <a:ea typeface="Calibri"/>
              <a:cs typeface="Calibri"/>
              <a:sym typeface="Calibri"/>
            </a:endParaRPr>
          </a:p>
        </p:txBody>
      </p:sp>
      <p:sp>
        <p:nvSpPr>
          <p:cNvPr id="629" name="Google Shape;629;p22"/>
          <p:cNvSpPr/>
          <p:nvPr/>
        </p:nvSpPr>
        <p:spPr>
          <a:xfrm>
            <a:off x="2862072"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2"/>
          <p:cNvSpPr/>
          <p:nvPr/>
        </p:nvSpPr>
        <p:spPr>
          <a:xfrm>
            <a:off x="2971800"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2. Controller</a:t>
            </a:r>
            <a:endParaRPr b="0" i="0" sz="1100" u="none" cap="none" strike="noStrike">
              <a:solidFill>
                <a:schemeClr val="dk1"/>
              </a:solidFill>
              <a:latin typeface="Calibri"/>
              <a:ea typeface="Calibri"/>
              <a:cs typeface="Calibri"/>
              <a:sym typeface="Calibri"/>
            </a:endParaRPr>
          </a:p>
        </p:txBody>
      </p:sp>
      <p:sp>
        <p:nvSpPr>
          <p:cNvPr id="631" name="Google Shape;631;p22"/>
          <p:cNvSpPr/>
          <p:nvPr/>
        </p:nvSpPr>
        <p:spPr>
          <a:xfrm>
            <a:off x="5038344"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2"/>
          <p:cNvSpPr/>
          <p:nvPr/>
        </p:nvSpPr>
        <p:spPr>
          <a:xfrm>
            <a:off x="5148072"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3. REST test</a:t>
            </a:r>
            <a:endParaRPr b="0" i="0" sz="1100" u="none" cap="none" strike="noStrike">
              <a:solidFill>
                <a:schemeClr val="dk1"/>
              </a:solidFill>
              <a:latin typeface="Calibri"/>
              <a:ea typeface="Calibri"/>
              <a:cs typeface="Calibri"/>
              <a:sym typeface="Calibri"/>
            </a:endParaRPr>
          </a:p>
        </p:txBody>
      </p:sp>
      <p:sp>
        <p:nvSpPr>
          <p:cNvPr id="633" name="Google Shape;633;p22"/>
          <p:cNvSpPr/>
          <p:nvPr/>
        </p:nvSpPr>
        <p:spPr>
          <a:xfrm>
            <a:off x="7214616"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2"/>
          <p:cNvSpPr/>
          <p:nvPr/>
        </p:nvSpPr>
        <p:spPr>
          <a:xfrm>
            <a:off x="7324344"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4. Context window limit</a:t>
            </a:r>
            <a:endParaRPr b="0" i="0" sz="1100" u="none" cap="none" strike="noStrike">
              <a:solidFill>
                <a:schemeClr val="dk1"/>
              </a:solidFill>
              <a:latin typeface="Calibri"/>
              <a:ea typeface="Calibri"/>
              <a:cs typeface="Calibri"/>
              <a:sym typeface="Calibri"/>
            </a:endParaRPr>
          </a:p>
        </p:txBody>
      </p:sp>
      <p:sp>
        <p:nvSpPr>
          <p:cNvPr id="635" name="Google Shape;635;p22"/>
          <p:cNvSpPr/>
          <p:nvPr/>
        </p:nvSpPr>
        <p:spPr>
          <a:xfrm>
            <a:off x="9390888" y="5468112"/>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2"/>
          <p:cNvSpPr/>
          <p:nvPr/>
        </p:nvSpPr>
        <p:spPr>
          <a:xfrm>
            <a:off x="9500616" y="5522976"/>
            <a:ext cx="182880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5. Redis upgrade</a:t>
            </a:r>
            <a:endParaRPr b="0" i="0" sz="1100" u="none" cap="none" strike="noStrike">
              <a:solidFill>
                <a:schemeClr val="dk1"/>
              </a:solidFill>
              <a:latin typeface="Calibri"/>
              <a:ea typeface="Calibri"/>
              <a:cs typeface="Calibri"/>
              <a:sym typeface="Calibri"/>
            </a:endParaRPr>
          </a:p>
        </p:txBody>
      </p:sp>
      <p:sp>
        <p:nvSpPr>
          <p:cNvPr id="637" name="Google Shape;637;p22"/>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639" name="Google Shape;639;p2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20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23"/>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CLASSROOM PROJECT · AI TRAVEL PLANNER — MULTI-TURN + STRUCTURED OUTPUT</a:t>
            </a:r>
            <a:endParaRPr b="0" i="0" sz="1200" u="none" cap="none" strike="noStrike">
              <a:solidFill>
                <a:schemeClr val="dk1"/>
              </a:solidFill>
              <a:latin typeface="Calibri"/>
              <a:ea typeface="Calibri"/>
              <a:cs typeface="Calibri"/>
              <a:sym typeface="Calibri"/>
            </a:endParaRPr>
          </a:p>
        </p:txBody>
      </p:sp>
      <p:sp>
        <p:nvSpPr>
          <p:cNvPr id="646" name="Google Shape;646;p23"/>
          <p:cNvSpPr/>
          <p:nvPr/>
        </p:nvSpPr>
        <p:spPr>
          <a:xfrm>
            <a:off x="685800" y="749808"/>
            <a:ext cx="10789920" cy="8412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The Travel Planner: gathering context across turns</a:t>
            </a:r>
            <a:endParaRPr b="0" i="0" sz="3200" u="none" cap="none" strike="noStrike">
              <a:solidFill>
                <a:schemeClr val="dk1"/>
              </a:solidFill>
              <a:latin typeface="Calibri"/>
              <a:ea typeface="Calibri"/>
              <a:cs typeface="Calibri"/>
              <a:sym typeface="Calibri"/>
            </a:endParaRPr>
          </a:p>
        </p:txBody>
      </p:sp>
      <p:sp>
        <p:nvSpPr>
          <p:cNvPr id="647" name="Google Shape;647;p23"/>
          <p:cNvSpPr/>
          <p:nvPr/>
        </p:nvSpPr>
        <p:spPr>
          <a:xfrm>
            <a:off x="502920" y="1874520"/>
            <a:ext cx="2743200" cy="3310128"/>
          </a:xfrm>
          <a:prstGeom prst="roundRect">
            <a:avLst>
              <a:gd fmla="val 3333" name="adj"/>
            </a:avLst>
          </a:prstGeom>
          <a:solidFill>
            <a:srgbClr val="F8FAFC"/>
          </a:solidFill>
          <a:ln cap="flat" cmpd="sng" w="19050">
            <a:solidFill>
              <a:srgbClr val="7C3AED">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3"/>
          <p:cNvSpPr/>
          <p:nvPr/>
        </p:nvSpPr>
        <p:spPr>
          <a:xfrm>
            <a:off x="685800" y="2029968"/>
            <a:ext cx="438912" cy="438912"/>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3"/>
          <p:cNvSpPr/>
          <p:nvPr/>
        </p:nvSpPr>
        <p:spPr>
          <a:xfrm>
            <a:off x="68580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650" name="Google Shape;650;p23"/>
          <p:cNvSpPr/>
          <p:nvPr/>
        </p:nvSpPr>
        <p:spPr>
          <a:xfrm>
            <a:off x="1252728" y="2029968"/>
            <a:ext cx="1874520"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Gather destination</a:t>
            </a:r>
            <a:endParaRPr b="0" i="0" sz="1300" u="none" cap="none" strike="noStrike">
              <a:solidFill>
                <a:schemeClr val="dk1"/>
              </a:solidFill>
              <a:latin typeface="Calibri"/>
              <a:ea typeface="Calibri"/>
              <a:cs typeface="Calibri"/>
              <a:sym typeface="Calibri"/>
            </a:endParaRPr>
          </a:p>
        </p:txBody>
      </p:sp>
      <p:sp>
        <p:nvSpPr>
          <p:cNvPr id="651" name="Google Shape;651;p23"/>
          <p:cNvSpPr/>
          <p:nvPr/>
        </p:nvSpPr>
        <p:spPr>
          <a:xfrm>
            <a:off x="667512" y="2578608"/>
            <a:ext cx="2450592" cy="658368"/>
          </a:xfrm>
          <a:prstGeom prst="roundRect">
            <a:avLst>
              <a:gd fmla="val 9722" name="adj"/>
            </a:avLst>
          </a:prstGeom>
          <a:solidFill>
            <a:srgbClr val="7C3AED"/>
          </a:solidFill>
          <a:ln cap="flat" cmpd="sng" w="12700">
            <a:solidFill>
              <a:srgbClr val="7C3AED">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3"/>
          <p:cNvSpPr/>
          <p:nvPr/>
        </p:nvSpPr>
        <p:spPr>
          <a:xfrm>
            <a:off x="731520" y="2615184"/>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C3AED"/>
              </a:buClr>
              <a:buSzPts val="1050"/>
              <a:buFont typeface="Courier New"/>
              <a:buNone/>
            </a:pPr>
            <a:r>
              <a:rPr b="0" i="0" lang="en-US" sz="1050" u="none" cap="none" strike="noStrike">
                <a:solidFill>
                  <a:srgbClr val="7C3AED"/>
                </a:solidFill>
                <a:latin typeface="Courier New"/>
                <a:ea typeface="Courier New"/>
                <a:cs typeface="Courier New"/>
                <a:sym typeface="Courier New"/>
              </a:rPr>
              <a:t>Bot: Where do you want to go?</a:t>
            </a:r>
            <a:endParaRPr b="0" i="0" sz="1050" u="none" cap="none" strike="noStrike">
              <a:solidFill>
                <a:schemeClr val="dk1"/>
              </a:solidFill>
              <a:latin typeface="Calibri"/>
              <a:ea typeface="Calibri"/>
              <a:cs typeface="Calibri"/>
              <a:sym typeface="Calibri"/>
            </a:endParaRPr>
          </a:p>
        </p:txBody>
      </p:sp>
      <p:sp>
        <p:nvSpPr>
          <p:cNvPr id="653" name="Google Shape;653;p23"/>
          <p:cNvSpPr/>
          <p:nvPr/>
        </p:nvSpPr>
        <p:spPr>
          <a:xfrm>
            <a:off x="667512" y="3310128"/>
            <a:ext cx="2450592" cy="502920"/>
          </a:xfrm>
          <a:prstGeom prst="roundRect">
            <a:avLst>
              <a:gd fmla="val 10909" name="adj"/>
            </a:avLst>
          </a:prstGeom>
          <a:solidFill>
            <a:srgbClr val="EDE9FE"/>
          </a:solidFill>
          <a:ln cap="flat" cmpd="sng" w="12700">
            <a:solidFill>
              <a:srgbClr val="7C3AED">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3"/>
          <p:cNvSpPr/>
          <p:nvPr/>
        </p:nvSpPr>
        <p:spPr>
          <a:xfrm>
            <a:off x="731520" y="3346704"/>
            <a:ext cx="2331720" cy="4297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C3AED"/>
              </a:buClr>
              <a:buSzPts val="1000"/>
              <a:buFont typeface="Courier New"/>
              <a:buNone/>
            </a:pPr>
            <a:r>
              <a:rPr b="0" i="0" lang="en-US" sz="1000" u="none" cap="none" strike="noStrike">
                <a:solidFill>
                  <a:srgbClr val="7C3AED"/>
                </a:solidFill>
                <a:latin typeface="Courier New"/>
                <a:ea typeface="Courier New"/>
                <a:cs typeface="Courier New"/>
                <a:sym typeface="Courier New"/>
              </a:rPr>
              <a:t>You: I want to go to Goa.</a:t>
            </a:r>
            <a:endParaRPr b="0" i="0" sz="1000" u="none" cap="none" strike="noStrike">
              <a:solidFill>
                <a:schemeClr val="dk1"/>
              </a:solidFill>
              <a:latin typeface="Calibri"/>
              <a:ea typeface="Calibri"/>
              <a:cs typeface="Calibri"/>
              <a:sym typeface="Calibri"/>
            </a:endParaRPr>
          </a:p>
        </p:txBody>
      </p:sp>
      <p:sp>
        <p:nvSpPr>
          <p:cNvPr id="655" name="Google Shape;655;p23"/>
          <p:cNvSpPr/>
          <p:nvPr/>
        </p:nvSpPr>
        <p:spPr>
          <a:xfrm>
            <a:off x="667512" y="3913632"/>
            <a:ext cx="2450592" cy="658368"/>
          </a:xfrm>
          <a:prstGeom prst="roundRect">
            <a:avLst>
              <a:gd fmla="val 8333" name="adj"/>
            </a:avLst>
          </a:prstGeom>
          <a:solidFill>
            <a:srgbClr val="F0FDF4"/>
          </a:solidFill>
          <a:ln cap="flat" cmpd="sng" w="12700">
            <a:solidFill>
              <a:srgbClr val="16A34A">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3"/>
          <p:cNvSpPr/>
          <p:nvPr/>
        </p:nvSpPr>
        <p:spPr>
          <a:xfrm>
            <a:off x="731520" y="3950208"/>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000"/>
              <a:buFont typeface="Courier New"/>
              <a:buNone/>
            </a:pPr>
            <a:r>
              <a:rPr b="0" i="0" lang="en-US" sz="1000" u="none" cap="none" strike="noStrike">
                <a:solidFill>
                  <a:srgbClr val="16A34A"/>
                </a:solidFill>
                <a:latin typeface="Courier New"/>
                <a:ea typeface="Courier New"/>
                <a:cs typeface="Courier New"/>
                <a:sym typeface="Courier New"/>
              </a:rPr>
              <a:t>Session: destination: Goa</a:t>
            </a:r>
            <a:endParaRPr b="0" i="0" sz="1000" u="none" cap="none" strike="noStrike">
              <a:solidFill>
                <a:schemeClr val="dk1"/>
              </a:solidFill>
              <a:latin typeface="Calibri"/>
              <a:ea typeface="Calibri"/>
              <a:cs typeface="Calibri"/>
              <a:sym typeface="Calibri"/>
            </a:endParaRPr>
          </a:p>
        </p:txBody>
      </p:sp>
      <p:sp>
        <p:nvSpPr>
          <p:cNvPr id="657" name="Google Shape;657;p23"/>
          <p:cNvSpPr/>
          <p:nvPr/>
        </p:nvSpPr>
        <p:spPr>
          <a:xfrm>
            <a:off x="3410712" y="1874520"/>
            <a:ext cx="2743200" cy="3310128"/>
          </a:xfrm>
          <a:prstGeom prst="roundRect">
            <a:avLst>
              <a:gd fmla="val 3333" name="adj"/>
            </a:avLst>
          </a:prstGeom>
          <a:solidFill>
            <a:srgbClr val="F8FAFC"/>
          </a:solidFill>
          <a:ln cap="flat" cmpd="sng" w="19050">
            <a:solidFill>
              <a:srgbClr val="0891B2">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3"/>
          <p:cNvSpPr/>
          <p:nvPr/>
        </p:nvSpPr>
        <p:spPr>
          <a:xfrm>
            <a:off x="3593592" y="2029968"/>
            <a:ext cx="438912" cy="438912"/>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3"/>
          <p:cNvSpPr/>
          <p:nvPr/>
        </p:nvSpPr>
        <p:spPr>
          <a:xfrm>
            <a:off x="3593592"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660" name="Google Shape;660;p23"/>
          <p:cNvSpPr/>
          <p:nvPr/>
        </p:nvSpPr>
        <p:spPr>
          <a:xfrm>
            <a:off x="4160520" y="2029968"/>
            <a:ext cx="1874520"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Gather dates</a:t>
            </a:r>
            <a:endParaRPr b="0" i="0" sz="1300" u="none" cap="none" strike="noStrike">
              <a:solidFill>
                <a:schemeClr val="dk1"/>
              </a:solidFill>
              <a:latin typeface="Calibri"/>
              <a:ea typeface="Calibri"/>
              <a:cs typeface="Calibri"/>
              <a:sym typeface="Calibri"/>
            </a:endParaRPr>
          </a:p>
        </p:txBody>
      </p:sp>
      <p:sp>
        <p:nvSpPr>
          <p:cNvPr id="661" name="Google Shape;661;p23"/>
          <p:cNvSpPr/>
          <p:nvPr/>
        </p:nvSpPr>
        <p:spPr>
          <a:xfrm>
            <a:off x="3575304" y="2578608"/>
            <a:ext cx="2450592" cy="658368"/>
          </a:xfrm>
          <a:prstGeom prst="roundRect">
            <a:avLst>
              <a:gd fmla="val 9722" name="adj"/>
            </a:avLst>
          </a:prstGeom>
          <a:solidFill>
            <a:srgbClr val="0891B2"/>
          </a:solidFill>
          <a:ln cap="flat" cmpd="sng" w="12700">
            <a:solidFill>
              <a:srgbClr val="0891B2">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3"/>
          <p:cNvSpPr/>
          <p:nvPr/>
        </p:nvSpPr>
        <p:spPr>
          <a:xfrm>
            <a:off x="3639312" y="2615184"/>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891B2"/>
              </a:buClr>
              <a:buSzPts val="1050"/>
              <a:buFont typeface="Courier New"/>
              <a:buNone/>
            </a:pPr>
            <a:r>
              <a:rPr b="0" i="0" lang="en-US" sz="1050" u="none" cap="none" strike="noStrike">
                <a:solidFill>
                  <a:srgbClr val="0891B2"/>
                </a:solidFill>
                <a:latin typeface="Courier New"/>
                <a:ea typeface="Courier New"/>
                <a:cs typeface="Courier New"/>
                <a:sym typeface="Courier New"/>
              </a:rPr>
              <a:t>Bot: Great! When are you planning to travel?</a:t>
            </a:r>
            <a:endParaRPr b="0" i="0" sz="1050" u="none" cap="none" strike="noStrike">
              <a:solidFill>
                <a:schemeClr val="dk1"/>
              </a:solidFill>
              <a:latin typeface="Calibri"/>
              <a:ea typeface="Calibri"/>
              <a:cs typeface="Calibri"/>
              <a:sym typeface="Calibri"/>
            </a:endParaRPr>
          </a:p>
        </p:txBody>
      </p:sp>
      <p:sp>
        <p:nvSpPr>
          <p:cNvPr id="663" name="Google Shape;663;p23"/>
          <p:cNvSpPr/>
          <p:nvPr/>
        </p:nvSpPr>
        <p:spPr>
          <a:xfrm>
            <a:off x="3575304" y="3310128"/>
            <a:ext cx="2450592" cy="502920"/>
          </a:xfrm>
          <a:prstGeom prst="roundRect">
            <a:avLst>
              <a:gd fmla="val 10909" name="adj"/>
            </a:avLst>
          </a:prstGeom>
          <a:solidFill>
            <a:srgbClr val="EDE9FE"/>
          </a:solidFill>
          <a:ln cap="flat" cmpd="sng" w="12700">
            <a:solidFill>
              <a:srgbClr val="7C3AED">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3"/>
          <p:cNvSpPr/>
          <p:nvPr/>
        </p:nvSpPr>
        <p:spPr>
          <a:xfrm>
            <a:off x="3639312" y="3346704"/>
            <a:ext cx="2331720" cy="4297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C3AED"/>
              </a:buClr>
              <a:buSzPts val="1000"/>
              <a:buFont typeface="Courier New"/>
              <a:buNone/>
            </a:pPr>
            <a:r>
              <a:rPr b="0" i="0" lang="en-US" sz="1000" u="none" cap="none" strike="noStrike">
                <a:solidFill>
                  <a:srgbClr val="7C3AED"/>
                </a:solidFill>
                <a:latin typeface="Courier New"/>
                <a:ea typeface="Courier New"/>
                <a:cs typeface="Courier New"/>
                <a:sym typeface="Courier New"/>
              </a:rPr>
              <a:t>You: Third week of December.</a:t>
            </a:r>
            <a:endParaRPr b="0" i="0" sz="1000" u="none" cap="none" strike="noStrike">
              <a:solidFill>
                <a:schemeClr val="dk1"/>
              </a:solidFill>
              <a:latin typeface="Calibri"/>
              <a:ea typeface="Calibri"/>
              <a:cs typeface="Calibri"/>
              <a:sym typeface="Calibri"/>
            </a:endParaRPr>
          </a:p>
        </p:txBody>
      </p:sp>
      <p:sp>
        <p:nvSpPr>
          <p:cNvPr id="665" name="Google Shape;665;p23"/>
          <p:cNvSpPr/>
          <p:nvPr/>
        </p:nvSpPr>
        <p:spPr>
          <a:xfrm>
            <a:off x="3575304" y="3913632"/>
            <a:ext cx="2450592" cy="658368"/>
          </a:xfrm>
          <a:prstGeom prst="roundRect">
            <a:avLst>
              <a:gd fmla="val 8333" name="adj"/>
            </a:avLst>
          </a:prstGeom>
          <a:solidFill>
            <a:srgbClr val="F0FDF4"/>
          </a:solidFill>
          <a:ln cap="flat" cmpd="sng" w="12700">
            <a:solidFill>
              <a:srgbClr val="16A34A">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3"/>
          <p:cNvSpPr/>
          <p:nvPr/>
        </p:nvSpPr>
        <p:spPr>
          <a:xfrm>
            <a:off x="3639312" y="3950208"/>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000"/>
              <a:buFont typeface="Courier New"/>
              <a:buNone/>
            </a:pPr>
            <a:r>
              <a:rPr b="0" i="0" lang="en-US" sz="1000" u="none" cap="none" strike="noStrike">
                <a:solidFill>
                  <a:srgbClr val="16A34A"/>
                </a:solidFill>
                <a:latin typeface="Courier New"/>
                <a:ea typeface="Courier New"/>
                <a:cs typeface="Courier New"/>
                <a:sym typeface="Courier New"/>
              </a:rPr>
              <a:t>Session: dates: Dec 15-22</a:t>
            </a:r>
            <a:endParaRPr b="0" i="0" sz="1000" u="none" cap="none" strike="noStrike">
              <a:solidFill>
                <a:schemeClr val="dk1"/>
              </a:solidFill>
              <a:latin typeface="Calibri"/>
              <a:ea typeface="Calibri"/>
              <a:cs typeface="Calibri"/>
              <a:sym typeface="Calibri"/>
            </a:endParaRPr>
          </a:p>
        </p:txBody>
      </p:sp>
      <p:sp>
        <p:nvSpPr>
          <p:cNvPr id="667" name="Google Shape;667;p23"/>
          <p:cNvSpPr/>
          <p:nvPr/>
        </p:nvSpPr>
        <p:spPr>
          <a:xfrm>
            <a:off x="6318504" y="1874520"/>
            <a:ext cx="2743200" cy="3310128"/>
          </a:xfrm>
          <a:prstGeom prst="roundRect">
            <a:avLst>
              <a:gd fmla="val 3333" name="adj"/>
            </a:avLst>
          </a:prstGeom>
          <a:solidFill>
            <a:srgbClr val="F8FAFC"/>
          </a:solidFill>
          <a:ln cap="flat" cmpd="sng" w="19050">
            <a:solidFill>
              <a:srgbClr val="16A34A">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3"/>
          <p:cNvSpPr/>
          <p:nvPr/>
        </p:nvSpPr>
        <p:spPr>
          <a:xfrm>
            <a:off x="6501384" y="2029968"/>
            <a:ext cx="438912" cy="43891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3"/>
          <p:cNvSpPr/>
          <p:nvPr/>
        </p:nvSpPr>
        <p:spPr>
          <a:xfrm>
            <a:off x="6501384"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670" name="Google Shape;670;p23"/>
          <p:cNvSpPr/>
          <p:nvPr/>
        </p:nvSpPr>
        <p:spPr>
          <a:xfrm>
            <a:off x="7068312" y="2029968"/>
            <a:ext cx="1874520"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Gather budget</a:t>
            </a:r>
            <a:endParaRPr b="0" i="0" sz="1300" u="none" cap="none" strike="noStrike">
              <a:solidFill>
                <a:schemeClr val="dk1"/>
              </a:solidFill>
              <a:latin typeface="Calibri"/>
              <a:ea typeface="Calibri"/>
              <a:cs typeface="Calibri"/>
              <a:sym typeface="Calibri"/>
            </a:endParaRPr>
          </a:p>
        </p:txBody>
      </p:sp>
      <p:sp>
        <p:nvSpPr>
          <p:cNvPr id="671" name="Google Shape;671;p23"/>
          <p:cNvSpPr/>
          <p:nvPr/>
        </p:nvSpPr>
        <p:spPr>
          <a:xfrm>
            <a:off x="6483096" y="2578608"/>
            <a:ext cx="2450592" cy="658368"/>
          </a:xfrm>
          <a:prstGeom prst="roundRect">
            <a:avLst>
              <a:gd fmla="val 9722" name="adj"/>
            </a:avLst>
          </a:prstGeom>
          <a:solidFill>
            <a:srgbClr val="16A34A"/>
          </a:solidFill>
          <a:ln cap="flat" cmpd="sng" w="12700">
            <a:solidFill>
              <a:srgbClr val="16A34A">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3"/>
          <p:cNvSpPr/>
          <p:nvPr/>
        </p:nvSpPr>
        <p:spPr>
          <a:xfrm>
            <a:off x="6547104" y="2615184"/>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050"/>
              <a:buFont typeface="Courier New"/>
              <a:buNone/>
            </a:pPr>
            <a:r>
              <a:rPr b="0" i="0" lang="en-US" sz="1050" u="none" cap="none" strike="noStrike">
                <a:solidFill>
                  <a:srgbClr val="16A34A"/>
                </a:solidFill>
                <a:latin typeface="Courier New"/>
                <a:ea typeface="Courier New"/>
                <a:cs typeface="Courier New"/>
                <a:sym typeface="Courier New"/>
              </a:rPr>
              <a:t>Bot: What is your budget per person?</a:t>
            </a:r>
            <a:endParaRPr b="0" i="0" sz="1050" u="none" cap="none" strike="noStrike">
              <a:solidFill>
                <a:schemeClr val="dk1"/>
              </a:solidFill>
              <a:latin typeface="Calibri"/>
              <a:ea typeface="Calibri"/>
              <a:cs typeface="Calibri"/>
              <a:sym typeface="Calibri"/>
            </a:endParaRPr>
          </a:p>
        </p:txBody>
      </p:sp>
      <p:sp>
        <p:nvSpPr>
          <p:cNvPr id="673" name="Google Shape;673;p23"/>
          <p:cNvSpPr/>
          <p:nvPr/>
        </p:nvSpPr>
        <p:spPr>
          <a:xfrm>
            <a:off x="6483096" y="3310128"/>
            <a:ext cx="2450592" cy="502920"/>
          </a:xfrm>
          <a:prstGeom prst="roundRect">
            <a:avLst>
              <a:gd fmla="val 10909" name="adj"/>
            </a:avLst>
          </a:prstGeom>
          <a:solidFill>
            <a:srgbClr val="EDE9FE"/>
          </a:solidFill>
          <a:ln cap="flat" cmpd="sng" w="12700">
            <a:solidFill>
              <a:srgbClr val="7C3AED">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3"/>
          <p:cNvSpPr/>
          <p:nvPr/>
        </p:nvSpPr>
        <p:spPr>
          <a:xfrm>
            <a:off x="6547104" y="3346704"/>
            <a:ext cx="2331720" cy="4297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C3AED"/>
              </a:buClr>
              <a:buSzPts val="1000"/>
              <a:buFont typeface="Courier New"/>
              <a:buNone/>
            </a:pPr>
            <a:r>
              <a:rPr b="0" i="0" lang="en-US" sz="1000" u="none" cap="none" strike="noStrike">
                <a:solidFill>
                  <a:srgbClr val="7C3AED"/>
                </a:solidFill>
                <a:latin typeface="Courier New"/>
                <a:ea typeface="Courier New"/>
                <a:cs typeface="Courier New"/>
                <a:sym typeface="Courier New"/>
              </a:rPr>
              <a:t>You: Around 20,000 rupees.</a:t>
            </a:r>
            <a:endParaRPr b="0" i="0" sz="1000" u="none" cap="none" strike="noStrike">
              <a:solidFill>
                <a:schemeClr val="dk1"/>
              </a:solidFill>
              <a:latin typeface="Calibri"/>
              <a:ea typeface="Calibri"/>
              <a:cs typeface="Calibri"/>
              <a:sym typeface="Calibri"/>
            </a:endParaRPr>
          </a:p>
        </p:txBody>
      </p:sp>
      <p:sp>
        <p:nvSpPr>
          <p:cNvPr id="675" name="Google Shape;675;p23"/>
          <p:cNvSpPr/>
          <p:nvPr/>
        </p:nvSpPr>
        <p:spPr>
          <a:xfrm>
            <a:off x="6483096" y="3913632"/>
            <a:ext cx="2450592" cy="658368"/>
          </a:xfrm>
          <a:prstGeom prst="roundRect">
            <a:avLst>
              <a:gd fmla="val 8333" name="adj"/>
            </a:avLst>
          </a:prstGeom>
          <a:solidFill>
            <a:srgbClr val="F0FDF4"/>
          </a:solidFill>
          <a:ln cap="flat" cmpd="sng" w="12700">
            <a:solidFill>
              <a:srgbClr val="16A34A">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3"/>
          <p:cNvSpPr/>
          <p:nvPr/>
        </p:nvSpPr>
        <p:spPr>
          <a:xfrm>
            <a:off x="6547104" y="3950208"/>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000"/>
              <a:buFont typeface="Courier New"/>
              <a:buNone/>
            </a:pPr>
            <a:r>
              <a:rPr b="0" i="0" lang="en-US" sz="1000" u="none" cap="none" strike="noStrike">
                <a:solidFill>
                  <a:srgbClr val="16A34A"/>
                </a:solidFill>
                <a:latin typeface="Courier New"/>
                <a:ea typeface="Courier New"/>
                <a:cs typeface="Courier New"/>
                <a:sym typeface="Courier New"/>
              </a:rPr>
              <a:t>Session: budget: ₹20,000/person</a:t>
            </a:r>
            <a:endParaRPr b="0" i="0" sz="1000" u="none" cap="none" strike="noStrike">
              <a:solidFill>
                <a:schemeClr val="dk1"/>
              </a:solidFill>
              <a:latin typeface="Calibri"/>
              <a:ea typeface="Calibri"/>
              <a:cs typeface="Calibri"/>
              <a:sym typeface="Calibri"/>
            </a:endParaRPr>
          </a:p>
        </p:txBody>
      </p:sp>
      <p:sp>
        <p:nvSpPr>
          <p:cNvPr id="677" name="Google Shape;677;p23"/>
          <p:cNvSpPr/>
          <p:nvPr/>
        </p:nvSpPr>
        <p:spPr>
          <a:xfrm>
            <a:off x="9226296" y="1874520"/>
            <a:ext cx="2743200" cy="3310128"/>
          </a:xfrm>
          <a:prstGeom prst="roundRect">
            <a:avLst>
              <a:gd fmla="val 3333" name="adj"/>
            </a:avLst>
          </a:prstGeom>
          <a:solidFill>
            <a:srgbClr val="F8FAFC"/>
          </a:solidFill>
          <a:ln cap="flat" cmpd="sng" w="19050">
            <a:solidFill>
              <a:srgbClr val="D97706">
                <a:alpha val="60000"/>
              </a:srgbClr>
            </a:solidFill>
            <a:prstDash val="solid"/>
            <a:round/>
            <a:headEnd len="sm" w="sm" type="none"/>
            <a:tailEnd len="sm" w="sm" type="none"/>
          </a:ln>
          <a:effectLst>
            <a:outerShdw blurRad="1016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3"/>
          <p:cNvSpPr/>
          <p:nvPr/>
        </p:nvSpPr>
        <p:spPr>
          <a:xfrm>
            <a:off x="9409176" y="2029968"/>
            <a:ext cx="438912" cy="438912"/>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3"/>
          <p:cNvSpPr/>
          <p:nvPr/>
        </p:nvSpPr>
        <p:spPr>
          <a:xfrm>
            <a:off x="9409176"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680" name="Google Shape;680;p23"/>
          <p:cNvSpPr/>
          <p:nvPr/>
        </p:nvSpPr>
        <p:spPr>
          <a:xfrm>
            <a:off x="9976104" y="2029968"/>
            <a:ext cx="1874520" cy="43891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Generate itinerary</a:t>
            </a:r>
            <a:endParaRPr b="0" i="0" sz="1300" u="none" cap="none" strike="noStrike">
              <a:solidFill>
                <a:schemeClr val="dk1"/>
              </a:solidFill>
              <a:latin typeface="Calibri"/>
              <a:ea typeface="Calibri"/>
              <a:cs typeface="Calibri"/>
              <a:sym typeface="Calibri"/>
            </a:endParaRPr>
          </a:p>
        </p:txBody>
      </p:sp>
      <p:sp>
        <p:nvSpPr>
          <p:cNvPr id="681" name="Google Shape;681;p23"/>
          <p:cNvSpPr/>
          <p:nvPr/>
        </p:nvSpPr>
        <p:spPr>
          <a:xfrm>
            <a:off x="9390888" y="2578608"/>
            <a:ext cx="2450592" cy="658368"/>
          </a:xfrm>
          <a:prstGeom prst="roundRect">
            <a:avLst>
              <a:gd fmla="val 9722" name="adj"/>
            </a:avLst>
          </a:prstGeom>
          <a:solidFill>
            <a:srgbClr val="D97706"/>
          </a:solidFill>
          <a:ln cap="flat" cmpd="sng" w="12700">
            <a:solidFill>
              <a:srgbClr val="D97706">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3"/>
          <p:cNvSpPr/>
          <p:nvPr/>
        </p:nvSpPr>
        <p:spPr>
          <a:xfrm>
            <a:off x="9454896" y="2615184"/>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D97706"/>
              </a:buClr>
              <a:buSzPts val="1050"/>
              <a:buFont typeface="Courier New"/>
              <a:buNone/>
            </a:pPr>
            <a:r>
              <a:rPr b="0" i="0" lang="en-US" sz="1050" u="none" cap="none" strike="noStrike">
                <a:solidFill>
                  <a:srgbClr val="D97706"/>
                </a:solidFill>
                <a:latin typeface="Courier New"/>
                <a:ea typeface="Courier New"/>
                <a:cs typeface="Courier New"/>
                <a:sym typeface="Courier New"/>
              </a:rPr>
              <a:t>Bot: Generating your personalised Goa itinerary...</a:t>
            </a:r>
            <a:endParaRPr b="0" i="0" sz="1050" u="none" cap="none" strike="noStrike">
              <a:solidFill>
                <a:schemeClr val="dk1"/>
              </a:solidFill>
              <a:latin typeface="Calibri"/>
              <a:ea typeface="Calibri"/>
              <a:cs typeface="Calibri"/>
              <a:sym typeface="Calibri"/>
            </a:endParaRPr>
          </a:p>
        </p:txBody>
      </p:sp>
      <p:sp>
        <p:nvSpPr>
          <p:cNvPr id="683" name="Google Shape;683;p23"/>
          <p:cNvSpPr/>
          <p:nvPr/>
        </p:nvSpPr>
        <p:spPr>
          <a:xfrm>
            <a:off x="9390888" y="3310128"/>
            <a:ext cx="2450592" cy="502920"/>
          </a:xfrm>
          <a:prstGeom prst="roundRect">
            <a:avLst>
              <a:gd fmla="val 10909" name="adj"/>
            </a:avLst>
          </a:prstGeom>
          <a:solidFill>
            <a:srgbClr val="EDE9FE"/>
          </a:solidFill>
          <a:ln cap="flat" cmpd="sng" w="12700">
            <a:solidFill>
              <a:srgbClr val="7C3AED">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3"/>
          <p:cNvSpPr/>
          <p:nvPr/>
        </p:nvSpPr>
        <p:spPr>
          <a:xfrm>
            <a:off x="9454896" y="3346704"/>
            <a:ext cx="2331720" cy="4297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7C3AED"/>
              </a:buClr>
              <a:buSzPts val="1000"/>
              <a:buFont typeface="Courier New"/>
              <a:buNone/>
            </a:pPr>
            <a:r>
              <a:rPr b="0" i="0" lang="en-US" sz="1000" u="none" cap="none" strike="noStrike">
                <a:solidFill>
                  <a:srgbClr val="7C3AED"/>
                </a:solidFill>
                <a:latin typeface="Courier New"/>
                <a:ea typeface="Courier New"/>
                <a:cs typeface="Courier New"/>
                <a:sym typeface="Courier New"/>
              </a:rPr>
              <a:t>You: [structured JSON output]</a:t>
            </a:r>
            <a:endParaRPr b="0" i="0" sz="1000" u="none" cap="none" strike="noStrike">
              <a:solidFill>
                <a:schemeClr val="dk1"/>
              </a:solidFill>
              <a:latin typeface="Calibri"/>
              <a:ea typeface="Calibri"/>
              <a:cs typeface="Calibri"/>
              <a:sym typeface="Calibri"/>
            </a:endParaRPr>
          </a:p>
        </p:txBody>
      </p:sp>
      <p:sp>
        <p:nvSpPr>
          <p:cNvPr id="685" name="Google Shape;685;p23"/>
          <p:cNvSpPr/>
          <p:nvPr/>
        </p:nvSpPr>
        <p:spPr>
          <a:xfrm>
            <a:off x="9390888" y="3913632"/>
            <a:ext cx="2450592" cy="658368"/>
          </a:xfrm>
          <a:prstGeom prst="roundRect">
            <a:avLst>
              <a:gd fmla="val 8333" name="adj"/>
            </a:avLst>
          </a:prstGeom>
          <a:solidFill>
            <a:srgbClr val="F0FDF4"/>
          </a:solidFill>
          <a:ln cap="flat" cmpd="sng" w="12700">
            <a:solidFill>
              <a:srgbClr val="16A34A">
                <a:alpha val="1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3"/>
          <p:cNvSpPr/>
          <p:nvPr/>
        </p:nvSpPr>
        <p:spPr>
          <a:xfrm>
            <a:off x="9454896" y="3950208"/>
            <a:ext cx="2331720" cy="58521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A34A"/>
              </a:buClr>
              <a:buSzPts val="1000"/>
              <a:buFont typeface="Courier New"/>
              <a:buNone/>
            </a:pPr>
            <a:r>
              <a:rPr b="0" i="0" lang="en-US" sz="1000" u="none" cap="none" strike="noStrike">
                <a:solidFill>
                  <a:srgbClr val="16A34A"/>
                </a:solidFill>
                <a:latin typeface="Courier New"/>
                <a:ea typeface="Courier New"/>
                <a:cs typeface="Courier New"/>
                <a:sym typeface="Courier New"/>
              </a:rPr>
              <a:t>Session: DONE: parse into record</a:t>
            </a:r>
            <a:endParaRPr b="0" i="0" sz="1000" u="none" cap="none" strike="noStrike">
              <a:solidFill>
                <a:schemeClr val="dk1"/>
              </a:solidFill>
              <a:latin typeface="Calibri"/>
              <a:ea typeface="Calibri"/>
              <a:cs typeface="Calibri"/>
              <a:sym typeface="Calibri"/>
            </a:endParaRPr>
          </a:p>
        </p:txBody>
      </p:sp>
      <p:sp>
        <p:nvSpPr>
          <p:cNvPr id="687" name="Google Shape;687;p23"/>
          <p:cNvSpPr/>
          <p:nvPr/>
        </p:nvSpPr>
        <p:spPr>
          <a:xfrm>
            <a:off x="502920" y="5349240"/>
            <a:ext cx="6903720" cy="1207008"/>
          </a:xfrm>
          <a:prstGeom prst="roundRect">
            <a:avLst>
              <a:gd fmla="val 6818" name="adj"/>
            </a:avLst>
          </a:prstGeom>
          <a:solidFill>
            <a:srgbClr val="111827"/>
          </a:solidFill>
          <a:ln cap="flat" cmpd="sng" w="12700">
            <a:solidFill>
              <a:srgbClr val="37415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3"/>
          <p:cNvSpPr/>
          <p:nvPr/>
        </p:nvSpPr>
        <p:spPr>
          <a:xfrm>
            <a:off x="658368" y="5413248"/>
            <a:ext cx="6629400" cy="10789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6EFAC"/>
              </a:buClr>
              <a:buSzPts val="1150"/>
              <a:buFont typeface="Courier New"/>
              <a:buNone/>
            </a:pPr>
            <a:r>
              <a:rPr b="0" i="0" lang="en-US" sz="1150" u="none" cap="none" strike="noStrike">
                <a:solidFill>
                  <a:srgbClr val="86EFAC"/>
                </a:solidFill>
                <a:latin typeface="Courier New"/>
                <a:ea typeface="Courier New"/>
                <a:cs typeface="Courier New"/>
                <a:sym typeface="Courier New"/>
              </a:rPr>
              <a:t>System prompt key instruction:</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150"/>
              <a:buFont typeface="Courier New"/>
              <a:buNone/>
            </a:pPr>
            <a:r>
              <a:rPr b="0" i="0" lang="en-US" sz="1150" u="none" cap="none" strike="noStrike">
                <a:solidFill>
                  <a:srgbClr val="86EFAC"/>
                </a:solidFill>
                <a:latin typeface="Courier New"/>
                <a:ea typeface="Courier New"/>
                <a:cs typeface="Courier New"/>
                <a:sym typeface="Courier New"/>
              </a:rPr>
              <a:t>"Gather destination, travel dates, and budget ONE AT A TIME through friendly questions.</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150"/>
              <a:buFont typeface="Courier New"/>
              <a:buNone/>
            </a:pPr>
            <a:r>
              <a:rPr b="0" i="0" lang="en-US" sz="1150" u="none" cap="none" strike="noStrike">
                <a:solidFill>
                  <a:srgbClr val="86EFAC"/>
                </a:solidFill>
                <a:latin typeface="Courier New"/>
                <a:ea typeface="Courier New"/>
                <a:cs typeface="Courier New"/>
                <a:sym typeface="Courier New"/>
              </a:rPr>
              <a:t>Once you have all three, generate a day-by-day itinerary as JSON:</a:t>
            </a:r>
            <a:endParaRPr b="0" i="0" sz="11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86EFAC"/>
              </a:buClr>
              <a:buSzPts val="1150"/>
              <a:buFont typeface="Courier New"/>
              <a:buNone/>
            </a:pPr>
            <a:r>
              <a:rPr b="0" i="0" lang="en-US" sz="1150" u="none" cap="none" strike="noStrike">
                <a:solidFill>
                  <a:srgbClr val="86EFAC"/>
                </a:solidFill>
                <a:latin typeface="Courier New"/>
                <a:ea typeface="Courier New"/>
                <a:cs typeface="Courier New"/>
                <a:sym typeface="Courier New"/>
              </a:rPr>
              <a:t>{destination, days:[{day,activities:[]}], totalBudget}"</a:t>
            </a:r>
            <a:endParaRPr b="0" i="0" sz="1150" u="none" cap="none" strike="noStrike">
              <a:solidFill>
                <a:schemeClr val="dk1"/>
              </a:solidFill>
              <a:latin typeface="Calibri"/>
              <a:ea typeface="Calibri"/>
              <a:cs typeface="Calibri"/>
              <a:sym typeface="Calibri"/>
            </a:endParaRPr>
          </a:p>
        </p:txBody>
      </p:sp>
      <p:sp>
        <p:nvSpPr>
          <p:cNvPr id="689" name="Google Shape;689;p23"/>
          <p:cNvSpPr/>
          <p:nvPr/>
        </p:nvSpPr>
        <p:spPr>
          <a:xfrm>
            <a:off x="7571232" y="5349240"/>
            <a:ext cx="4389120" cy="1207008"/>
          </a:xfrm>
          <a:prstGeom prst="roundRect">
            <a:avLst>
              <a:gd fmla="val 6818"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3"/>
          <p:cNvSpPr/>
          <p:nvPr/>
        </p:nvSpPr>
        <p:spPr>
          <a:xfrm>
            <a:off x="7726680" y="5468112"/>
            <a:ext cx="4069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Skills combined:</a:t>
            </a:r>
            <a:endParaRPr b="0" i="0" sz="1300" u="none" cap="none" strike="noStrike">
              <a:solidFill>
                <a:schemeClr val="dk1"/>
              </a:solidFill>
              <a:latin typeface="Calibri"/>
              <a:ea typeface="Calibri"/>
              <a:cs typeface="Calibri"/>
              <a:sym typeface="Calibri"/>
            </a:endParaRPr>
          </a:p>
        </p:txBody>
      </p:sp>
      <p:sp>
        <p:nvSpPr>
          <p:cNvPr id="691" name="Google Shape;691;p23"/>
          <p:cNvSpPr/>
          <p:nvPr/>
        </p:nvSpPr>
        <p:spPr>
          <a:xfrm>
            <a:off x="7726680" y="5833872"/>
            <a:ext cx="40690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  Session management (today)</a:t>
            </a:r>
            <a:endParaRPr b="0" i="0" sz="1200" u="none" cap="none" strike="noStrike">
              <a:solidFill>
                <a:schemeClr val="dk1"/>
              </a:solidFill>
              <a:latin typeface="Calibri"/>
              <a:ea typeface="Calibri"/>
              <a:cs typeface="Calibri"/>
              <a:sym typeface="Calibri"/>
            </a:endParaRPr>
          </a:p>
        </p:txBody>
      </p:sp>
      <p:sp>
        <p:nvSpPr>
          <p:cNvPr id="692" name="Google Shape;692;p23"/>
          <p:cNvSpPr/>
          <p:nvPr/>
        </p:nvSpPr>
        <p:spPr>
          <a:xfrm>
            <a:off x="7726680" y="6062472"/>
            <a:ext cx="40690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  Prompt engineering (S2)</a:t>
            </a:r>
            <a:endParaRPr b="0" i="0" sz="1200" u="none" cap="none" strike="noStrike">
              <a:solidFill>
                <a:schemeClr val="dk1"/>
              </a:solidFill>
              <a:latin typeface="Calibri"/>
              <a:ea typeface="Calibri"/>
              <a:cs typeface="Calibri"/>
              <a:sym typeface="Calibri"/>
            </a:endParaRPr>
          </a:p>
        </p:txBody>
      </p:sp>
      <p:sp>
        <p:nvSpPr>
          <p:cNvPr id="693" name="Google Shape;693;p23"/>
          <p:cNvSpPr/>
          <p:nvPr/>
        </p:nvSpPr>
        <p:spPr>
          <a:xfrm>
            <a:off x="7726680" y="6291072"/>
            <a:ext cx="40690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  Structured output (S3)</a:t>
            </a:r>
            <a:endParaRPr b="0" i="0" sz="1200" u="none" cap="none" strike="noStrike">
              <a:solidFill>
                <a:schemeClr val="dk1"/>
              </a:solidFill>
              <a:latin typeface="Calibri"/>
              <a:ea typeface="Calibri"/>
              <a:cs typeface="Calibri"/>
              <a:sym typeface="Calibri"/>
            </a:endParaRPr>
          </a:p>
        </p:txBody>
      </p:sp>
      <p:sp>
        <p:nvSpPr>
          <p:cNvPr id="694" name="Google Shape;694;p23"/>
          <p:cNvSpPr/>
          <p:nvPr/>
        </p:nvSpPr>
        <p:spPr>
          <a:xfrm>
            <a:off x="7726680" y="6519672"/>
            <a:ext cx="40690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  Multi-turn history (today)</a:t>
            </a:r>
            <a:endParaRPr b="0" i="0" sz="1200" u="none" cap="none" strike="noStrike">
              <a:solidFill>
                <a:schemeClr val="dk1"/>
              </a:solidFill>
              <a:latin typeface="Calibri"/>
              <a:ea typeface="Calibri"/>
              <a:cs typeface="Calibri"/>
              <a:sym typeface="Calibri"/>
            </a:endParaRPr>
          </a:p>
        </p:txBody>
      </p:sp>
      <p:sp>
        <p:nvSpPr>
          <p:cNvPr id="695" name="Google Shape;695;p23"/>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697" name="Google Shape;697;p2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02" name="Shape 702"/>
        <p:cNvGrpSpPr/>
        <p:nvPr/>
      </p:nvGrpSpPr>
      <p:grpSpPr>
        <a:xfrm>
          <a:off x="0" y="0"/>
          <a:ext cx="0" cy="0"/>
          <a:chOff x="0" y="0"/>
          <a:chExt cx="0" cy="0"/>
        </a:xfrm>
      </p:grpSpPr>
      <p:sp>
        <p:nvSpPr>
          <p:cNvPr id="703" name="Google Shape;703;p2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200"/>
              <a:buFont typeface="Calibri"/>
              <a:buNone/>
            </a:pPr>
            <a:r>
              <a:rPr b="1" i="0" lang="en-US" sz="1200" u="none" cap="none" strike="noStrike">
                <a:solidFill>
                  <a:srgbClr val="EA580C"/>
                </a:solidFill>
                <a:latin typeface="Calibri"/>
                <a:ea typeface="Calibri"/>
                <a:cs typeface="Calibri"/>
                <a:sym typeface="Calibri"/>
              </a:rPr>
              <a:t>ADVANCED PATTERN — RAG PREVIEW (WEEK 3)</a:t>
            </a:r>
            <a:endParaRPr b="0" i="0" sz="1200" u="none" cap="none" strike="noStrike">
              <a:solidFill>
                <a:schemeClr val="dk1"/>
              </a:solidFill>
              <a:latin typeface="Calibri"/>
              <a:ea typeface="Calibri"/>
              <a:cs typeface="Calibri"/>
              <a:sym typeface="Calibri"/>
            </a:endParaRPr>
          </a:p>
        </p:txBody>
      </p:sp>
      <p:sp>
        <p:nvSpPr>
          <p:cNvPr id="704" name="Google Shape;704;p24"/>
          <p:cNvSpPr/>
          <p:nvPr/>
        </p:nvSpPr>
        <p:spPr>
          <a:xfrm>
            <a:off x="685800" y="777240"/>
            <a:ext cx="10789920" cy="1143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000"/>
              <a:buFont typeface="Calibri"/>
              <a:buNone/>
            </a:pPr>
            <a:r>
              <a:rPr b="1" i="0" lang="en-US" sz="3000" u="none" cap="none" strike="noStrike">
                <a:solidFill>
                  <a:srgbClr val="E8ECFF"/>
                </a:solidFill>
                <a:latin typeface="Calibri"/>
                <a:ea typeface="Calibri"/>
                <a:cs typeface="Calibri"/>
                <a:sym typeface="Calibri"/>
              </a:rPr>
              <a:t>What if you could search past messages</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000"/>
              <a:buFont typeface="Calibri"/>
              <a:buNone/>
            </a:pPr>
            <a:r>
              <a:rPr b="1" i="0" lang="en-US" sz="3000" u="none" cap="none" strike="noStrike">
                <a:solidFill>
                  <a:srgbClr val="E8ECFF"/>
                </a:solidFill>
                <a:latin typeface="Calibri"/>
                <a:ea typeface="Calibri"/>
                <a:cs typeface="Calibri"/>
                <a:sym typeface="Calibri"/>
              </a:rPr>
              <a:t>instead of sending them all?</a:t>
            </a:r>
            <a:endParaRPr b="0" i="0" sz="3000" u="none" cap="none" strike="noStrike">
              <a:solidFill>
                <a:schemeClr val="dk1"/>
              </a:solidFill>
              <a:latin typeface="Calibri"/>
              <a:ea typeface="Calibri"/>
              <a:cs typeface="Calibri"/>
              <a:sym typeface="Calibri"/>
            </a:endParaRPr>
          </a:p>
        </p:txBody>
      </p:sp>
      <p:sp>
        <p:nvSpPr>
          <p:cNvPr id="705" name="Google Shape;705;p24"/>
          <p:cNvSpPr/>
          <p:nvPr/>
        </p:nvSpPr>
        <p:spPr>
          <a:xfrm>
            <a:off x="502920" y="2331720"/>
            <a:ext cx="5577840" cy="2606040"/>
          </a:xfrm>
          <a:prstGeom prst="roundRect">
            <a:avLst>
              <a:gd fmla="val 3509" name="adj"/>
            </a:avLst>
          </a:prstGeom>
          <a:solidFill>
            <a:srgbClr val="1C2236"/>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4"/>
          <p:cNvSpPr/>
          <p:nvPr/>
        </p:nvSpPr>
        <p:spPr>
          <a:xfrm>
            <a:off x="704088" y="2487168"/>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800"/>
              <a:buFont typeface="Calibri"/>
              <a:buNone/>
            </a:pPr>
            <a:r>
              <a:rPr b="1" i="0" lang="en-US" sz="1800" u="none" cap="none" strike="noStrike">
                <a:solidFill>
                  <a:srgbClr val="0891B2"/>
                </a:solidFill>
                <a:latin typeface="Calibri"/>
                <a:ea typeface="Calibri"/>
                <a:cs typeface="Calibri"/>
                <a:sym typeface="Calibri"/>
              </a:rPr>
              <a:t>Today's approach</a:t>
            </a:r>
            <a:endParaRPr b="0" i="0" sz="1800" u="none" cap="none" strike="noStrike">
              <a:solidFill>
                <a:schemeClr val="dk1"/>
              </a:solidFill>
              <a:latin typeface="Calibri"/>
              <a:ea typeface="Calibri"/>
              <a:cs typeface="Calibri"/>
              <a:sym typeface="Calibri"/>
            </a:endParaRPr>
          </a:p>
        </p:txBody>
      </p:sp>
      <p:sp>
        <p:nvSpPr>
          <p:cNvPr id="707" name="Google Shape;707;p24"/>
          <p:cNvSpPr/>
          <p:nvPr/>
        </p:nvSpPr>
        <p:spPr>
          <a:xfrm>
            <a:off x="704088" y="2999232"/>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Send ALL history every turn</a:t>
            </a:r>
            <a:endParaRPr b="0" i="0" sz="1400" u="none" cap="none" strike="noStrike">
              <a:solidFill>
                <a:schemeClr val="dk1"/>
              </a:solidFill>
              <a:latin typeface="Calibri"/>
              <a:ea typeface="Calibri"/>
              <a:cs typeface="Calibri"/>
              <a:sym typeface="Calibri"/>
            </a:endParaRPr>
          </a:p>
        </p:txBody>
      </p:sp>
      <p:sp>
        <p:nvSpPr>
          <p:cNvPr id="708" name="Google Shape;708;p24"/>
          <p:cNvSpPr/>
          <p:nvPr/>
        </p:nvSpPr>
        <p:spPr>
          <a:xfrm>
            <a:off x="704088" y="3438144"/>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Token cost grows linearly</a:t>
            </a:r>
            <a:endParaRPr b="0" i="0" sz="1400" u="none" cap="none" strike="noStrike">
              <a:solidFill>
                <a:schemeClr val="dk1"/>
              </a:solidFill>
              <a:latin typeface="Calibri"/>
              <a:ea typeface="Calibri"/>
              <a:cs typeface="Calibri"/>
              <a:sym typeface="Calibri"/>
            </a:endParaRPr>
          </a:p>
        </p:txBody>
      </p:sp>
      <p:sp>
        <p:nvSpPr>
          <p:cNvPr id="709" name="Google Shape;709;p24"/>
          <p:cNvSpPr/>
          <p:nvPr/>
        </p:nvSpPr>
        <p:spPr>
          <a:xfrm>
            <a:off x="704088" y="3877056"/>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128k context limit is the hard cap</a:t>
            </a:r>
            <a:endParaRPr b="0" i="0" sz="1400" u="none" cap="none" strike="noStrike">
              <a:solidFill>
                <a:schemeClr val="dk1"/>
              </a:solidFill>
              <a:latin typeface="Calibri"/>
              <a:ea typeface="Calibri"/>
              <a:cs typeface="Calibri"/>
              <a:sym typeface="Calibri"/>
            </a:endParaRPr>
          </a:p>
        </p:txBody>
      </p:sp>
      <p:sp>
        <p:nvSpPr>
          <p:cNvPr id="710" name="Google Shape;710;p24"/>
          <p:cNvSpPr/>
          <p:nvPr/>
        </p:nvSpPr>
        <p:spPr>
          <a:xfrm>
            <a:off x="704088" y="4315968"/>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11D48"/>
              </a:buClr>
              <a:buSzPts val="1400"/>
              <a:buFont typeface="Calibri"/>
              <a:buNone/>
            </a:pPr>
            <a:r>
              <a:rPr b="0" i="0" lang="en-US" sz="1400" u="none" cap="none" strike="noStrike">
                <a:solidFill>
                  <a:srgbClr val="E11D48"/>
                </a:solidFill>
                <a:latin typeface="Calibri"/>
                <a:ea typeface="Calibri"/>
                <a:cs typeface="Calibri"/>
                <a:sym typeface="Calibri"/>
              </a:rPr>
              <a:t>✓ Simple to implement</a:t>
            </a:r>
            <a:endParaRPr b="0" i="0" sz="1400" u="none" cap="none" strike="noStrike">
              <a:solidFill>
                <a:schemeClr val="dk1"/>
              </a:solidFill>
              <a:latin typeface="Calibri"/>
              <a:ea typeface="Calibri"/>
              <a:cs typeface="Calibri"/>
              <a:sym typeface="Calibri"/>
            </a:endParaRPr>
          </a:p>
        </p:txBody>
      </p:sp>
      <p:sp>
        <p:nvSpPr>
          <p:cNvPr id="711" name="Google Shape;711;p24"/>
          <p:cNvSpPr/>
          <p:nvPr/>
        </p:nvSpPr>
        <p:spPr>
          <a:xfrm>
            <a:off x="6309360" y="2331720"/>
            <a:ext cx="5577840" cy="2606040"/>
          </a:xfrm>
          <a:prstGeom prst="roundRect">
            <a:avLst>
              <a:gd fmla="val 3509" name="adj"/>
            </a:avLst>
          </a:prstGeom>
          <a:solidFill>
            <a:srgbClr val="1C2236"/>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4"/>
          <p:cNvSpPr/>
          <p:nvPr/>
        </p:nvSpPr>
        <p:spPr>
          <a:xfrm>
            <a:off x="6510528" y="2487168"/>
            <a:ext cx="5212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800"/>
              <a:buFont typeface="Calibri"/>
              <a:buNone/>
            </a:pPr>
            <a:r>
              <a:rPr b="1" i="0" lang="en-US" sz="1800" u="none" cap="none" strike="noStrike">
                <a:solidFill>
                  <a:srgbClr val="16A34A"/>
                </a:solidFill>
                <a:latin typeface="Calibri"/>
                <a:ea typeface="Calibri"/>
                <a:cs typeface="Calibri"/>
                <a:sym typeface="Calibri"/>
              </a:rPr>
              <a:t>Week 3 approach (RAG)</a:t>
            </a:r>
            <a:endParaRPr b="0" i="0" sz="1800" u="none" cap="none" strike="noStrike">
              <a:solidFill>
                <a:schemeClr val="dk1"/>
              </a:solidFill>
              <a:latin typeface="Calibri"/>
              <a:ea typeface="Calibri"/>
              <a:cs typeface="Calibri"/>
              <a:sym typeface="Calibri"/>
            </a:endParaRPr>
          </a:p>
        </p:txBody>
      </p:sp>
      <p:sp>
        <p:nvSpPr>
          <p:cNvPr id="713" name="Google Shape;713;p24"/>
          <p:cNvSpPr/>
          <p:nvPr/>
        </p:nvSpPr>
        <p:spPr>
          <a:xfrm>
            <a:off x="6510528" y="2999232"/>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Store ALL messages in vector DB</a:t>
            </a:r>
            <a:endParaRPr b="0" i="0" sz="1400" u="none" cap="none" strike="noStrike">
              <a:solidFill>
                <a:schemeClr val="dk1"/>
              </a:solidFill>
              <a:latin typeface="Calibri"/>
              <a:ea typeface="Calibri"/>
              <a:cs typeface="Calibri"/>
              <a:sym typeface="Calibri"/>
            </a:endParaRPr>
          </a:p>
        </p:txBody>
      </p:sp>
      <p:sp>
        <p:nvSpPr>
          <p:cNvPr id="714" name="Google Shape;714;p24"/>
          <p:cNvSpPr/>
          <p:nvPr/>
        </p:nvSpPr>
        <p:spPr>
          <a:xfrm>
            <a:off x="6510528" y="3438144"/>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At each turn, find semantically relevant past messages</a:t>
            </a:r>
            <a:endParaRPr b="0" i="0" sz="1400" u="none" cap="none" strike="noStrike">
              <a:solidFill>
                <a:schemeClr val="dk1"/>
              </a:solidFill>
              <a:latin typeface="Calibri"/>
              <a:ea typeface="Calibri"/>
              <a:cs typeface="Calibri"/>
              <a:sym typeface="Calibri"/>
            </a:endParaRPr>
          </a:p>
        </p:txBody>
      </p:sp>
      <p:sp>
        <p:nvSpPr>
          <p:cNvPr id="715" name="Google Shape;715;p24"/>
          <p:cNvSpPr/>
          <p:nvPr/>
        </p:nvSpPr>
        <p:spPr>
          <a:xfrm>
            <a:off x="6510528" y="3877056"/>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Inject only those into the prompt</a:t>
            </a:r>
            <a:endParaRPr b="0" i="0" sz="1400" u="none" cap="none" strike="noStrike">
              <a:solidFill>
                <a:schemeClr val="dk1"/>
              </a:solidFill>
              <a:latin typeface="Calibri"/>
              <a:ea typeface="Calibri"/>
              <a:cs typeface="Calibri"/>
              <a:sym typeface="Calibri"/>
            </a:endParaRPr>
          </a:p>
        </p:txBody>
      </p:sp>
      <p:sp>
        <p:nvSpPr>
          <p:cNvPr id="716" name="Google Shape;716;p24"/>
          <p:cNvSpPr/>
          <p:nvPr/>
        </p:nvSpPr>
        <p:spPr>
          <a:xfrm>
            <a:off x="6510528" y="4315968"/>
            <a:ext cx="5166360" cy="38404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CFF"/>
              </a:buClr>
              <a:buSzPts val="1400"/>
              <a:buFont typeface="Calibri"/>
              <a:buNone/>
            </a:pPr>
            <a:r>
              <a:rPr b="0" i="0" lang="en-US" sz="1400" u="none" cap="none" strike="noStrike">
                <a:solidFill>
                  <a:srgbClr val="E8ECFF"/>
                </a:solidFill>
                <a:latin typeface="Calibri"/>
                <a:ea typeface="Calibri"/>
                <a:cs typeface="Calibri"/>
                <a:sym typeface="Calibri"/>
              </a:rPr>
              <a:t>✓ Effectively UNLIMITED conversation length</a:t>
            </a:r>
            <a:endParaRPr b="0" i="0" sz="1400" u="none" cap="none" strike="noStrike">
              <a:solidFill>
                <a:schemeClr val="dk1"/>
              </a:solidFill>
              <a:latin typeface="Calibri"/>
              <a:ea typeface="Calibri"/>
              <a:cs typeface="Calibri"/>
              <a:sym typeface="Calibri"/>
            </a:endParaRPr>
          </a:p>
        </p:txBody>
      </p:sp>
      <p:cxnSp>
        <p:nvCxnSpPr>
          <p:cNvPr id="717" name="Google Shape;717;p24"/>
          <p:cNvCxnSpPr/>
          <p:nvPr/>
        </p:nvCxnSpPr>
        <p:spPr>
          <a:xfrm>
            <a:off x="5669280" y="3639312"/>
            <a:ext cx="960120" cy="0"/>
          </a:xfrm>
          <a:prstGeom prst="straightConnector1">
            <a:avLst/>
          </a:prstGeom>
          <a:noFill/>
          <a:ln cap="flat" cmpd="sng" w="25400">
            <a:solidFill>
              <a:srgbClr val="D97706"/>
            </a:solidFill>
            <a:prstDash val="solid"/>
            <a:round/>
            <a:headEnd len="sm" w="sm" type="none"/>
            <a:tailEnd len="med" w="med" type="triangle"/>
          </a:ln>
        </p:spPr>
      </p:cxnSp>
      <p:sp>
        <p:nvSpPr>
          <p:cNvPr id="718" name="Google Shape;718;p24"/>
          <p:cNvSpPr/>
          <p:nvPr/>
        </p:nvSpPr>
        <p:spPr>
          <a:xfrm>
            <a:off x="5577840" y="3749040"/>
            <a:ext cx="1143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upgrade to</a:t>
            </a:r>
            <a:endParaRPr b="0" i="0" sz="1000" u="none" cap="none" strike="noStrike">
              <a:solidFill>
                <a:schemeClr val="dk1"/>
              </a:solidFill>
              <a:latin typeface="Calibri"/>
              <a:ea typeface="Calibri"/>
              <a:cs typeface="Calibri"/>
              <a:sym typeface="Calibri"/>
            </a:endParaRPr>
          </a:p>
        </p:txBody>
      </p:sp>
      <p:sp>
        <p:nvSpPr>
          <p:cNvPr id="719" name="Google Shape;719;p24"/>
          <p:cNvSpPr/>
          <p:nvPr/>
        </p:nvSpPr>
        <p:spPr>
          <a:xfrm>
            <a:off x="502920" y="5166360"/>
            <a:ext cx="11109960" cy="1298448"/>
          </a:xfrm>
          <a:prstGeom prst="roundRect">
            <a:avLst>
              <a:gd fmla="val 7042" name="adj"/>
            </a:avLst>
          </a:prstGeom>
          <a:solidFill>
            <a:srgbClr val="1C2236"/>
          </a:solidFill>
          <a:ln cap="flat" cmpd="sng" w="12700">
            <a:solidFill>
              <a:srgbClr val="EA580C">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4"/>
          <p:cNvSpPr/>
          <p:nvPr/>
        </p:nvSpPr>
        <p:spPr>
          <a:xfrm>
            <a:off x="713232" y="5285232"/>
            <a:ext cx="2743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580C"/>
              </a:buClr>
              <a:buSzPts val="1500"/>
              <a:buFont typeface="Calibri"/>
              <a:buNone/>
            </a:pPr>
            <a:r>
              <a:rPr b="1" i="0" lang="en-US" sz="1500" u="none" cap="none" strike="noStrike">
                <a:solidFill>
                  <a:srgbClr val="EA580C"/>
                </a:solidFill>
                <a:latin typeface="Calibri"/>
                <a:ea typeface="Calibri"/>
                <a:cs typeface="Calibri"/>
                <a:sym typeface="Calibri"/>
              </a:rPr>
              <a:t>Coming in Week 3:</a:t>
            </a:r>
            <a:endParaRPr b="0" i="0" sz="1500" u="none" cap="none" strike="noStrike">
              <a:solidFill>
                <a:schemeClr val="dk1"/>
              </a:solidFill>
              <a:latin typeface="Calibri"/>
              <a:ea typeface="Calibri"/>
              <a:cs typeface="Calibri"/>
              <a:sym typeface="Calibri"/>
            </a:endParaRPr>
          </a:p>
        </p:txBody>
      </p:sp>
      <p:sp>
        <p:nvSpPr>
          <p:cNvPr id="721" name="Google Shape;721;p24"/>
          <p:cNvSpPr/>
          <p:nvPr/>
        </p:nvSpPr>
        <p:spPr>
          <a:xfrm>
            <a:off x="713232" y="5650992"/>
            <a:ext cx="10652760"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400"/>
              <a:buFont typeface="Calibri"/>
              <a:buNone/>
            </a:pPr>
            <a:r>
              <a:rPr b="0" i="0" lang="en-US" sz="1400" u="none" cap="none" strike="noStrike">
                <a:solidFill>
                  <a:srgbClr val="8B92B8"/>
                </a:solidFill>
                <a:latin typeface="Calibri"/>
                <a:ea typeface="Calibri"/>
                <a:cs typeface="Calibri"/>
                <a:sym typeface="Calibri"/>
              </a:rPr>
              <a:t>You embed every message as a vector, store it in Chroma/pgvector, and at each new turn retrieve the 5 most semantically similar past messages. A user conversation can run for 1,000 turns without growing token cost. This is what powers the Study Buddy — it retrieves relevant course notes AND relevant conversation history. That is Week 3.</a:t>
            </a:r>
            <a:endParaRPr b="0" i="0" sz="1400" u="none" cap="none" strike="noStrike">
              <a:solidFill>
                <a:schemeClr val="dk1"/>
              </a:solidFill>
              <a:latin typeface="Calibri"/>
              <a:ea typeface="Calibri"/>
              <a:cs typeface="Calibri"/>
              <a:sym typeface="Calibri"/>
            </a:endParaRPr>
          </a:p>
        </p:txBody>
      </p:sp>
      <p:sp>
        <p:nvSpPr>
          <p:cNvPr id="722" name="Google Shape;722;p24"/>
          <p:cNvSpPr/>
          <p:nvPr/>
        </p:nvSpPr>
        <p:spPr>
          <a:xfrm>
            <a:off x="0" y="6583680"/>
            <a:ext cx="12191695" cy="274320"/>
          </a:xfrm>
          <a:prstGeom prst="rect">
            <a:avLst/>
          </a:prstGeom>
          <a:solidFill>
            <a:srgbClr val="EA580C">
              <a:alpha val="12156"/>
            </a:srgbClr>
          </a:solidFill>
          <a:ln cap="flat" cmpd="sng" w="12700">
            <a:solidFill>
              <a:srgbClr val="EA580C">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724" name="Google Shape;724;p2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29" name="Shape 729"/>
        <p:cNvGrpSpPr/>
        <p:nvPr/>
      </p:nvGrpSpPr>
      <p:grpSpPr>
        <a:xfrm>
          <a:off x="0" y="0"/>
          <a:ext cx="0" cy="0"/>
          <a:chOff x="0" y="0"/>
          <a:chExt cx="0" cy="0"/>
        </a:xfrm>
      </p:grpSpPr>
      <p:sp>
        <p:nvSpPr>
          <p:cNvPr id="730" name="Google Shape;730;p25"/>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YOUR TURN — 20 MINUTE LAB</a:t>
            </a:r>
            <a:endParaRPr b="0" i="0" sz="1200" u="none" cap="none" strike="noStrike">
              <a:solidFill>
                <a:schemeClr val="dk1"/>
              </a:solidFill>
              <a:latin typeface="Calibri"/>
              <a:ea typeface="Calibri"/>
              <a:cs typeface="Calibri"/>
              <a:sym typeface="Calibri"/>
            </a:endParaRPr>
          </a:p>
        </p:txBody>
      </p:sp>
      <p:sp>
        <p:nvSpPr>
          <p:cNvPr id="731" name="Google Shape;731;p25"/>
          <p:cNvSpPr/>
          <p:nvPr/>
        </p:nvSpPr>
        <p:spPr>
          <a:xfrm>
            <a:off x="685800" y="749808"/>
            <a:ext cx="10789920" cy="1600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4600"/>
              <a:buFont typeface="Calibri"/>
              <a:buNone/>
            </a:pPr>
            <a:r>
              <a:rPr b="1" i="0" lang="en-US" sz="4600" u="none" cap="none" strike="noStrike">
                <a:solidFill>
                  <a:srgbClr val="E8ECFF"/>
                </a:solidFill>
                <a:latin typeface="Calibri"/>
                <a:ea typeface="Calibri"/>
                <a:cs typeface="Calibri"/>
                <a:sym typeface="Calibri"/>
              </a:rPr>
              <a:t>Three challenges.</a:t>
            </a:r>
            <a:endParaRPr b="0" i="0" sz="4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4600"/>
              <a:buFont typeface="Calibri"/>
              <a:buNone/>
            </a:pPr>
            <a:r>
              <a:rPr b="1" i="0" lang="en-US" sz="4600" u="none" cap="none" strike="noStrike">
                <a:solidFill>
                  <a:srgbClr val="E8ECFF"/>
                </a:solidFill>
                <a:latin typeface="Calibri"/>
                <a:ea typeface="Calibri"/>
                <a:cs typeface="Calibri"/>
                <a:sym typeface="Calibri"/>
              </a:rPr>
              <a:t>Pick at least two.</a:t>
            </a:r>
            <a:endParaRPr b="0" i="0" sz="4600" u="none" cap="none" strike="noStrike">
              <a:solidFill>
                <a:schemeClr val="dk1"/>
              </a:solidFill>
              <a:latin typeface="Calibri"/>
              <a:ea typeface="Calibri"/>
              <a:cs typeface="Calibri"/>
              <a:sym typeface="Calibri"/>
            </a:endParaRPr>
          </a:p>
        </p:txBody>
      </p:sp>
      <p:sp>
        <p:nvSpPr>
          <p:cNvPr id="732" name="Google Shape;732;p25"/>
          <p:cNvSpPr/>
          <p:nvPr/>
        </p:nvSpPr>
        <p:spPr>
          <a:xfrm>
            <a:off x="502920" y="2788920"/>
            <a:ext cx="5596128" cy="1572768"/>
          </a:xfrm>
          <a:prstGeom prst="roundRect">
            <a:avLst>
              <a:gd fmla="val 5233" name="adj"/>
            </a:avLst>
          </a:prstGeom>
          <a:solidFill>
            <a:srgbClr val="1C2236"/>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5"/>
          <p:cNvSpPr/>
          <p:nvPr/>
        </p:nvSpPr>
        <p:spPr>
          <a:xfrm>
            <a:off x="704088" y="3319272"/>
            <a:ext cx="457200" cy="45720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5"/>
          <p:cNvSpPr/>
          <p:nvPr/>
        </p:nvSpPr>
        <p:spPr>
          <a:xfrm>
            <a:off x="704088" y="33192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a:t>
            </a:r>
            <a:endParaRPr b="0" i="0" sz="1800" u="none" cap="none" strike="noStrike">
              <a:solidFill>
                <a:schemeClr val="dk1"/>
              </a:solidFill>
              <a:latin typeface="Calibri"/>
              <a:ea typeface="Calibri"/>
              <a:cs typeface="Calibri"/>
              <a:sym typeface="Calibri"/>
            </a:endParaRPr>
          </a:p>
        </p:txBody>
      </p:sp>
      <p:sp>
        <p:nvSpPr>
          <p:cNvPr id="735" name="Google Shape;735;p25"/>
          <p:cNvSpPr/>
          <p:nvPr/>
        </p:nvSpPr>
        <p:spPr>
          <a:xfrm>
            <a:off x="1307592" y="2953512"/>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Build the travel planner</a:t>
            </a:r>
            <a:endParaRPr b="0" i="0" sz="1500" u="none" cap="none" strike="noStrike">
              <a:solidFill>
                <a:schemeClr val="dk1"/>
              </a:solidFill>
              <a:latin typeface="Calibri"/>
              <a:ea typeface="Calibri"/>
              <a:cs typeface="Calibri"/>
              <a:sym typeface="Calibri"/>
            </a:endParaRPr>
          </a:p>
        </p:txBody>
      </p:sp>
      <p:sp>
        <p:nvSpPr>
          <p:cNvPr id="736" name="Google Shape;736;p25"/>
          <p:cNvSpPr/>
          <p:nvPr/>
        </p:nvSpPr>
        <p:spPr>
          <a:xfrm>
            <a:off x="1307592" y="3383280"/>
            <a:ext cx="4681728"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b="0" i="0" lang="en-US" sz="1300" u="none" cap="none" strike="noStrike">
                <a:solidFill>
                  <a:srgbClr val="8B92B8"/>
                </a:solidFill>
                <a:latin typeface="Calibri"/>
                <a:ea typeface="Calibri"/>
                <a:cs typeface="Calibri"/>
                <a:sym typeface="Calibri"/>
              </a:rPr>
              <a:t>Use the session service. System prompt: gather destination + dates + budget one at a time, then return a JSON itinerary. Parse it into a Java record.</a:t>
            </a:r>
            <a:endParaRPr b="0" i="0" sz="1300" u="none" cap="none" strike="noStrike">
              <a:solidFill>
                <a:schemeClr val="dk1"/>
              </a:solidFill>
              <a:latin typeface="Calibri"/>
              <a:ea typeface="Calibri"/>
              <a:cs typeface="Calibri"/>
              <a:sym typeface="Calibri"/>
            </a:endParaRPr>
          </a:p>
        </p:txBody>
      </p:sp>
      <p:sp>
        <p:nvSpPr>
          <p:cNvPr id="737" name="Google Shape;737;p25"/>
          <p:cNvSpPr/>
          <p:nvPr/>
        </p:nvSpPr>
        <p:spPr>
          <a:xfrm>
            <a:off x="6309360" y="2788920"/>
            <a:ext cx="5596128" cy="1572768"/>
          </a:xfrm>
          <a:prstGeom prst="roundRect">
            <a:avLst>
              <a:gd fmla="val 5233" name="adj"/>
            </a:avLst>
          </a:prstGeom>
          <a:solidFill>
            <a:srgbClr val="1C2236"/>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5"/>
          <p:cNvSpPr/>
          <p:nvPr/>
        </p:nvSpPr>
        <p:spPr>
          <a:xfrm>
            <a:off x="6510528" y="3319272"/>
            <a:ext cx="457200" cy="457200"/>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5"/>
          <p:cNvSpPr/>
          <p:nvPr/>
        </p:nvSpPr>
        <p:spPr>
          <a:xfrm>
            <a:off x="6510528" y="3319272"/>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B</a:t>
            </a:r>
            <a:endParaRPr b="0" i="0" sz="1800" u="none" cap="none" strike="noStrike">
              <a:solidFill>
                <a:schemeClr val="dk1"/>
              </a:solidFill>
              <a:latin typeface="Calibri"/>
              <a:ea typeface="Calibri"/>
              <a:cs typeface="Calibri"/>
              <a:sym typeface="Calibri"/>
            </a:endParaRPr>
          </a:p>
        </p:txBody>
      </p:sp>
      <p:sp>
        <p:nvSpPr>
          <p:cNvPr id="740" name="Google Shape;740;p25"/>
          <p:cNvSpPr/>
          <p:nvPr/>
        </p:nvSpPr>
        <p:spPr>
          <a:xfrm>
            <a:off x="7114032" y="2953512"/>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Add sliding window trimming</a:t>
            </a:r>
            <a:endParaRPr b="0" i="0" sz="1500" u="none" cap="none" strike="noStrike">
              <a:solidFill>
                <a:schemeClr val="dk1"/>
              </a:solidFill>
              <a:latin typeface="Calibri"/>
              <a:ea typeface="Calibri"/>
              <a:cs typeface="Calibri"/>
              <a:sym typeface="Calibri"/>
            </a:endParaRPr>
          </a:p>
        </p:txBody>
      </p:sp>
      <p:sp>
        <p:nvSpPr>
          <p:cNvPr id="741" name="Google Shape;741;p25"/>
          <p:cNvSpPr/>
          <p:nvPr/>
        </p:nvSpPr>
        <p:spPr>
          <a:xfrm>
            <a:off x="7114032" y="3383280"/>
            <a:ext cx="4681728"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b="0" i="0" lang="en-US" sz="1300" u="none" cap="none" strike="noStrike">
                <a:solidFill>
                  <a:srgbClr val="8B92B8"/>
                </a:solidFill>
                <a:latin typeface="Calibri"/>
                <a:ea typeface="Calibri"/>
                <a:cs typeface="Calibri"/>
                <a:sym typeface="Calibri"/>
              </a:rPr>
              <a:t>Modify the session service: when history &gt; 10 messages, remove the oldest user+assistant pair (keep system[0] intact). Watch token counts stay bounded.</a:t>
            </a:r>
            <a:endParaRPr b="0" i="0" sz="1300" u="none" cap="none" strike="noStrike">
              <a:solidFill>
                <a:schemeClr val="dk1"/>
              </a:solidFill>
              <a:latin typeface="Calibri"/>
              <a:ea typeface="Calibri"/>
              <a:cs typeface="Calibri"/>
              <a:sym typeface="Calibri"/>
            </a:endParaRPr>
          </a:p>
        </p:txBody>
      </p:sp>
      <p:sp>
        <p:nvSpPr>
          <p:cNvPr id="742" name="Google Shape;742;p25"/>
          <p:cNvSpPr/>
          <p:nvPr/>
        </p:nvSpPr>
        <p:spPr>
          <a:xfrm>
            <a:off x="502920" y="4507992"/>
            <a:ext cx="5596128" cy="1572768"/>
          </a:xfrm>
          <a:prstGeom prst="roundRect">
            <a:avLst>
              <a:gd fmla="val 5233" name="adj"/>
            </a:avLst>
          </a:prstGeom>
          <a:solidFill>
            <a:srgbClr val="1C2236"/>
          </a:solidFill>
          <a:ln cap="flat" cmpd="sng" w="12700">
            <a:solidFill>
              <a:srgbClr val="D97706">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5"/>
          <p:cNvSpPr/>
          <p:nvPr/>
        </p:nvSpPr>
        <p:spPr>
          <a:xfrm>
            <a:off x="704088" y="5038344"/>
            <a:ext cx="457200" cy="457200"/>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5"/>
          <p:cNvSpPr/>
          <p:nvPr/>
        </p:nvSpPr>
        <p:spPr>
          <a:xfrm>
            <a:off x="704088" y="50383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C</a:t>
            </a:r>
            <a:endParaRPr b="0" i="0" sz="1800" u="none" cap="none" strike="noStrike">
              <a:solidFill>
                <a:schemeClr val="dk1"/>
              </a:solidFill>
              <a:latin typeface="Calibri"/>
              <a:ea typeface="Calibri"/>
              <a:cs typeface="Calibri"/>
              <a:sym typeface="Calibri"/>
            </a:endParaRPr>
          </a:p>
        </p:txBody>
      </p:sp>
      <p:sp>
        <p:nvSpPr>
          <p:cNvPr id="745" name="Google Shape;745;p25"/>
          <p:cNvSpPr/>
          <p:nvPr/>
        </p:nvSpPr>
        <p:spPr>
          <a:xfrm>
            <a:off x="1307592" y="4672584"/>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500"/>
              <a:buFont typeface="Calibri"/>
              <a:buNone/>
            </a:pPr>
            <a:r>
              <a:rPr b="1" i="0" lang="en-US" sz="1500" u="none" cap="none" strike="noStrike">
                <a:solidFill>
                  <a:srgbClr val="D97706"/>
                </a:solidFill>
                <a:latin typeface="Calibri"/>
                <a:ea typeface="Calibri"/>
                <a:cs typeface="Calibri"/>
                <a:sym typeface="Calibri"/>
              </a:rPr>
              <a:t>Two-session isolation test</a:t>
            </a:r>
            <a:endParaRPr b="0" i="0" sz="1500" u="none" cap="none" strike="noStrike">
              <a:solidFill>
                <a:schemeClr val="dk1"/>
              </a:solidFill>
              <a:latin typeface="Calibri"/>
              <a:ea typeface="Calibri"/>
              <a:cs typeface="Calibri"/>
              <a:sym typeface="Calibri"/>
            </a:endParaRPr>
          </a:p>
        </p:txBody>
      </p:sp>
      <p:sp>
        <p:nvSpPr>
          <p:cNvPr id="746" name="Google Shape;746;p25"/>
          <p:cNvSpPr/>
          <p:nvPr/>
        </p:nvSpPr>
        <p:spPr>
          <a:xfrm>
            <a:off x="1307592" y="5102352"/>
            <a:ext cx="4681728"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b="0" i="0" lang="en-US" sz="1300" u="none" cap="none" strike="noStrike">
                <a:solidFill>
                  <a:srgbClr val="8B92B8"/>
                </a:solidFill>
                <a:latin typeface="Calibri"/>
                <a:ea typeface="Calibri"/>
                <a:cs typeface="Calibri"/>
                <a:sym typeface="Calibri"/>
              </a:rPr>
              <a:t>Start two conversations: session-A says name is Ravi, session-B says name is Priya. Ask both for their name in turn 5. They should not know each other.</a:t>
            </a:r>
            <a:endParaRPr b="0" i="0" sz="1300" u="none" cap="none" strike="noStrike">
              <a:solidFill>
                <a:schemeClr val="dk1"/>
              </a:solidFill>
              <a:latin typeface="Calibri"/>
              <a:ea typeface="Calibri"/>
              <a:cs typeface="Calibri"/>
              <a:sym typeface="Calibri"/>
            </a:endParaRPr>
          </a:p>
        </p:txBody>
      </p:sp>
      <p:sp>
        <p:nvSpPr>
          <p:cNvPr id="747" name="Google Shape;747;p25"/>
          <p:cNvSpPr/>
          <p:nvPr/>
        </p:nvSpPr>
        <p:spPr>
          <a:xfrm>
            <a:off x="6309360" y="4507992"/>
            <a:ext cx="5596128" cy="1572768"/>
          </a:xfrm>
          <a:prstGeom prst="roundRect">
            <a:avLst>
              <a:gd fmla="val 5233" name="adj"/>
            </a:avLst>
          </a:prstGeom>
          <a:solidFill>
            <a:srgbClr val="1C2236"/>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5"/>
          <p:cNvSpPr/>
          <p:nvPr/>
        </p:nvSpPr>
        <p:spPr>
          <a:xfrm>
            <a:off x="6510528" y="5038344"/>
            <a:ext cx="457200" cy="457200"/>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5"/>
          <p:cNvSpPr/>
          <p:nvPr/>
        </p:nvSpPr>
        <p:spPr>
          <a:xfrm>
            <a:off x="6510528" y="503834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t>
            </a:r>
            <a:endParaRPr b="0" i="0" sz="1800" u="none" cap="none" strike="noStrike">
              <a:solidFill>
                <a:schemeClr val="dk1"/>
              </a:solidFill>
              <a:latin typeface="Calibri"/>
              <a:ea typeface="Calibri"/>
              <a:cs typeface="Calibri"/>
              <a:sym typeface="Calibri"/>
            </a:endParaRPr>
          </a:p>
        </p:txBody>
      </p:sp>
      <p:sp>
        <p:nvSpPr>
          <p:cNvPr id="750" name="Google Shape;750;p25"/>
          <p:cNvSpPr/>
          <p:nvPr/>
        </p:nvSpPr>
        <p:spPr>
          <a:xfrm>
            <a:off x="7114032" y="4672584"/>
            <a:ext cx="4681728"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i="0" lang="en-US" sz="1500" u="none" cap="none" strike="noStrike">
                <a:solidFill>
                  <a:srgbClr val="0891B2"/>
                </a:solidFill>
                <a:latin typeface="Calibri"/>
                <a:ea typeface="Calibri"/>
                <a:cs typeface="Calibri"/>
                <a:sym typeface="Calibri"/>
              </a:rPr>
              <a:t>Conversation summary trigger</a:t>
            </a:r>
            <a:endParaRPr b="0" i="0" sz="1500" u="none" cap="none" strike="noStrike">
              <a:solidFill>
                <a:schemeClr val="dk1"/>
              </a:solidFill>
              <a:latin typeface="Calibri"/>
              <a:ea typeface="Calibri"/>
              <a:cs typeface="Calibri"/>
              <a:sym typeface="Calibri"/>
            </a:endParaRPr>
          </a:p>
        </p:txBody>
      </p:sp>
      <p:sp>
        <p:nvSpPr>
          <p:cNvPr id="751" name="Google Shape;751;p25"/>
          <p:cNvSpPr/>
          <p:nvPr/>
        </p:nvSpPr>
        <p:spPr>
          <a:xfrm>
            <a:off x="7114032" y="5102352"/>
            <a:ext cx="4681728" cy="8686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1300"/>
              <a:buFont typeface="Calibri"/>
              <a:buNone/>
            </a:pPr>
            <a:r>
              <a:rPr b="0" i="0" lang="en-US" sz="1300" u="none" cap="none" strike="noStrike">
                <a:solidFill>
                  <a:srgbClr val="8B92B8"/>
                </a:solidFill>
                <a:latin typeface="Calibri"/>
                <a:ea typeface="Calibri"/>
                <a:cs typeface="Calibri"/>
                <a:sym typeface="Calibri"/>
              </a:rPr>
              <a:t>When history &gt; 8 messages, call the model to summarise the conversation so far, replace history with the summary, continue. Compare quality vs sliding window.</a:t>
            </a:r>
            <a:endParaRPr b="0" i="0" sz="1300" u="none" cap="none" strike="noStrike">
              <a:solidFill>
                <a:schemeClr val="dk1"/>
              </a:solidFill>
              <a:latin typeface="Calibri"/>
              <a:ea typeface="Calibri"/>
              <a:cs typeface="Calibri"/>
              <a:sym typeface="Calibri"/>
            </a:endParaRPr>
          </a:p>
        </p:txBody>
      </p:sp>
      <p:sp>
        <p:nvSpPr>
          <p:cNvPr id="752" name="Google Shape;752;p25"/>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754" name="Google Shape;754;p2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59" name="Shape 759"/>
        <p:cNvGrpSpPr/>
        <p:nvPr/>
      </p:nvGrpSpPr>
      <p:grpSpPr>
        <a:xfrm>
          <a:off x="0" y="0"/>
          <a:ext cx="0" cy="0"/>
          <a:chOff x="0" y="0"/>
          <a:chExt cx="0" cy="0"/>
        </a:xfrm>
      </p:grpSpPr>
      <p:sp>
        <p:nvSpPr>
          <p:cNvPr id="760" name="Google Shape;760;p26"/>
          <p:cNvSpPr/>
          <p:nvPr/>
        </p:nvSpPr>
        <p:spPr>
          <a:xfrm>
            <a:off x="7498080" y="-1097280"/>
            <a:ext cx="6400800" cy="6400800"/>
          </a:xfrm>
          <a:prstGeom prst="ellipse">
            <a:avLst/>
          </a:prstGeom>
          <a:solidFill>
            <a:srgbClr val="DB2777">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6"/>
          <p:cNvSpPr/>
          <p:nvPr/>
        </p:nvSpPr>
        <p:spPr>
          <a:xfrm>
            <a:off x="685800" y="137160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A8D4"/>
              </a:buClr>
              <a:buSzPts val="1400"/>
              <a:buFont typeface="Calibri"/>
              <a:buNone/>
            </a:pPr>
            <a:r>
              <a:rPr b="1" i="0" lang="en-US" sz="1400" u="none" cap="none" strike="noStrike">
                <a:solidFill>
                  <a:srgbClr val="F9A8D4"/>
                </a:solidFill>
                <a:latin typeface="Calibri"/>
                <a:ea typeface="Calibri"/>
                <a:cs typeface="Calibri"/>
                <a:sym typeface="Calibri"/>
              </a:rPr>
              <a:t>STUDENT Q&amp;A</a:t>
            </a:r>
            <a:endParaRPr b="0" i="0" sz="1400" u="none" cap="none" strike="noStrike">
              <a:solidFill>
                <a:schemeClr val="dk1"/>
              </a:solidFill>
              <a:latin typeface="Calibri"/>
              <a:ea typeface="Calibri"/>
              <a:cs typeface="Calibri"/>
              <a:sym typeface="Calibri"/>
            </a:endParaRPr>
          </a:p>
        </p:txBody>
      </p:sp>
      <p:sp>
        <p:nvSpPr>
          <p:cNvPr id="762" name="Google Shape;762;p26"/>
          <p:cNvSpPr/>
          <p:nvPr/>
        </p:nvSpPr>
        <p:spPr>
          <a:xfrm>
            <a:off x="658368" y="1828800"/>
            <a:ext cx="8229600" cy="25603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Questions</a:t>
            </a:r>
            <a:endParaRPr b="0" i="0" sz="58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FFFFFF"/>
              </a:buClr>
              <a:buSzPts val="5800"/>
              <a:buFont typeface="Calibri"/>
              <a:buNone/>
            </a:pPr>
            <a:r>
              <a:rPr b="1" i="0" lang="en-US" sz="5800" u="none" cap="none" strike="noStrike">
                <a:solidFill>
                  <a:srgbClr val="FFFFFF"/>
                </a:solidFill>
                <a:latin typeface="Calibri"/>
                <a:ea typeface="Calibri"/>
                <a:cs typeface="Calibri"/>
                <a:sym typeface="Calibri"/>
              </a:rPr>
              <a:t>you will get.</a:t>
            </a:r>
            <a:endParaRPr b="0" i="0" sz="5800" u="none" cap="none" strike="noStrike">
              <a:solidFill>
                <a:schemeClr val="dk1"/>
              </a:solidFill>
              <a:latin typeface="Calibri"/>
              <a:ea typeface="Calibri"/>
              <a:cs typeface="Calibri"/>
              <a:sym typeface="Calibri"/>
            </a:endParaRPr>
          </a:p>
        </p:txBody>
      </p:sp>
      <p:sp>
        <p:nvSpPr>
          <p:cNvPr id="763" name="Google Shape;763;p26"/>
          <p:cNvSpPr/>
          <p:nvPr/>
        </p:nvSpPr>
        <p:spPr>
          <a:xfrm>
            <a:off x="685800" y="457200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5 of the most common — with full answers and deeper insights.</a:t>
            </a:r>
            <a:endParaRPr b="0" i="0" sz="2000" u="none" cap="none" strike="noStrike">
              <a:solidFill>
                <a:schemeClr val="dk1"/>
              </a:solidFill>
              <a:latin typeface="Calibri"/>
              <a:ea typeface="Calibri"/>
              <a:cs typeface="Calibri"/>
              <a:sym typeface="Calibri"/>
            </a:endParaRPr>
          </a:p>
        </p:txBody>
      </p:sp>
      <p:sp>
        <p:nvSpPr>
          <p:cNvPr id="764" name="Google Shape;764;p26"/>
          <p:cNvSpPr/>
          <p:nvPr/>
        </p:nvSpPr>
        <p:spPr>
          <a:xfrm>
            <a:off x="0" y="6583680"/>
            <a:ext cx="12191695" cy="274320"/>
          </a:xfrm>
          <a:prstGeom prst="rect">
            <a:avLst/>
          </a:prstGeom>
          <a:solidFill>
            <a:srgbClr val="DB2777">
              <a:alpha val="12156"/>
            </a:srgbClr>
          </a:solidFill>
          <a:ln cap="flat" cmpd="sng" w="12700">
            <a:solidFill>
              <a:srgbClr val="DB2777">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766" name="Google Shape;766;p2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sp>
        <p:nvSpPr>
          <p:cNvPr id="772" name="Google Shape;772;p27"/>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7"/>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Q1</a:t>
            </a:r>
            <a:endParaRPr b="0" i="0" sz="1800" u="none" cap="none" strike="noStrike">
              <a:solidFill>
                <a:schemeClr val="dk1"/>
              </a:solidFill>
              <a:latin typeface="Calibri"/>
              <a:ea typeface="Calibri"/>
              <a:cs typeface="Calibri"/>
              <a:sym typeface="Calibri"/>
            </a:endParaRPr>
          </a:p>
        </p:txBody>
      </p:sp>
      <p:sp>
        <p:nvSpPr>
          <p:cNvPr id="774" name="Google Shape;774;p27"/>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75" name="Google Shape;775;p27"/>
          <p:cNvSpPr/>
          <p:nvPr/>
        </p:nvSpPr>
        <p:spPr>
          <a:xfrm>
            <a:off x="502920" y="1207008"/>
            <a:ext cx="10789920" cy="1024128"/>
          </a:xfrm>
          <a:prstGeom prst="roundRect">
            <a:avLst>
              <a:gd fmla="val 10714"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7"/>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100"/>
              <a:buFont typeface="Calibri"/>
              <a:buNone/>
            </a:pPr>
            <a:r>
              <a:rPr b="1" i="0" lang="en-US" sz="2100" u="none" cap="none" strike="noStrike">
                <a:solidFill>
                  <a:srgbClr val="7C3AED"/>
                </a:solidFill>
                <a:latin typeface="Calibri"/>
                <a:ea typeface="Calibri"/>
                <a:cs typeface="Calibri"/>
                <a:sym typeface="Calibri"/>
              </a:rPr>
              <a:t>If I clear conversation history, does the model permanently forget? Can I recover it?</a:t>
            </a:r>
            <a:endParaRPr b="0" i="0" sz="2100" u="none" cap="none" strike="noStrike">
              <a:solidFill>
                <a:schemeClr val="dk1"/>
              </a:solidFill>
              <a:latin typeface="Calibri"/>
              <a:ea typeface="Calibri"/>
              <a:cs typeface="Calibri"/>
              <a:sym typeface="Calibri"/>
            </a:endParaRPr>
          </a:p>
        </p:txBody>
      </p:sp>
      <p:sp>
        <p:nvSpPr>
          <p:cNvPr id="777" name="Google Shape;777;p27"/>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78" name="Google Shape;778;p27"/>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7"/>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Clearing your client-side history list means the model will not receive past messages in future API calls — from the model's perspective those messages never existed. But if you persisted the history to a database before clearing, you can recover it anytime. The model has no permanent memory of anything. It only knows what you send it NOW. So 'forgetting' is entirely a function of what you choose to send. Redis TTL expiry = permanent loss. Database deletion = permanent loss. Map.remove() = permanent loss for that session (unless you serialised to disk).</a:t>
            </a:r>
            <a:endParaRPr b="0" i="0" sz="1400" u="none" cap="none" strike="noStrike">
              <a:solidFill>
                <a:schemeClr val="dk1"/>
              </a:solidFill>
              <a:latin typeface="Calibri"/>
              <a:ea typeface="Calibri"/>
              <a:cs typeface="Calibri"/>
              <a:sym typeface="Calibri"/>
            </a:endParaRPr>
          </a:p>
        </p:txBody>
      </p:sp>
      <p:sp>
        <p:nvSpPr>
          <p:cNvPr id="780" name="Google Shape;780;p27"/>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81" name="Google Shape;781;p27"/>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7"/>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This question reveals a common mental model confusion: students think the model has a persistent memory layer. Reinforce that the model is a pure function. YOU are the memory. If you want recoverable sessions, the engineering choice is simple: persist the message list to a database before any clear operation. Archive, do not delete. This is also valuable for analytics — knowing what users ask and how conversations resolved is product gold.</a:t>
            </a:r>
            <a:endParaRPr b="0" i="0" sz="1300" u="none" cap="none" strike="noStrike">
              <a:solidFill>
                <a:schemeClr val="dk1"/>
              </a:solidFill>
              <a:latin typeface="Calibri"/>
              <a:ea typeface="Calibri"/>
              <a:cs typeface="Calibri"/>
              <a:sym typeface="Calibri"/>
            </a:endParaRPr>
          </a:p>
        </p:txBody>
      </p:sp>
      <p:sp>
        <p:nvSpPr>
          <p:cNvPr id="783" name="Google Shape;783;p27"/>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785" name="Google Shape;785;p2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0" name="Shape 790"/>
        <p:cNvGrpSpPr/>
        <p:nvPr/>
      </p:nvGrpSpPr>
      <p:grpSpPr>
        <a:xfrm>
          <a:off x="0" y="0"/>
          <a:ext cx="0" cy="0"/>
          <a:chOff x="0" y="0"/>
          <a:chExt cx="0" cy="0"/>
        </a:xfrm>
      </p:grpSpPr>
      <p:sp>
        <p:nvSpPr>
          <p:cNvPr id="791" name="Google Shape;791;p28"/>
          <p:cNvSpPr/>
          <p:nvPr/>
        </p:nvSpPr>
        <p:spPr>
          <a:xfrm>
            <a:off x="502920" y="411480"/>
            <a:ext cx="658368" cy="658368"/>
          </a:xfrm>
          <a:prstGeom prst="roundRect">
            <a:avLst>
              <a:gd fmla="val 11111"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8"/>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Q2</a:t>
            </a:r>
            <a:endParaRPr b="0" i="0" sz="1800" u="none" cap="none" strike="noStrike">
              <a:solidFill>
                <a:schemeClr val="dk1"/>
              </a:solidFill>
              <a:latin typeface="Calibri"/>
              <a:ea typeface="Calibri"/>
              <a:cs typeface="Calibri"/>
              <a:sym typeface="Calibri"/>
            </a:endParaRPr>
          </a:p>
        </p:txBody>
      </p:sp>
      <p:sp>
        <p:nvSpPr>
          <p:cNvPr id="793" name="Google Shape;793;p28"/>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94" name="Google Shape;794;p28"/>
          <p:cNvSpPr/>
          <p:nvPr/>
        </p:nvSpPr>
        <p:spPr>
          <a:xfrm>
            <a:off x="502920" y="1207008"/>
            <a:ext cx="10789920" cy="1024128"/>
          </a:xfrm>
          <a:prstGeom prst="roundRect">
            <a:avLst>
              <a:gd fmla="val 10714" name="adj"/>
            </a:avLst>
          </a:prstGeom>
          <a:solidFill>
            <a:srgbClr val="ECFEFF"/>
          </a:solidFill>
          <a:ln cap="flat" cmpd="sng" w="12700">
            <a:solidFill>
              <a:srgbClr val="0891B2">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8"/>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2100"/>
              <a:buFont typeface="Calibri"/>
              <a:buNone/>
            </a:pPr>
            <a:r>
              <a:rPr b="1" i="0" lang="en-US" sz="2100" u="none" cap="none" strike="noStrike">
                <a:solidFill>
                  <a:srgbClr val="0891B2"/>
                </a:solidFill>
                <a:latin typeface="Calibri"/>
                <a:ea typeface="Calibri"/>
                <a:cs typeface="Calibri"/>
                <a:sym typeface="Calibri"/>
              </a:rPr>
              <a:t>How do I let the same user continue a conversation across different browser tabs or devices?</a:t>
            </a:r>
            <a:endParaRPr b="0" i="0" sz="2100" u="none" cap="none" strike="noStrike">
              <a:solidFill>
                <a:schemeClr val="dk1"/>
              </a:solidFill>
              <a:latin typeface="Calibri"/>
              <a:ea typeface="Calibri"/>
              <a:cs typeface="Calibri"/>
              <a:sym typeface="Calibri"/>
            </a:endParaRPr>
          </a:p>
        </p:txBody>
      </p:sp>
      <p:sp>
        <p:nvSpPr>
          <p:cNvPr id="796" name="Google Shape;796;p28"/>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97" name="Google Shape;797;p28"/>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Use a stable, user-scoped session ID instead of a random per-tab UUID. If the user is authenticated, use their user ID (or user ID + conversation ID for named conversations). Store sessions in Redis or a database (not in-memory — that is per-server-instance). When the user opens a second tab, they send the same session ID — the server loads the same history from Redis and the conversation continues seamlessly. The key insight: cross-device continuity is a storage and ID strategy problem, not an API problem.</a:t>
            </a:r>
            <a:endParaRPr b="0" i="0" sz="1400" u="none" cap="none" strike="noStrike">
              <a:solidFill>
                <a:schemeClr val="dk1"/>
              </a:solidFill>
              <a:latin typeface="Calibri"/>
              <a:ea typeface="Calibri"/>
              <a:cs typeface="Calibri"/>
              <a:sym typeface="Calibri"/>
            </a:endParaRPr>
          </a:p>
        </p:txBody>
      </p:sp>
      <p:sp>
        <p:nvSpPr>
          <p:cNvPr id="799" name="Google Shape;799;p28"/>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800" name="Google Shape;800;p28"/>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This is how ChatGPT's conversation sync works. Each conversation has a UUID stored in your account. The message history is stored server-side. Any device that sends that conversation ID gets the full history. The engineering challenge is ID management: who generates the conversation ID, where is it stored on the client (localStorage, cookie, auth token), and how is it scoped (per-user, per-device, per-tab). For the capstone, sessionId from the HTTP session cookie is the simplest stable approach.</a:t>
            </a:r>
            <a:endParaRPr b="0" i="0" sz="1300" u="none" cap="none" strike="noStrike">
              <a:solidFill>
                <a:schemeClr val="dk1"/>
              </a:solidFill>
              <a:latin typeface="Calibri"/>
              <a:ea typeface="Calibri"/>
              <a:cs typeface="Calibri"/>
              <a:sym typeface="Calibri"/>
            </a:endParaRPr>
          </a:p>
        </p:txBody>
      </p:sp>
      <p:sp>
        <p:nvSpPr>
          <p:cNvPr id="802" name="Google Shape;802;p28"/>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804" name="Google Shape;804;p2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9" name="Shape 809"/>
        <p:cNvGrpSpPr/>
        <p:nvPr/>
      </p:nvGrpSpPr>
      <p:grpSpPr>
        <a:xfrm>
          <a:off x="0" y="0"/>
          <a:ext cx="0" cy="0"/>
          <a:chOff x="0" y="0"/>
          <a:chExt cx="0" cy="0"/>
        </a:xfrm>
      </p:grpSpPr>
      <p:sp>
        <p:nvSpPr>
          <p:cNvPr id="810" name="Google Shape;810;p29"/>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9"/>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Q3</a:t>
            </a:r>
            <a:endParaRPr b="0" i="0" sz="1800" u="none" cap="none" strike="noStrike">
              <a:solidFill>
                <a:schemeClr val="dk1"/>
              </a:solidFill>
              <a:latin typeface="Calibri"/>
              <a:ea typeface="Calibri"/>
              <a:cs typeface="Calibri"/>
              <a:sym typeface="Calibri"/>
            </a:endParaRPr>
          </a:p>
        </p:txBody>
      </p:sp>
      <p:sp>
        <p:nvSpPr>
          <p:cNvPr id="812" name="Google Shape;812;p29"/>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13" name="Google Shape;813;p29"/>
          <p:cNvSpPr/>
          <p:nvPr/>
        </p:nvSpPr>
        <p:spPr>
          <a:xfrm>
            <a:off x="502920" y="1207008"/>
            <a:ext cx="10789920" cy="1024128"/>
          </a:xfrm>
          <a:prstGeom prst="roundRect">
            <a:avLst>
              <a:gd fmla="val 10714"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9"/>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100"/>
              <a:buFont typeface="Calibri"/>
              <a:buNone/>
            </a:pPr>
            <a:r>
              <a:rPr b="1" i="0" lang="en-US" sz="2100" u="none" cap="none" strike="noStrike">
                <a:solidFill>
                  <a:srgbClr val="16A34A"/>
                </a:solidFill>
                <a:latin typeface="Calibri"/>
                <a:ea typeface="Calibri"/>
                <a:cs typeface="Calibri"/>
                <a:sym typeface="Calibri"/>
              </a:rPr>
              <a:t>What is the difference between persisting the conversation vs streaming the response? When do I use each?</a:t>
            </a:r>
            <a:endParaRPr b="0" i="0" sz="2100" u="none" cap="none" strike="noStrike">
              <a:solidFill>
                <a:schemeClr val="dk1"/>
              </a:solidFill>
              <a:latin typeface="Calibri"/>
              <a:ea typeface="Calibri"/>
              <a:cs typeface="Calibri"/>
              <a:sym typeface="Calibri"/>
            </a:endParaRPr>
          </a:p>
        </p:txBody>
      </p:sp>
      <p:sp>
        <p:nvSpPr>
          <p:cNvPr id="815" name="Google Shape;815;p29"/>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16" name="Google Shape;816;p29"/>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9"/>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These are independent concerns. Persisting refers to where you STORE conversation history between turns (in-memory map, Redis, database). Streaming refers to how you DELIVER the model's response to the client (token by token via SSE, vs waiting for the full response). You can mix and match: persist to Redis AND stream responses. Or persist in memory AND return the full response after waiting. The typical production pattern: persist history to Redis (for multi-server reliability) and stream responses (for good UX). Do both independently.</a:t>
            </a:r>
            <a:endParaRPr b="0" i="0" sz="1400" u="none" cap="none" strike="noStrike">
              <a:solidFill>
                <a:schemeClr val="dk1"/>
              </a:solidFill>
              <a:latin typeface="Calibri"/>
              <a:ea typeface="Calibri"/>
              <a:cs typeface="Calibri"/>
              <a:sym typeface="Calibri"/>
            </a:endParaRPr>
          </a:p>
        </p:txBody>
      </p:sp>
      <p:sp>
        <p:nvSpPr>
          <p:cNvPr id="818" name="Google Shape;818;p29"/>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819" name="Google Shape;819;p29"/>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9"/>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Students often conflate these because they both involve data flowing over time. Persisting is about STATE (what you remember between requests). Streaming is about DELIVERY (how tokens arrive during one request). A good mental model: persistence is the SAVE button, streaming is the DISPLAY mechanism. You need both independently functioning, and they do not interact — the session service persists history, the controller streams responses, neither knows about the other.</a:t>
            </a:r>
            <a:endParaRPr b="0" i="0" sz="1300" u="none" cap="none" strike="noStrike">
              <a:solidFill>
                <a:schemeClr val="dk1"/>
              </a:solidFill>
              <a:latin typeface="Calibri"/>
              <a:ea typeface="Calibri"/>
              <a:cs typeface="Calibri"/>
              <a:sym typeface="Calibri"/>
            </a:endParaRPr>
          </a:p>
        </p:txBody>
      </p:sp>
      <p:sp>
        <p:nvSpPr>
          <p:cNvPr id="821" name="Google Shape;821;p29"/>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823" name="Google Shape;823;p2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8" name="Shape 828"/>
        <p:cNvGrpSpPr/>
        <p:nvPr/>
      </p:nvGrpSpPr>
      <p:grpSpPr>
        <a:xfrm>
          <a:off x="0" y="0"/>
          <a:ext cx="0" cy="0"/>
          <a:chOff x="0" y="0"/>
          <a:chExt cx="0" cy="0"/>
        </a:xfrm>
      </p:grpSpPr>
      <p:sp>
        <p:nvSpPr>
          <p:cNvPr id="829" name="Google Shape;829;p30"/>
          <p:cNvSpPr/>
          <p:nvPr/>
        </p:nvSpPr>
        <p:spPr>
          <a:xfrm>
            <a:off x="502920" y="411480"/>
            <a:ext cx="658368" cy="658368"/>
          </a:xfrm>
          <a:prstGeom prst="roundRect">
            <a:avLst>
              <a:gd fmla="val 11111"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0"/>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Q4</a:t>
            </a:r>
            <a:endParaRPr b="0" i="0" sz="1800" u="none" cap="none" strike="noStrike">
              <a:solidFill>
                <a:schemeClr val="dk1"/>
              </a:solidFill>
              <a:latin typeface="Calibri"/>
              <a:ea typeface="Calibri"/>
              <a:cs typeface="Calibri"/>
              <a:sym typeface="Calibri"/>
            </a:endParaRPr>
          </a:p>
        </p:txBody>
      </p:sp>
      <p:sp>
        <p:nvSpPr>
          <p:cNvPr id="831" name="Google Shape;831;p30"/>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32" name="Google Shape;832;p30"/>
          <p:cNvSpPr/>
          <p:nvPr/>
        </p:nvSpPr>
        <p:spPr>
          <a:xfrm>
            <a:off x="502920" y="1207008"/>
            <a:ext cx="10789920" cy="1024128"/>
          </a:xfrm>
          <a:prstGeom prst="roundRect">
            <a:avLst>
              <a:gd fmla="val 10714"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0"/>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2100"/>
              <a:buFont typeface="Calibri"/>
              <a:buNone/>
            </a:pPr>
            <a:r>
              <a:rPr b="1" i="0" lang="en-US" sz="2100" u="none" cap="none" strike="noStrike">
                <a:solidFill>
                  <a:srgbClr val="D97706"/>
                </a:solidFill>
                <a:latin typeface="Calibri"/>
                <a:ea typeface="Calibri"/>
                <a:cs typeface="Calibri"/>
                <a:sym typeface="Calibri"/>
              </a:rPr>
              <a:t>How do I handle multiple concurrent users without one user's conversation bleeding into another?</a:t>
            </a:r>
            <a:endParaRPr b="0" i="0" sz="2100" u="none" cap="none" strike="noStrike">
              <a:solidFill>
                <a:schemeClr val="dk1"/>
              </a:solidFill>
              <a:latin typeface="Calibri"/>
              <a:ea typeface="Calibri"/>
              <a:cs typeface="Calibri"/>
              <a:sym typeface="Calibri"/>
            </a:endParaRPr>
          </a:p>
        </p:txBody>
      </p:sp>
      <p:sp>
        <p:nvSpPr>
          <p:cNvPr id="834" name="Google Shape;834;p30"/>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35" name="Google Shape;835;p30"/>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0"/>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The session ID is your isolation key. As long as every conversation uses a UNIQUE session ID, and your session store is keyed on that ID, there is zero cross-contamination. With ConcurrentHashMap: each session ID maps to a completely independent List. With Redis: each session ID is a separate Redis key. The model never sees another user's history unless you accidentally send it. The most common production bug: using a shared/static message list instead of a per-session list. Always verify with a test: start two sessions with different names, ask each for their name in turn 5 — they should not know each other.</a:t>
            </a:r>
            <a:endParaRPr b="0" i="0" sz="1400" u="none" cap="none" strike="noStrike">
              <a:solidFill>
                <a:schemeClr val="dk1"/>
              </a:solidFill>
              <a:latin typeface="Calibri"/>
              <a:ea typeface="Calibri"/>
              <a:cs typeface="Calibri"/>
              <a:sym typeface="Calibri"/>
            </a:endParaRPr>
          </a:p>
        </p:txBody>
      </p:sp>
      <p:sp>
        <p:nvSpPr>
          <p:cNvPr id="837" name="Google Shape;837;p30"/>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838" name="Google Shape;838;p30"/>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0"/>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The session isolation test (lab challenge C) should be mandatory for every student. It takes 3 minutes and makes the isolation guarantee visceral. Students who have not run it will make the shared-static-list mistake in their capstone. The ConcurrentHashMap itself provides thread safety for the map operations. The inner List is per-session and typically accessed only from one thread at a time (one request per session at a time), so no additional synchronisation is needed for typical chat apps.</a:t>
            </a:r>
            <a:endParaRPr b="0" i="0" sz="1300" u="none" cap="none" strike="noStrike">
              <a:solidFill>
                <a:schemeClr val="dk1"/>
              </a:solidFill>
              <a:latin typeface="Calibri"/>
              <a:ea typeface="Calibri"/>
              <a:cs typeface="Calibri"/>
              <a:sym typeface="Calibri"/>
            </a:endParaRPr>
          </a:p>
        </p:txBody>
      </p:sp>
      <p:sp>
        <p:nvSpPr>
          <p:cNvPr id="840" name="Google Shape;840;p30"/>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842" name="Google Shape;842;p3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sp>
        <p:nvSpPr>
          <p:cNvPr id="848" name="Google Shape;848;p31"/>
          <p:cNvSpPr/>
          <p:nvPr/>
        </p:nvSpPr>
        <p:spPr>
          <a:xfrm>
            <a:off x="502920" y="411480"/>
            <a:ext cx="658368" cy="658368"/>
          </a:xfrm>
          <a:prstGeom prst="roundRect">
            <a:avLst>
              <a:gd fmla="val 11111"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1"/>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Q5</a:t>
            </a:r>
            <a:endParaRPr b="0" i="0" sz="1800" u="none" cap="none" strike="noStrike">
              <a:solidFill>
                <a:schemeClr val="dk1"/>
              </a:solidFill>
              <a:latin typeface="Calibri"/>
              <a:ea typeface="Calibri"/>
              <a:cs typeface="Calibri"/>
              <a:sym typeface="Calibri"/>
            </a:endParaRPr>
          </a:p>
        </p:txBody>
      </p:sp>
      <p:sp>
        <p:nvSpPr>
          <p:cNvPr id="850" name="Google Shape;850;p31"/>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100"/>
              <a:buFont typeface="Calibri"/>
              <a:buNone/>
            </a:pPr>
            <a:r>
              <a:rPr b="1" i="0" lang="en-US" sz="1100" u="none" cap="none" strike="noStrike">
                <a:solidFill>
                  <a:srgbClr val="E11D48"/>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851" name="Google Shape;851;p31"/>
          <p:cNvSpPr/>
          <p:nvPr/>
        </p:nvSpPr>
        <p:spPr>
          <a:xfrm>
            <a:off x="502920" y="1207008"/>
            <a:ext cx="10789920" cy="1024128"/>
          </a:xfrm>
          <a:prstGeom prst="roundRect">
            <a:avLst>
              <a:gd fmla="val 10714"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1"/>
          <p:cNvSpPr/>
          <p:nvPr/>
        </p:nvSpPr>
        <p:spPr>
          <a:xfrm>
            <a:off x="777240" y="1298448"/>
            <a:ext cx="10241280" cy="84124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2100"/>
              <a:buFont typeface="Calibri"/>
              <a:buNone/>
            </a:pPr>
            <a:r>
              <a:rPr b="1" i="0" lang="en-US" sz="2100" u="none" cap="none" strike="noStrike">
                <a:solidFill>
                  <a:srgbClr val="E11D48"/>
                </a:solidFill>
                <a:latin typeface="Calibri"/>
                <a:ea typeface="Calibri"/>
                <a:cs typeface="Calibri"/>
                <a:sym typeface="Calibri"/>
              </a:rPr>
              <a:t>Should I store the raw message objects or serialise to JSON for Redis?</a:t>
            </a:r>
            <a:endParaRPr b="0" i="0" sz="2100" u="none" cap="none" strike="noStrike">
              <a:solidFill>
                <a:schemeClr val="dk1"/>
              </a:solidFill>
              <a:latin typeface="Calibri"/>
              <a:ea typeface="Calibri"/>
              <a:cs typeface="Calibri"/>
              <a:sym typeface="Calibri"/>
            </a:endParaRPr>
          </a:p>
        </p:txBody>
      </p:sp>
      <p:sp>
        <p:nvSpPr>
          <p:cNvPr id="853" name="Google Shape;853;p31"/>
          <p:cNvSpPr/>
          <p:nvPr/>
        </p:nvSpPr>
        <p:spPr>
          <a:xfrm>
            <a:off x="502920" y="2395728"/>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854" name="Google Shape;854;p31"/>
          <p:cNvSpPr/>
          <p:nvPr/>
        </p:nvSpPr>
        <p:spPr>
          <a:xfrm>
            <a:off x="502920" y="2688336"/>
            <a:ext cx="10789920" cy="1719072"/>
          </a:xfrm>
          <a:prstGeom prst="roundRect">
            <a:avLst>
              <a:gd fmla="val 5319"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1"/>
          <p:cNvSpPr/>
          <p:nvPr/>
        </p:nvSpPr>
        <p:spPr>
          <a:xfrm>
            <a:off x="749808" y="2779776"/>
            <a:ext cx="10287000" cy="1536192"/>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475569"/>
              </a:buClr>
              <a:buSzPts val="1400"/>
              <a:buFont typeface="Calibri"/>
              <a:buNone/>
            </a:pPr>
            <a:r>
              <a:rPr b="0" i="0" lang="en-US" sz="1400" u="none" cap="none" strike="noStrike">
                <a:solidFill>
                  <a:srgbClr val="475569"/>
                </a:solidFill>
                <a:latin typeface="Calibri"/>
                <a:ea typeface="Calibri"/>
                <a:cs typeface="Calibri"/>
                <a:sym typeface="Calibri"/>
              </a:rPr>
              <a:t>For Redis you must serialise, since Redis stores bytes. Two options: serialise each message to a JSON string using Jackson and store as a Redis List of strings, or serialise the entire history list as one JSON document and store as a single Redis String (with the session ID as key). The single-document approach is simpler to implement and atomic. The list approach allows appending without deserialising the whole history. For most chat apps, single-document is correct: sessions are short, and you load the whole history on every request anyway.</a:t>
            </a:r>
            <a:endParaRPr b="0" i="0" sz="1400" u="none" cap="none" strike="noStrike">
              <a:solidFill>
                <a:schemeClr val="dk1"/>
              </a:solidFill>
              <a:latin typeface="Calibri"/>
              <a:ea typeface="Calibri"/>
              <a:cs typeface="Calibri"/>
              <a:sym typeface="Calibri"/>
            </a:endParaRPr>
          </a:p>
        </p:txBody>
      </p:sp>
      <p:sp>
        <p:nvSpPr>
          <p:cNvPr id="856" name="Google Shape;856;p31"/>
          <p:cNvSpPr/>
          <p:nvPr/>
        </p:nvSpPr>
        <p:spPr>
          <a:xfrm>
            <a:off x="502920" y="4553712"/>
            <a:ext cx="4572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857" name="Google Shape;857;p31"/>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1"/>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38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The implementation detail: Jackson's ObjectMapper can serialise a List&lt;ChatCompletionMessageParam&gt; to JSON, but you need to check whether the SDK's message types are Jackson-serialisable (some are record types with private constructors that need custom serialisers). A robust alternative: define your own simple Message record {String role, String content} for storage, and map to the SDK's ChatCompletionMessageParam on load. This decouples your persistence model from the SDK — if you switch from OpenAI to Claude, your stored messages are not SDK-specific.</a:t>
            </a:r>
            <a:endParaRPr b="0" i="0" sz="1300" u="none" cap="none" strike="noStrike">
              <a:solidFill>
                <a:schemeClr val="dk1"/>
              </a:solidFill>
              <a:latin typeface="Calibri"/>
              <a:ea typeface="Calibri"/>
              <a:cs typeface="Calibri"/>
              <a:sym typeface="Calibri"/>
            </a:endParaRPr>
          </a:p>
        </p:txBody>
      </p:sp>
      <p:sp>
        <p:nvSpPr>
          <p:cNvPr id="859" name="Google Shape;859;p31"/>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4  ·  Conversations API + Threads</a:t>
            </a:r>
            <a:endParaRPr b="0" i="0" sz="900" u="none" cap="none" strike="noStrike">
              <a:solidFill>
                <a:schemeClr val="dk1"/>
              </a:solidFill>
              <a:latin typeface="Calibri"/>
              <a:ea typeface="Calibri"/>
              <a:cs typeface="Calibri"/>
              <a:sym typeface="Calibri"/>
            </a:endParaRPr>
          </a:p>
        </p:txBody>
      </p:sp>
      <p:sp>
        <p:nvSpPr>
          <p:cNvPr id="861" name="Google Shape;861;p3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