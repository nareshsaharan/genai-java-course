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this is the payoff session for Week 1. Students will leave with a working app that takes voice commands and speaks back. Ask who has ever wished their terminal could understand voice — by the end of this class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flow before writing a single line: speak → Whisper transcribes → GPT-4o decides which task tool to call → you execute it → TTS speaks the confirmation. That is 4 API calls in one voice command. The magic moment: students realize this is Sessions 3, 4, and 5 chained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DALL-E is the easiest of the three APIs — one call, one URL back. Start here to build confidence before the more complex Whisper and TTS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diffusion explanation short and intuitive — 2 minutes max. The key mental model: you are not retrieving an image from a database, you are guiding a denoising process with your words. The quality of your guidance (prompt) determines the quality of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ask the class for an image description — the stranger the better. Something like 'a samosa learning to code on a tiny laptop, photorealistic'. Run it live. Show both URL response (b64 in default mode). Then change quality to HD and show the cost difference. Key warning: the URL expires in about 60 minutes — download and store immediately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image prompt ingredients: Subject (who/what) + Style (photo/art/illustration) + Lighting (natural/dramatic/golden hour) + Composition (close-up/wide/aerial) + Mood (serene/energetic/melancholy). For the Voice Task Manager project, students do not need image generation — but this knowledge transfers directly to any product UI or content generation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Whisper is the gateway to voice-controlled apps. Once you have text from audio, everything we built in Sessions 2, 3, and 4 applies directly. The voice is just another way to produce the text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technical explanation short. The key insight: Whisper is a standard encoder-decoder transformer — same architecture as the LLMs we have been studying — just trained on audio spectrograms instead of text tokens. Students who understood attention from Session 1 can map the same mechanism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pre-record yourself saying 'Add a task: deploy the authentication service to production by this Thursday afternoon.' Save as MP3. Run the transcription live. Show the class the exact text that comes back. Then pipe it into the chat from Session 3 — the transcript becomes the user message. That chain IS the Voice Task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TTS is the output side of the voice loop. Whisper listens, TTS speaks. The combination makes your app a conversational voice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generate speech for each voice in sequence. Let students vote on which voice fits the Travel Planner assistant. Then change speed to 1.3 for a faster assistant, 0.8 for a clearer medical-style assistant. The voice + speed combination defines your product's personality.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Session 1: TTS uses the same encoder-decoder transformer architecture as Whisper and GPT — just generating audio codec tokens instead of text tokens. Once students understand transformers generate sequences token by token, TTS is just 'sequences of audio tokens instead of text tokens'. One architecture, three modalities.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assembly moment. Students have seen each API independently. Now we chain them: Whisper output feeds GPT input, GPT output feeds TTS input. The whole chain runs in under 3 seconds for a typical task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2-second end-to-end latency is comparable to a human thinking before speaking. Students often expect it to be instant — set the expectation first. Then run the demo and show that 2 seconds actually feels fast when you see it. The voice UX hides latency better than text — you hear the word as soon as the first audio bytes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show the architecture diagram from slide 14 on one screen and this code on another. Students should see that the architecture diagram IS the code — each API call corresponds to one step in the diagram. The entire voice loop is about 30 lines of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PLAN: 40 minutes total.
1. Task store (5 min) — simple Map&lt;String,Task&gt; with a record
2. Define 4 tools (10 min) — addTask, deleteTask, listTasks, updateStatus
3. Voice loop (10 min) — wire Whisper → GPT with tools → TTS
4. Test live (10 min) — record voice commands, play back results
5. Polish (5 min) — better prompts, error handling, voice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these Java methods are the tools. The method signature IS the tool definition. Students who saw tool calling in Session 3 recognise this immediately. The system prompt tells the model what tasks are: 'A task has a title, due date, and completion status. Help the user manage their tasks via voice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all 5 test commands live. Record them on your phone and play back, or use a pre-recorded MP3 set. The fifth command ('Remind me') is intentionally ambiguous — show how the model interprets it as an addTask call. Then ask: what would you add to make reminders work? (answer: a notification system triggered on the due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preview: Claude API (anthropic-java SDK), extended thinking for hard reasoning, Claude Code for agentic development, and building your own MCP server so ANY AI client can call your Java tools. The Voice Task Manager's tool store is exactly what an MCP server exposes. Tell students tonight's homework is to add one new tool to their task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calculation ($60/month for 1,000 commands/day) is an eye-opener. Students often assume voice AI is prohibitively expensive. At $0.002 per command, it is cheaper than SMS. Run the calculation live on the board: 1000 commands/day x $0.002 = $2/day = $60/month. Most small apps would have far fewer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student must complete A before attempting B-D. A is the minimum viable Voice Task Manager. B and C show how the three APIs (Session 5) complement each other. D brings in Session 4's multi-turn history — the complete integration of Week 1. Time box strictly: 25 minutes build, 5 minutes for 2-3 students to demo to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F1A"/>
        </a:solidFill>
      </p:bgPr>
    </p:bg>
    <p:spTree>
      <p:nvGrpSpPr>
        <p:cNvPr id="1" name=""/>
        <p:cNvGrpSpPr/>
        <p:nvPr/>
      </p:nvGrpSpPr>
      <p:grpSpPr>
        <a:xfrm>
          <a:off x="0" y="0"/>
          <a:ext cx="0" cy="0"/>
          <a:chOff x="0" y="0"/>
          <a:chExt cx="0" cy="0"/>
        </a:xfrm>
      </p:grpSpPr>
      <p:sp>
        <p:nvSpPr>
          <p:cNvPr id="2" name="Shape 0"/>
          <p:cNvSpPr/>
          <p:nvPr/>
        </p:nvSpPr>
        <p:spPr>
          <a:xfrm>
            <a:off x="8229600" y="-1645920"/>
            <a:ext cx="6400800" cy="6400800"/>
          </a:xfrm>
          <a:prstGeom prst="ellipse">
            <a:avLst/>
          </a:prstGeom>
          <a:solidFill>
            <a:srgbClr val="7C3AED">
              <a:alpha val="10000"/>
            </a:srgbClr>
          </a:solidFill>
          <a:ln/>
        </p:spPr>
      </p:sp>
      <p:sp>
        <p:nvSpPr>
          <p:cNvPr id="3" name="Shape 1"/>
          <p:cNvSpPr/>
          <p:nvPr/>
        </p:nvSpPr>
        <p:spPr>
          <a:xfrm>
            <a:off x="9875520" y="4389120"/>
            <a:ext cx="3840480" cy="3840480"/>
          </a:xfrm>
          <a:prstGeom prst="ellipse">
            <a:avLst/>
          </a:prstGeom>
          <a:solidFill>
            <a:srgbClr val="16A34A">
              <a:alpha val="9000"/>
            </a:srgbClr>
          </a:solidFill>
          <a:ln/>
        </p:spPr>
      </p:sp>
      <p:sp>
        <p:nvSpPr>
          <p:cNvPr id="4" name="Shape 2"/>
          <p:cNvSpPr/>
          <p:nvPr/>
        </p:nvSpPr>
        <p:spPr>
          <a:xfrm>
            <a:off x="-1371600" y="3657600"/>
            <a:ext cx="3657600" cy="3657600"/>
          </a:xfrm>
          <a:prstGeom prst="ellipse">
            <a:avLst/>
          </a:prstGeom>
          <a:solidFill>
            <a:srgbClr val="0891B2">
              <a:alpha val="8000"/>
            </a:srgbClr>
          </a:solidFill>
          <a:ln/>
        </p:spPr>
      </p:sp>
      <p:sp>
        <p:nvSpPr>
          <p:cNvPr id="5" name="Text 3"/>
          <p:cNvSpPr/>
          <p:nvPr/>
        </p:nvSpPr>
        <p:spPr>
          <a:xfrm>
            <a:off x="685800" y="1005840"/>
            <a:ext cx="9144000" cy="320040"/>
          </a:xfrm>
          <a:prstGeom prst="rect">
            <a:avLst/>
          </a:prstGeom>
          <a:noFill/>
          <a:ln/>
        </p:spPr>
        <p:txBody>
          <a:bodyPr wrap="square" lIns="0" tIns="0" rIns="0" bIns="0" rtlCol="0" anchor="ctr"/>
          <a:lstStyle/>
          <a:p>
            <a:pPr indent="0" marL="0">
              <a:buNone/>
            </a:pPr>
            <a:r>
              <a:rPr lang="en-US" sz="1300" b="1" spc="500" kern="0" dirty="0">
                <a:solidFill>
                  <a:srgbClr val="C4B5FD"/>
                </a:solidFill>
                <a:latin typeface="Calibri" pitchFamily="34" charset="0"/>
                <a:ea typeface="Calibri" pitchFamily="34" charset="-122"/>
                <a:cs typeface="Calibri" pitchFamily="34" charset="-120"/>
              </a:rPr>
              <a:t>WEEK 1  ·  SESSION 5  ·  FINAL SESSION</a:t>
            </a:r>
            <a:endParaRPr lang="en-US" sz="1300" dirty="0"/>
          </a:p>
        </p:txBody>
      </p:sp>
      <p:sp>
        <p:nvSpPr>
          <p:cNvPr id="6" name="Text 4"/>
          <p:cNvSpPr/>
          <p:nvPr/>
        </p:nvSpPr>
        <p:spPr>
          <a:xfrm>
            <a:off x="658368" y="1389888"/>
            <a:ext cx="8686800" cy="2743200"/>
          </a:xfrm>
          <a:prstGeom prst="rect">
            <a:avLst/>
          </a:prstGeom>
          <a:noFill/>
          <a:ln/>
        </p:spPr>
        <p:txBody>
          <a:bodyPr wrap="square" lIns="0" tIns="0" rIns="0" bIns="0" rtlCol="0" anchor="ctr"/>
          <a:lstStyle/>
          <a:p>
            <a:pPr indent="0" marL="0">
              <a:lnSpc>
                <a:spcPct val="104000"/>
              </a:lnSpc>
              <a:buNone/>
            </a:pPr>
            <a:r>
              <a:rPr lang="en-US" sz="6000" b="1" dirty="0">
                <a:solidFill>
                  <a:srgbClr val="FFFFFF"/>
                </a:solidFill>
                <a:latin typeface="Calibri" pitchFamily="34" charset="0"/>
                <a:ea typeface="Calibri" pitchFamily="34" charset="-122"/>
                <a:cs typeface="Calibri" pitchFamily="34" charset="-120"/>
              </a:rPr>
              <a:t>DALL-E</a:t>
            </a:r>
            <a:endParaRPr lang="en-US" sz="6000" dirty="0"/>
          </a:p>
          <a:p>
            <a:pPr indent="0" marL="0">
              <a:lnSpc>
                <a:spcPct val="104000"/>
              </a:lnSpc>
              <a:buNone/>
            </a:pPr>
            <a:r>
              <a:rPr lang="en-US" sz="6000" b="1" dirty="0">
                <a:solidFill>
                  <a:srgbClr val="FFFFFF"/>
                </a:solidFill>
                <a:latin typeface="Calibri" pitchFamily="34" charset="0"/>
                <a:ea typeface="Calibri" pitchFamily="34" charset="-122"/>
                <a:cs typeface="Calibri" pitchFamily="34" charset="-120"/>
              </a:rPr>
              <a:t>Whisper  TTS</a:t>
            </a:r>
            <a:endParaRPr lang="en-US" sz="6000" dirty="0"/>
          </a:p>
        </p:txBody>
      </p:sp>
      <p:sp>
        <p:nvSpPr>
          <p:cNvPr id="7" name="Text 5"/>
          <p:cNvSpPr/>
          <p:nvPr/>
        </p:nvSpPr>
        <p:spPr>
          <a:xfrm>
            <a:off x="685800" y="4251960"/>
            <a:ext cx="8686800" cy="475488"/>
          </a:xfrm>
          <a:prstGeom prst="rect">
            <a:avLst/>
          </a:prstGeom>
          <a:noFill/>
          <a:ln/>
        </p:spPr>
        <p:txBody>
          <a:bodyPr wrap="square" lIns="0" tIns="0" rIns="0" bIns="0" rtlCol="0" anchor="ctr"/>
          <a:lstStyle/>
          <a:p>
            <a:pPr indent="0" marL="0">
              <a:buNone/>
            </a:pPr>
            <a:r>
              <a:rPr lang="en-US" sz="1900" dirty="0">
                <a:solidFill>
                  <a:srgbClr val="8B92B8"/>
                </a:solidFill>
                <a:latin typeface="Calibri" pitchFamily="34" charset="0"/>
                <a:ea typeface="Calibri" pitchFamily="34" charset="-122"/>
                <a:cs typeface="Calibri" pitchFamily="34" charset="-120"/>
              </a:rPr>
              <a:t>See · Hear · Speak — your Java app gets superpowers.</a:t>
            </a:r>
            <a:endParaRPr lang="en-US" sz="1900" dirty="0"/>
          </a:p>
        </p:txBody>
      </p:sp>
      <p:sp>
        <p:nvSpPr>
          <p:cNvPr id="8" name="Shape 6"/>
          <p:cNvSpPr/>
          <p:nvPr/>
        </p:nvSpPr>
        <p:spPr>
          <a:xfrm>
            <a:off x="685800" y="4983480"/>
            <a:ext cx="2128723" cy="457200"/>
          </a:xfrm>
          <a:prstGeom prst="roundRect">
            <a:avLst>
              <a:gd name="adj" fmla="val 14000"/>
            </a:avLst>
          </a:prstGeom>
          <a:solidFill>
            <a:srgbClr val="211B30"/>
          </a:solidFill>
          <a:ln w="12700">
            <a:solidFill>
              <a:srgbClr val="7C3AED">
                <a:alpha val="55000"/>
              </a:srgbClr>
            </a:solidFill>
            <a:prstDash val="solid"/>
          </a:ln>
        </p:spPr>
      </p:sp>
      <p:sp>
        <p:nvSpPr>
          <p:cNvPr id="9" name="Text 7"/>
          <p:cNvSpPr/>
          <p:nvPr/>
        </p:nvSpPr>
        <p:spPr>
          <a:xfrm>
            <a:off x="685800" y="4983480"/>
            <a:ext cx="2128723" cy="457200"/>
          </a:xfrm>
          <a:prstGeom prst="rect">
            <a:avLst/>
          </a:prstGeom>
          <a:noFill/>
          <a:ln/>
        </p:spPr>
        <p:txBody>
          <a:bodyPr wrap="square" lIns="0" tIns="0" rIns="0" bIns="0" rtlCol="0" anchor="ctr"/>
          <a:lstStyle/>
          <a:p>
            <a:pPr algn="ctr" indent="0" marL="0">
              <a:buNone/>
            </a:pPr>
            <a:r>
              <a:rPr lang="en-US" sz="1200" b="1" dirty="0">
                <a:solidFill>
                  <a:srgbClr val="7C3AED"/>
                </a:solidFill>
                <a:latin typeface="Calibri" pitchFamily="34" charset="0"/>
                <a:ea typeface="Calibri" pitchFamily="34" charset="-122"/>
                <a:cs typeface="Calibri" pitchFamily="34" charset="-120"/>
              </a:rPr>
              <a:t>Image Generation</a:t>
            </a:r>
            <a:endParaRPr lang="en-US" sz="1200" dirty="0"/>
          </a:p>
        </p:txBody>
      </p:sp>
      <p:sp>
        <p:nvSpPr>
          <p:cNvPr id="10" name="Shape 8"/>
          <p:cNvSpPr/>
          <p:nvPr/>
        </p:nvSpPr>
        <p:spPr>
          <a:xfrm>
            <a:off x="2979115" y="4983480"/>
            <a:ext cx="1912925" cy="457200"/>
          </a:xfrm>
          <a:prstGeom prst="roundRect">
            <a:avLst>
              <a:gd name="adj" fmla="val 14000"/>
            </a:avLst>
          </a:prstGeom>
          <a:solidFill>
            <a:srgbClr val="211B30"/>
          </a:solidFill>
          <a:ln w="12700">
            <a:solidFill>
              <a:srgbClr val="0891B2">
                <a:alpha val="55000"/>
              </a:srgbClr>
            </a:solidFill>
            <a:prstDash val="solid"/>
          </a:ln>
        </p:spPr>
      </p:sp>
      <p:sp>
        <p:nvSpPr>
          <p:cNvPr id="11" name="Text 9"/>
          <p:cNvSpPr/>
          <p:nvPr/>
        </p:nvSpPr>
        <p:spPr>
          <a:xfrm>
            <a:off x="2979115" y="4983480"/>
            <a:ext cx="1912925" cy="457200"/>
          </a:xfrm>
          <a:prstGeom prst="rect">
            <a:avLst/>
          </a:prstGeom>
          <a:noFill/>
          <a:ln/>
        </p:spPr>
        <p:txBody>
          <a:bodyPr wrap="square" lIns="0" tIns="0" rIns="0" bIns="0" rtlCol="0" anchor="ctr"/>
          <a:lstStyle/>
          <a:p>
            <a:pPr algn="ctr" indent="0" marL="0">
              <a:buNone/>
            </a:pPr>
            <a:r>
              <a:rPr lang="en-US" sz="1200" b="1" dirty="0">
                <a:solidFill>
                  <a:srgbClr val="0891B2"/>
                </a:solidFill>
                <a:latin typeface="Calibri" pitchFamily="34" charset="0"/>
                <a:ea typeface="Calibri" pitchFamily="34" charset="-122"/>
                <a:cs typeface="Calibri" pitchFamily="34" charset="-120"/>
              </a:rPr>
              <a:t>Speech-to-Text</a:t>
            </a:r>
            <a:endParaRPr lang="en-US" sz="1200" dirty="0"/>
          </a:p>
        </p:txBody>
      </p:sp>
      <p:sp>
        <p:nvSpPr>
          <p:cNvPr id="12" name="Shape 10"/>
          <p:cNvSpPr/>
          <p:nvPr/>
        </p:nvSpPr>
        <p:spPr>
          <a:xfrm>
            <a:off x="5056632" y="4983480"/>
            <a:ext cx="1912925" cy="457200"/>
          </a:xfrm>
          <a:prstGeom prst="roundRect">
            <a:avLst>
              <a:gd name="adj" fmla="val 14000"/>
            </a:avLst>
          </a:prstGeom>
          <a:solidFill>
            <a:srgbClr val="211B30"/>
          </a:solidFill>
          <a:ln w="12700">
            <a:solidFill>
              <a:srgbClr val="16A34A">
                <a:alpha val="55000"/>
              </a:srgbClr>
            </a:solidFill>
            <a:prstDash val="solid"/>
          </a:ln>
        </p:spPr>
      </p:sp>
      <p:sp>
        <p:nvSpPr>
          <p:cNvPr id="13" name="Text 11"/>
          <p:cNvSpPr/>
          <p:nvPr/>
        </p:nvSpPr>
        <p:spPr>
          <a:xfrm>
            <a:off x="5056632" y="4983480"/>
            <a:ext cx="1912925" cy="457200"/>
          </a:xfrm>
          <a:prstGeom prst="rect">
            <a:avLst/>
          </a:prstGeom>
          <a:noFill/>
          <a:ln/>
        </p:spPr>
        <p:txBody>
          <a:bodyPr wrap="square" lIns="0" tIns="0" rIns="0" bIns="0" rtlCol="0" anchor="ctr"/>
          <a:lstStyle/>
          <a:p>
            <a:pPr algn="ctr" indent="0" marL="0">
              <a:buNone/>
            </a:pPr>
            <a:r>
              <a:rPr lang="en-US" sz="1200" b="1" dirty="0">
                <a:solidFill>
                  <a:srgbClr val="16A34A"/>
                </a:solidFill>
                <a:latin typeface="Calibri" pitchFamily="34" charset="0"/>
                <a:ea typeface="Calibri" pitchFamily="34" charset="-122"/>
                <a:cs typeface="Calibri" pitchFamily="34" charset="-120"/>
              </a:rPr>
              <a:t>Text-to-Speech</a:t>
            </a:r>
            <a:endParaRPr lang="en-US" sz="1200" dirty="0"/>
          </a:p>
        </p:txBody>
      </p:sp>
      <p:sp>
        <p:nvSpPr>
          <p:cNvPr id="14" name="Shape 12"/>
          <p:cNvSpPr/>
          <p:nvPr/>
        </p:nvSpPr>
        <p:spPr>
          <a:xfrm>
            <a:off x="7134149" y="4983480"/>
            <a:ext cx="2344522" cy="457200"/>
          </a:xfrm>
          <a:prstGeom prst="roundRect">
            <a:avLst>
              <a:gd name="adj" fmla="val 14000"/>
            </a:avLst>
          </a:prstGeom>
          <a:solidFill>
            <a:srgbClr val="211B30"/>
          </a:solidFill>
          <a:ln w="12700">
            <a:solidFill>
              <a:srgbClr val="D97706">
                <a:alpha val="55000"/>
              </a:srgbClr>
            </a:solidFill>
            <a:prstDash val="solid"/>
          </a:ln>
        </p:spPr>
      </p:sp>
      <p:sp>
        <p:nvSpPr>
          <p:cNvPr id="15" name="Text 13"/>
          <p:cNvSpPr/>
          <p:nvPr/>
        </p:nvSpPr>
        <p:spPr>
          <a:xfrm>
            <a:off x="7134149" y="4983480"/>
            <a:ext cx="2344522" cy="457200"/>
          </a:xfrm>
          <a:prstGeom prst="rect">
            <a:avLst/>
          </a:prstGeom>
          <a:noFill/>
          <a:ln/>
        </p:spPr>
        <p:txBody>
          <a:bodyPr wrap="square" lIns="0" tIns="0" rIns="0" bIns="0" rtlCol="0" anchor="ctr"/>
          <a:lstStyle/>
          <a:p>
            <a:pPr algn="ctr" indent="0" marL="0">
              <a:buNone/>
            </a:pPr>
            <a:r>
              <a:rPr lang="en-US" sz="1200" b="1" dirty="0">
                <a:solidFill>
                  <a:srgbClr val="D97706"/>
                </a:solidFill>
                <a:latin typeface="Calibri" pitchFamily="34" charset="0"/>
                <a:ea typeface="Calibri" pitchFamily="34" charset="-122"/>
                <a:cs typeface="Calibri" pitchFamily="34" charset="-120"/>
              </a:rPr>
              <a:t>Voice Task Manager</a:t>
            </a:r>
            <a:endParaRPr lang="en-US" sz="1200" dirty="0"/>
          </a:p>
        </p:txBody>
      </p:sp>
      <p:sp>
        <p:nvSpPr>
          <p:cNvPr id="16" name="Text 14"/>
          <p:cNvSpPr/>
          <p:nvPr/>
        </p:nvSpPr>
        <p:spPr>
          <a:xfrm>
            <a:off x="685800" y="5650992"/>
            <a:ext cx="8229600" cy="256032"/>
          </a:xfrm>
          <a:prstGeom prst="rect">
            <a:avLst/>
          </a:prstGeom>
          <a:noFill/>
          <a:ln/>
        </p:spPr>
        <p:txBody>
          <a:bodyPr wrap="square" lIns="0" tIns="0" rIns="0" bIns="0" rtlCol="0" anchor="ctr"/>
          <a:lstStyle/>
          <a:p>
            <a:pPr indent="0" marL="0">
              <a:buNone/>
            </a:pPr>
            <a:r>
              <a:rPr lang="en-US" sz="1300" i="1" dirty="0">
                <a:solidFill>
                  <a:srgbClr val="8B92B8"/>
                </a:solidFill>
                <a:latin typeface="Calibri" pitchFamily="34" charset="0"/>
                <a:ea typeface="Calibri" pitchFamily="34" charset="-122"/>
                <a:cs typeface="Calibri" pitchFamily="34" charset="-120"/>
              </a:rPr>
              <a:t>3 APIs  ·  3 live demos  ·  1 complete voice project  ·  6 Q&amp;As</a:t>
            </a:r>
            <a:endParaRPr lang="en-US" sz="1300" dirty="0"/>
          </a:p>
        </p:txBody>
      </p:sp>
      <p:sp>
        <p:nvSpPr>
          <p:cNvPr id="17" name="Shape 15"/>
          <p:cNvSpPr/>
          <p:nvPr/>
        </p:nvSpPr>
        <p:spPr>
          <a:xfrm>
            <a:off x="502920" y="6053328"/>
            <a:ext cx="11109960" cy="475488"/>
          </a:xfrm>
          <a:prstGeom prst="roundRect">
            <a:avLst>
              <a:gd name="adj" fmla="val 17308"/>
            </a:avLst>
          </a:prstGeom>
          <a:solidFill>
            <a:srgbClr val="1C2236"/>
          </a:solidFill>
          <a:ln w="12700">
            <a:solidFill>
              <a:srgbClr val="D97706">
                <a:alpha val="45000"/>
              </a:srgbClr>
            </a:solidFill>
            <a:prstDash val="solid"/>
          </a:ln>
        </p:spPr>
      </p:sp>
      <p:sp>
        <p:nvSpPr>
          <p:cNvPr id="18" name="Text 16"/>
          <p:cNvSpPr/>
          <p:nvPr/>
        </p:nvSpPr>
        <p:spPr>
          <a:xfrm>
            <a:off x="713232" y="6126480"/>
            <a:ext cx="10652760" cy="329184"/>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Week 1 completion: after this session you have the full Voice Task Manager — speak, process, and reply by voice.</a:t>
            </a:r>
            <a:endParaRPr lang="en-US" sz="1300" dirty="0"/>
          </a:p>
        </p:txBody>
      </p:sp>
      <p:sp>
        <p:nvSpPr>
          <p:cNvPr id="20" name="Shape 17"/>
          <p:cNvSpPr/>
          <p:nvPr/>
        </p:nvSpPr>
        <p:spPr>
          <a:xfrm>
            <a:off x="0" y="6583680"/>
            <a:ext cx="12191695" cy="274320"/>
          </a:xfrm>
          <a:prstGeom prst="rect">
            <a:avLst/>
          </a:prstGeom>
          <a:solidFill>
            <a:srgbClr val="7C3AED">
              <a:alpha val="12000"/>
            </a:srgbClr>
          </a:solidFill>
          <a:ln w="12700">
            <a:solidFill>
              <a:srgbClr val="7C3AED">
                <a:alpha val="35000"/>
              </a:srgbClr>
            </a:solidFill>
            <a:prstDash val="solid"/>
          </a:ln>
        </p:spPr>
      </p:sp>
      <p:sp>
        <p:nvSpPr>
          <p:cNvPr id="21" name="Text 18"/>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22" name="Text 19"/>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 / 31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7C3AED"/>
                </a:solidFill>
                <a:latin typeface="Calibri" pitchFamily="34" charset="0"/>
                <a:ea typeface="Calibri" pitchFamily="34" charset="-122"/>
                <a:cs typeface="Calibri" pitchFamily="34" charset="-120"/>
              </a:rPr>
              <a:t>WHAT YOU BUILD TODAY</a:t>
            </a:r>
            <a:endParaRPr lang="en-US" sz="1200" dirty="0"/>
          </a:p>
        </p:txBody>
      </p:sp>
      <p:sp>
        <p:nvSpPr>
          <p:cNvPr id="3" name="Text 1"/>
          <p:cNvSpPr/>
          <p:nvPr/>
        </p:nvSpPr>
        <p:spPr>
          <a:xfrm>
            <a:off x="685800" y="749808"/>
            <a:ext cx="10789920" cy="1115568"/>
          </a:xfrm>
          <a:prstGeom prst="rect">
            <a:avLst/>
          </a:prstGeom>
          <a:noFill/>
          <a:ln/>
        </p:spPr>
        <p:txBody>
          <a:bodyPr wrap="square" lIns="0" tIns="0" rIns="0" bIns="0" rtlCol="0" anchor="ctr"/>
          <a:lstStyle/>
          <a:p>
            <a:pPr indent="0" marL="0">
              <a:lnSpc>
                <a:spcPct val="105000"/>
              </a:lnSpc>
              <a:buNone/>
            </a:pPr>
            <a:r>
              <a:rPr lang="en-US" sz="3000" b="1" dirty="0">
                <a:solidFill>
                  <a:srgbClr val="475569"/>
                </a:solidFill>
                <a:latin typeface="Calibri" pitchFamily="34" charset="0"/>
                <a:ea typeface="Calibri" pitchFamily="34" charset="-122"/>
                <a:cs typeface="Calibri" pitchFamily="34" charset="-120"/>
              </a:rPr>
              <a:t>Three APIs. Together they make your</a:t>
            </a:r>
            <a:endParaRPr lang="en-US" sz="3000" dirty="0"/>
          </a:p>
          <a:p>
            <a:pPr indent="0" marL="0">
              <a:lnSpc>
                <a:spcPct val="105000"/>
              </a:lnSpc>
              <a:buNone/>
            </a:pPr>
            <a:r>
              <a:rPr lang="en-US" sz="3000" b="1" dirty="0">
                <a:solidFill>
                  <a:srgbClr val="475569"/>
                </a:solidFill>
                <a:latin typeface="Calibri" pitchFamily="34" charset="0"/>
                <a:ea typeface="Calibri" pitchFamily="34" charset="-122"/>
                <a:cs typeface="Calibri" pitchFamily="34" charset="-120"/>
              </a:rPr>
              <a:t>Java app see, hear, and speak.</a:t>
            </a:r>
            <a:endParaRPr lang="en-US" sz="3000" dirty="0"/>
          </a:p>
        </p:txBody>
      </p:sp>
      <p:sp>
        <p:nvSpPr>
          <p:cNvPr id="4" name="Shape 2"/>
          <p:cNvSpPr/>
          <p:nvPr/>
        </p:nvSpPr>
        <p:spPr>
          <a:xfrm>
            <a:off x="502920" y="2029968"/>
            <a:ext cx="3749040" cy="4224528"/>
          </a:xfrm>
          <a:prstGeom prst="roundRect">
            <a:avLst>
              <a:gd name="adj" fmla="val 2439"/>
            </a:avLst>
          </a:prstGeom>
          <a:solidFill>
            <a:srgbClr val="F8FAFC"/>
          </a:solidFill>
          <a:ln w="19050">
            <a:solidFill>
              <a:srgbClr val="7C3AED">
                <a:alpha val="60000"/>
              </a:srgbClr>
            </a:solidFill>
            <a:prstDash val="solid"/>
          </a:ln>
          <a:effectLst>
            <a:outerShdw sx="100000" sy="100000" kx="0" ky="0" algn="bl" rotWithShape="0" blurRad="101600" dist="38100" dir="5400000">
              <a:srgbClr val="000000">
                <a:alpha val="13000"/>
              </a:srgbClr>
            </a:outerShdw>
          </a:effectLst>
        </p:spPr>
      </p:sp>
      <p:sp>
        <p:nvSpPr>
          <p:cNvPr id="5" name="Shape 3"/>
          <p:cNvSpPr/>
          <p:nvPr/>
        </p:nvSpPr>
        <p:spPr>
          <a:xfrm>
            <a:off x="502920" y="2029968"/>
            <a:ext cx="3749040" cy="438912"/>
          </a:xfrm>
          <a:prstGeom prst="roundRect">
            <a:avLst>
              <a:gd name="adj" fmla="val 20833"/>
            </a:avLst>
          </a:prstGeom>
          <a:solidFill>
            <a:srgbClr val="7C3AED"/>
          </a:solidFill>
          <a:ln w="12700">
            <a:solidFill>
              <a:srgbClr val="7C3AED"/>
            </a:solidFill>
            <a:prstDash val="solid"/>
          </a:ln>
        </p:spPr>
      </p:sp>
      <p:sp>
        <p:nvSpPr>
          <p:cNvPr id="6" name="Text 4"/>
          <p:cNvSpPr/>
          <p:nvPr/>
        </p:nvSpPr>
        <p:spPr>
          <a:xfrm>
            <a:off x="667512" y="2057400"/>
            <a:ext cx="3429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DALL-E 3</a:t>
            </a:r>
            <a:endParaRPr lang="en-US" sz="1600" dirty="0"/>
          </a:p>
        </p:txBody>
      </p:sp>
      <p:sp>
        <p:nvSpPr>
          <p:cNvPr id="7" name="Shape 5"/>
          <p:cNvSpPr/>
          <p:nvPr/>
        </p:nvSpPr>
        <p:spPr>
          <a:xfrm>
            <a:off x="2788920" y="2066544"/>
            <a:ext cx="1298448" cy="329184"/>
          </a:xfrm>
          <a:prstGeom prst="roundRect">
            <a:avLst>
              <a:gd name="adj" fmla="val 22222"/>
            </a:avLst>
          </a:prstGeom>
          <a:solidFill>
            <a:srgbClr val="7C3AED"/>
          </a:solidFill>
          <a:ln w="12700">
            <a:solidFill>
              <a:srgbClr val="FFFFFF">
                <a:alpha val="40000"/>
              </a:srgbClr>
            </a:solidFill>
            <a:prstDash val="solid"/>
          </a:ln>
        </p:spPr>
      </p:sp>
      <p:sp>
        <p:nvSpPr>
          <p:cNvPr id="8" name="Text 6"/>
          <p:cNvSpPr/>
          <p:nvPr/>
        </p:nvSpPr>
        <p:spPr>
          <a:xfrm>
            <a:off x="2807208" y="2084832"/>
            <a:ext cx="1261872"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Text → Image</a:t>
            </a:r>
            <a:endParaRPr lang="en-US" sz="1200" dirty="0"/>
          </a:p>
        </p:txBody>
      </p:sp>
      <p:sp>
        <p:nvSpPr>
          <p:cNvPr id="9" name="Text 7"/>
          <p:cNvSpPr/>
          <p:nvPr/>
        </p:nvSpPr>
        <p:spPr>
          <a:xfrm>
            <a:off x="685800" y="2578608"/>
            <a:ext cx="3401568" cy="804672"/>
          </a:xfrm>
          <a:prstGeom prst="rect">
            <a:avLst/>
          </a:prstGeom>
          <a:noFill/>
          <a:ln/>
        </p:spPr>
        <p:txBody>
          <a:bodyPr wrap="square" lIns="0" tIns="0" rIns="0" bIns="0" rtlCol="0" anchor="ctr"/>
          <a:lstStyle/>
          <a:p>
            <a:pPr indent="0" marL="0">
              <a:lnSpc>
                <a:spcPct val="130000"/>
              </a:lnSpc>
              <a:buNone/>
            </a:pPr>
            <a:r>
              <a:rPr lang="en-US" sz="1300" dirty="0">
                <a:solidFill>
                  <a:srgbClr val="475569"/>
                </a:solidFill>
                <a:latin typeface="Calibri" pitchFamily="34" charset="0"/>
                <a:ea typeface="Calibri" pitchFamily="34" charset="-122"/>
                <a:cs typeface="Calibri" pitchFamily="34" charset="-120"/>
              </a:rPr>
              <a:t>Describe anything in words. Get a photorealistic image back in seconds.</a:t>
            </a:r>
            <a:endParaRPr lang="en-US" sz="1300" dirty="0"/>
          </a:p>
        </p:txBody>
      </p:sp>
      <p:sp>
        <p:nvSpPr>
          <p:cNvPr id="10" name="Shape 8"/>
          <p:cNvSpPr/>
          <p:nvPr/>
        </p:nvSpPr>
        <p:spPr>
          <a:xfrm>
            <a:off x="685800" y="3456432"/>
            <a:ext cx="3401568" cy="841248"/>
          </a:xfrm>
          <a:prstGeom prst="roundRect">
            <a:avLst>
              <a:gd name="adj" fmla="val 7609"/>
            </a:avLst>
          </a:prstGeom>
          <a:solidFill>
            <a:srgbClr val="7C3AED"/>
          </a:solidFill>
          <a:ln w="12700">
            <a:solidFill>
              <a:srgbClr val="7C3AED">
                <a:alpha val="14000"/>
              </a:srgbClr>
            </a:solidFill>
            <a:prstDash val="solid"/>
          </a:ln>
        </p:spPr>
      </p:sp>
      <p:sp>
        <p:nvSpPr>
          <p:cNvPr id="11" name="Text 9"/>
          <p:cNvSpPr/>
          <p:nvPr/>
        </p:nvSpPr>
        <p:spPr>
          <a:xfrm>
            <a:off x="758952" y="3493008"/>
            <a:ext cx="3273552" cy="768096"/>
          </a:xfrm>
          <a:prstGeom prst="rect">
            <a:avLst/>
          </a:prstGeom>
          <a:noFill/>
          <a:ln/>
        </p:spPr>
        <p:txBody>
          <a:bodyPr wrap="square" lIns="0" tIns="0" rIns="0" bIns="0" rtlCol="0" anchor="ctr"/>
          <a:lstStyle/>
          <a:p>
            <a:pPr indent="0" marL="0">
              <a:lnSpc>
                <a:spcPct val="130000"/>
              </a:lnSpc>
              <a:buNone/>
            </a:pPr>
            <a:r>
              <a:rPr lang="en-US" sz="1050" dirty="0">
                <a:solidFill>
                  <a:srgbClr val="FFFFFF"/>
                </a:solidFill>
                <a:latin typeface="Courier New" pitchFamily="34" charset="0"/>
                <a:ea typeface="Courier New" pitchFamily="34" charset="-122"/>
                <a:cs typeface="Courier New" pitchFamily="34" charset="-120"/>
              </a:rPr>
              <a:t>""A Java developer celebrating after fixing a production bug, pixel art, vibrant""</a:t>
            </a:r>
            <a:endParaRPr lang="en-US" sz="1050" dirty="0"/>
          </a:p>
        </p:txBody>
      </p:sp>
      <p:sp>
        <p:nvSpPr>
          <p:cNvPr id="12" name="Shape 10"/>
          <p:cNvSpPr/>
          <p:nvPr/>
        </p:nvSpPr>
        <p:spPr>
          <a:xfrm>
            <a:off x="685800" y="4407408"/>
            <a:ext cx="3401568" cy="438912"/>
          </a:xfrm>
          <a:prstGeom prst="roundRect">
            <a:avLst>
              <a:gd name="adj" fmla="val 14583"/>
            </a:avLst>
          </a:prstGeom>
          <a:solidFill>
            <a:srgbClr val="7C3AED"/>
          </a:solidFill>
          <a:ln w="12700">
            <a:solidFill>
              <a:srgbClr val="7C3AED"/>
            </a:solidFill>
            <a:prstDash val="solid"/>
          </a:ln>
        </p:spPr>
      </p:sp>
      <p:sp>
        <p:nvSpPr>
          <p:cNvPr id="13" name="Text 11"/>
          <p:cNvSpPr/>
          <p:nvPr/>
        </p:nvSpPr>
        <p:spPr>
          <a:xfrm>
            <a:off x="758952" y="4443984"/>
            <a:ext cx="3273552" cy="36576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Cost: $0.04–$0.08 / image</a:t>
            </a:r>
            <a:endParaRPr lang="en-US" sz="1300" dirty="0"/>
          </a:p>
        </p:txBody>
      </p:sp>
      <p:sp>
        <p:nvSpPr>
          <p:cNvPr id="14" name="Text 12"/>
          <p:cNvSpPr/>
          <p:nvPr/>
        </p:nvSpPr>
        <p:spPr>
          <a:xfrm>
            <a:off x="685800" y="4983480"/>
            <a:ext cx="3401568" cy="502920"/>
          </a:xfrm>
          <a:prstGeom prst="rect">
            <a:avLst/>
          </a:prstGeom>
          <a:noFill/>
          <a:ln/>
        </p:spPr>
        <p:txBody>
          <a:bodyPr wrap="square" lIns="0" tIns="0" rIns="0" bIns="0" rtlCol="0" anchor="ctr"/>
          <a:lstStyle/>
          <a:p>
            <a:pPr indent="0" marL="0">
              <a:lnSpc>
                <a:spcPct val="120000"/>
              </a:lnSpc>
              <a:buNone/>
            </a:pPr>
            <a:r>
              <a:rPr lang="en-US" sz="1200" i="1" dirty="0">
                <a:solidFill>
                  <a:srgbClr val="7C3AED"/>
                </a:solidFill>
                <a:latin typeface="Calibri" pitchFamily="34" charset="0"/>
                <a:ea typeface="Calibri" pitchFamily="34" charset="-122"/>
                <a:cs typeface="Calibri" pitchFamily="34" charset="-120"/>
              </a:rPr>
              <a:t>All three combined = Voice Task Manager</a:t>
            </a:r>
            <a:endParaRPr lang="en-US" sz="1200" dirty="0"/>
          </a:p>
        </p:txBody>
      </p:sp>
      <p:sp>
        <p:nvSpPr>
          <p:cNvPr id="15" name="Shape 13"/>
          <p:cNvSpPr/>
          <p:nvPr/>
        </p:nvSpPr>
        <p:spPr>
          <a:xfrm>
            <a:off x="4160520" y="2029968"/>
            <a:ext cx="3749040" cy="4224528"/>
          </a:xfrm>
          <a:prstGeom prst="roundRect">
            <a:avLst>
              <a:gd name="adj" fmla="val 2439"/>
            </a:avLst>
          </a:prstGeom>
          <a:solidFill>
            <a:srgbClr val="F8FAFC"/>
          </a:solidFill>
          <a:ln w="19050">
            <a:solidFill>
              <a:srgbClr val="0891B2">
                <a:alpha val="60000"/>
              </a:srgbClr>
            </a:solidFill>
            <a:prstDash val="solid"/>
          </a:ln>
          <a:effectLst>
            <a:outerShdw sx="100000" sy="100000" kx="0" ky="0" algn="bl" rotWithShape="0" blurRad="101600" dist="38100" dir="5400000">
              <a:srgbClr val="000000">
                <a:alpha val="13000"/>
              </a:srgbClr>
            </a:outerShdw>
          </a:effectLst>
        </p:spPr>
      </p:sp>
      <p:sp>
        <p:nvSpPr>
          <p:cNvPr id="16" name="Shape 14"/>
          <p:cNvSpPr/>
          <p:nvPr/>
        </p:nvSpPr>
        <p:spPr>
          <a:xfrm>
            <a:off x="4160520" y="2029968"/>
            <a:ext cx="3749040" cy="438912"/>
          </a:xfrm>
          <a:prstGeom prst="roundRect">
            <a:avLst>
              <a:gd name="adj" fmla="val 20833"/>
            </a:avLst>
          </a:prstGeom>
          <a:solidFill>
            <a:srgbClr val="0891B2"/>
          </a:solidFill>
          <a:ln w="12700">
            <a:solidFill>
              <a:srgbClr val="0891B2"/>
            </a:solidFill>
            <a:prstDash val="solid"/>
          </a:ln>
        </p:spPr>
      </p:sp>
      <p:sp>
        <p:nvSpPr>
          <p:cNvPr id="17" name="Text 15"/>
          <p:cNvSpPr/>
          <p:nvPr/>
        </p:nvSpPr>
        <p:spPr>
          <a:xfrm>
            <a:off x="4325112" y="2057400"/>
            <a:ext cx="3429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Whisper</a:t>
            </a:r>
            <a:endParaRPr lang="en-US" sz="1600" dirty="0"/>
          </a:p>
        </p:txBody>
      </p:sp>
      <p:sp>
        <p:nvSpPr>
          <p:cNvPr id="18" name="Shape 16"/>
          <p:cNvSpPr/>
          <p:nvPr/>
        </p:nvSpPr>
        <p:spPr>
          <a:xfrm>
            <a:off x="6446520" y="2066544"/>
            <a:ext cx="1298448" cy="329184"/>
          </a:xfrm>
          <a:prstGeom prst="roundRect">
            <a:avLst>
              <a:gd name="adj" fmla="val 22222"/>
            </a:avLst>
          </a:prstGeom>
          <a:solidFill>
            <a:srgbClr val="0891B2"/>
          </a:solidFill>
          <a:ln w="12700">
            <a:solidFill>
              <a:srgbClr val="FFFFFF">
                <a:alpha val="40000"/>
              </a:srgbClr>
            </a:solidFill>
            <a:prstDash val="solid"/>
          </a:ln>
        </p:spPr>
      </p:sp>
      <p:sp>
        <p:nvSpPr>
          <p:cNvPr id="19" name="Text 17"/>
          <p:cNvSpPr/>
          <p:nvPr/>
        </p:nvSpPr>
        <p:spPr>
          <a:xfrm>
            <a:off x="6464808" y="2084832"/>
            <a:ext cx="1261872"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Audio → Text</a:t>
            </a:r>
            <a:endParaRPr lang="en-US" sz="1200" dirty="0"/>
          </a:p>
        </p:txBody>
      </p:sp>
      <p:sp>
        <p:nvSpPr>
          <p:cNvPr id="20" name="Text 18"/>
          <p:cNvSpPr/>
          <p:nvPr/>
        </p:nvSpPr>
        <p:spPr>
          <a:xfrm>
            <a:off x="4343400" y="2578608"/>
            <a:ext cx="3401568" cy="804672"/>
          </a:xfrm>
          <a:prstGeom prst="rect">
            <a:avLst/>
          </a:prstGeom>
          <a:noFill/>
          <a:ln/>
        </p:spPr>
        <p:txBody>
          <a:bodyPr wrap="square" lIns="0" tIns="0" rIns="0" bIns="0" rtlCol="0" anchor="ctr"/>
          <a:lstStyle/>
          <a:p>
            <a:pPr indent="0" marL="0">
              <a:lnSpc>
                <a:spcPct val="130000"/>
              </a:lnSpc>
              <a:buNone/>
            </a:pPr>
            <a:r>
              <a:rPr lang="en-US" sz="1300" dirty="0">
                <a:solidFill>
                  <a:srgbClr val="475569"/>
                </a:solidFill>
                <a:latin typeface="Calibri" pitchFamily="34" charset="0"/>
                <a:ea typeface="Calibri" pitchFamily="34" charset="-122"/>
                <a:cs typeface="Calibri" pitchFamily="34" charset="-120"/>
              </a:rPr>
              <a:t>Upload an audio file — microphone recording, podcast, lecture. Get back an accurate transcript.</a:t>
            </a:r>
            <a:endParaRPr lang="en-US" sz="1300" dirty="0"/>
          </a:p>
        </p:txBody>
      </p:sp>
      <p:sp>
        <p:nvSpPr>
          <p:cNvPr id="21" name="Shape 19"/>
          <p:cNvSpPr/>
          <p:nvPr/>
        </p:nvSpPr>
        <p:spPr>
          <a:xfrm>
            <a:off x="4343400" y="3456432"/>
            <a:ext cx="3401568" cy="841248"/>
          </a:xfrm>
          <a:prstGeom prst="roundRect">
            <a:avLst>
              <a:gd name="adj" fmla="val 7609"/>
            </a:avLst>
          </a:prstGeom>
          <a:solidFill>
            <a:srgbClr val="0891B2"/>
          </a:solidFill>
          <a:ln w="12700">
            <a:solidFill>
              <a:srgbClr val="0891B2">
                <a:alpha val="14000"/>
              </a:srgbClr>
            </a:solidFill>
            <a:prstDash val="solid"/>
          </a:ln>
        </p:spPr>
      </p:sp>
      <p:sp>
        <p:nvSpPr>
          <p:cNvPr id="22" name="Text 20"/>
          <p:cNvSpPr/>
          <p:nvPr/>
        </p:nvSpPr>
        <p:spPr>
          <a:xfrm>
            <a:off x="4416552" y="3493008"/>
            <a:ext cx="3273552" cy="768096"/>
          </a:xfrm>
          <a:prstGeom prst="rect">
            <a:avLst/>
          </a:prstGeom>
          <a:noFill/>
          <a:ln/>
        </p:spPr>
        <p:txBody>
          <a:bodyPr wrap="square" lIns="0" tIns="0" rIns="0" bIns="0" rtlCol="0" anchor="ctr"/>
          <a:lstStyle/>
          <a:p>
            <a:pPr indent="0" marL="0">
              <a:lnSpc>
                <a:spcPct val="130000"/>
              </a:lnSpc>
              <a:buNone/>
            </a:pPr>
            <a:r>
              <a:rPr lang="en-US" sz="1050" dirty="0">
                <a:solidFill>
                  <a:srgbClr val="FFFFFF"/>
                </a:solidFill>
                <a:latin typeface="Courier New" pitchFamily="34" charset="0"/>
                <a:ea typeface="Courier New" pitchFamily="34" charset="-122"/>
                <a:cs typeface="Courier New" pitchFamily="34" charset="-120"/>
              </a:rPr>
              <a:t>"User speaks: 'Add a task: deploy to production by Friday afternoon'"</a:t>
            </a:r>
            <a:endParaRPr lang="en-US" sz="1050" dirty="0"/>
          </a:p>
        </p:txBody>
      </p:sp>
      <p:sp>
        <p:nvSpPr>
          <p:cNvPr id="23" name="Shape 21"/>
          <p:cNvSpPr/>
          <p:nvPr/>
        </p:nvSpPr>
        <p:spPr>
          <a:xfrm>
            <a:off x="4343400" y="4407408"/>
            <a:ext cx="3401568" cy="438912"/>
          </a:xfrm>
          <a:prstGeom prst="roundRect">
            <a:avLst>
              <a:gd name="adj" fmla="val 14583"/>
            </a:avLst>
          </a:prstGeom>
          <a:solidFill>
            <a:srgbClr val="0891B2"/>
          </a:solidFill>
          <a:ln w="12700">
            <a:solidFill>
              <a:srgbClr val="0891B2"/>
            </a:solidFill>
            <a:prstDash val="solid"/>
          </a:ln>
        </p:spPr>
      </p:sp>
      <p:sp>
        <p:nvSpPr>
          <p:cNvPr id="24" name="Text 22"/>
          <p:cNvSpPr/>
          <p:nvPr/>
        </p:nvSpPr>
        <p:spPr>
          <a:xfrm>
            <a:off x="4416552" y="4443984"/>
            <a:ext cx="3273552" cy="36576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Cost: $0.006 / minute</a:t>
            </a:r>
            <a:endParaRPr lang="en-US" sz="1300" dirty="0"/>
          </a:p>
        </p:txBody>
      </p:sp>
      <p:sp>
        <p:nvSpPr>
          <p:cNvPr id="25" name="Text 23"/>
          <p:cNvSpPr/>
          <p:nvPr/>
        </p:nvSpPr>
        <p:spPr>
          <a:xfrm>
            <a:off x="4343400" y="4983480"/>
            <a:ext cx="3401568" cy="502920"/>
          </a:xfrm>
          <a:prstGeom prst="rect">
            <a:avLst/>
          </a:prstGeom>
          <a:noFill/>
          <a:ln/>
        </p:spPr>
        <p:txBody>
          <a:bodyPr wrap="square" lIns="0" tIns="0" rIns="0" bIns="0" rtlCol="0" anchor="ctr"/>
          <a:lstStyle/>
          <a:p>
            <a:pPr indent="0" marL="0">
              <a:lnSpc>
                <a:spcPct val="120000"/>
              </a:lnSpc>
              <a:buNone/>
            </a:pPr>
            <a:r>
              <a:rPr lang="en-US" sz="1200" i="1" dirty="0">
                <a:solidFill>
                  <a:srgbClr val="0891B2"/>
                </a:solidFill>
                <a:latin typeface="Calibri" pitchFamily="34" charset="0"/>
                <a:ea typeface="Calibri" pitchFamily="34" charset="-122"/>
                <a:cs typeface="Calibri" pitchFamily="34" charset="-120"/>
              </a:rPr>
              <a:t>All three combined = Voice Task Manager</a:t>
            </a:r>
            <a:endParaRPr lang="en-US" sz="1200" dirty="0"/>
          </a:p>
        </p:txBody>
      </p:sp>
      <p:sp>
        <p:nvSpPr>
          <p:cNvPr id="26" name="Shape 24"/>
          <p:cNvSpPr/>
          <p:nvPr/>
        </p:nvSpPr>
        <p:spPr>
          <a:xfrm>
            <a:off x="7818120" y="2029968"/>
            <a:ext cx="3749040" cy="4224528"/>
          </a:xfrm>
          <a:prstGeom prst="roundRect">
            <a:avLst>
              <a:gd name="adj" fmla="val 2439"/>
            </a:avLst>
          </a:prstGeom>
          <a:solidFill>
            <a:srgbClr val="F8FAFC"/>
          </a:solidFill>
          <a:ln w="19050">
            <a:solidFill>
              <a:srgbClr val="16A34A">
                <a:alpha val="60000"/>
              </a:srgbClr>
            </a:solidFill>
            <a:prstDash val="solid"/>
          </a:ln>
          <a:effectLst>
            <a:outerShdw sx="100000" sy="100000" kx="0" ky="0" algn="bl" rotWithShape="0" blurRad="101600" dist="38100" dir="5400000">
              <a:srgbClr val="000000">
                <a:alpha val="13000"/>
              </a:srgbClr>
            </a:outerShdw>
          </a:effectLst>
        </p:spPr>
      </p:sp>
      <p:sp>
        <p:nvSpPr>
          <p:cNvPr id="27" name="Shape 25"/>
          <p:cNvSpPr/>
          <p:nvPr/>
        </p:nvSpPr>
        <p:spPr>
          <a:xfrm>
            <a:off x="7818120" y="2029968"/>
            <a:ext cx="3749040" cy="438912"/>
          </a:xfrm>
          <a:prstGeom prst="roundRect">
            <a:avLst>
              <a:gd name="adj" fmla="val 20833"/>
            </a:avLst>
          </a:prstGeom>
          <a:solidFill>
            <a:srgbClr val="16A34A"/>
          </a:solidFill>
          <a:ln w="12700">
            <a:solidFill>
              <a:srgbClr val="16A34A"/>
            </a:solidFill>
            <a:prstDash val="solid"/>
          </a:ln>
        </p:spPr>
      </p:sp>
      <p:sp>
        <p:nvSpPr>
          <p:cNvPr id="28" name="Text 26"/>
          <p:cNvSpPr/>
          <p:nvPr/>
        </p:nvSpPr>
        <p:spPr>
          <a:xfrm>
            <a:off x="7982712" y="2057400"/>
            <a:ext cx="3429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TTS</a:t>
            </a:r>
            <a:endParaRPr lang="en-US" sz="1600" dirty="0"/>
          </a:p>
        </p:txBody>
      </p:sp>
      <p:sp>
        <p:nvSpPr>
          <p:cNvPr id="29" name="Shape 27"/>
          <p:cNvSpPr/>
          <p:nvPr/>
        </p:nvSpPr>
        <p:spPr>
          <a:xfrm>
            <a:off x="10104120" y="2066544"/>
            <a:ext cx="1298448" cy="329184"/>
          </a:xfrm>
          <a:prstGeom prst="roundRect">
            <a:avLst>
              <a:gd name="adj" fmla="val 22222"/>
            </a:avLst>
          </a:prstGeom>
          <a:solidFill>
            <a:srgbClr val="16A34A"/>
          </a:solidFill>
          <a:ln w="12700">
            <a:solidFill>
              <a:srgbClr val="FFFFFF">
                <a:alpha val="40000"/>
              </a:srgbClr>
            </a:solidFill>
            <a:prstDash val="solid"/>
          </a:ln>
        </p:spPr>
      </p:sp>
      <p:sp>
        <p:nvSpPr>
          <p:cNvPr id="30" name="Text 28"/>
          <p:cNvSpPr/>
          <p:nvPr/>
        </p:nvSpPr>
        <p:spPr>
          <a:xfrm>
            <a:off x="10122408" y="2084832"/>
            <a:ext cx="1261872"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Text → Audio</a:t>
            </a:r>
            <a:endParaRPr lang="en-US" sz="1200" dirty="0"/>
          </a:p>
        </p:txBody>
      </p:sp>
      <p:sp>
        <p:nvSpPr>
          <p:cNvPr id="31" name="Text 29"/>
          <p:cNvSpPr/>
          <p:nvPr/>
        </p:nvSpPr>
        <p:spPr>
          <a:xfrm>
            <a:off x="8001000" y="2578608"/>
            <a:ext cx="3401568" cy="804672"/>
          </a:xfrm>
          <a:prstGeom prst="rect">
            <a:avLst/>
          </a:prstGeom>
          <a:noFill/>
          <a:ln/>
        </p:spPr>
        <p:txBody>
          <a:bodyPr wrap="square" lIns="0" tIns="0" rIns="0" bIns="0" rtlCol="0" anchor="ctr"/>
          <a:lstStyle/>
          <a:p>
            <a:pPr indent="0" marL="0">
              <a:lnSpc>
                <a:spcPct val="130000"/>
              </a:lnSpc>
              <a:buNone/>
            </a:pPr>
            <a:r>
              <a:rPr lang="en-US" sz="1300" dirty="0">
                <a:solidFill>
                  <a:srgbClr val="475569"/>
                </a:solidFill>
                <a:latin typeface="Calibri" pitchFamily="34" charset="0"/>
                <a:ea typeface="Calibri" pitchFamily="34" charset="-122"/>
                <a:cs typeface="Calibri" pitchFamily="34" charset="-120"/>
              </a:rPr>
              <a:t>Pass any string. Receive an audio file in the voice of your choice. Stream it in real time.</a:t>
            </a:r>
            <a:endParaRPr lang="en-US" sz="1300" dirty="0"/>
          </a:p>
        </p:txBody>
      </p:sp>
      <p:sp>
        <p:nvSpPr>
          <p:cNvPr id="32" name="Shape 30"/>
          <p:cNvSpPr/>
          <p:nvPr/>
        </p:nvSpPr>
        <p:spPr>
          <a:xfrm>
            <a:off x="8001000" y="3456432"/>
            <a:ext cx="3401568" cy="841248"/>
          </a:xfrm>
          <a:prstGeom prst="roundRect">
            <a:avLst>
              <a:gd name="adj" fmla="val 7609"/>
            </a:avLst>
          </a:prstGeom>
          <a:solidFill>
            <a:srgbClr val="16A34A"/>
          </a:solidFill>
          <a:ln w="12700">
            <a:solidFill>
              <a:srgbClr val="16A34A">
                <a:alpha val="14000"/>
              </a:srgbClr>
            </a:solidFill>
            <a:prstDash val="solid"/>
          </a:ln>
        </p:spPr>
      </p:sp>
      <p:sp>
        <p:nvSpPr>
          <p:cNvPr id="33" name="Text 31"/>
          <p:cNvSpPr/>
          <p:nvPr/>
        </p:nvSpPr>
        <p:spPr>
          <a:xfrm>
            <a:off x="8074152" y="3493008"/>
            <a:ext cx="3273552" cy="768096"/>
          </a:xfrm>
          <a:prstGeom prst="rect">
            <a:avLst/>
          </a:prstGeom>
          <a:noFill/>
          <a:ln/>
        </p:spPr>
        <p:txBody>
          <a:bodyPr wrap="square" lIns="0" tIns="0" rIns="0" bIns="0" rtlCol="0" anchor="ctr"/>
          <a:lstStyle/>
          <a:p>
            <a:pPr indent="0" marL="0">
              <a:lnSpc>
                <a:spcPct val="130000"/>
              </a:lnSpc>
              <a:buNone/>
            </a:pPr>
            <a:r>
              <a:rPr lang="en-US" sz="1050" dirty="0">
                <a:solidFill>
                  <a:srgbClr val="FFFFFF"/>
                </a:solidFill>
                <a:latin typeface="Courier New" pitchFamily="34" charset="0"/>
                <a:ea typeface="Courier New" pitchFamily="34" charset="-122"/>
                <a:cs typeface="Courier New" pitchFamily="34" charset="-120"/>
              </a:rPr>
              <a:t>"'Done! I have added the task: deploy to production, due Friday.'"</a:t>
            </a:r>
            <a:endParaRPr lang="en-US" sz="1050" dirty="0"/>
          </a:p>
        </p:txBody>
      </p:sp>
      <p:sp>
        <p:nvSpPr>
          <p:cNvPr id="34" name="Shape 32"/>
          <p:cNvSpPr/>
          <p:nvPr/>
        </p:nvSpPr>
        <p:spPr>
          <a:xfrm>
            <a:off x="8001000" y="4407408"/>
            <a:ext cx="3401568" cy="438912"/>
          </a:xfrm>
          <a:prstGeom prst="roundRect">
            <a:avLst>
              <a:gd name="adj" fmla="val 14583"/>
            </a:avLst>
          </a:prstGeom>
          <a:solidFill>
            <a:srgbClr val="16A34A"/>
          </a:solidFill>
          <a:ln w="12700">
            <a:solidFill>
              <a:srgbClr val="16A34A"/>
            </a:solidFill>
            <a:prstDash val="solid"/>
          </a:ln>
        </p:spPr>
      </p:sp>
      <p:sp>
        <p:nvSpPr>
          <p:cNvPr id="35" name="Text 33"/>
          <p:cNvSpPr/>
          <p:nvPr/>
        </p:nvSpPr>
        <p:spPr>
          <a:xfrm>
            <a:off x="8074152" y="4443984"/>
            <a:ext cx="3273552" cy="36576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Cost: $0.015 / 1k characters</a:t>
            </a:r>
            <a:endParaRPr lang="en-US" sz="1300" dirty="0"/>
          </a:p>
        </p:txBody>
      </p:sp>
      <p:sp>
        <p:nvSpPr>
          <p:cNvPr id="36" name="Text 34"/>
          <p:cNvSpPr/>
          <p:nvPr/>
        </p:nvSpPr>
        <p:spPr>
          <a:xfrm>
            <a:off x="8001000" y="4983480"/>
            <a:ext cx="3401568" cy="502920"/>
          </a:xfrm>
          <a:prstGeom prst="rect">
            <a:avLst/>
          </a:prstGeom>
          <a:noFill/>
          <a:ln/>
        </p:spPr>
        <p:txBody>
          <a:bodyPr wrap="square" lIns="0" tIns="0" rIns="0" bIns="0" rtlCol="0" anchor="ctr"/>
          <a:lstStyle/>
          <a:p>
            <a:pPr indent="0" marL="0">
              <a:lnSpc>
                <a:spcPct val="120000"/>
              </a:lnSpc>
              <a:buNone/>
            </a:pPr>
            <a:r>
              <a:rPr lang="en-US" sz="1200" i="1" dirty="0">
                <a:solidFill>
                  <a:srgbClr val="16A34A"/>
                </a:solidFill>
                <a:latin typeface="Calibri" pitchFamily="34" charset="0"/>
                <a:ea typeface="Calibri" pitchFamily="34" charset="-122"/>
                <a:cs typeface="Calibri" pitchFamily="34" charset="-120"/>
              </a:rPr>
              <a:t>All three combined = Voice Task Manager</a:t>
            </a:r>
            <a:endParaRPr lang="en-US" sz="1200" dirty="0"/>
          </a:p>
        </p:txBody>
      </p:sp>
      <p:sp>
        <p:nvSpPr>
          <p:cNvPr id="38" name="Shape 35"/>
          <p:cNvSpPr/>
          <p:nvPr/>
        </p:nvSpPr>
        <p:spPr>
          <a:xfrm>
            <a:off x="0" y="6583680"/>
            <a:ext cx="12191695" cy="274320"/>
          </a:xfrm>
          <a:prstGeom prst="rect">
            <a:avLst/>
          </a:prstGeom>
          <a:solidFill>
            <a:srgbClr val="7C3AED">
              <a:alpha val="12000"/>
            </a:srgbClr>
          </a:solidFill>
          <a:ln w="12700">
            <a:solidFill>
              <a:srgbClr val="7C3AED">
                <a:alpha val="35000"/>
              </a:srgbClr>
            </a:solidFill>
            <a:prstDash val="solid"/>
          </a:ln>
        </p:spPr>
      </p:sp>
      <p:sp>
        <p:nvSpPr>
          <p:cNvPr id="39" name="Text 36"/>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40" name="Text 37"/>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2 / 31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F1A"/>
        </a:solidFill>
      </p:bgPr>
    </p:bg>
    <p:spTree>
      <p:nvGrpSpPr>
        <p:cNvPr id="1" name=""/>
        <p:cNvGrpSpPr/>
        <p:nvPr/>
      </p:nvGrpSpPr>
      <p:grpSpPr>
        <a:xfrm>
          <a:off x="0" y="0"/>
          <a:ext cx="0" cy="0"/>
          <a:chOff x="0" y="0"/>
          <a:chExt cx="0" cy="0"/>
        </a:xfrm>
      </p:grpSpPr>
      <p:sp>
        <p:nvSpPr>
          <p:cNvPr id="2" name="Text 0"/>
          <p:cNvSpPr/>
          <p:nvPr/>
        </p:nvSpPr>
        <p:spPr>
          <a:xfrm>
            <a:off x="6400800" y="-274320"/>
            <a:ext cx="6400800" cy="5029200"/>
          </a:xfrm>
          <a:prstGeom prst="rect">
            <a:avLst/>
          </a:prstGeom>
          <a:noFill/>
          <a:ln/>
        </p:spPr>
        <p:txBody>
          <a:bodyPr wrap="square" lIns="0" tIns="0" rIns="0" bIns="0" rtlCol="0" anchor="ctr"/>
          <a:lstStyle/>
          <a:p>
            <a:pPr indent="0" marL="0">
              <a:buNone/>
            </a:pPr>
            <a:r>
              <a:rPr lang="en-US" sz="20000" b="1" dirty="0">
                <a:solidFill>
                  <a:srgbClr val="7C3AED">
                    <a:alpha val="9000"/>
                  </a:srgbClr>
                </a:solidFill>
                <a:latin typeface="Calibri" pitchFamily="34" charset="0"/>
                <a:ea typeface="Calibri" pitchFamily="34" charset="-122"/>
                <a:cs typeface="Calibri" pitchFamily="34" charset="-120"/>
              </a:rPr>
              <a:t>DALL-E 3</a:t>
            </a:r>
            <a:endParaRPr lang="en-US" sz="20000" dirty="0"/>
          </a:p>
        </p:txBody>
      </p:sp>
      <p:sp>
        <p:nvSpPr>
          <p:cNvPr id="3" name="Shape 1"/>
          <p:cNvSpPr/>
          <p:nvPr/>
        </p:nvSpPr>
        <p:spPr>
          <a:xfrm>
            <a:off x="475488" y="804672"/>
            <a:ext cx="749808" cy="749808"/>
          </a:xfrm>
          <a:prstGeom prst="roundRect">
            <a:avLst>
              <a:gd name="adj" fmla="val 12195"/>
            </a:avLst>
          </a:prstGeom>
          <a:solidFill>
            <a:srgbClr val="7C3AED"/>
          </a:solidFill>
          <a:ln w="12700">
            <a:solidFill>
              <a:srgbClr val="7C3AED"/>
            </a:solidFill>
            <a:prstDash val="solid"/>
          </a:ln>
        </p:spPr>
      </p:sp>
      <p:sp>
        <p:nvSpPr>
          <p:cNvPr id="4" name="Text 2"/>
          <p:cNvSpPr/>
          <p:nvPr/>
        </p:nvSpPr>
        <p:spPr>
          <a:xfrm>
            <a:off x="475488" y="804672"/>
            <a:ext cx="749808" cy="749808"/>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5" name="Text 3"/>
          <p:cNvSpPr/>
          <p:nvPr/>
        </p:nvSpPr>
        <p:spPr>
          <a:xfrm>
            <a:off x="1371600" y="841248"/>
            <a:ext cx="2743200" cy="292608"/>
          </a:xfrm>
          <a:prstGeom prst="rect">
            <a:avLst/>
          </a:prstGeom>
          <a:noFill/>
          <a:ln/>
        </p:spPr>
        <p:txBody>
          <a:bodyPr wrap="square" lIns="0" tIns="0" rIns="0" bIns="0" rtlCol="0" anchor="ctr"/>
          <a:lstStyle/>
          <a:p>
            <a:pPr indent="0" marL="0">
              <a:buNone/>
            </a:pPr>
            <a:r>
              <a:rPr lang="en-US" sz="1300" b="1" spc="500" kern="0" dirty="0">
                <a:solidFill>
                  <a:srgbClr val="7C3AED"/>
                </a:solidFill>
                <a:latin typeface="Calibri" pitchFamily="34" charset="0"/>
                <a:ea typeface="Calibri" pitchFamily="34" charset="-122"/>
                <a:cs typeface="Calibri" pitchFamily="34" charset="-120"/>
              </a:rPr>
              <a:t>SECTION</a:t>
            </a:r>
            <a:endParaRPr lang="en-US" sz="1300" dirty="0"/>
          </a:p>
        </p:txBody>
      </p:sp>
      <p:sp>
        <p:nvSpPr>
          <p:cNvPr id="6" name="Text 4"/>
          <p:cNvSpPr/>
          <p:nvPr/>
        </p:nvSpPr>
        <p:spPr>
          <a:xfrm>
            <a:off x="685800" y="1417320"/>
            <a:ext cx="9144000" cy="1920240"/>
          </a:xfrm>
          <a:prstGeom prst="rect">
            <a:avLst/>
          </a:prstGeom>
          <a:noFill/>
          <a:ln/>
        </p:spPr>
        <p:txBody>
          <a:bodyPr wrap="square" lIns="0" tIns="0" rIns="0" bIns="0" rtlCol="0" anchor="ctr"/>
          <a:lstStyle/>
          <a:p>
            <a:pPr indent="0" marL="0">
              <a:lnSpc>
                <a:spcPct val="104000"/>
              </a:lnSpc>
              <a:buNone/>
            </a:pPr>
            <a:r>
              <a:rPr lang="en-US" sz="5400" b="1" dirty="0">
                <a:solidFill>
                  <a:srgbClr val="FFFFFF"/>
                </a:solidFill>
                <a:latin typeface="Calibri" pitchFamily="34" charset="0"/>
                <a:ea typeface="Calibri" pitchFamily="34" charset="-122"/>
                <a:cs typeface="Calibri" pitchFamily="34" charset="-120"/>
              </a:rPr>
              <a:t>DALL-E 3</a:t>
            </a:r>
            <a:endParaRPr lang="en-US" sz="5400" dirty="0"/>
          </a:p>
          <a:p>
            <a:pPr indent="0" marL="0">
              <a:lnSpc>
                <a:spcPct val="104000"/>
              </a:lnSpc>
              <a:buNone/>
            </a:pPr>
            <a:r>
              <a:rPr lang="en-US" sz="5400" b="1" dirty="0">
                <a:solidFill>
                  <a:srgbClr val="FFFFFF"/>
                </a:solidFill>
                <a:latin typeface="Calibri" pitchFamily="34" charset="0"/>
                <a:ea typeface="Calibri" pitchFamily="34" charset="-122"/>
                <a:cs typeface="Calibri" pitchFamily="34" charset="-120"/>
              </a:rPr>
              <a:t>Image Gen</a:t>
            </a:r>
            <a:endParaRPr lang="en-US" sz="5400" dirty="0"/>
          </a:p>
        </p:txBody>
      </p:sp>
      <p:sp>
        <p:nvSpPr>
          <p:cNvPr id="7" name="Text 5"/>
          <p:cNvSpPr/>
          <p:nvPr/>
        </p:nvSpPr>
        <p:spPr>
          <a:xfrm>
            <a:off x="685800" y="3493008"/>
            <a:ext cx="9144000" cy="777240"/>
          </a:xfrm>
          <a:prstGeom prst="rect">
            <a:avLst/>
          </a:prstGeom>
          <a:noFill/>
          <a:ln/>
        </p:spPr>
        <p:txBody>
          <a:bodyPr wrap="square" lIns="0" tIns="0" rIns="0" bIns="0" rtlCol="0" anchor="ctr"/>
          <a:lstStyle/>
          <a:p>
            <a:pPr indent="0" marL="0">
              <a:lnSpc>
                <a:spcPct val="130000"/>
              </a:lnSpc>
              <a:buNone/>
            </a:pPr>
            <a:r>
              <a:rPr lang="en-US" sz="2000" dirty="0">
                <a:solidFill>
                  <a:srgbClr val="8B92B8"/>
                </a:solidFill>
                <a:latin typeface="Calibri" pitchFamily="34" charset="0"/>
                <a:ea typeface="Calibri" pitchFamily="34" charset="-122"/>
                <a:cs typeface="Calibri" pitchFamily="34" charset="-120"/>
              </a:rPr>
              <a:t>Text prompt → photorealistic image. Call the API, get a URL. That is it.</a:t>
            </a:r>
            <a:endParaRPr lang="en-US" sz="2000" dirty="0"/>
          </a:p>
        </p:txBody>
      </p:sp>
      <p:sp>
        <p:nvSpPr>
          <p:cNvPr id="9" name="Shape 6"/>
          <p:cNvSpPr/>
          <p:nvPr/>
        </p:nvSpPr>
        <p:spPr>
          <a:xfrm>
            <a:off x="0" y="6583680"/>
            <a:ext cx="12191695" cy="274320"/>
          </a:xfrm>
          <a:prstGeom prst="rect">
            <a:avLst/>
          </a:prstGeom>
          <a:solidFill>
            <a:srgbClr val="7C3AED">
              <a:alpha val="12000"/>
            </a:srgbClr>
          </a:solidFill>
          <a:ln w="12700">
            <a:solidFill>
              <a:srgbClr val="7C3AED">
                <a:alpha val="35000"/>
              </a:srgbClr>
            </a:solidFill>
            <a:prstDash val="solid"/>
          </a:ln>
        </p:spPr>
      </p:sp>
      <p:sp>
        <p:nvSpPr>
          <p:cNvPr id="10" name="Text 7"/>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1" name="Text 8"/>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3 / 31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7C3AED"/>
                </a:solidFill>
                <a:latin typeface="Calibri" pitchFamily="34" charset="0"/>
                <a:ea typeface="Calibri" pitchFamily="34" charset="-122"/>
                <a:cs typeface="Calibri" pitchFamily="34" charset="-120"/>
              </a:rPr>
              <a:t>DALL-E 3 — HOW IMAGE GENERATION WORKS</a:t>
            </a:r>
            <a:endParaRPr lang="en-US" sz="1200" dirty="0"/>
          </a:p>
        </p:txBody>
      </p:sp>
      <p:sp>
        <p:nvSpPr>
          <p:cNvPr id="3" name="Text 1"/>
          <p:cNvSpPr/>
          <p:nvPr/>
        </p:nvSpPr>
        <p:spPr>
          <a:xfrm>
            <a:off x="685800" y="749808"/>
            <a:ext cx="10789920" cy="868680"/>
          </a:xfrm>
          <a:prstGeom prst="rect">
            <a:avLst/>
          </a:prstGeom>
          <a:noFill/>
          <a:ln/>
        </p:spPr>
        <p:txBody>
          <a:bodyPr wrap="square" lIns="0" tIns="0" rIns="0" bIns="0" rtlCol="0" anchor="ctr"/>
          <a:lstStyle/>
          <a:p>
            <a:pPr indent="0" marL="0">
              <a:lnSpc>
                <a:spcPct val="105000"/>
              </a:lnSpc>
              <a:buNone/>
            </a:pPr>
            <a:r>
              <a:rPr lang="en-US" sz="3200" b="1" dirty="0">
                <a:solidFill>
                  <a:srgbClr val="475569"/>
                </a:solidFill>
                <a:latin typeface="Calibri" pitchFamily="34" charset="0"/>
                <a:ea typeface="Calibri" pitchFamily="34" charset="-122"/>
                <a:cs typeface="Calibri" pitchFamily="34" charset="-120"/>
              </a:rPr>
              <a:t>Diffusion: start with noise, sculpt it into an image.</a:t>
            </a:r>
            <a:endParaRPr lang="en-US" sz="3200" dirty="0"/>
          </a:p>
        </p:txBody>
      </p:sp>
      <p:sp>
        <p:nvSpPr>
          <p:cNvPr id="4" name="Shape 2"/>
          <p:cNvSpPr/>
          <p:nvPr/>
        </p:nvSpPr>
        <p:spPr>
          <a:xfrm>
            <a:off x="502920" y="1938528"/>
            <a:ext cx="2057400" cy="3520440"/>
          </a:xfrm>
          <a:prstGeom prst="roundRect">
            <a:avLst>
              <a:gd name="adj" fmla="val 4000"/>
            </a:avLst>
          </a:prstGeom>
          <a:solidFill>
            <a:srgbClr val="EDE9FE"/>
          </a:solidFill>
          <a:ln w="19050">
            <a:solidFill>
              <a:srgbClr val="7C3AED">
                <a:alpha val="60000"/>
              </a:srgbClr>
            </a:solidFill>
            <a:prstDash val="solid"/>
          </a:ln>
          <a:effectLst>
            <a:outerShdw sx="100000" sy="100000" kx="0" ky="0" algn="bl" rotWithShape="0" blurRad="101600" dist="38100" dir="5400000">
              <a:srgbClr val="000000">
                <a:alpha val="13000"/>
              </a:srgbClr>
            </a:outerShdw>
          </a:effectLst>
        </p:spPr>
      </p:sp>
      <p:sp>
        <p:nvSpPr>
          <p:cNvPr id="5" name="Shape 3"/>
          <p:cNvSpPr/>
          <p:nvPr/>
        </p:nvSpPr>
        <p:spPr>
          <a:xfrm>
            <a:off x="1325880" y="2103120"/>
            <a:ext cx="438912" cy="438912"/>
          </a:xfrm>
          <a:prstGeom prst="ellipse">
            <a:avLst/>
          </a:prstGeom>
          <a:solidFill>
            <a:srgbClr val="7C3AED"/>
          </a:solidFill>
          <a:ln/>
        </p:spPr>
      </p:sp>
      <p:sp>
        <p:nvSpPr>
          <p:cNvPr id="6" name="Text 4"/>
          <p:cNvSpPr/>
          <p:nvPr/>
        </p:nvSpPr>
        <p:spPr>
          <a:xfrm>
            <a:off x="1325880" y="210312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640080" y="2633472"/>
            <a:ext cx="1810512" cy="621792"/>
          </a:xfrm>
          <a:prstGeom prst="rect">
            <a:avLst/>
          </a:prstGeom>
          <a:noFill/>
          <a:ln/>
        </p:spPr>
        <p:txBody>
          <a:bodyPr wrap="square" lIns="0" tIns="0" rIns="0" bIns="0" rtlCol="0" anchor="ctr"/>
          <a:lstStyle/>
          <a:p>
            <a:pPr indent="0" marL="0">
              <a:lnSpc>
                <a:spcPct val="115000"/>
              </a:lnSpc>
              <a:buNone/>
            </a:pPr>
            <a:r>
              <a:rPr lang="en-US" sz="1300" b="1" dirty="0">
                <a:solidFill>
                  <a:srgbClr val="7C3AED"/>
                </a:solidFill>
                <a:latin typeface="Calibri" pitchFamily="34" charset="0"/>
                <a:ea typeface="Calibri" pitchFamily="34" charset="-122"/>
                <a:cs typeface="Calibri" pitchFamily="34" charset="-120"/>
              </a:rPr>
              <a:t>Your text prompt</a:t>
            </a:r>
            <a:endParaRPr lang="en-US" sz="1300" dirty="0"/>
          </a:p>
        </p:txBody>
      </p:sp>
      <p:sp>
        <p:nvSpPr>
          <p:cNvPr id="8" name="Shape 6"/>
          <p:cNvSpPr/>
          <p:nvPr/>
        </p:nvSpPr>
        <p:spPr>
          <a:xfrm>
            <a:off x="685800" y="3310128"/>
            <a:ext cx="1719072" cy="0"/>
          </a:xfrm>
          <a:prstGeom prst="line">
            <a:avLst/>
          </a:prstGeom>
          <a:noFill/>
          <a:ln w="9525">
            <a:solidFill>
              <a:srgbClr val="7C3AED">
                <a:alpha val="45000"/>
              </a:srgbClr>
            </a:solidFill>
            <a:prstDash val="solid"/>
          </a:ln>
        </p:spPr>
      </p:sp>
      <p:sp>
        <p:nvSpPr>
          <p:cNvPr id="9" name="Text 7"/>
          <p:cNvSpPr/>
          <p:nvPr/>
        </p:nvSpPr>
        <p:spPr>
          <a:xfrm>
            <a:off x="640080" y="3401568"/>
            <a:ext cx="1810512" cy="105156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'A golden retriever puppy in autumn leaves, photo-realistic'</a:t>
            </a:r>
            <a:endParaRPr lang="en-US" sz="1100" dirty="0"/>
          </a:p>
        </p:txBody>
      </p:sp>
      <p:sp>
        <p:nvSpPr>
          <p:cNvPr id="10" name="Shape 8"/>
          <p:cNvSpPr/>
          <p:nvPr/>
        </p:nvSpPr>
        <p:spPr>
          <a:xfrm>
            <a:off x="2587752" y="3703320"/>
            <a:ext cx="137160" cy="0"/>
          </a:xfrm>
          <a:prstGeom prst="line">
            <a:avLst/>
          </a:prstGeom>
          <a:noFill/>
          <a:ln w="25400">
            <a:solidFill>
              <a:srgbClr val="7C3AED"/>
            </a:solidFill>
            <a:prstDash val="solid"/>
            <a:tailEnd type="triangle"/>
          </a:ln>
        </p:spPr>
      </p:sp>
      <p:sp>
        <p:nvSpPr>
          <p:cNvPr id="11" name="Shape 9"/>
          <p:cNvSpPr/>
          <p:nvPr/>
        </p:nvSpPr>
        <p:spPr>
          <a:xfrm>
            <a:off x="2743200" y="1938528"/>
            <a:ext cx="2057400" cy="3520440"/>
          </a:xfrm>
          <a:prstGeom prst="roundRect">
            <a:avLst>
              <a:gd name="adj" fmla="val 4000"/>
            </a:avLst>
          </a:prstGeom>
          <a:solidFill>
            <a:srgbClr val="ECFEFF"/>
          </a:solidFill>
          <a:ln w="19050">
            <a:solidFill>
              <a:srgbClr val="0891B2">
                <a:alpha val="60000"/>
              </a:srgbClr>
            </a:solidFill>
            <a:prstDash val="solid"/>
          </a:ln>
          <a:effectLst>
            <a:outerShdw sx="100000" sy="100000" kx="0" ky="0" algn="bl" rotWithShape="0" blurRad="101600" dist="38100" dir="5400000">
              <a:srgbClr val="000000">
                <a:alpha val="13000"/>
              </a:srgbClr>
            </a:outerShdw>
          </a:effectLst>
        </p:spPr>
      </p:sp>
      <p:sp>
        <p:nvSpPr>
          <p:cNvPr id="12" name="Shape 10"/>
          <p:cNvSpPr/>
          <p:nvPr/>
        </p:nvSpPr>
        <p:spPr>
          <a:xfrm>
            <a:off x="3566160" y="2103120"/>
            <a:ext cx="438912" cy="438912"/>
          </a:xfrm>
          <a:prstGeom prst="ellipse">
            <a:avLst/>
          </a:prstGeom>
          <a:solidFill>
            <a:srgbClr val="0891B2"/>
          </a:solidFill>
          <a:ln/>
        </p:spPr>
      </p:sp>
      <p:sp>
        <p:nvSpPr>
          <p:cNvPr id="13" name="Text 11"/>
          <p:cNvSpPr/>
          <p:nvPr/>
        </p:nvSpPr>
        <p:spPr>
          <a:xfrm>
            <a:off x="3566160" y="210312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2880360" y="2633472"/>
            <a:ext cx="1810512" cy="621792"/>
          </a:xfrm>
          <a:prstGeom prst="rect">
            <a:avLst/>
          </a:prstGeom>
          <a:noFill/>
          <a:ln/>
        </p:spPr>
        <p:txBody>
          <a:bodyPr wrap="square" lIns="0" tIns="0" rIns="0" bIns="0" rtlCol="0" anchor="ctr"/>
          <a:lstStyle/>
          <a:p>
            <a:pPr indent="0" marL="0">
              <a:lnSpc>
                <a:spcPct val="115000"/>
              </a:lnSpc>
              <a:buNone/>
            </a:pPr>
            <a:r>
              <a:rPr lang="en-US" sz="1300" b="1" dirty="0">
                <a:solidFill>
                  <a:srgbClr val="0891B2"/>
                </a:solidFill>
                <a:latin typeface="Calibri" pitchFamily="34" charset="0"/>
                <a:ea typeface="Calibri" pitchFamily="34" charset="-122"/>
                <a:cs typeface="Calibri" pitchFamily="34" charset="-120"/>
              </a:rPr>
              <a:t>Text encoder</a:t>
            </a:r>
            <a:endParaRPr lang="en-US" sz="1300" dirty="0"/>
          </a:p>
        </p:txBody>
      </p:sp>
      <p:sp>
        <p:nvSpPr>
          <p:cNvPr id="15" name="Shape 13"/>
          <p:cNvSpPr/>
          <p:nvPr/>
        </p:nvSpPr>
        <p:spPr>
          <a:xfrm>
            <a:off x="2926080" y="3310128"/>
            <a:ext cx="1719072" cy="0"/>
          </a:xfrm>
          <a:prstGeom prst="line">
            <a:avLst/>
          </a:prstGeom>
          <a:noFill/>
          <a:ln w="9525">
            <a:solidFill>
              <a:srgbClr val="0891B2">
                <a:alpha val="45000"/>
              </a:srgbClr>
            </a:solidFill>
            <a:prstDash val="solid"/>
          </a:ln>
        </p:spPr>
      </p:sp>
      <p:sp>
        <p:nvSpPr>
          <p:cNvPr id="16" name="Text 14"/>
          <p:cNvSpPr/>
          <p:nvPr/>
        </p:nvSpPr>
        <p:spPr>
          <a:xfrm>
            <a:off x="2880360" y="3401568"/>
            <a:ext cx="1810512" cy="105156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CLIP converts your words to a semantic vector</a:t>
            </a:r>
            <a:endParaRPr lang="en-US" sz="1100" dirty="0"/>
          </a:p>
        </p:txBody>
      </p:sp>
      <p:sp>
        <p:nvSpPr>
          <p:cNvPr id="17" name="Shape 15"/>
          <p:cNvSpPr/>
          <p:nvPr/>
        </p:nvSpPr>
        <p:spPr>
          <a:xfrm>
            <a:off x="4828032" y="3703320"/>
            <a:ext cx="137160" cy="0"/>
          </a:xfrm>
          <a:prstGeom prst="line">
            <a:avLst/>
          </a:prstGeom>
          <a:noFill/>
          <a:ln w="25400">
            <a:solidFill>
              <a:srgbClr val="0891B2"/>
            </a:solidFill>
            <a:prstDash val="solid"/>
            <a:tailEnd type="triangle"/>
          </a:ln>
        </p:spPr>
      </p:sp>
      <p:sp>
        <p:nvSpPr>
          <p:cNvPr id="18" name="Shape 16"/>
          <p:cNvSpPr/>
          <p:nvPr/>
        </p:nvSpPr>
        <p:spPr>
          <a:xfrm>
            <a:off x="4983480" y="1938528"/>
            <a:ext cx="2057400" cy="3520440"/>
          </a:xfrm>
          <a:prstGeom prst="roundRect">
            <a:avLst>
              <a:gd name="adj" fmla="val 4000"/>
            </a:avLst>
          </a:prstGeom>
          <a:solidFill>
            <a:srgbClr val="F0FDF4"/>
          </a:solidFill>
          <a:ln w="19050">
            <a:solidFill>
              <a:srgbClr val="16A34A">
                <a:alpha val="60000"/>
              </a:srgbClr>
            </a:solidFill>
            <a:prstDash val="solid"/>
          </a:ln>
          <a:effectLst>
            <a:outerShdw sx="100000" sy="100000" kx="0" ky="0" algn="bl" rotWithShape="0" blurRad="101600" dist="38100" dir="5400000">
              <a:srgbClr val="000000">
                <a:alpha val="13000"/>
              </a:srgbClr>
            </a:outerShdw>
          </a:effectLst>
        </p:spPr>
      </p:sp>
      <p:sp>
        <p:nvSpPr>
          <p:cNvPr id="19" name="Shape 17"/>
          <p:cNvSpPr/>
          <p:nvPr/>
        </p:nvSpPr>
        <p:spPr>
          <a:xfrm>
            <a:off x="5806440" y="2103120"/>
            <a:ext cx="438912" cy="438912"/>
          </a:xfrm>
          <a:prstGeom prst="ellipse">
            <a:avLst/>
          </a:prstGeom>
          <a:solidFill>
            <a:srgbClr val="16A34A"/>
          </a:solidFill>
          <a:ln/>
        </p:spPr>
      </p:sp>
      <p:sp>
        <p:nvSpPr>
          <p:cNvPr id="20" name="Text 18"/>
          <p:cNvSpPr/>
          <p:nvPr/>
        </p:nvSpPr>
        <p:spPr>
          <a:xfrm>
            <a:off x="5806440" y="210312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5120640" y="2633472"/>
            <a:ext cx="1810512" cy="621792"/>
          </a:xfrm>
          <a:prstGeom prst="rect">
            <a:avLst/>
          </a:prstGeom>
          <a:noFill/>
          <a:ln/>
        </p:spPr>
        <p:txBody>
          <a:bodyPr wrap="square" lIns="0" tIns="0" rIns="0" bIns="0" rtlCol="0" anchor="ctr"/>
          <a:lstStyle/>
          <a:p>
            <a:pPr indent="0" marL="0">
              <a:lnSpc>
                <a:spcPct val="115000"/>
              </a:lnSpc>
              <a:buNone/>
            </a:pPr>
            <a:r>
              <a:rPr lang="en-US" sz="1300" b="1" dirty="0">
                <a:solidFill>
                  <a:srgbClr val="16A34A"/>
                </a:solidFill>
                <a:latin typeface="Calibri" pitchFamily="34" charset="0"/>
                <a:ea typeface="Calibri" pitchFamily="34" charset="-122"/>
                <a:cs typeface="Calibri" pitchFamily="34" charset="-120"/>
              </a:rPr>
              <a:t>Start with noise</a:t>
            </a:r>
            <a:endParaRPr lang="en-US" sz="1300" dirty="0"/>
          </a:p>
        </p:txBody>
      </p:sp>
      <p:sp>
        <p:nvSpPr>
          <p:cNvPr id="22" name="Shape 20"/>
          <p:cNvSpPr/>
          <p:nvPr/>
        </p:nvSpPr>
        <p:spPr>
          <a:xfrm>
            <a:off x="5166360" y="3310128"/>
            <a:ext cx="1719072" cy="0"/>
          </a:xfrm>
          <a:prstGeom prst="line">
            <a:avLst/>
          </a:prstGeom>
          <a:noFill/>
          <a:ln w="9525">
            <a:solidFill>
              <a:srgbClr val="16A34A">
                <a:alpha val="45000"/>
              </a:srgbClr>
            </a:solidFill>
            <a:prstDash val="solid"/>
          </a:ln>
        </p:spPr>
      </p:sp>
      <p:sp>
        <p:nvSpPr>
          <p:cNvPr id="23" name="Text 21"/>
          <p:cNvSpPr/>
          <p:nvPr/>
        </p:nvSpPr>
        <p:spPr>
          <a:xfrm>
            <a:off x="5120640" y="3401568"/>
            <a:ext cx="1810512" cy="105156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A random image of pure Gaussian noise — all pixels random</a:t>
            </a:r>
            <a:endParaRPr lang="en-US" sz="1100" dirty="0"/>
          </a:p>
        </p:txBody>
      </p:sp>
      <p:sp>
        <p:nvSpPr>
          <p:cNvPr id="24" name="Shape 22"/>
          <p:cNvSpPr/>
          <p:nvPr/>
        </p:nvSpPr>
        <p:spPr>
          <a:xfrm>
            <a:off x="7068312" y="3703320"/>
            <a:ext cx="137160" cy="0"/>
          </a:xfrm>
          <a:prstGeom prst="line">
            <a:avLst/>
          </a:prstGeom>
          <a:noFill/>
          <a:ln w="25400">
            <a:solidFill>
              <a:srgbClr val="16A34A"/>
            </a:solidFill>
            <a:prstDash val="solid"/>
            <a:tailEnd type="triangle"/>
          </a:ln>
        </p:spPr>
      </p:sp>
      <p:sp>
        <p:nvSpPr>
          <p:cNvPr id="25" name="Shape 23"/>
          <p:cNvSpPr/>
          <p:nvPr/>
        </p:nvSpPr>
        <p:spPr>
          <a:xfrm>
            <a:off x="7223760" y="1938528"/>
            <a:ext cx="2057400" cy="3520440"/>
          </a:xfrm>
          <a:prstGeom prst="roundRect">
            <a:avLst>
              <a:gd name="adj" fmla="val 4000"/>
            </a:avLst>
          </a:prstGeom>
          <a:solidFill>
            <a:srgbClr val="FFFBEB"/>
          </a:solidFill>
          <a:ln w="19050">
            <a:solidFill>
              <a:srgbClr val="D97706">
                <a:alpha val="60000"/>
              </a:srgbClr>
            </a:solidFill>
            <a:prstDash val="solid"/>
          </a:ln>
          <a:effectLst>
            <a:outerShdw sx="100000" sy="100000" kx="0" ky="0" algn="bl" rotWithShape="0" blurRad="101600" dist="38100" dir="5400000">
              <a:srgbClr val="000000">
                <a:alpha val="13000"/>
              </a:srgbClr>
            </a:outerShdw>
          </a:effectLst>
        </p:spPr>
      </p:sp>
      <p:sp>
        <p:nvSpPr>
          <p:cNvPr id="26" name="Shape 24"/>
          <p:cNvSpPr/>
          <p:nvPr/>
        </p:nvSpPr>
        <p:spPr>
          <a:xfrm>
            <a:off x="8046720" y="2103120"/>
            <a:ext cx="438912" cy="438912"/>
          </a:xfrm>
          <a:prstGeom prst="ellipse">
            <a:avLst/>
          </a:prstGeom>
          <a:solidFill>
            <a:srgbClr val="D97706"/>
          </a:solidFill>
          <a:ln/>
        </p:spPr>
      </p:sp>
      <p:sp>
        <p:nvSpPr>
          <p:cNvPr id="27" name="Text 25"/>
          <p:cNvSpPr/>
          <p:nvPr/>
        </p:nvSpPr>
        <p:spPr>
          <a:xfrm>
            <a:off x="8046720" y="210312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8" name="Text 26"/>
          <p:cNvSpPr/>
          <p:nvPr/>
        </p:nvSpPr>
        <p:spPr>
          <a:xfrm>
            <a:off x="7360920" y="2633472"/>
            <a:ext cx="1810512" cy="621792"/>
          </a:xfrm>
          <a:prstGeom prst="rect">
            <a:avLst/>
          </a:prstGeom>
          <a:noFill/>
          <a:ln/>
        </p:spPr>
        <p:txBody>
          <a:bodyPr wrap="square" lIns="0" tIns="0" rIns="0" bIns="0" rtlCol="0" anchor="ctr"/>
          <a:lstStyle/>
          <a:p>
            <a:pPr indent="0" marL="0">
              <a:lnSpc>
                <a:spcPct val="115000"/>
              </a:lnSpc>
              <a:buNone/>
            </a:pPr>
            <a:r>
              <a:rPr lang="en-US" sz="1300" b="1" dirty="0">
                <a:solidFill>
                  <a:srgbClr val="D97706"/>
                </a:solidFill>
                <a:latin typeface="Calibri" pitchFamily="34" charset="0"/>
                <a:ea typeface="Calibri" pitchFamily="34" charset="-122"/>
                <a:cs typeface="Calibri" pitchFamily="34" charset="-120"/>
              </a:rPr>
              <a:t>Iterative denoising</a:t>
            </a:r>
            <a:endParaRPr lang="en-US" sz="1300" dirty="0"/>
          </a:p>
        </p:txBody>
      </p:sp>
      <p:sp>
        <p:nvSpPr>
          <p:cNvPr id="29" name="Shape 27"/>
          <p:cNvSpPr/>
          <p:nvPr/>
        </p:nvSpPr>
        <p:spPr>
          <a:xfrm>
            <a:off x="7406640" y="3310128"/>
            <a:ext cx="1719072" cy="0"/>
          </a:xfrm>
          <a:prstGeom prst="line">
            <a:avLst/>
          </a:prstGeom>
          <a:noFill/>
          <a:ln w="9525">
            <a:solidFill>
              <a:srgbClr val="D97706">
                <a:alpha val="45000"/>
              </a:srgbClr>
            </a:solidFill>
            <a:prstDash val="solid"/>
          </a:ln>
        </p:spPr>
      </p:sp>
      <p:sp>
        <p:nvSpPr>
          <p:cNvPr id="30" name="Text 28"/>
          <p:cNvSpPr/>
          <p:nvPr/>
        </p:nvSpPr>
        <p:spPr>
          <a:xfrm>
            <a:off x="7360920" y="3401568"/>
            <a:ext cx="1810512" cy="105156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~50 steps: model removes noise toward your text description</a:t>
            </a:r>
            <a:endParaRPr lang="en-US" sz="1100" dirty="0"/>
          </a:p>
        </p:txBody>
      </p:sp>
      <p:sp>
        <p:nvSpPr>
          <p:cNvPr id="31" name="Shape 29"/>
          <p:cNvSpPr/>
          <p:nvPr/>
        </p:nvSpPr>
        <p:spPr>
          <a:xfrm>
            <a:off x="9308592" y="3703320"/>
            <a:ext cx="137160" cy="0"/>
          </a:xfrm>
          <a:prstGeom prst="line">
            <a:avLst/>
          </a:prstGeom>
          <a:noFill/>
          <a:ln w="25400">
            <a:solidFill>
              <a:srgbClr val="D97706"/>
            </a:solidFill>
            <a:prstDash val="solid"/>
            <a:tailEnd type="triangle"/>
          </a:ln>
        </p:spPr>
      </p:sp>
      <p:sp>
        <p:nvSpPr>
          <p:cNvPr id="32" name="Shape 30"/>
          <p:cNvSpPr/>
          <p:nvPr/>
        </p:nvSpPr>
        <p:spPr>
          <a:xfrm>
            <a:off x="9464040" y="1938528"/>
            <a:ext cx="2057400" cy="3520440"/>
          </a:xfrm>
          <a:prstGeom prst="roundRect">
            <a:avLst>
              <a:gd name="adj" fmla="val 4000"/>
            </a:avLst>
          </a:prstGeom>
          <a:solidFill>
            <a:srgbClr val="FFF1F2"/>
          </a:solidFill>
          <a:ln w="19050">
            <a:solidFill>
              <a:srgbClr val="E11D48">
                <a:alpha val="60000"/>
              </a:srgbClr>
            </a:solidFill>
            <a:prstDash val="solid"/>
          </a:ln>
          <a:effectLst>
            <a:outerShdw sx="100000" sy="100000" kx="0" ky="0" algn="bl" rotWithShape="0" blurRad="101600" dist="38100" dir="5400000">
              <a:srgbClr val="000000">
                <a:alpha val="13000"/>
              </a:srgbClr>
            </a:outerShdw>
          </a:effectLst>
        </p:spPr>
      </p:sp>
      <p:sp>
        <p:nvSpPr>
          <p:cNvPr id="33" name="Shape 31"/>
          <p:cNvSpPr/>
          <p:nvPr/>
        </p:nvSpPr>
        <p:spPr>
          <a:xfrm>
            <a:off x="10287000" y="2103120"/>
            <a:ext cx="438912" cy="438912"/>
          </a:xfrm>
          <a:prstGeom prst="ellipse">
            <a:avLst/>
          </a:prstGeom>
          <a:solidFill>
            <a:srgbClr val="E11D48"/>
          </a:solidFill>
          <a:ln/>
        </p:spPr>
      </p:sp>
      <p:sp>
        <p:nvSpPr>
          <p:cNvPr id="34" name="Text 32"/>
          <p:cNvSpPr/>
          <p:nvPr/>
        </p:nvSpPr>
        <p:spPr>
          <a:xfrm>
            <a:off x="10287000" y="210312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5" name="Text 33"/>
          <p:cNvSpPr/>
          <p:nvPr/>
        </p:nvSpPr>
        <p:spPr>
          <a:xfrm>
            <a:off x="9601200" y="2633472"/>
            <a:ext cx="1810512" cy="621792"/>
          </a:xfrm>
          <a:prstGeom prst="rect">
            <a:avLst/>
          </a:prstGeom>
          <a:noFill/>
          <a:ln/>
        </p:spPr>
        <p:txBody>
          <a:bodyPr wrap="square" lIns="0" tIns="0" rIns="0" bIns="0" rtlCol="0" anchor="ctr"/>
          <a:lstStyle/>
          <a:p>
            <a:pPr indent="0" marL="0">
              <a:lnSpc>
                <a:spcPct val="115000"/>
              </a:lnSpc>
              <a:buNone/>
            </a:pPr>
            <a:r>
              <a:rPr lang="en-US" sz="1300" b="1" dirty="0">
                <a:solidFill>
                  <a:srgbClr val="E11D48"/>
                </a:solidFill>
                <a:latin typeface="Calibri" pitchFamily="34" charset="0"/>
                <a:ea typeface="Calibri" pitchFamily="34" charset="-122"/>
                <a:cs typeface="Calibri" pitchFamily="34" charset="-120"/>
              </a:rPr>
              <a:t>Final image</a:t>
            </a:r>
            <a:endParaRPr lang="en-US" sz="1300" dirty="0"/>
          </a:p>
        </p:txBody>
      </p:sp>
      <p:sp>
        <p:nvSpPr>
          <p:cNvPr id="36" name="Shape 34"/>
          <p:cNvSpPr/>
          <p:nvPr/>
        </p:nvSpPr>
        <p:spPr>
          <a:xfrm>
            <a:off x="9646920" y="3310128"/>
            <a:ext cx="1719072" cy="0"/>
          </a:xfrm>
          <a:prstGeom prst="line">
            <a:avLst/>
          </a:prstGeom>
          <a:noFill/>
          <a:ln w="9525">
            <a:solidFill>
              <a:srgbClr val="E11D48">
                <a:alpha val="45000"/>
              </a:srgbClr>
            </a:solidFill>
            <a:prstDash val="solid"/>
          </a:ln>
        </p:spPr>
      </p:sp>
      <p:sp>
        <p:nvSpPr>
          <p:cNvPr id="37" name="Text 35"/>
          <p:cNvSpPr/>
          <p:nvPr/>
        </p:nvSpPr>
        <p:spPr>
          <a:xfrm>
            <a:off x="9601200" y="3401568"/>
            <a:ext cx="1810512" cy="105156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1024x1024 pixel image matching your prompt</a:t>
            </a:r>
            <a:endParaRPr lang="en-US" sz="1100" dirty="0"/>
          </a:p>
        </p:txBody>
      </p:sp>
      <p:sp>
        <p:nvSpPr>
          <p:cNvPr id="38" name="Shape 36"/>
          <p:cNvSpPr/>
          <p:nvPr/>
        </p:nvSpPr>
        <p:spPr>
          <a:xfrm>
            <a:off x="502920" y="5650992"/>
            <a:ext cx="3639312" cy="896112"/>
          </a:xfrm>
          <a:prstGeom prst="roundRect">
            <a:avLst>
              <a:gd name="adj" fmla="val 9184"/>
            </a:avLst>
          </a:prstGeom>
          <a:solidFill>
            <a:srgbClr val="F8FAFC"/>
          </a:solidFill>
          <a:ln w="12700">
            <a:solidFill>
              <a:srgbClr val="7C3AED">
                <a:alpha val="45000"/>
              </a:srgbClr>
            </a:solidFill>
            <a:prstDash val="solid"/>
          </a:ln>
        </p:spPr>
      </p:sp>
      <p:sp>
        <p:nvSpPr>
          <p:cNvPr id="39" name="Text 37"/>
          <p:cNvSpPr/>
          <p:nvPr/>
        </p:nvSpPr>
        <p:spPr>
          <a:xfrm>
            <a:off x="667512" y="5742432"/>
            <a:ext cx="3337560" cy="32004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Why prompt quality matters</a:t>
            </a:r>
            <a:endParaRPr lang="en-US" sz="1300" dirty="0"/>
          </a:p>
        </p:txBody>
      </p:sp>
      <p:sp>
        <p:nvSpPr>
          <p:cNvPr id="40" name="Text 38"/>
          <p:cNvSpPr/>
          <p:nvPr/>
        </p:nvSpPr>
        <p:spPr>
          <a:xfrm>
            <a:off x="667512" y="6080760"/>
            <a:ext cx="3337560" cy="384048"/>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The text encoder converts your words to a point in semantic space. Vague words = a vague location = a generic image. Specific, detailed prompts pin a precise location.</a:t>
            </a:r>
            <a:endParaRPr lang="en-US" sz="1150" dirty="0"/>
          </a:p>
        </p:txBody>
      </p:sp>
      <p:sp>
        <p:nvSpPr>
          <p:cNvPr id="41" name="Shape 39"/>
          <p:cNvSpPr/>
          <p:nvPr/>
        </p:nvSpPr>
        <p:spPr>
          <a:xfrm>
            <a:off x="4325112" y="5650992"/>
            <a:ext cx="3639312" cy="896112"/>
          </a:xfrm>
          <a:prstGeom prst="roundRect">
            <a:avLst>
              <a:gd name="adj" fmla="val 9184"/>
            </a:avLst>
          </a:prstGeom>
          <a:solidFill>
            <a:srgbClr val="F8FAFC"/>
          </a:solidFill>
          <a:ln w="12700">
            <a:solidFill>
              <a:srgbClr val="7C3AED">
                <a:alpha val="45000"/>
              </a:srgbClr>
            </a:solidFill>
            <a:prstDash val="solid"/>
          </a:ln>
        </p:spPr>
      </p:sp>
      <p:sp>
        <p:nvSpPr>
          <p:cNvPr id="42" name="Text 40"/>
          <p:cNvSpPr/>
          <p:nvPr/>
        </p:nvSpPr>
        <p:spPr>
          <a:xfrm>
            <a:off x="4489704" y="5742432"/>
            <a:ext cx="3337560" cy="32004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Why it sometimes fails</a:t>
            </a:r>
            <a:endParaRPr lang="en-US" sz="1300" dirty="0"/>
          </a:p>
        </p:txBody>
      </p:sp>
      <p:sp>
        <p:nvSpPr>
          <p:cNvPr id="43" name="Text 41"/>
          <p:cNvSpPr/>
          <p:nvPr/>
        </p:nvSpPr>
        <p:spPr>
          <a:xfrm>
            <a:off x="4489704" y="6080760"/>
            <a:ext cx="3337560" cy="384048"/>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Diffusion works by example — if the training data had few examples of 'a dragon playing chess at a cafe', the model will hallucinate. Unusual combinations fail more.</a:t>
            </a:r>
            <a:endParaRPr lang="en-US" sz="1150" dirty="0"/>
          </a:p>
        </p:txBody>
      </p:sp>
      <p:sp>
        <p:nvSpPr>
          <p:cNvPr id="44" name="Shape 42"/>
          <p:cNvSpPr/>
          <p:nvPr/>
        </p:nvSpPr>
        <p:spPr>
          <a:xfrm>
            <a:off x="8147304" y="5650992"/>
            <a:ext cx="3639312" cy="896112"/>
          </a:xfrm>
          <a:prstGeom prst="roundRect">
            <a:avLst>
              <a:gd name="adj" fmla="val 9184"/>
            </a:avLst>
          </a:prstGeom>
          <a:solidFill>
            <a:srgbClr val="F8FAFC"/>
          </a:solidFill>
          <a:ln w="12700">
            <a:solidFill>
              <a:srgbClr val="7C3AED">
                <a:alpha val="45000"/>
              </a:srgbClr>
            </a:solidFill>
            <a:prstDash val="solid"/>
          </a:ln>
        </p:spPr>
      </p:sp>
      <p:sp>
        <p:nvSpPr>
          <p:cNvPr id="45" name="Text 43"/>
          <p:cNvSpPr/>
          <p:nvPr/>
        </p:nvSpPr>
        <p:spPr>
          <a:xfrm>
            <a:off x="8311896" y="5742432"/>
            <a:ext cx="3337560" cy="32004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DALL-E 3 vs DALL-E 2</a:t>
            </a:r>
            <a:endParaRPr lang="en-US" sz="1300" dirty="0"/>
          </a:p>
        </p:txBody>
      </p:sp>
      <p:sp>
        <p:nvSpPr>
          <p:cNvPr id="46" name="Text 44"/>
          <p:cNvSpPr/>
          <p:nvPr/>
        </p:nvSpPr>
        <p:spPr>
          <a:xfrm>
            <a:off x="8311896" y="6080760"/>
            <a:ext cx="3337560" cy="384048"/>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DALL-E 3 follows instructions much more precisely. Ask for 5 objects and it puts 5 objects in the image. DALL-E 2 was famous for ignoring specific counts.</a:t>
            </a:r>
            <a:endParaRPr lang="en-US" sz="1150" dirty="0"/>
          </a:p>
        </p:txBody>
      </p:sp>
      <p:sp>
        <p:nvSpPr>
          <p:cNvPr id="48" name="Shape 45"/>
          <p:cNvSpPr/>
          <p:nvPr/>
        </p:nvSpPr>
        <p:spPr>
          <a:xfrm>
            <a:off x="0" y="6583680"/>
            <a:ext cx="12191695" cy="274320"/>
          </a:xfrm>
          <a:prstGeom prst="rect">
            <a:avLst/>
          </a:prstGeom>
          <a:solidFill>
            <a:srgbClr val="7C3AED">
              <a:alpha val="12000"/>
            </a:srgbClr>
          </a:solidFill>
          <a:ln w="12700">
            <a:solidFill>
              <a:srgbClr val="7C3AED">
                <a:alpha val="35000"/>
              </a:srgbClr>
            </a:solidFill>
            <a:prstDash val="solid"/>
          </a:ln>
        </p:spPr>
      </p:sp>
      <p:sp>
        <p:nvSpPr>
          <p:cNvPr id="49" name="Text 46"/>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50" name="Text 47"/>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4 / 31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7C3AED"/>
                </a:solidFill>
                <a:latin typeface="Calibri" pitchFamily="34" charset="0"/>
                <a:ea typeface="Calibri" pitchFamily="34" charset="-122"/>
                <a:cs typeface="Calibri" pitchFamily="34" charset="-120"/>
              </a:rPr>
              <a:t>DALL-E 3 — JAVA IMPLEMENTATION</a:t>
            </a:r>
            <a:endParaRPr lang="en-US" sz="1200" dirty="0"/>
          </a:p>
        </p:txBody>
      </p:sp>
      <p:sp>
        <p:nvSpPr>
          <p:cNvPr id="3" name="Text 1"/>
          <p:cNvSpPr/>
          <p:nvPr/>
        </p:nvSpPr>
        <p:spPr>
          <a:xfrm>
            <a:off x="685800" y="749808"/>
            <a:ext cx="10789920" cy="822960"/>
          </a:xfrm>
          <a:prstGeom prst="rect">
            <a:avLst/>
          </a:prstGeom>
          <a:noFill/>
          <a:ln/>
        </p:spPr>
        <p:txBody>
          <a:bodyPr wrap="square" lIns="0" tIns="0" rIns="0" bIns="0" rtlCol="0" anchor="ctr"/>
          <a:lstStyle/>
          <a:p>
            <a:pPr indent="0" marL="0">
              <a:lnSpc>
                <a:spcPct val="105000"/>
              </a:lnSpc>
              <a:buNone/>
            </a:pPr>
            <a:r>
              <a:rPr lang="en-US" sz="3400" b="1" dirty="0">
                <a:solidFill>
                  <a:srgbClr val="475569"/>
                </a:solidFill>
                <a:latin typeface="Calibri" pitchFamily="34" charset="0"/>
                <a:ea typeface="Calibri" pitchFamily="34" charset="-122"/>
                <a:cs typeface="Calibri" pitchFamily="34" charset="-120"/>
              </a:rPr>
              <a:t>From prompt to image in 8 lines of Java</a:t>
            </a:r>
            <a:endParaRPr lang="en-US" sz="3400" dirty="0"/>
          </a:p>
        </p:txBody>
      </p:sp>
      <p:sp>
        <p:nvSpPr>
          <p:cNvPr id="4" name="Shape 2"/>
          <p:cNvSpPr/>
          <p:nvPr/>
        </p:nvSpPr>
        <p:spPr>
          <a:xfrm>
            <a:off x="502920" y="1847088"/>
            <a:ext cx="6903720" cy="4617720"/>
          </a:xfrm>
          <a:prstGeom prst="roundRect">
            <a:avLst>
              <a:gd name="adj" fmla="val 1980"/>
            </a:avLst>
          </a:prstGeom>
          <a:solidFill>
            <a:srgbClr val="111827"/>
          </a:solidFill>
          <a:ln w="12700">
            <a:solidFill>
              <a:srgbClr val="374151"/>
            </a:solidFill>
            <a:prstDash val="solid"/>
          </a:ln>
          <a:effectLst>
            <a:outerShdw sx="100000" sy="100000" kx="0" ky="0" algn="bl" rotWithShape="0" blurRad="101600" dist="38100" dir="5400000">
              <a:srgbClr val="000000">
                <a:alpha val="13000"/>
              </a:srgbClr>
            </a:outerShdw>
          </a:effectLst>
        </p:spPr>
      </p:sp>
      <p:sp>
        <p:nvSpPr>
          <p:cNvPr id="5" name="Shape 3"/>
          <p:cNvSpPr/>
          <p:nvPr/>
        </p:nvSpPr>
        <p:spPr>
          <a:xfrm>
            <a:off x="502920" y="1847088"/>
            <a:ext cx="6903720" cy="365760"/>
          </a:xfrm>
          <a:prstGeom prst="roundRect">
            <a:avLst>
              <a:gd name="adj" fmla="val 25000"/>
            </a:avLst>
          </a:prstGeom>
          <a:solidFill>
            <a:srgbClr val="1F2937"/>
          </a:solidFill>
          <a:ln w="12700">
            <a:solidFill>
              <a:srgbClr val="374151"/>
            </a:solidFill>
            <a:prstDash val="solid"/>
          </a:ln>
        </p:spPr>
      </p:sp>
      <p:sp>
        <p:nvSpPr>
          <p:cNvPr id="6" name="Shape 4"/>
          <p:cNvSpPr/>
          <p:nvPr/>
        </p:nvSpPr>
        <p:spPr>
          <a:xfrm>
            <a:off x="667512" y="1947672"/>
            <a:ext cx="155448" cy="155448"/>
          </a:xfrm>
          <a:prstGeom prst="ellipse">
            <a:avLst/>
          </a:prstGeom>
          <a:solidFill>
            <a:srgbClr val="E11D48"/>
          </a:solidFill>
          <a:ln/>
        </p:spPr>
      </p:sp>
      <p:sp>
        <p:nvSpPr>
          <p:cNvPr id="7" name="Shape 5"/>
          <p:cNvSpPr/>
          <p:nvPr/>
        </p:nvSpPr>
        <p:spPr>
          <a:xfrm>
            <a:off x="905256" y="1947672"/>
            <a:ext cx="155448" cy="155448"/>
          </a:xfrm>
          <a:prstGeom prst="ellipse">
            <a:avLst/>
          </a:prstGeom>
          <a:solidFill>
            <a:srgbClr val="F59E0B"/>
          </a:solidFill>
          <a:ln/>
        </p:spPr>
      </p:sp>
      <p:sp>
        <p:nvSpPr>
          <p:cNvPr id="8" name="Shape 6"/>
          <p:cNvSpPr/>
          <p:nvPr/>
        </p:nvSpPr>
        <p:spPr>
          <a:xfrm>
            <a:off x="1143000" y="1947672"/>
            <a:ext cx="155448" cy="155448"/>
          </a:xfrm>
          <a:prstGeom prst="ellipse">
            <a:avLst/>
          </a:prstGeom>
          <a:solidFill>
            <a:srgbClr val="16A34A"/>
          </a:solidFill>
          <a:ln/>
        </p:spPr>
      </p:sp>
      <p:sp>
        <p:nvSpPr>
          <p:cNvPr id="9" name="Text 7"/>
          <p:cNvSpPr/>
          <p:nvPr/>
        </p:nvSpPr>
        <p:spPr>
          <a:xfrm>
            <a:off x="1417320" y="1911096"/>
            <a:ext cx="5852160" cy="237744"/>
          </a:xfrm>
          <a:prstGeom prst="rect">
            <a:avLst/>
          </a:prstGeom>
          <a:noFill/>
          <a:ln/>
        </p:spPr>
        <p:txBody>
          <a:bodyPr wrap="square" lIns="0" tIns="0" rIns="0" bIns="0" rtlCol="0" anchor="ctr"/>
          <a:lstStyle/>
          <a:p>
            <a:pPr indent="0" marL="0">
              <a:buNone/>
            </a:pPr>
            <a:r>
              <a:rPr lang="en-US" sz="1050" dirty="0">
                <a:solidFill>
                  <a:srgbClr val="9CA3AF"/>
                </a:solidFill>
                <a:latin typeface="Courier New" pitchFamily="34" charset="0"/>
                <a:ea typeface="Courier New" pitchFamily="34" charset="-122"/>
                <a:cs typeface="Courier New" pitchFamily="34" charset="-120"/>
              </a:rPr>
              <a:t>DalleDemo.java</a:t>
            </a:r>
            <a:endParaRPr lang="en-US" sz="1050" dirty="0"/>
          </a:p>
        </p:txBody>
      </p:sp>
      <p:sp>
        <p:nvSpPr>
          <p:cNvPr id="10" name="Text 8"/>
          <p:cNvSpPr/>
          <p:nvPr/>
        </p:nvSpPr>
        <p:spPr>
          <a:xfrm>
            <a:off x="704088" y="2304288"/>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var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client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 =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OpenAIClient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fromEnv</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1" name="Text 9"/>
          <p:cNvSpPr/>
          <p:nvPr/>
        </p:nvSpPr>
        <p:spPr>
          <a:xfrm>
            <a:off x="704088" y="2492571"/>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12" name="Text 10"/>
          <p:cNvSpPr/>
          <p:nvPr/>
        </p:nvSpPr>
        <p:spPr>
          <a:xfrm>
            <a:off x="704088" y="2680855"/>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Generate an image</a:t>
            </a:r>
            <a:endParaRPr lang="en-US" sz="1050" dirty="0"/>
          </a:p>
        </p:txBody>
      </p:sp>
      <p:sp>
        <p:nvSpPr>
          <p:cNvPr id="13" name="Text 11"/>
          <p:cNvSpPr/>
          <p:nvPr/>
        </p:nvSpPr>
        <p:spPr>
          <a:xfrm>
            <a:off x="704088" y="2869138"/>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var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result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 client.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images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generate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4" name="Text 12"/>
          <p:cNvSpPr/>
          <p:nvPr/>
        </p:nvSpPr>
        <p:spPr>
          <a:xfrm>
            <a:off x="704088" y="3057421"/>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ImageGenerateParams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builder</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5" name="Text 13"/>
          <p:cNvSpPr/>
          <p:nvPr/>
        </p:nvSpPr>
        <p:spPr>
          <a:xfrm>
            <a:off x="704088" y="3245704"/>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model</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ImageModel</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DALL_E_3</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6" name="Text 14"/>
          <p:cNvSpPr/>
          <p:nvPr/>
        </p:nvSpPr>
        <p:spPr>
          <a:xfrm>
            <a:off x="704088" y="3433988"/>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prompt</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"Java developer celebrating fixing a bug, pixel art, vibrant colours"</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7" name="Text 15"/>
          <p:cNvSpPr/>
          <p:nvPr/>
        </p:nvSpPr>
        <p:spPr>
          <a:xfrm>
            <a:off x="704088" y="3622271"/>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n</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1</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8" name="Text 16"/>
          <p:cNvSpPr/>
          <p:nvPr/>
        </p:nvSpPr>
        <p:spPr>
          <a:xfrm>
            <a:off x="704088" y="3810554"/>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size</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ImageGenerateParams</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.Size.</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_1024X1024</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9" name="Text 17"/>
          <p:cNvSpPr/>
          <p:nvPr/>
        </p:nvSpPr>
        <p:spPr>
          <a:xfrm>
            <a:off x="704088" y="3998837"/>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quality</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ImageGenerateParams</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.Quality.</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STANDARD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0" name="Text 18"/>
          <p:cNvSpPr/>
          <p:nvPr/>
        </p:nvSpPr>
        <p:spPr>
          <a:xfrm>
            <a:off x="704088" y="4187121"/>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style</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ImageGenerateParams</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.Style.</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VIVID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1" name="Text 19"/>
          <p:cNvSpPr/>
          <p:nvPr/>
        </p:nvSpPr>
        <p:spPr>
          <a:xfrm>
            <a:off x="704088" y="4375404"/>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2" name="Text 20"/>
          <p:cNvSpPr/>
          <p:nvPr/>
        </p:nvSpPr>
        <p:spPr>
          <a:xfrm>
            <a:off x="704088" y="4563687"/>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3" name="Text 21"/>
          <p:cNvSpPr/>
          <p:nvPr/>
        </p:nvSpPr>
        <p:spPr>
          <a:xfrm>
            <a:off x="704088" y="4751971"/>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Get image URL (expires in ~60 min)</a:t>
            </a:r>
            <a:endParaRPr lang="en-US" sz="1050" dirty="0"/>
          </a:p>
        </p:txBody>
      </p:sp>
      <p:sp>
        <p:nvSpPr>
          <p:cNvPr id="24" name="Text 22"/>
          <p:cNvSpPr/>
          <p:nvPr/>
        </p:nvSpPr>
        <p:spPr>
          <a:xfrm>
            <a:off x="704088" y="4940254"/>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String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url</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 result.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data</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get</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0</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url</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orElseThrow</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5" name="Text 23"/>
          <p:cNvSpPr/>
          <p:nvPr/>
        </p:nvSpPr>
        <p:spPr>
          <a:xfrm>
            <a:off x="704088" y="5128537"/>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6" name="Text 24"/>
          <p:cNvSpPr/>
          <p:nvPr/>
        </p:nvSpPr>
        <p:spPr>
          <a:xfrm>
            <a:off x="704088" y="5316820"/>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OR get base64 for immediate use / storage</a:t>
            </a:r>
            <a:endParaRPr lang="en-US" sz="1050" dirty="0"/>
          </a:p>
        </p:txBody>
      </p:sp>
      <p:sp>
        <p:nvSpPr>
          <p:cNvPr id="27" name="Text 25"/>
          <p:cNvSpPr/>
          <p:nvPr/>
        </p:nvSpPr>
        <p:spPr>
          <a:xfrm>
            <a:off x="704088" y="5505104"/>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.responseFormat(B64_JSON) -&gt; .b64Json().orElseThrow()</a:t>
            </a:r>
            <a:endParaRPr lang="en-US" sz="1050" dirty="0"/>
          </a:p>
        </p:txBody>
      </p:sp>
      <p:sp>
        <p:nvSpPr>
          <p:cNvPr id="28" name="Text 26"/>
          <p:cNvSpPr/>
          <p:nvPr/>
        </p:nvSpPr>
        <p:spPr>
          <a:xfrm>
            <a:off x="704088" y="5693387"/>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9" name="Text 27"/>
          <p:cNvSpPr/>
          <p:nvPr/>
        </p:nvSpPr>
        <p:spPr>
          <a:xfrm>
            <a:off x="704088" y="5881670"/>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Download and save to disk</a:t>
            </a:r>
            <a:endParaRPr lang="en-US" sz="1050" dirty="0"/>
          </a:p>
        </p:txBody>
      </p:sp>
      <p:sp>
        <p:nvSpPr>
          <p:cNvPr id="30" name="Text 28"/>
          <p:cNvSpPr/>
          <p:nvPr/>
        </p:nvSpPr>
        <p:spPr>
          <a:xfrm>
            <a:off x="704088" y="6069953"/>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byte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bytes = downloadImage(url);</a:t>
            </a:r>
            <a:endParaRPr lang="en-US" sz="1050" dirty="0"/>
          </a:p>
        </p:txBody>
      </p:sp>
      <p:sp>
        <p:nvSpPr>
          <p:cNvPr id="31" name="Text 29"/>
          <p:cNvSpPr/>
          <p:nvPr/>
        </p:nvSpPr>
        <p:spPr>
          <a:xfrm>
            <a:off x="704088" y="6258237"/>
            <a:ext cx="6583680" cy="188283"/>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Files.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write</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(Path.of(</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"output.png"</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bytes);</a:t>
            </a:r>
            <a:endParaRPr lang="en-US" sz="1050" dirty="0"/>
          </a:p>
        </p:txBody>
      </p:sp>
      <p:sp>
        <p:nvSpPr>
          <p:cNvPr id="32" name="Shape 30"/>
          <p:cNvSpPr/>
          <p:nvPr/>
        </p:nvSpPr>
        <p:spPr>
          <a:xfrm>
            <a:off x="7571232" y="1847088"/>
            <a:ext cx="4370832" cy="4617720"/>
          </a:xfrm>
          <a:prstGeom prst="roundRect">
            <a:avLst>
              <a:gd name="adj" fmla="val 2092"/>
            </a:avLst>
          </a:prstGeom>
          <a:solidFill>
            <a:srgbClr val="F8FAFC"/>
          </a:solidFill>
          <a:ln w="12700">
            <a:solidFill>
              <a:srgbClr val="7C3AED">
                <a:alpha val="50000"/>
              </a:srgbClr>
            </a:solidFill>
            <a:prstDash val="solid"/>
          </a:ln>
        </p:spPr>
      </p:sp>
      <p:sp>
        <p:nvSpPr>
          <p:cNvPr id="33" name="Text 31"/>
          <p:cNvSpPr/>
          <p:nvPr/>
        </p:nvSpPr>
        <p:spPr>
          <a:xfrm>
            <a:off x="7726680" y="1965960"/>
            <a:ext cx="4069080" cy="347472"/>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Parameter guide</a:t>
            </a:r>
            <a:endParaRPr lang="en-US" sz="1400" dirty="0"/>
          </a:p>
        </p:txBody>
      </p:sp>
      <p:sp>
        <p:nvSpPr>
          <p:cNvPr id="34" name="Shape 32"/>
          <p:cNvSpPr/>
          <p:nvPr/>
        </p:nvSpPr>
        <p:spPr>
          <a:xfrm>
            <a:off x="7726680" y="2450592"/>
            <a:ext cx="4069080" cy="731520"/>
          </a:xfrm>
          <a:prstGeom prst="roundRect">
            <a:avLst>
              <a:gd name="adj" fmla="val 8750"/>
            </a:avLst>
          </a:prstGeom>
          <a:solidFill>
            <a:srgbClr val="EDE9FE"/>
          </a:solidFill>
          <a:ln w="9525">
            <a:solidFill>
              <a:srgbClr val="7C3AED">
                <a:alpha val="40000"/>
              </a:srgbClr>
            </a:solidFill>
            <a:prstDash val="solid"/>
          </a:ln>
        </p:spPr>
      </p:sp>
      <p:sp>
        <p:nvSpPr>
          <p:cNvPr id="35" name="Text 33"/>
          <p:cNvSpPr/>
          <p:nvPr/>
        </p:nvSpPr>
        <p:spPr>
          <a:xfrm>
            <a:off x="7845552" y="2496312"/>
            <a:ext cx="914400" cy="274320"/>
          </a:xfrm>
          <a:prstGeom prst="rect">
            <a:avLst/>
          </a:prstGeom>
          <a:noFill/>
          <a:ln/>
        </p:spPr>
        <p:txBody>
          <a:bodyPr wrap="square" lIns="0" tIns="0" rIns="0" bIns="0" rtlCol="0" anchor="ctr"/>
          <a:lstStyle/>
          <a:p>
            <a:pPr indent="0" marL="0">
              <a:buNone/>
            </a:pPr>
            <a:r>
              <a:rPr lang="en-US" sz="1200" b="1" dirty="0">
                <a:solidFill>
                  <a:srgbClr val="7C3AED"/>
                </a:solidFill>
                <a:latin typeface="Courier New" pitchFamily="34" charset="0"/>
                <a:ea typeface="Courier New" pitchFamily="34" charset="-122"/>
                <a:cs typeface="Courier New" pitchFamily="34" charset="-120"/>
              </a:rPr>
              <a:t>model</a:t>
            </a:r>
            <a:endParaRPr lang="en-US" sz="1200" dirty="0"/>
          </a:p>
        </p:txBody>
      </p:sp>
      <p:sp>
        <p:nvSpPr>
          <p:cNvPr id="36" name="Text 34"/>
          <p:cNvSpPr/>
          <p:nvPr/>
        </p:nvSpPr>
        <p:spPr>
          <a:xfrm>
            <a:off x="8796528" y="2496312"/>
            <a:ext cx="2926080" cy="640080"/>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DALL_E_3 (recommended)</a:t>
            </a:r>
            <a:endParaRPr lang="en-US" sz="1050" dirty="0"/>
          </a:p>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DALL_E_2 (cheaper, less precise)</a:t>
            </a:r>
            <a:endParaRPr lang="en-US" sz="1050" dirty="0"/>
          </a:p>
        </p:txBody>
      </p:sp>
      <p:sp>
        <p:nvSpPr>
          <p:cNvPr id="37" name="Shape 35"/>
          <p:cNvSpPr/>
          <p:nvPr/>
        </p:nvSpPr>
        <p:spPr>
          <a:xfrm>
            <a:off x="7726680" y="3255264"/>
            <a:ext cx="4069080" cy="731520"/>
          </a:xfrm>
          <a:prstGeom prst="roundRect">
            <a:avLst>
              <a:gd name="adj" fmla="val 8750"/>
            </a:avLst>
          </a:prstGeom>
          <a:solidFill>
            <a:srgbClr val="EDE9FE"/>
          </a:solidFill>
          <a:ln w="9525">
            <a:solidFill>
              <a:srgbClr val="7C3AED">
                <a:alpha val="40000"/>
              </a:srgbClr>
            </a:solidFill>
            <a:prstDash val="solid"/>
          </a:ln>
        </p:spPr>
      </p:sp>
      <p:sp>
        <p:nvSpPr>
          <p:cNvPr id="38" name="Text 36"/>
          <p:cNvSpPr/>
          <p:nvPr/>
        </p:nvSpPr>
        <p:spPr>
          <a:xfrm>
            <a:off x="7845552" y="3300984"/>
            <a:ext cx="914400" cy="274320"/>
          </a:xfrm>
          <a:prstGeom prst="rect">
            <a:avLst/>
          </a:prstGeom>
          <a:noFill/>
          <a:ln/>
        </p:spPr>
        <p:txBody>
          <a:bodyPr wrap="square" lIns="0" tIns="0" rIns="0" bIns="0" rtlCol="0" anchor="ctr"/>
          <a:lstStyle/>
          <a:p>
            <a:pPr indent="0" marL="0">
              <a:buNone/>
            </a:pPr>
            <a:r>
              <a:rPr lang="en-US" sz="1200" b="1" dirty="0">
                <a:solidFill>
                  <a:srgbClr val="7C3AED"/>
                </a:solidFill>
                <a:latin typeface="Courier New" pitchFamily="34" charset="0"/>
                <a:ea typeface="Courier New" pitchFamily="34" charset="-122"/>
                <a:cs typeface="Courier New" pitchFamily="34" charset="-120"/>
              </a:rPr>
              <a:t>size</a:t>
            </a:r>
            <a:endParaRPr lang="en-US" sz="1200" dirty="0"/>
          </a:p>
        </p:txBody>
      </p:sp>
      <p:sp>
        <p:nvSpPr>
          <p:cNvPr id="39" name="Text 37"/>
          <p:cNvSpPr/>
          <p:nvPr/>
        </p:nvSpPr>
        <p:spPr>
          <a:xfrm>
            <a:off x="8796528" y="3300984"/>
            <a:ext cx="2926080" cy="640080"/>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1024x1024 (square)</a:t>
            </a:r>
            <a:endParaRPr lang="en-US" sz="1050" dirty="0"/>
          </a:p>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1792x1024 (landscape)</a:t>
            </a:r>
            <a:endParaRPr lang="en-US" sz="1050" dirty="0"/>
          </a:p>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1024x1792 (portrait)</a:t>
            </a:r>
            <a:endParaRPr lang="en-US" sz="1050" dirty="0"/>
          </a:p>
        </p:txBody>
      </p:sp>
      <p:sp>
        <p:nvSpPr>
          <p:cNvPr id="40" name="Shape 38"/>
          <p:cNvSpPr/>
          <p:nvPr/>
        </p:nvSpPr>
        <p:spPr>
          <a:xfrm>
            <a:off x="7726680" y="4059936"/>
            <a:ext cx="4069080" cy="731520"/>
          </a:xfrm>
          <a:prstGeom prst="roundRect">
            <a:avLst>
              <a:gd name="adj" fmla="val 8750"/>
            </a:avLst>
          </a:prstGeom>
          <a:solidFill>
            <a:srgbClr val="EDE9FE"/>
          </a:solidFill>
          <a:ln w="9525">
            <a:solidFill>
              <a:srgbClr val="7C3AED">
                <a:alpha val="40000"/>
              </a:srgbClr>
            </a:solidFill>
            <a:prstDash val="solid"/>
          </a:ln>
        </p:spPr>
      </p:sp>
      <p:sp>
        <p:nvSpPr>
          <p:cNvPr id="41" name="Text 39"/>
          <p:cNvSpPr/>
          <p:nvPr/>
        </p:nvSpPr>
        <p:spPr>
          <a:xfrm>
            <a:off x="7845552" y="4105656"/>
            <a:ext cx="914400" cy="274320"/>
          </a:xfrm>
          <a:prstGeom prst="rect">
            <a:avLst/>
          </a:prstGeom>
          <a:noFill/>
          <a:ln/>
        </p:spPr>
        <p:txBody>
          <a:bodyPr wrap="square" lIns="0" tIns="0" rIns="0" bIns="0" rtlCol="0" anchor="ctr"/>
          <a:lstStyle/>
          <a:p>
            <a:pPr indent="0" marL="0">
              <a:buNone/>
            </a:pPr>
            <a:r>
              <a:rPr lang="en-US" sz="1200" b="1" dirty="0">
                <a:solidFill>
                  <a:srgbClr val="7C3AED"/>
                </a:solidFill>
                <a:latin typeface="Courier New" pitchFamily="34" charset="0"/>
                <a:ea typeface="Courier New" pitchFamily="34" charset="-122"/>
                <a:cs typeface="Courier New" pitchFamily="34" charset="-120"/>
              </a:rPr>
              <a:t>quality</a:t>
            </a:r>
            <a:endParaRPr lang="en-US" sz="1200" dirty="0"/>
          </a:p>
        </p:txBody>
      </p:sp>
      <p:sp>
        <p:nvSpPr>
          <p:cNvPr id="42" name="Text 40"/>
          <p:cNvSpPr/>
          <p:nvPr/>
        </p:nvSpPr>
        <p:spPr>
          <a:xfrm>
            <a:off x="8796528" y="4105656"/>
            <a:ext cx="2926080" cy="640080"/>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standard → $0.04/img</a:t>
            </a:r>
            <a:endParaRPr lang="en-US" sz="1050" dirty="0"/>
          </a:p>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hd → $0.08/img (sharper)</a:t>
            </a:r>
            <a:endParaRPr lang="en-US" sz="1050" dirty="0"/>
          </a:p>
        </p:txBody>
      </p:sp>
      <p:sp>
        <p:nvSpPr>
          <p:cNvPr id="43" name="Shape 41"/>
          <p:cNvSpPr/>
          <p:nvPr/>
        </p:nvSpPr>
        <p:spPr>
          <a:xfrm>
            <a:off x="7726680" y="4864608"/>
            <a:ext cx="4069080" cy="731520"/>
          </a:xfrm>
          <a:prstGeom prst="roundRect">
            <a:avLst>
              <a:gd name="adj" fmla="val 8750"/>
            </a:avLst>
          </a:prstGeom>
          <a:solidFill>
            <a:srgbClr val="EDE9FE"/>
          </a:solidFill>
          <a:ln w="9525">
            <a:solidFill>
              <a:srgbClr val="7C3AED">
                <a:alpha val="40000"/>
              </a:srgbClr>
            </a:solidFill>
            <a:prstDash val="solid"/>
          </a:ln>
        </p:spPr>
      </p:sp>
      <p:sp>
        <p:nvSpPr>
          <p:cNvPr id="44" name="Text 42"/>
          <p:cNvSpPr/>
          <p:nvPr/>
        </p:nvSpPr>
        <p:spPr>
          <a:xfrm>
            <a:off x="7845552" y="4910328"/>
            <a:ext cx="914400" cy="274320"/>
          </a:xfrm>
          <a:prstGeom prst="rect">
            <a:avLst/>
          </a:prstGeom>
          <a:noFill/>
          <a:ln/>
        </p:spPr>
        <p:txBody>
          <a:bodyPr wrap="square" lIns="0" tIns="0" rIns="0" bIns="0" rtlCol="0" anchor="ctr"/>
          <a:lstStyle/>
          <a:p>
            <a:pPr indent="0" marL="0">
              <a:buNone/>
            </a:pPr>
            <a:r>
              <a:rPr lang="en-US" sz="1200" b="1" dirty="0">
                <a:solidFill>
                  <a:srgbClr val="7C3AED"/>
                </a:solidFill>
                <a:latin typeface="Courier New" pitchFamily="34" charset="0"/>
                <a:ea typeface="Courier New" pitchFamily="34" charset="-122"/>
                <a:cs typeface="Courier New" pitchFamily="34" charset="-120"/>
              </a:rPr>
              <a:t>style</a:t>
            </a:r>
            <a:endParaRPr lang="en-US" sz="1200" dirty="0"/>
          </a:p>
        </p:txBody>
      </p:sp>
      <p:sp>
        <p:nvSpPr>
          <p:cNvPr id="45" name="Text 43"/>
          <p:cNvSpPr/>
          <p:nvPr/>
        </p:nvSpPr>
        <p:spPr>
          <a:xfrm>
            <a:off x="8796528" y="4910328"/>
            <a:ext cx="2926080" cy="640080"/>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vivid → dramatic, hyper-real</a:t>
            </a:r>
            <a:endParaRPr lang="en-US" sz="1050" dirty="0"/>
          </a:p>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natural → less saturated, truer</a:t>
            </a:r>
            <a:endParaRPr lang="en-US" sz="1050" dirty="0"/>
          </a:p>
        </p:txBody>
      </p:sp>
      <p:sp>
        <p:nvSpPr>
          <p:cNvPr id="46" name="Shape 44"/>
          <p:cNvSpPr/>
          <p:nvPr/>
        </p:nvSpPr>
        <p:spPr>
          <a:xfrm>
            <a:off x="7726680" y="5669280"/>
            <a:ext cx="4069080" cy="731520"/>
          </a:xfrm>
          <a:prstGeom prst="roundRect">
            <a:avLst>
              <a:gd name="adj" fmla="val 8750"/>
            </a:avLst>
          </a:prstGeom>
          <a:solidFill>
            <a:srgbClr val="EDE9FE"/>
          </a:solidFill>
          <a:ln w="9525">
            <a:solidFill>
              <a:srgbClr val="7C3AED">
                <a:alpha val="40000"/>
              </a:srgbClr>
            </a:solidFill>
            <a:prstDash val="solid"/>
          </a:ln>
        </p:spPr>
      </p:sp>
      <p:sp>
        <p:nvSpPr>
          <p:cNvPr id="47" name="Text 45"/>
          <p:cNvSpPr/>
          <p:nvPr/>
        </p:nvSpPr>
        <p:spPr>
          <a:xfrm>
            <a:off x="7845552" y="5715000"/>
            <a:ext cx="914400" cy="274320"/>
          </a:xfrm>
          <a:prstGeom prst="rect">
            <a:avLst/>
          </a:prstGeom>
          <a:noFill/>
          <a:ln/>
        </p:spPr>
        <p:txBody>
          <a:bodyPr wrap="square" lIns="0" tIns="0" rIns="0" bIns="0" rtlCol="0" anchor="ctr"/>
          <a:lstStyle/>
          <a:p>
            <a:pPr indent="0" marL="0">
              <a:buNone/>
            </a:pPr>
            <a:r>
              <a:rPr lang="en-US" sz="1200" b="1" dirty="0">
                <a:solidFill>
                  <a:srgbClr val="7C3AED"/>
                </a:solidFill>
                <a:latin typeface="Courier New" pitchFamily="34" charset="0"/>
                <a:ea typeface="Courier New" pitchFamily="34" charset="-122"/>
                <a:cs typeface="Courier New" pitchFamily="34" charset="-120"/>
              </a:rPr>
              <a:t>n</a:t>
            </a:r>
            <a:endParaRPr lang="en-US" sz="1200" dirty="0"/>
          </a:p>
        </p:txBody>
      </p:sp>
      <p:sp>
        <p:nvSpPr>
          <p:cNvPr id="48" name="Text 46"/>
          <p:cNvSpPr/>
          <p:nvPr/>
        </p:nvSpPr>
        <p:spPr>
          <a:xfrm>
            <a:off x="8796528" y="5715000"/>
            <a:ext cx="2926080" cy="640080"/>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Always 1 for DALL-E 3</a:t>
            </a:r>
            <a:endParaRPr lang="en-US" sz="1050" dirty="0"/>
          </a:p>
          <a:p>
            <a:pPr indent="0" marL="0">
              <a:lnSpc>
                <a:spcPct val="130000"/>
              </a:lnSpc>
              <a:buNone/>
            </a:pPr>
            <a:r>
              <a:rPr lang="en-US" sz="1050" dirty="0">
                <a:solidFill>
                  <a:srgbClr val="475569"/>
                </a:solidFill>
                <a:latin typeface="Courier New" pitchFamily="34" charset="0"/>
                <a:ea typeface="Courier New" pitchFamily="34" charset="-122"/>
                <a:cs typeface="Courier New" pitchFamily="34" charset="-120"/>
              </a:rPr>
              <a:t>(DALL-E 2 supports up to 10)</a:t>
            </a:r>
            <a:endParaRPr lang="en-US" sz="1050" dirty="0"/>
          </a:p>
        </p:txBody>
      </p:sp>
      <p:sp>
        <p:nvSpPr>
          <p:cNvPr id="50" name="Shape 47"/>
          <p:cNvSpPr/>
          <p:nvPr/>
        </p:nvSpPr>
        <p:spPr>
          <a:xfrm>
            <a:off x="0" y="6583680"/>
            <a:ext cx="12191695" cy="274320"/>
          </a:xfrm>
          <a:prstGeom prst="rect">
            <a:avLst/>
          </a:prstGeom>
          <a:solidFill>
            <a:srgbClr val="7C3AED">
              <a:alpha val="12000"/>
            </a:srgbClr>
          </a:solidFill>
          <a:ln w="12700">
            <a:solidFill>
              <a:srgbClr val="7C3AED">
                <a:alpha val="35000"/>
              </a:srgbClr>
            </a:solidFill>
            <a:prstDash val="solid"/>
          </a:ln>
        </p:spPr>
      </p:sp>
      <p:sp>
        <p:nvSpPr>
          <p:cNvPr id="51" name="Text 48"/>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52" name="Text 49"/>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5 / 31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7C3AED"/>
                </a:solidFill>
                <a:latin typeface="Calibri" pitchFamily="34" charset="0"/>
                <a:ea typeface="Calibri" pitchFamily="34" charset="-122"/>
                <a:cs typeface="Calibri" pitchFamily="34" charset="-120"/>
              </a:rPr>
              <a:t>DALL-E 3 — PROMPT ENGINEERING FOR IMAGES</a:t>
            </a:r>
            <a:endParaRPr lang="en-US" sz="1200" dirty="0"/>
          </a:p>
        </p:txBody>
      </p:sp>
      <p:sp>
        <p:nvSpPr>
          <p:cNvPr id="3" name="Text 1"/>
          <p:cNvSpPr/>
          <p:nvPr/>
        </p:nvSpPr>
        <p:spPr>
          <a:xfrm>
            <a:off x="685800" y="749808"/>
            <a:ext cx="10789920" cy="822960"/>
          </a:xfrm>
          <a:prstGeom prst="rect">
            <a:avLst/>
          </a:prstGeom>
          <a:noFill/>
          <a:ln/>
        </p:spPr>
        <p:txBody>
          <a:bodyPr wrap="square" lIns="0" tIns="0" rIns="0" bIns="0" rtlCol="0" anchor="ctr"/>
          <a:lstStyle/>
          <a:p>
            <a:pPr indent="0" marL="0">
              <a:lnSpc>
                <a:spcPct val="105000"/>
              </a:lnSpc>
              <a:buNone/>
            </a:pPr>
            <a:r>
              <a:rPr lang="en-US" sz="3400" b="1" dirty="0">
                <a:solidFill>
                  <a:srgbClr val="475569"/>
                </a:solidFill>
                <a:latin typeface="Calibri" pitchFamily="34" charset="0"/>
                <a:ea typeface="Calibri" pitchFamily="34" charset="-122"/>
                <a:cs typeface="Calibri" pitchFamily="34" charset="-120"/>
              </a:rPr>
              <a:t>The same rules apply — but images need more detail.</a:t>
            </a:r>
            <a:endParaRPr lang="en-US" sz="3400" dirty="0"/>
          </a:p>
        </p:txBody>
      </p:sp>
      <p:sp>
        <p:nvSpPr>
          <p:cNvPr id="4" name="Shape 2"/>
          <p:cNvSpPr/>
          <p:nvPr/>
        </p:nvSpPr>
        <p:spPr>
          <a:xfrm>
            <a:off x="502920" y="1938528"/>
            <a:ext cx="5257800" cy="1417320"/>
          </a:xfrm>
          <a:prstGeom prst="roundRect">
            <a:avLst>
              <a:gd name="adj" fmla="val 5806"/>
            </a:avLst>
          </a:prstGeom>
          <a:solidFill>
            <a:srgbClr val="FFF1F2"/>
          </a:solidFill>
          <a:ln w="12700">
            <a:solidFill>
              <a:srgbClr val="E11D48">
                <a:alpha val="50000"/>
              </a:srgbClr>
            </a:solidFill>
            <a:prstDash val="solid"/>
          </a:ln>
        </p:spPr>
      </p:sp>
      <p:sp>
        <p:nvSpPr>
          <p:cNvPr id="5" name="Shape 3"/>
          <p:cNvSpPr/>
          <p:nvPr/>
        </p:nvSpPr>
        <p:spPr>
          <a:xfrm>
            <a:off x="502920" y="1938528"/>
            <a:ext cx="5257800" cy="347472"/>
          </a:xfrm>
          <a:prstGeom prst="roundRect">
            <a:avLst>
              <a:gd name="adj" fmla="val 23684"/>
            </a:avLst>
          </a:prstGeom>
          <a:solidFill>
            <a:srgbClr val="E11D48"/>
          </a:solidFill>
          <a:ln w="12700">
            <a:solidFill>
              <a:srgbClr val="E11D48"/>
            </a:solidFill>
            <a:prstDash val="solid"/>
          </a:ln>
        </p:spPr>
      </p:sp>
      <p:sp>
        <p:nvSpPr>
          <p:cNvPr id="6" name="Text 4"/>
          <p:cNvSpPr/>
          <p:nvPr/>
        </p:nvSpPr>
        <p:spPr>
          <a:xfrm>
            <a:off x="658368" y="1975104"/>
            <a:ext cx="493776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BAD</a:t>
            </a:r>
            <a:endParaRPr lang="en-US" sz="1100" dirty="0"/>
          </a:p>
        </p:txBody>
      </p:sp>
      <p:sp>
        <p:nvSpPr>
          <p:cNvPr id="7" name="Text 5"/>
          <p:cNvSpPr/>
          <p:nvPr/>
        </p:nvSpPr>
        <p:spPr>
          <a:xfrm>
            <a:off x="658368" y="2377440"/>
            <a:ext cx="4892040" cy="347472"/>
          </a:xfrm>
          <a:prstGeom prst="rect">
            <a:avLst/>
          </a:prstGeom>
          <a:noFill/>
          <a:ln/>
        </p:spPr>
        <p:txBody>
          <a:bodyPr wrap="square" lIns="0" tIns="0" rIns="0" bIns="0" rtlCol="0" anchor="ctr"/>
          <a:lstStyle/>
          <a:p>
            <a:pPr indent="0" marL="0">
              <a:buNone/>
            </a:pPr>
            <a:r>
              <a:rPr lang="en-US" sz="1400" dirty="0">
                <a:solidFill>
                  <a:srgbClr val="E11D48"/>
                </a:solidFill>
                <a:latin typeface="Courier New" pitchFamily="34" charset="0"/>
                <a:ea typeface="Courier New" pitchFamily="34" charset="-122"/>
                <a:cs typeface="Courier New" pitchFamily="34" charset="-120"/>
              </a:rPr>
              <a:t>"A person"</a:t>
            </a:r>
            <a:endParaRPr lang="en-US" sz="1400" dirty="0"/>
          </a:p>
        </p:txBody>
      </p:sp>
      <p:sp>
        <p:nvSpPr>
          <p:cNvPr id="8" name="Text 6"/>
          <p:cNvSpPr/>
          <p:nvPr/>
        </p:nvSpPr>
        <p:spPr>
          <a:xfrm>
            <a:off x="658368" y="2743200"/>
            <a:ext cx="4892040" cy="502920"/>
          </a:xfrm>
          <a:prstGeom prst="rect">
            <a:avLst/>
          </a:prstGeom>
          <a:noFill/>
          <a:ln/>
        </p:spPr>
        <p:txBody>
          <a:bodyPr wrap="square" lIns="0" tIns="0" rIns="0" bIns="0" rtlCol="0" anchor="ctr"/>
          <a:lstStyle/>
          <a:p>
            <a:pPr indent="0" marL="0">
              <a:lnSpc>
                <a:spcPct val="120000"/>
              </a:lnSpc>
              <a:buNone/>
            </a:pPr>
            <a:r>
              <a:rPr lang="en-US" sz="1200" i="1" dirty="0">
                <a:solidFill>
                  <a:srgbClr val="475569"/>
                </a:solidFill>
                <a:latin typeface="Calibri" pitchFamily="34" charset="0"/>
                <a:ea typeface="Calibri" pitchFamily="34" charset="-122"/>
                <a:cs typeface="Calibri" pitchFamily="34" charset="-120"/>
              </a:rPr>
              <a:t>Issue: Who? Doing what? Where? What style? Age? Lighting?</a:t>
            </a:r>
            <a:endParaRPr lang="en-US" sz="1200" dirty="0"/>
          </a:p>
        </p:txBody>
      </p:sp>
      <p:sp>
        <p:nvSpPr>
          <p:cNvPr id="9" name="Shape 7"/>
          <p:cNvSpPr/>
          <p:nvPr/>
        </p:nvSpPr>
        <p:spPr>
          <a:xfrm>
            <a:off x="5833872" y="2633472"/>
            <a:ext cx="475488" cy="0"/>
          </a:xfrm>
          <a:prstGeom prst="line">
            <a:avLst/>
          </a:prstGeom>
          <a:noFill/>
          <a:ln w="25400">
            <a:solidFill>
              <a:srgbClr val="D97706"/>
            </a:solidFill>
            <a:prstDash val="solid"/>
            <a:tailEnd type="triangle"/>
          </a:ln>
        </p:spPr>
      </p:sp>
      <p:sp>
        <p:nvSpPr>
          <p:cNvPr id="10" name="Shape 8"/>
          <p:cNvSpPr/>
          <p:nvPr/>
        </p:nvSpPr>
        <p:spPr>
          <a:xfrm>
            <a:off x="6400800" y="1938528"/>
            <a:ext cx="5257800" cy="1417320"/>
          </a:xfrm>
          <a:prstGeom prst="roundRect">
            <a:avLst>
              <a:gd name="adj" fmla="val 5806"/>
            </a:avLst>
          </a:prstGeom>
          <a:solidFill>
            <a:srgbClr val="F0FDF4"/>
          </a:solidFill>
          <a:ln w="12700">
            <a:solidFill>
              <a:srgbClr val="16A34A">
                <a:alpha val="50000"/>
              </a:srgbClr>
            </a:solidFill>
            <a:prstDash val="solid"/>
          </a:ln>
        </p:spPr>
      </p:sp>
      <p:sp>
        <p:nvSpPr>
          <p:cNvPr id="11" name="Shape 9"/>
          <p:cNvSpPr/>
          <p:nvPr/>
        </p:nvSpPr>
        <p:spPr>
          <a:xfrm>
            <a:off x="6400800" y="1938528"/>
            <a:ext cx="5257800" cy="347472"/>
          </a:xfrm>
          <a:prstGeom prst="roundRect">
            <a:avLst>
              <a:gd name="adj" fmla="val 23684"/>
            </a:avLst>
          </a:prstGeom>
          <a:solidFill>
            <a:srgbClr val="16A34A"/>
          </a:solidFill>
          <a:ln w="12700">
            <a:solidFill>
              <a:srgbClr val="16A34A"/>
            </a:solidFill>
            <a:prstDash val="solid"/>
          </a:ln>
        </p:spPr>
      </p:sp>
      <p:sp>
        <p:nvSpPr>
          <p:cNvPr id="12" name="Text 10"/>
          <p:cNvSpPr/>
          <p:nvPr/>
        </p:nvSpPr>
        <p:spPr>
          <a:xfrm>
            <a:off x="6565392" y="1975104"/>
            <a:ext cx="493776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BETTER</a:t>
            </a:r>
            <a:endParaRPr lang="en-US" sz="1100" dirty="0"/>
          </a:p>
        </p:txBody>
      </p:sp>
      <p:sp>
        <p:nvSpPr>
          <p:cNvPr id="13" name="Text 11"/>
          <p:cNvSpPr/>
          <p:nvPr/>
        </p:nvSpPr>
        <p:spPr>
          <a:xfrm>
            <a:off x="6565392" y="2359152"/>
            <a:ext cx="4937760" cy="640080"/>
          </a:xfrm>
          <a:prstGeom prst="rect">
            <a:avLst/>
          </a:prstGeom>
          <a:noFill/>
          <a:ln/>
        </p:spPr>
        <p:txBody>
          <a:bodyPr wrap="square" lIns="0" tIns="0" rIns="0" bIns="0" rtlCol="0" anchor="ctr"/>
          <a:lstStyle/>
          <a:p>
            <a:pPr indent="0" marL="0">
              <a:lnSpc>
                <a:spcPct val="130000"/>
              </a:lnSpc>
              <a:buNone/>
            </a:pPr>
            <a:r>
              <a:rPr lang="en-US" sz="1050" dirty="0">
                <a:solidFill>
                  <a:srgbClr val="16A34A"/>
                </a:solidFill>
                <a:latin typeface="Courier New" pitchFamily="34" charset="0"/>
                <a:ea typeface="Courier New" pitchFamily="34" charset="-122"/>
                <a:cs typeface="Courier New" pitchFamily="34" charset="-120"/>
              </a:rPr>
              <a:t>"A senior female software engineer in her 30s, reviewing code on dual monitors, warm desk lamp lighting, photorealistic, shallow depth of field"</a:t>
            </a:r>
            <a:endParaRPr lang="en-US" sz="1050" dirty="0"/>
          </a:p>
        </p:txBody>
      </p:sp>
      <p:sp>
        <p:nvSpPr>
          <p:cNvPr id="14" name="Text 12"/>
          <p:cNvSpPr/>
          <p:nvPr/>
        </p:nvSpPr>
        <p:spPr>
          <a:xfrm>
            <a:off x="6565392" y="3017520"/>
            <a:ext cx="4937760" cy="274320"/>
          </a:xfrm>
          <a:prstGeom prst="rect">
            <a:avLst/>
          </a:prstGeom>
          <a:noFill/>
          <a:ln/>
        </p:spPr>
        <p:txBody>
          <a:bodyPr wrap="square" lIns="0" tIns="0" rIns="0" bIns="0" rtlCol="0" anchor="ctr"/>
          <a:lstStyle/>
          <a:p>
            <a:pPr indent="0" marL="0">
              <a:buNone/>
            </a:pPr>
            <a:r>
              <a:rPr lang="en-US" sz="1100" i="1" dirty="0">
                <a:solidFill>
                  <a:srgbClr val="16A34A"/>
                </a:solidFill>
                <a:latin typeface="Calibri" pitchFamily="34" charset="0"/>
                <a:ea typeface="Calibri" pitchFamily="34" charset="-122"/>
                <a:cs typeface="Calibri" pitchFamily="34" charset="-120"/>
              </a:rPr>
              <a:t>Result: Specific, directed, professional output every time</a:t>
            </a:r>
            <a:endParaRPr lang="en-US" sz="1100" dirty="0"/>
          </a:p>
        </p:txBody>
      </p:sp>
      <p:sp>
        <p:nvSpPr>
          <p:cNvPr id="15" name="Shape 13"/>
          <p:cNvSpPr/>
          <p:nvPr/>
        </p:nvSpPr>
        <p:spPr>
          <a:xfrm>
            <a:off x="502920" y="3511296"/>
            <a:ext cx="5257800" cy="1417320"/>
          </a:xfrm>
          <a:prstGeom prst="roundRect">
            <a:avLst>
              <a:gd name="adj" fmla="val 5806"/>
            </a:avLst>
          </a:prstGeom>
          <a:solidFill>
            <a:srgbClr val="FFF1F2"/>
          </a:solidFill>
          <a:ln w="12700">
            <a:solidFill>
              <a:srgbClr val="E11D48">
                <a:alpha val="50000"/>
              </a:srgbClr>
            </a:solidFill>
            <a:prstDash val="solid"/>
          </a:ln>
        </p:spPr>
      </p:sp>
      <p:sp>
        <p:nvSpPr>
          <p:cNvPr id="16" name="Shape 14"/>
          <p:cNvSpPr/>
          <p:nvPr/>
        </p:nvSpPr>
        <p:spPr>
          <a:xfrm>
            <a:off x="502920" y="3511296"/>
            <a:ext cx="5257800" cy="347472"/>
          </a:xfrm>
          <a:prstGeom prst="roundRect">
            <a:avLst>
              <a:gd name="adj" fmla="val 23684"/>
            </a:avLst>
          </a:prstGeom>
          <a:solidFill>
            <a:srgbClr val="E11D48"/>
          </a:solidFill>
          <a:ln w="12700">
            <a:solidFill>
              <a:srgbClr val="E11D48"/>
            </a:solidFill>
            <a:prstDash val="solid"/>
          </a:ln>
        </p:spPr>
      </p:sp>
      <p:sp>
        <p:nvSpPr>
          <p:cNvPr id="17" name="Text 15"/>
          <p:cNvSpPr/>
          <p:nvPr/>
        </p:nvSpPr>
        <p:spPr>
          <a:xfrm>
            <a:off x="658368" y="3547872"/>
            <a:ext cx="493776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BAD</a:t>
            </a:r>
            <a:endParaRPr lang="en-US" sz="1100" dirty="0"/>
          </a:p>
        </p:txBody>
      </p:sp>
      <p:sp>
        <p:nvSpPr>
          <p:cNvPr id="18" name="Text 16"/>
          <p:cNvSpPr/>
          <p:nvPr/>
        </p:nvSpPr>
        <p:spPr>
          <a:xfrm>
            <a:off x="658368" y="3950208"/>
            <a:ext cx="4892040" cy="347472"/>
          </a:xfrm>
          <a:prstGeom prst="rect">
            <a:avLst/>
          </a:prstGeom>
          <a:noFill/>
          <a:ln/>
        </p:spPr>
        <p:txBody>
          <a:bodyPr wrap="square" lIns="0" tIns="0" rIns="0" bIns="0" rtlCol="0" anchor="ctr"/>
          <a:lstStyle/>
          <a:p>
            <a:pPr indent="0" marL="0">
              <a:buNone/>
            </a:pPr>
            <a:r>
              <a:rPr lang="en-US" sz="1400" dirty="0">
                <a:solidFill>
                  <a:srgbClr val="E11D48"/>
                </a:solidFill>
                <a:latin typeface="Courier New" pitchFamily="34" charset="0"/>
                <a:ea typeface="Courier New" pitchFamily="34" charset="-122"/>
                <a:cs typeface="Courier New" pitchFamily="34" charset="-120"/>
              </a:rPr>
              <a:t>"Office building"</a:t>
            </a:r>
            <a:endParaRPr lang="en-US" sz="1400" dirty="0"/>
          </a:p>
        </p:txBody>
      </p:sp>
      <p:sp>
        <p:nvSpPr>
          <p:cNvPr id="19" name="Text 17"/>
          <p:cNvSpPr/>
          <p:nvPr/>
        </p:nvSpPr>
        <p:spPr>
          <a:xfrm>
            <a:off x="658368" y="4315968"/>
            <a:ext cx="4892040" cy="502920"/>
          </a:xfrm>
          <a:prstGeom prst="rect">
            <a:avLst/>
          </a:prstGeom>
          <a:noFill/>
          <a:ln/>
        </p:spPr>
        <p:txBody>
          <a:bodyPr wrap="square" lIns="0" tIns="0" rIns="0" bIns="0" rtlCol="0" anchor="ctr"/>
          <a:lstStyle/>
          <a:p>
            <a:pPr indent="0" marL="0">
              <a:lnSpc>
                <a:spcPct val="120000"/>
              </a:lnSpc>
              <a:buNone/>
            </a:pPr>
            <a:r>
              <a:rPr lang="en-US" sz="1200" i="1" dirty="0">
                <a:solidFill>
                  <a:srgbClr val="475569"/>
                </a:solidFill>
                <a:latin typeface="Calibri" pitchFamily="34" charset="0"/>
                <a:ea typeface="Calibri" pitchFamily="34" charset="-122"/>
                <a:cs typeface="Calibri" pitchFamily="34" charset="-120"/>
              </a:rPr>
              <a:t>Issue: Modern? Historic? Interior? Exterior? City? Night? Day?</a:t>
            </a:r>
            <a:endParaRPr lang="en-US" sz="1200" dirty="0"/>
          </a:p>
        </p:txBody>
      </p:sp>
      <p:sp>
        <p:nvSpPr>
          <p:cNvPr id="20" name="Shape 18"/>
          <p:cNvSpPr/>
          <p:nvPr/>
        </p:nvSpPr>
        <p:spPr>
          <a:xfrm>
            <a:off x="5833872" y="4206240"/>
            <a:ext cx="475488" cy="0"/>
          </a:xfrm>
          <a:prstGeom prst="line">
            <a:avLst/>
          </a:prstGeom>
          <a:noFill/>
          <a:ln w="25400">
            <a:solidFill>
              <a:srgbClr val="D97706"/>
            </a:solidFill>
            <a:prstDash val="solid"/>
            <a:tailEnd type="triangle"/>
          </a:ln>
        </p:spPr>
      </p:sp>
      <p:sp>
        <p:nvSpPr>
          <p:cNvPr id="21" name="Shape 19"/>
          <p:cNvSpPr/>
          <p:nvPr/>
        </p:nvSpPr>
        <p:spPr>
          <a:xfrm>
            <a:off x="6400800" y="3511296"/>
            <a:ext cx="5257800" cy="1417320"/>
          </a:xfrm>
          <a:prstGeom prst="roundRect">
            <a:avLst>
              <a:gd name="adj" fmla="val 5806"/>
            </a:avLst>
          </a:prstGeom>
          <a:solidFill>
            <a:srgbClr val="F0FDF4"/>
          </a:solidFill>
          <a:ln w="12700">
            <a:solidFill>
              <a:srgbClr val="16A34A">
                <a:alpha val="50000"/>
              </a:srgbClr>
            </a:solidFill>
            <a:prstDash val="solid"/>
          </a:ln>
        </p:spPr>
      </p:sp>
      <p:sp>
        <p:nvSpPr>
          <p:cNvPr id="22" name="Shape 20"/>
          <p:cNvSpPr/>
          <p:nvPr/>
        </p:nvSpPr>
        <p:spPr>
          <a:xfrm>
            <a:off x="6400800" y="3511296"/>
            <a:ext cx="5257800" cy="347472"/>
          </a:xfrm>
          <a:prstGeom prst="roundRect">
            <a:avLst>
              <a:gd name="adj" fmla="val 23684"/>
            </a:avLst>
          </a:prstGeom>
          <a:solidFill>
            <a:srgbClr val="16A34A"/>
          </a:solidFill>
          <a:ln w="12700">
            <a:solidFill>
              <a:srgbClr val="16A34A"/>
            </a:solidFill>
            <a:prstDash val="solid"/>
          </a:ln>
        </p:spPr>
      </p:sp>
      <p:sp>
        <p:nvSpPr>
          <p:cNvPr id="23" name="Text 21"/>
          <p:cNvSpPr/>
          <p:nvPr/>
        </p:nvSpPr>
        <p:spPr>
          <a:xfrm>
            <a:off x="6565392" y="3547872"/>
            <a:ext cx="493776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BETTER</a:t>
            </a:r>
            <a:endParaRPr lang="en-US" sz="1100" dirty="0"/>
          </a:p>
        </p:txBody>
      </p:sp>
      <p:sp>
        <p:nvSpPr>
          <p:cNvPr id="24" name="Text 22"/>
          <p:cNvSpPr/>
          <p:nvPr/>
        </p:nvSpPr>
        <p:spPr>
          <a:xfrm>
            <a:off x="6565392" y="3931920"/>
            <a:ext cx="4937760" cy="640080"/>
          </a:xfrm>
          <a:prstGeom prst="rect">
            <a:avLst/>
          </a:prstGeom>
          <a:noFill/>
          <a:ln/>
        </p:spPr>
        <p:txBody>
          <a:bodyPr wrap="square" lIns="0" tIns="0" rIns="0" bIns="0" rtlCol="0" anchor="ctr"/>
          <a:lstStyle/>
          <a:p>
            <a:pPr indent="0" marL="0">
              <a:lnSpc>
                <a:spcPct val="130000"/>
              </a:lnSpc>
              <a:buNone/>
            </a:pPr>
            <a:r>
              <a:rPr lang="en-US" sz="1050" dirty="0">
                <a:solidFill>
                  <a:srgbClr val="16A34A"/>
                </a:solidFill>
                <a:latin typeface="Courier New" pitchFamily="34" charset="0"/>
                <a:ea typeface="Courier New" pitchFamily="34" charset="-122"/>
                <a:cs typeface="Courier New" pitchFamily="34" charset="-120"/>
              </a:rPr>
              <a:t>"Modern glass office tower at sunset, Mumbai skyline background, golden hour lighting, architectural photography style, ultra-detailed"</a:t>
            </a:r>
            <a:endParaRPr lang="en-US" sz="1050" dirty="0"/>
          </a:p>
        </p:txBody>
      </p:sp>
      <p:sp>
        <p:nvSpPr>
          <p:cNvPr id="25" name="Text 23"/>
          <p:cNvSpPr/>
          <p:nvPr/>
        </p:nvSpPr>
        <p:spPr>
          <a:xfrm>
            <a:off x="6565392" y="4590288"/>
            <a:ext cx="4937760" cy="274320"/>
          </a:xfrm>
          <a:prstGeom prst="rect">
            <a:avLst/>
          </a:prstGeom>
          <a:noFill/>
          <a:ln/>
        </p:spPr>
        <p:txBody>
          <a:bodyPr wrap="square" lIns="0" tIns="0" rIns="0" bIns="0" rtlCol="0" anchor="ctr"/>
          <a:lstStyle/>
          <a:p>
            <a:pPr indent="0" marL="0">
              <a:buNone/>
            </a:pPr>
            <a:r>
              <a:rPr lang="en-US" sz="1100" i="1" dirty="0">
                <a:solidFill>
                  <a:srgbClr val="16A34A"/>
                </a:solidFill>
                <a:latin typeface="Calibri" pitchFamily="34" charset="0"/>
                <a:ea typeface="Calibri" pitchFamily="34" charset="-122"/>
                <a:cs typeface="Calibri" pitchFamily="34" charset="-120"/>
              </a:rPr>
              <a:t>Result: Magazine-quality architectural image</a:t>
            </a:r>
            <a:endParaRPr lang="en-US" sz="1100" dirty="0"/>
          </a:p>
        </p:txBody>
      </p:sp>
      <p:sp>
        <p:nvSpPr>
          <p:cNvPr id="26" name="Shape 24"/>
          <p:cNvSpPr/>
          <p:nvPr/>
        </p:nvSpPr>
        <p:spPr>
          <a:xfrm>
            <a:off x="502920" y="5084064"/>
            <a:ext cx="5257800" cy="1417320"/>
          </a:xfrm>
          <a:prstGeom prst="roundRect">
            <a:avLst>
              <a:gd name="adj" fmla="val 5806"/>
            </a:avLst>
          </a:prstGeom>
          <a:solidFill>
            <a:srgbClr val="FFF1F2"/>
          </a:solidFill>
          <a:ln w="12700">
            <a:solidFill>
              <a:srgbClr val="E11D48">
                <a:alpha val="50000"/>
              </a:srgbClr>
            </a:solidFill>
            <a:prstDash val="solid"/>
          </a:ln>
        </p:spPr>
      </p:sp>
      <p:sp>
        <p:nvSpPr>
          <p:cNvPr id="27" name="Shape 25"/>
          <p:cNvSpPr/>
          <p:nvPr/>
        </p:nvSpPr>
        <p:spPr>
          <a:xfrm>
            <a:off x="502920" y="5084064"/>
            <a:ext cx="5257800" cy="347472"/>
          </a:xfrm>
          <a:prstGeom prst="roundRect">
            <a:avLst>
              <a:gd name="adj" fmla="val 23684"/>
            </a:avLst>
          </a:prstGeom>
          <a:solidFill>
            <a:srgbClr val="E11D48"/>
          </a:solidFill>
          <a:ln w="12700">
            <a:solidFill>
              <a:srgbClr val="E11D48"/>
            </a:solidFill>
            <a:prstDash val="solid"/>
          </a:ln>
        </p:spPr>
      </p:sp>
      <p:sp>
        <p:nvSpPr>
          <p:cNvPr id="28" name="Text 26"/>
          <p:cNvSpPr/>
          <p:nvPr/>
        </p:nvSpPr>
        <p:spPr>
          <a:xfrm>
            <a:off x="658368" y="5120640"/>
            <a:ext cx="493776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BAD</a:t>
            </a:r>
            <a:endParaRPr lang="en-US" sz="1100" dirty="0"/>
          </a:p>
        </p:txBody>
      </p:sp>
      <p:sp>
        <p:nvSpPr>
          <p:cNvPr id="29" name="Text 27"/>
          <p:cNvSpPr/>
          <p:nvPr/>
        </p:nvSpPr>
        <p:spPr>
          <a:xfrm>
            <a:off x="658368" y="5522976"/>
            <a:ext cx="4892040" cy="347472"/>
          </a:xfrm>
          <a:prstGeom prst="rect">
            <a:avLst/>
          </a:prstGeom>
          <a:noFill/>
          <a:ln/>
        </p:spPr>
        <p:txBody>
          <a:bodyPr wrap="square" lIns="0" tIns="0" rIns="0" bIns="0" rtlCol="0" anchor="ctr"/>
          <a:lstStyle/>
          <a:p>
            <a:pPr indent="0" marL="0">
              <a:buNone/>
            </a:pPr>
            <a:r>
              <a:rPr lang="en-US" sz="1400" dirty="0">
                <a:solidFill>
                  <a:srgbClr val="E11D48"/>
                </a:solidFill>
                <a:latin typeface="Courier New" pitchFamily="34" charset="0"/>
                <a:ea typeface="Courier New" pitchFamily="34" charset="-122"/>
                <a:cs typeface="Courier New" pitchFamily="34" charset="-120"/>
              </a:rPr>
              <a:t>"Logo"</a:t>
            </a:r>
            <a:endParaRPr lang="en-US" sz="1400" dirty="0"/>
          </a:p>
        </p:txBody>
      </p:sp>
      <p:sp>
        <p:nvSpPr>
          <p:cNvPr id="30" name="Text 28"/>
          <p:cNvSpPr/>
          <p:nvPr/>
        </p:nvSpPr>
        <p:spPr>
          <a:xfrm>
            <a:off x="658368" y="5888736"/>
            <a:ext cx="4892040" cy="502920"/>
          </a:xfrm>
          <a:prstGeom prst="rect">
            <a:avLst/>
          </a:prstGeom>
          <a:noFill/>
          <a:ln/>
        </p:spPr>
        <p:txBody>
          <a:bodyPr wrap="square" lIns="0" tIns="0" rIns="0" bIns="0" rtlCol="0" anchor="ctr"/>
          <a:lstStyle/>
          <a:p>
            <a:pPr indent="0" marL="0">
              <a:lnSpc>
                <a:spcPct val="120000"/>
              </a:lnSpc>
              <a:buNone/>
            </a:pPr>
            <a:r>
              <a:rPr lang="en-US" sz="1200" i="1" dirty="0">
                <a:solidFill>
                  <a:srgbClr val="475569"/>
                </a:solidFill>
                <a:latin typeface="Calibri" pitchFamily="34" charset="0"/>
                <a:ea typeface="Calibri" pitchFamily="34" charset="-122"/>
                <a:cs typeface="Calibri" pitchFamily="34" charset="-120"/>
              </a:rPr>
              <a:t>Issue: DALL-E is notoriously bad at text. Logos with text will be garbled.</a:t>
            </a:r>
            <a:endParaRPr lang="en-US" sz="1200" dirty="0"/>
          </a:p>
        </p:txBody>
      </p:sp>
      <p:sp>
        <p:nvSpPr>
          <p:cNvPr id="31" name="Shape 29"/>
          <p:cNvSpPr/>
          <p:nvPr/>
        </p:nvSpPr>
        <p:spPr>
          <a:xfrm>
            <a:off x="5833872" y="5779008"/>
            <a:ext cx="475488" cy="0"/>
          </a:xfrm>
          <a:prstGeom prst="line">
            <a:avLst/>
          </a:prstGeom>
          <a:noFill/>
          <a:ln w="25400">
            <a:solidFill>
              <a:srgbClr val="D97706"/>
            </a:solidFill>
            <a:prstDash val="solid"/>
            <a:tailEnd type="triangle"/>
          </a:ln>
        </p:spPr>
      </p:sp>
      <p:sp>
        <p:nvSpPr>
          <p:cNvPr id="32" name="Shape 30"/>
          <p:cNvSpPr/>
          <p:nvPr/>
        </p:nvSpPr>
        <p:spPr>
          <a:xfrm>
            <a:off x="6400800" y="5084064"/>
            <a:ext cx="5257800" cy="1417320"/>
          </a:xfrm>
          <a:prstGeom prst="roundRect">
            <a:avLst>
              <a:gd name="adj" fmla="val 5806"/>
            </a:avLst>
          </a:prstGeom>
          <a:solidFill>
            <a:srgbClr val="F0FDF4"/>
          </a:solidFill>
          <a:ln w="12700">
            <a:solidFill>
              <a:srgbClr val="16A34A">
                <a:alpha val="50000"/>
              </a:srgbClr>
            </a:solidFill>
            <a:prstDash val="solid"/>
          </a:ln>
        </p:spPr>
      </p:sp>
      <p:sp>
        <p:nvSpPr>
          <p:cNvPr id="33" name="Shape 31"/>
          <p:cNvSpPr/>
          <p:nvPr/>
        </p:nvSpPr>
        <p:spPr>
          <a:xfrm>
            <a:off x="6400800" y="5084064"/>
            <a:ext cx="5257800" cy="347472"/>
          </a:xfrm>
          <a:prstGeom prst="roundRect">
            <a:avLst>
              <a:gd name="adj" fmla="val 23684"/>
            </a:avLst>
          </a:prstGeom>
          <a:solidFill>
            <a:srgbClr val="16A34A"/>
          </a:solidFill>
          <a:ln w="12700">
            <a:solidFill>
              <a:srgbClr val="16A34A"/>
            </a:solidFill>
            <a:prstDash val="solid"/>
          </a:ln>
        </p:spPr>
      </p:sp>
      <p:sp>
        <p:nvSpPr>
          <p:cNvPr id="34" name="Text 32"/>
          <p:cNvSpPr/>
          <p:nvPr/>
        </p:nvSpPr>
        <p:spPr>
          <a:xfrm>
            <a:off x="6565392" y="5120640"/>
            <a:ext cx="4937760"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BETTER</a:t>
            </a:r>
            <a:endParaRPr lang="en-US" sz="1100" dirty="0"/>
          </a:p>
        </p:txBody>
      </p:sp>
      <p:sp>
        <p:nvSpPr>
          <p:cNvPr id="35" name="Text 33"/>
          <p:cNvSpPr/>
          <p:nvPr/>
        </p:nvSpPr>
        <p:spPr>
          <a:xfrm>
            <a:off x="6565392" y="5504688"/>
            <a:ext cx="4937760" cy="640080"/>
          </a:xfrm>
          <a:prstGeom prst="rect">
            <a:avLst/>
          </a:prstGeom>
          <a:noFill/>
          <a:ln/>
        </p:spPr>
        <p:txBody>
          <a:bodyPr wrap="square" lIns="0" tIns="0" rIns="0" bIns="0" rtlCol="0" anchor="ctr"/>
          <a:lstStyle/>
          <a:p>
            <a:pPr indent="0" marL="0">
              <a:lnSpc>
                <a:spcPct val="130000"/>
              </a:lnSpc>
              <a:buNone/>
            </a:pPr>
            <a:r>
              <a:rPr lang="en-US" sz="1050" dirty="0">
                <a:solidFill>
                  <a:srgbClr val="16A34A"/>
                </a:solidFill>
                <a:latin typeface="Courier New" pitchFamily="34" charset="0"/>
                <a:ea typeface="Courier New" pitchFamily="34" charset="-122"/>
                <a:cs typeface="Courier New" pitchFamily="34" charset="-120"/>
              </a:rPr>
              <a:t>"A minimalist circuit board icon in the shape of a brain, electric blue on dark background, clean vector art style, no text"</a:t>
            </a:r>
            <a:endParaRPr lang="en-US" sz="1050" dirty="0"/>
          </a:p>
        </p:txBody>
      </p:sp>
      <p:sp>
        <p:nvSpPr>
          <p:cNvPr id="36" name="Text 34"/>
          <p:cNvSpPr/>
          <p:nvPr/>
        </p:nvSpPr>
        <p:spPr>
          <a:xfrm>
            <a:off x="6565392" y="6163056"/>
            <a:ext cx="4937760" cy="274320"/>
          </a:xfrm>
          <a:prstGeom prst="rect">
            <a:avLst/>
          </a:prstGeom>
          <a:noFill/>
          <a:ln/>
        </p:spPr>
        <p:txBody>
          <a:bodyPr wrap="square" lIns="0" tIns="0" rIns="0" bIns="0" rtlCol="0" anchor="ctr"/>
          <a:lstStyle/>
          <a:p>
            <a:pPr indent="0" marL="0">
              <a:buNone/>
            </a:pPr>
            <a:r>
              <a:rPr lang="en-US" sz="1100" i="1" dirty="0">
                <a:solidFill>
                  <a:srgbClr val="16A34A"/>
                </a:solidFill>
                <a:latin typeface="Calibri" pitchFamily="34" charset="0"/>
                <a:ea typeface="Calibri" pitchFamily="34" charset="-122"/>
                <a:cs typeface="Calibri" pitchFamily="34" charset="-120"/>
              </a:rPr>
              <a:t>Result: Clean icon that can be refined further</a:t>
            </a:r>
            <a:endParaRPr lang="en-US" sz="1100" dirty="0"/>
          </a:p>
        </p:txBody>
      </p:sp>
      <p:sp>
        <p:nvSpPr>
          <p:cNvPr id="37" name="Shape 35"/>
          <p:cNvSpPr/>
          <p:nvPr/>
        </p:nvSpPr>
        <p:spPr>
          <a:xfrm>
            <a:off x="502920" y="6473952"/>
            <a:ext cx="11109960" cy="36576"/>
          </a:xfrm>
          <a:prstGeom prst="roundRect">
            <a:avLst/>
          </a:prstGeom>
          <a:solidFill>
            <a:srgbClr val="7C3AED"/>
          </a:solidFill>
          <a:ln w="12700">
            <a:solidFill>
              <a:srgbClr val="7C3AED"/>
            </a:solidFill>
            <a:prstDash val="solid"/>
          </a:ln>
        </p:spPr>
      </p:sp>
      <p:sp>
        <p:nvSpPr>
          <p:cNvPr id="39" name="Shape 36"/>
          <p:cNvSpPr/>
          <p:nvPr/>
        </p:nvSpPr>
        <p:spPr>
          <a:xfrm>
            <a:off x="0" y="6583680"/>
            <a:ext cx="12191695" cy="274320"/>
          </a:xfrm>
          <a:prstGeom prst="rect">
            <a:avLst/>
          </a:prstGeom>
          <a:solidFill>
            <a:srgbClr val="7C3AED">
              <a:alpha val="12000"/>
            </a:srgbClr>
          </a:solidFill>
          <a:ln w="12700">
            <a:solidFill>
              <a:srgbClr val="7C3AED">
                <a:alpha val="35000"/>
              </a:srgbClr>
            </a:solidFill>
            <a:prstDash val="solid"/>
          </a:ln>
        </p:spPr>
      </p:sp>
      <p:sp>
        <p:nvSpPr>
          <p:cNvPr id="40" name="Text 37"/>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41" name="Text 38"/>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6 / 31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F1A"/>
        </a:solidFill>
      </p:bgPr>
    </p:bg>
    <p:spTree>
      <p:nvGrpSpPr>
        <p:cNvPr id="1" name=""/>
        <p:cNvGrpSpPr/>
        <p:nvPr/>
      </p:nvGrpSpPr>
      <p:grpSpPr>
        <a:xfrm>
          <a:off x="0" y="0"/>
          <a:ext cx="0" cy="0"/>
          <a:chOff x="0" y="0"/>
          <a:chExt cx="0" cy="0"/>
        </a:xfrm>
      </p:grpSpPr>
      <p:sp>
        <p:nvSpPr>
          <p:cNvPr id="2" name="Text 0"/>
          <p:cNvSpPr/>
          <p:nvPr/>
        </p:nvSpPr>
        <p:spPr>
          <a:xfrm>
            <a:off x="6400800" y="-274320"/>
            <a:ext cx="6400800" cy="5029200"/>
          </a:xfrm>
          <a:prstGeom prst="rect">
            <a:avLst/>
          </a:prstGeom>
          <a:noFill/>
          <a:ln/>
        </p:spPr>
        <p:txBody>
          <a:bodyPr wrap="square" lIns="0" tIns="0" rIns="0" bIns="0" rtlCol="0" anchor="ctr"/>
          <a:lstStyle/>
          <a:p>
            <a:pPr indent="0" marL="0">
              <a:buNone/>
            </a:pPr>
            <a:r>
              <a:rPr lang="en-US" sz="20000" b="1" dirty="0">
                <a:solidFill>
                  <a:srgbClr val="0891B2">
                    <a:alpha val="9000"/>
                  </a:srgbClr>
                </a:solidFill>
                <a:latin typeface="Calibri" pitchFamily="34" charset="0"/>
                <a:ea typeface="Calibri" pitchFamily="34" charset="-122"/>
                <a:cs typeface="Calibri" pitchFamily="34" charset="-120"/>
              </a:rPr>
              <a:t>Whisper</a:t>
            </a:r>
            <a:endParaRPr lang="en-US" sz="20000" dirty="0"/>
          </a:p>
        </p:txBody>
      </p:sp>
      <p:sp>
        <p:nvSpPr>
          <p:cNvPr id="3" name="Shape 1"/>
          <p:cNvSpPr/>
          <p:nvPr/>
        </p:nvSpPr>
        <p:spPr>
          <a:xfrm>
            <a:off x="475488" y="804672"/>
            <a:ext cx="749808" cy="749808"/>
          </a:xfrm>
          <a:prstGeom prst="roundRect">
            <a:avLst>
              <a:gd name="adj" fmla="val 12195"/>
            </a:avLst>
          </a:prstGeom>
          <a:solidFill>
            <a:srgbClr val="0891B2"/>
          </a:solidFill>
          <a:ln w="12700">
            <a:solidFill>
              <a:srgbClr val="0891B2"/>
            </a:solidFill>
            <a:prstDash val="solid"/>
          </a:ln>
        </p:spPr>
      </p:sp>
      <p:sp>
        <p:nvSpPr>
          <p:cNvPr id="4" name="Text 2"/>
          <p:cNvSpPr/>
          <p:nvPr/>
        </p:nvSpPr>
        <p:spPr>
          <a:xfrm>
            <a:off x="475488" y="804672"/>
            <a:ext cx="749808" cy="749808"/>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5" name="Text 3"/>
          <p:cNvSpPr/>
          <p:nvPr/>
        </p:nvSpPr>
        <p:spPr>
          <a:xfrm>
            <a:off x="1371600" y="841248"/>
            <a:ext cx="2743200" cy="292608"/>
          </a:xfrm>
          <a:prstGeom prst="rect">
            <a:avLst/>
          </a:prstGeom>
          <a:noFill/>
          <a:ln/>
        </p:spPr>
        <p:txBody>
          <a:bodyPr wrap="square" lIns="0" tIns="0" rIns="0" bIns="0" rtlCol="0" anchor="ctr"/>
          <a:lstStyle/>
          <a:p>
            <a:pPr indent="0" marL="0">
              <a:buNone/>
            </a:pPr>
            <a:r>
              <a:rPr lang="en-US" sz="1300" b="1" spc="500" kern="0" dirty="0">
                <a:solidFill>
                  <a:srgbClr val="0891B2"/>
                </a:solidFill>
                <a:latin typeface="Calibri" pitchFamily="34" charset="0"/>
                <a:ea typeface="Calibri" pitchFamily="34" charset="-122"/>
                <a:cs typeface="Calibri" pitchFamily="34" charset="-120"/>
              </a:rPr>
              <a:t>SECTION</a:t>
            </a:r>
            <a:endParaRPr lang="en-US" sz="1300" dirty="0"/>
          </a:p>
        </p:txBody>
      </p:sp>
      <p:sp>
        <p:nvSpPr>
          <p:cNvPr id="6" name="Text 4"/>
          <p:cNvSpPr/>
          <p:nvPr/>
        </p:nvSpPr>
        <p:spPr>
          <a:xfrm>
            <a:off x="685800" y="1417320"/>
            <a:ext cx="9144000" cy="1920240"/>
          </a:xfrm>
          <a:prstGeom prst="rect">
            <a:avLst/>
          </a:prstGeom>
          <a:noFill/>
          <a:ln/>
        </p:spPr>
        <p:txBody>
          <a:bodyPr wrap="square" lIns="0" tIns="0" rIns="0" bIns="0" rtlCol="0" anchor="ctr"/>
          <a:lstStyle/>
          <a:p>
            <a:pPr indent="0" marL="0">
              <a:lnSpc>
                <a:spcPct val="104000"/>
              </a:lnSpc>
              <a:buNone/>
            </a:pPr>
            <a:r>
              <a:rPr lang="en-US" sz="5400" b="1" dirty="0">
                <a:solidFill>
                  <a:srgbClr val="FFFFFF"/>
                </a:solidFill>
                <a:latin typeface="Calibri" pitchFamily="34" charset="0"/>
                <a:ea typeface="Calibri" pitchFamily="34" charset="-122"/>
                <a:cs typeface="Calibri" pitchFamily="34" charset="-120"/>
              </a:rPr>
              <a:t>Whisper</a:t>
            </a:r>
            <a:endParaRPr lang="en-US" sz="5400" dirty="0"/>
          </a:p>
          <a:p>
            <a:pPr indent="0" marL="0">
              <a:lnSpc>
                <a:spcPct val="104000"/>
              </a:lnSpc>
              <a:buNone/>
            </a:pPr>
            <a:r>
              <a:rPr lang="en-US" sz="5400" b="1" dirty="0">
                <a:solidFill>
                  <a:srgbClr val="FFFFFF"/>
                </a:solidFill>
                <a:latin typeface="Calibri" pitchFamily="34" charset="0"/>
                <a:ea typeface="Calibri" pitchFamily="34" charset="-122"/>
                <a:cs typeface="Calibri" pitchFamily="34" charset="-120"/>
              </a:rPr>
              <a:t>Speech-to-Text</a:t>
            </a:r>
            <a:endParaRPr lang="en-US" sz="5400" dirty="0"/>
          </a:p>
        </p:txBody>
      </p:sp>
      <p:sp>
        <p:nvSpPr>
          <p:cNvPr id="7" name="Text 5"/>
          <p:cNvSpPr/>
          <p:nvPr/>
        </p:nvSpPr>
        <p:spPr>
          <a:xfrm>
            <a:off x="685800" y="3493008"/>
            <a:ext cx="9144000" cy="777240"/>
          </a:xfrm>
          <a:prstGeom prst="rect">
            <a:avLst/>
          </a:prstGeom>
          <a:noFill/>
          <a:ln/>
        </p:spPr>
        <p:txBody>
          <a:bodyPr wrap="square" lIns="0" tIns="0" rIns="0" bIns="0" rtlCol="0" anchor="ctr"/>
          <a:lstStyle/>
          <a:p>
            <a:pPr indent="0" marL="0">
              <a:lnSpc>
                <a:spcPct val="130000"/>
              </a:lnSpc>
              <a:buNone/>
            </a:pPr>
            <a:r>
              <a:rPr lang="en-US" sz="2000" dirty="0">
                <a:solidFill>
                  <a:srgbClr val="8B92B8"/>
                </a:solidFill>
                <a:latin typeface="Calibri" pitchFamily="34" charset="0"/>
                <a:ea typeface="Calibri" pitchFamily="34" charset="-122"/>
                <a:cs typeface="Calibri" pitchFamily="34" charset="-120"/>
              </a:rPr>
              <a:t>Audio file in — accurate text transcript out. Every language. Background noise handled.</a:t>
            </a:r>
            <a:endParaRPr lang="en-US" sz="2000" dirty="0"/>
          </a:p>
        </p:txBody>
      </p:sp>
      <p:sp>
        <p:nvSpPr>
          <p:cNvPr id="9" name="Shape 6"/>
          <p:cNvSpPr/>
          <p:nvPr/>
        </p:nvSpPr>
        <p:spPr>
          <a:xfrm>
            <a:off x="0" y="6583680"/>
            <a:ext cx="12191695" cy="274320"/>
          </a:xfrm>
          <a:prstGeom prst="rect">
            <a:avLst/>
          </a:prstGeom>
          <a:solidFill>
            <a:srgbClr val="0891B2">
              <a:alpha val="12000"/>
            </a:srgbClr>
          </a:solidFill>
          <a:ln w="12700">
            <a:solidFill>
              <a:srgbClr val="0891B2">
                <a:alpha val="35000"/>
              </a:srgbClr>
            </a:solidFill>
            <a:prstDash val="solid"/>
          </a:ln>
        </p:spPr>
      </p:sp>
      <p:sp>
        <p:nvSpPr>
          <p:cNvPr id="10" name="Text 7"/>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1" name="Text 8"/>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7 / 31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WHISPER — HOW SPEECH-TO-TEXT WORKS</a:t>
            </a:r>
            <a:endParaRPr lang="en-US" sz="1200" dirty="0"/>
          </a:p>
        </p:txBody>
      </p:sp>
      <p:sp>
        <p:nvSpPr>
          <p:cNvPr id="3" name="Text 1"/>
          <p:cNvSpPr/>
          <p:nvPr/>
        </p:nvSpPr>
        <p:spPr>
          <a:xfrm>
            <a:off x="685800" y="749808"/>
            <a:ext cx="10789920" cy="868680"/>
          </a:xfrm>
          <a:prstGeom prst="rect">
            <a:avLst/>
          </a:prstGeom>
          <a:noFill/>
          <a:ln/>
        </p:spPr>
        <p:txBody>
          <a:bodyPr wrap="square" lIns="0" tIns="0" rIns="0" bIns="0" rtlCol="0" anchor="ctr"/>
          <a:lstStyle/>
          <a:p>
            <a:pPr indent="0" marL="0">
              <a:lnSpc>
                <a:spcPct val="105000"/>
              </a:lnSpc>
              <a:buNone/>
            </a:pPr>
            <a:r>
              <a:rPr lang="en-US" sz="3000" b="1" dirty="0">
                <a:solidFill>
                  <a:srgbClr val="475569"/>
                </a:solidFill>
                <a:latin typeface="Calibri" pitchFamily="34" charset="0"/>
                <a:ea typeface="Calibri" pitchFamily="34" charset="-122"/>
                <a:cs typeface="Calibri" pitchFamily="34" charset="-120"/>
              </a:rPr>
              <a:t>An encoder-decoder transformer trained on 680,000 hours of audio.</a:t>
            </a:r>
            <a:endParaRPr lang="en-US" sz="3000" dirty="0"/>
          </a:p>
        </p:txBody>
      </p:sp>
      <p:sp>
        <p:nvSpPr>
          <p:cNvPr id="4" name="Shape 2"/>
          <p:cNvSpPr/>
          <p:nvPr/>
        </p:nvSpPr>
        <p:spPr>
          <a:xfrm>
            <a:off x="502920" y="1993392"/>
            <a:ext cx="2057400" cy="2578608"/>
          </a:xfrm>
          <a:prstGeom prst="roundRect">
            <a:avLst>
              <a:gd name="adj" fmla="val 4000"/>
            </a:avLst>
          </a:prstGeom>
          <a:solidFill>
            <a:srgbClr val="F8FAFC"/>
          </a:solidFill>
          <a:ln w="19050">
            <a:solidFill>
              <a:srgbClr val="0891B2">
                <a:alpha val="60000"/>
              </a:srgbClr>
            </a:solidFill>
            <a:prstDash val="solid"/>
          </a:ln>
          <a:effectLst>
            <a:outerShdw sx="100000" sy="100000" kx="0" ky="0" algn="bl" rotWithShape="0" blurRad="101600" dist="38100" dir="5400000">
              <a:srgbClr val="000000">
                <a:alpha val="13000"/>
              </a:srgbClr>
            </a:outerShdw>
          </a:effectLst>
        </p:spPr>
      </p:sp>
      <p:sp>
        <p:nvSpPr>
          <p:cNvPr id="5" name="Text 3"/>
          <p:cNvSpPr/>
          <p:nvPr/>
        </p:nvSpPr>
        <p:spPr>
          <a:xfrm>
            <a:off x="1005840" y="2084832"/>
            <a:ext cx="960120" cy="54864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640080" y="2670048"/>
            <a:ext cx="1810512" cy="457200"/>
          </a:xfrm>
          <a:prstGeom prst="rect">
            <a:avLst/>
          </a:prstGeom>
          <a:noFill/>
          <a:ln/>
        </p:spPr>
        <p:txBody>
          <a:bodyPr wrap="square" lIns="0" tIns="0" rIns="0" bIns="0" rtlCol="0" anchor="ctr"/>
          <a:lstStyle/>
          <a:p>
            <a:pPr indent="0" marL="0">
              <a:lnSpc>
                <a:spcPct val="110000"/>
              </a:lnSpc>
              <a:buNone/>
            </a:pPr>
            <a:r>
              <a:rPr lang="en-US" sz="1300" b="1" dirty="0">
                <a:solidFill>
                  <a:srgbClr val="0891B2"/>
                </a:solidFill>
                <a:latin typeface="Calibri" pitchFamily="34" charset="0"/>
                <a:ea typeface="Calibri" pitchFamily="34" charset="-122"/>
                <a:cs typeface="Calibri" pitchFamily="34" charset="-120"/>
              </a:rPr>
              <a:t>Audio input</a:t>
            </a:r>
            <a:endParaRPr lang="en-US" sz="1300" dirty="0"/>
          </a:p>
        </p:txBody>
      </p:sp>
      <p:sp>
        <p:nvSpPr>
          <p:cNvPr id="7" name="Shape 5"/>
          <p:cNvSpPr/>
          <p:nvPr/>
        </p:nvSpPr>
        <p:spPr>
          <a:xfrm>
            <a:off x="685800" y="3182112"/>
            <a:ext cx="1719072" cy="0"/>
          </a:xfrm>
          <a:prstGeom prst="line">
            <a:avLst/>
          </a:prstGeom>
          <a:noFill/>
          <a:ln w="9525">
            <a:solidFill>
              <a:srgbClr val="0891B2">
                <a:alpha val="45000"/>
              </a:srgbClr>
            </a:solidFill>
            <a:prstDash val="solid"/>
          </a:ln>
        </p:spPr>
      </p:sp>
      <p:sp>
        <p:nvSpPr>
          <p:cNvPr id="8" name="Text 6"/>
          <p:cNvSpPr/>
          <p:nvPr/>
        </p:nvSpPr>
        <p:spPr>
          <a:xfrm>
            <a:off x="640080" y="3273552"/>
            <a:ext cx="1810512" cy="1188720"/>
          </a:xfrm>
          <a:prstGeom prst="rect">
            <a:avLst/>
          </a:prstGeom>
          <a:noFill/>
          <a:ln/>
        </p:spPr>
        <p:txBody>
          <a:bodyPr wrap="square" lIns="0" tIns="0" rIns="0" bIns="0" rtlCol="0" anchor="ctr"/>
          <a:lstStyle/>
          <a:p>
            <a:pPr indent="0" marL="0">
              <a:lnSpc>
                <a:spcPct val="128000"/>
              </a:lnSpc>
              <a:buNone/>
            </a:pPr>
            <a:r>
              <a:rPr lang="en-US" sz="1100" dirty="0">
                <a:solidFill>
                  <a:srgbClr val="475569"/>
                </a:solidFill>
                <a:latin typeface="Calibri" pitchFamily="34" charset="0"/>
                <a:ea typeface="Calibri" pitchFamily="34" charset="-122"/>
                <a:cs typeface="Calibri" pitchFamily="34" charset="-120"/>
              </a:rPr>
              <a:t>MP3, WAV, M4A, OGG, FLAC up to 25 MB. ~10 min of audio.</a:t>
            </a:r>
            <a:endParaRPr lang="en-US" sz="1100" dirty="0"/>
          </a:p>
        </p:txBody>
      </p:sp>
      <p:sp>
        <p:nvSpPr>
          <p:cNvPr id="9" name="Shape 7"/>
          <p:cNvSpPr/>
          <p:nvPr/>
        </p:nvSpPr>
        <p:spPr>
          <a:xfrm>
            <a:off x="2587752" y="3273552"/>
            <a:ext cx="137160" cy="0"/>
          </a:xfrm>
          <a:prstGeom prst="line">
            <a:avLst/>
          </a:prstGeom>
          <a:noFill/>
          <a:ln w="25400">
            <a:solidFill>
              <a:srgbClr val="0891B2"/>
            </a:solidFill>
            <a:prstDash val="solid"/>
            <a:tailEnd type="triangle"/>
          </a:ln>
        </p:spPr>
      </p:sp>
      <p:sp>
        <p:nvSpPr>
          <p:cNvPr id="10" name="Shape 8"/>
          <p:cNvSpPr/>
          <p:nvPr/>
        </p:nvSpPr>
        <p:spPr>
          <a:xfrm>
            <a:off x="2743200" y="1993392"/>
            <a:ext cx="2057400" cy="2578608"/>
          </a:xfrm>
          <a:prstGeom prst="roundRect">
            <a:avLst>
              <a:gd name="adj" fmla="val 4000"/>
            </a:avLst>
          </a:prstGeom>
          <a:solidFill>
            <a:srgbClr val="F8FAFC"/>
          </a:solidFill>
          <a:ln w="19050">
            <a:solidFill>
              <a:srgbClr val="7C3AED">
                <a:alpha val="60000"/>
              </a:srgbClr>
            </a:solidFill>
            <a:prstDash val="solid"/>
          </a:ln>
          <a:effectLst>
            <a:outerShdw sx="100000" sy="100000" kx="0" ky="0" algn="bl" rotWithShape="0" blurRad="101600" dist="38100" dir="5400000">
              <a:srgbClr val="000000">
                <a:alpha val="13000"/>
              </a:srgbClr>
            </a:outerShdw>
          </a:effectLst>
        </p:spPr>
      </p:sp>
      <p:sp>
        <p:nvSpPr>
          <p:cNvPr id="11" name="Text 9"/>
          <p:cNvSpPr/>
          <p:nvPr/>
        </p:nvSpPr>
        <p:spPr>
          <a:xfrm>
            <a:off x="3246120" y="2084832"/>
            <a:ext cx="960120" cy="54864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2880360" y="2670048"/>
            <a:ext cx="1810512" cy="457200"/>
          </a:xfrm>
          <a:prstGeom prst="rect">
            <a:avLst/>
          </a:prstGeom>
          <a:noFill/>
          <a:ln/>
        </p:spPr>
        <p:txBody>
          <a:bodyPr wrap="square" lIns="0" tIns="0" rIns="0" bIns="0" rtlCol="0" anchor="ctr"/>
          <a:lstStyle/>
          <a:p>
            <a:pPr indent="0" marL="0">
              <a:lnSpc>
                <a:spcPct val="110000"/>
              </a:lnSpc>
              <a:buNone/>
            </a:pPr>
            <a:r>
              <a:rPr lang="en-US" sz="1300" b="1" dirty="0">
                <a:solidFill>
                  <a:srgbClr val="7C3AED"/>
                </a:solidFill>
                <a:latin typeface="Calibri" pitchFamily="34" charset="0"/>
                <a:ea typeface="Calibri" pitchFamily="34" charset="-122"/>
                <a:cs typeface="Calibri" pitchFamily="34" charset="-120"/>
              </a:rPr>
              <a:t>Mel spectrogram</a:t>
            </a:r>
            <a:endParaRPr lang="en-US" sz="1300" dirty="0"/>
          </a:p>
        </p:txBody>
      </p:sp>
      <p:sp>
        <p:nvSpPr>
          <p:cNvPr id="13" name="Shape 11"/>
          <p:cNvSpPr/>
          <p:nvPr/>
        </p:nvSpPr>
        <p:spPr>
          <a:xfrm>
            <a:off x="2926080" y="3182112"/>
            <a:ext cx="1719072" cy="0"/>
          </a:xfrm>
          <a:prstGeom prst="line">
            <a:avLst/>
          </a:prstGeom>
          <a:noFill/>
          <a:ln w="9525">
            <a:solidFill>
              <a:srgbClr val="7C3AED">
                <a:alpha val="45000"/>
              </a:srgbClr>
            </a:solidFill>
            <a:prstDash val="solid"/>
          </a:ln>
        </p:spPr>
      </p:sp>
      <p:sp>
        <p:nvSpPr>
          <p:cNvPr id="14" name="Text 12"/>
          <p:cNvSpPr/>
          <p:nvPr/>
        </p:nvSpPr>
        <p:spPr>
          <a:xfrm>
            <a:off x="2880360" y="3273552"/>
            <a:ext cx="1810512" cy="1188720"/>
          </a:xfrm>
          <a:prstGeom prst="rect">
            <a:avLst/>
          </a:prstGeom>
          <a:noFill/>
          <a:ln/>
        </p:spPr>
        <p:txBody>
          <a:bodyPr wrap="square" lIns="0" tIns="0" rIns="0" bIns="0" rtlCol="0" anchor="ctr"/>
          <a:lstStyle/>
          <a:p>
            <a:pPr indent="0" marL="0">
              <a:lnSpc>
                <a:spcPct val="128000"/>
              </a:lnSpc>
              <a:buNone/>
            </a:pPr>
            <a:r>
              <a:rPr lang="en-US" sz="1100" dirty="0">
                <a:solidFill>
                  <a:srgbClr val="475569"/>
                </a:solidFill>
                <a:latin typeface="Calibri" pitchFamily="34" charset="0"/>
                <a:ea typeface="Calibri" pitchFamily="34" charset="-122"/>
                <a:cs typeface="Calibri" pitchFamily="34" charset="-120"/>
              </a:rPr>
              <a:t>Audio converted to a visual frequency map. Time on x-axis, frequency on y-axis.</a:t>
            </a:r>
            <a:endParaRPr lang="en-US" sz="1100" dirty="0"/>
          </a:p>
        </p:txBody>
      </p:sp>
      <p:sp>
        <p:nvSpPr>
          <p:cNvPr id="15" name="Shape 13"/>
          <p:cNvSpPr/>
          <p:nvPr/>
        </p:nvSpPr>
        <p:spPr>
          <a:xfrm>
            <a:off x="4828032" y="3273552"/>
            <a:ext cx="137160" cy="0"/>
          </a:xfrm>
          <a:prstGeom prst="line">
            <a:avLst/>
          </a:prstGeom>
          <a:noFill/>
          <a:ln w="25400">
            <a:solidFill>
              <a:srgbClr val="7C3AED"/>
            </a:solidFill>
            <a:prstDash val="solid"/>
            <a:tailEnd type="triangle"/>
          </a:ln>
        </p:spPr>
      </p:sp>
      <p:sp>
        <p:nvSpPr>
          <p:cNvPr id="16" name="Shape 14"/>
          <p:cNvSpPr/>
          <p:nvPr/>
        </p:nvSpPr>
        <p:spPr>
          <a:xfrm>
            <a:off x="4983480" y="1993392"/>
            <a:ext cx="2057400" cy="2578608"/>
          </a:xfrm>
          <a:prstGeom prst="roundRect">
            <a:avLst>
              <a:gd name="adj" fmla="val 4000"/>
            </a:avLst>
          </a:prstGeom>
          <a:solidFill>
            <a:srgbClr val="F8FAFC"/>
          </a:solidFill>
          <a:ln w="19050">
            <a:solidFill>
              <a:srgbClr val="16A34A">
                <a:alpha val="60000"/>
              </a:srgbClr>
            </a:solidFill>
            <a:prstDash val="solid"/>
          </a:ln>
          <a:effectLst>
            <a:outerShdw sx="100000" sy="100000" kx="0" ky="0" algn="bl" rotWithShape="0" blurRad="101600" dist="38100" dir="5400000">
              <a:srgbClr val="000000">
                <a:alpha val="13000"/>
              </a:srgbClr>
            </a:outerShdw>
          </a:effectLst>
        </p:spPr>
      </p:sp>
      <p:sp>
        <p:nvSpPr>
          <p:cNvPr id="17" name="Text 15"/>
          <p:cNvSpPr/>
          <p:nvPr/>
        </p:nvSpPr>
        <p:spPr>
          <a:xfrm>
            <a:off x="5486400" y="2084832"/>
            <a:ext cx="960120" cy="54864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8" name="Text 16"/>
          <p:cNvSpPr/>
          <p:nvPr/>
        </p:nvSpPr>
        <p:spPr>
          <a:xfrm>
            <a:off x="5120640" y="2670048"/>
            <a:ext cx="1810512" cy="457200"/>
          </a:xfrm>
          <a:prstGeom prst="rect">
            <a:avLst/>
          </a:prstGeom>
          <a:noFill/>
          <a:ln/>
        </p:spPr>
        <p:txBody>
          <a:bodyPr wrap="square" lIns="0" tIns="0" rIns="0" bIns="0" rtlCol="0" anchor="ctr"/>
          <a:lstStyle/>
          <a:p>
            <a:pPr indent="0" marL="0">
              <a:lnSpc>
                <a:spcPct val="110000"/>
              </a:lnSpc>
              <a:buNone/>
            </a:pPr>
            <a:r>
              <a:rPr lang="en-US" sz="1300" b="1" dirty="0">
                <a:solidFill>
                  <a:srgbClr val="16A34A"/>
                </a:solidFill>
                <a:latin typeface="Calibri" pitchFamily="34" charset="0"/>
                <a:ea typeface="Calibri" pitchFamily="34" charset="-122"/>
                <a:cs typeface="Calibri" pitchFamily="34" charset="-120"/>
              </a:rPr>
              <a:t>Audio encoder</a:t>
            </a:r>
            <a:endParaRPr lang="en-US" sz="1300" dirty="0"/>
          </a:p>
        </p:txBody>
      </p:sp>
      <p:sp>
        <p:nvSpPr>
          <p:cNvPr id="19" name="Shape 17"/>
          <p:cNvSpPr/>
          <p:nvPr/>
        </p:nvSpPr>
        <p:spPr>
          <a:xfrm>
            <a:off x="5166360" y="3182112"/>
            <a:ext cx="1719072" cy="0"/>
          </a:xfrm>
          <a:prstGeom prst="line">
            <a:avLst/>
          </a:prstGeom>
          <a:noFill/>
          <a:ln w="9525">
            <a:solidFill>
              <a:srgbClr val="16A34A">
                <a:alpha val="45000"/>
              </a:srgbClr>
            </a:solidFill>
            <a:prstDash val="solid"/>
          </a:ln>
        </p:spPr>
      </p:sp>
      <p:sp>
        <p:nvSpPr>
          <p:cNvPr id="20" name="Text 18"/>
          <p:cNvSpPr/>
          <p:nvPr/>
        </p:nvSpPr>
        <p:spPr>
          <a:xfrm>
            <a:off x="5120640" y="3273552"/>
            <a:ext cx="1810512" cy="1188720"/>
          </a:xfrm>
          <a:prstGeom prst="rect">
            <a:avLst/>
          </a:prstGeom>
          <a:noFill/>
          <a:ln/>
        </p:spPr>
        <p:txBody>
          <a:bodyPr wrap="square" lIns="0" tIns="0" rIns="0" bIns="0" rtlCol="0" anchor="ctr"/>
          <a:lstStyle/>
          <a:p>
            <a:pPr indent="0" marL="0">
              <a:lnSpc>
                <a:spcPct val="128000"/>
              </a:lnSpc>
              <a:buNone/>
            </a:pPr>
            <a:r>
              <a:rPr lang="en-US" sz="1100" dirty="0">
                <a:solidFill>
                  <a:srgbClr val="475569"/>
                </a:solidFill>
                <a:latin typeface="Calibri" pitchFamily="34" charset="0"/>
                <a:ea typeface="Calibri" pitchFamily="34" charset="-122"/>
                <a:cs typeface="Calibri" pitchFamily="34" charset="-120"/>
              </a:rPr>
              <a:t>Transformer processes spectrogram into rich audio embeddings (acoustic features).</a:t>
            </a:r>
            <a:endParaRPr lang="en-US" sz="1100" dirty="0"/>
          </a:p>
        </p:txBody>
      </p:sp>
      <p:sp>
        <p:nvSpPr>
          <p:cNvPr id="21" name="Shape 19"/>
          <p:cNvSpPr/>
          <p:nvPr/>
        </p:nvSpPr>
        <p:spPr>
          <a:xfrm>
            <a:off x="7068312" y="3273552"/>
            <a:ext cx="137160" cy="0"/>
          </a:xfrm>
          <a:prstGeom prst="line">
            <a:avLst/>
          </a:prstGeom>
          <a:noFill/>
          <a:ln w="25400">
            <a:solidFill>
              <a:srgbClr val="16A34A"/>
            </a:solidFill>
            <a:prstDash val="solid"/>
            <a:tailEnd type="triangle"/>
          </a:ln>
        </p:spPr>
      </p:sp>
      <p:sp>
        <p:nvSpPr>
          <p:cNvPr id="22" name="Shape 20"/>
          <p:cNvSpPr/>
          <p:nvPr/>
        </p:nvSpPr>
        <p:spPr>
          <a:xfrm>
            <a:off x="7223760" y="1993392"/>
            <a:ext cx="2057400" cy="2578608"/>
          </a:xfrm>
          <a:prstGeom prst="roundRect">
            <a:avLst>
              <a:gd name="adj" fmla="val 4000"/>
            </a:avLst>
          </a:prstGeom>
          <a:solidFill>
            <a:srgbClr val="F8FAFC"/>
          </a:solidFill>
          <a:ln w="19050">
            <a:solidFill>
              <a:srgbClr val="D97706">
                <a:alpha val="60000"/>
              </a:srgbClr>
            </a:solidFill>
            <a:prstDash val="solid"/>
          </a:ln>
          <a:effectLst>
            <a:outerShdw sx="100000" sy="100000" kx="0" ky="0" algn="bl" rotWithShape="0" blurRad="101600" dist="38100" dir="5400000">
              <a:srgbClr val="000000">
                <a:alpha val="13000"/>
              </a:srgbClr>
            </a:outerShdw>
          </a:effectLst>
        </p:spPr>
      </p:sp>
      <p:sp>
        <p:nvSpPr>
          <p:cNvPr id="23" name="Text 21"/>
          <p:cNvSpPr/>
          <p:nvPr/>
        </p:nvSpPr>
        <p:spPr>
          <a:xfrm>
            <a:off x="7726680" y="2084832"/>
            <a:ext cx="960120" cy="54864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4" name="Text 22"/>
          <p:cNvSpPr/>
          <p:nvPr/>
        </p:nvSpPr>
        <p:spPr>
          <a:xfrm>
            <a:off x="7360920" y="2670048"/>
            <a:ext cx="1810512" cy="457200"/>
          </a:xfrm>
          <a:prstGeom prst="rect">
            <a:avLst/>
          </a:prstGeom>
          <a:noFill/>
          <a:ln/>
        </p:spPr>
        <p:txBody>
          <a:bodyPr wrap="square" lIns="0" tIns="0" rIns="0" bIns="0" rtlCol="0" anchor="ctr"/>
          <a:lstStyle/>
          <a:p>
            <a:pPr indent="0" marL="0">
              <a:lnSpc>
                <a:spcPct val="110000"/>
              </a:lnSpc>
              <a:buNone/>
            </a:pPr>
            <a:r>
              <a:rPr lang="en-US" sz="1300" b="1" dirty="0">
                <a:solidFill>
                  <a:srgbClr val="D97706"/>
                </a:solidFill>
                <a:latin typeface="Calibri" pitchFamily="34" charset="0"/>
                <a:ea typeface="Calibri" pitchFamily="34" charset="-122"/>
                <a:cs typeface="Calibri" pitchFamily="34" charset="-120"/>
              </a:rPr>
              <a:t>Text decoder</a:t>
            </a:r>
            <a:endParaRPr lang="en-US" sz="1300" dirty="0"/>
          </a:p>
        </p:txBody>
      </p:sp>
      <p:sp>
        <p:nvSpPr>
          <p:cNvPr id="25" name="Shape 23"/>
          <p:cNvSpPr/>
          <p:nvPr/>
        </p:nvSpPr>
        <p:spPr>
          <a:xfrm>
            <a:off x="7406640" y="3182112"/>
            <a:ext cx="1719072" cy="0"/>
          </a:xfrm>
          <a:prstGeom prst="line">
            <a:avLst/>
          </a:prstGeom>
          <a:noFill/>
          <a:ln w="9525">
            <a:solidFill>
              <a:srgbClr val="D97706">
                <a:alpha val="45000"/>
              </a:srgbClr>
            </a:solidFill>
            <a:prstDash val="solid"/>
          </a:ln>
        </p:spPr>
      </p:sp>
      <p:sp>
        <p:nvSpPr>
          <p:cNvPr id="26" name="Text 24"/>
          <p:cNvSpPr/>
          <p:nvPr/>
        </p:nvSpPr>
        <p:spPr>
          <a:xfrm>
            <a:off x="7360920" y="3273552"/>
            <a:ext cx="1810512" cy="1188720"/>
          </a:xfrm>
          <a:prstGeom prst="rect">
            <a:avLst/>
          </a:prstGeom>
          <a:noFill/>
          <a:ln/>
        </p:spPr>
        <p:txBody>
          <a:bodyPr wrap="square" lIns="0" tIns="0" rIns="0" bIns="0" rtlCol="0" anchor="ctr"/>
          <a:lstStyle/>
          <a:p>
            <a:pPr indent="0" marL="0">
              <a:lnSpc>
                <a:spcPct val="128000"/>
              </a:lnSpc>
              <a:buNone/>
            </a:pPr>
            <a:r>
              <a:rPr lang="en-US" sz="1100" dirty="0">
                <a:solidFill>
                  <a:srgbClr val="475569"/>
                </a:solidFill>
                <a:latin typeface="Calibri" pitchFamily="34" charset="0"/>
                <a:ea typeface="Calibri" pitchFamily="34" charset="-122"/>
                <a:cs typeface="Calibri" pitchFamily="34" charset="-120"/>
              </a:rPr>
              <a:t>Transformer generates text tokens one by one, attending to audio embeddings.</a:t>
            </a:r>
            <a:endParaRPr lang="en-US" sz="1100" dirty="0"/>
          </a:p>
        </p:txBody>
      </p:sp>
      <p:sp>
        <p:nvSpPr>
          <p:cNvPr id="27" name="Shape 25"/>
          <p:cNvSpPr/>
          <p:nvPr/>
        </p:nvSpPr>
        <p:spPr>
          <a:xfrm>
            <a:off x="9308592" y="3273552"/>
            <a:ext cx="137160" cy="0"/>
          </a:xfrm>
          <a:prstGeom prst="line">
            <a:avLst/>
          </a:prstGeom>
          <a:noFill/>
          <a:ln w="25400">
            <a:solidFill>
              <a:srgbClr val="D97706"/>
            </a:solidFill>
            <a:prstDash val="solid"/>
            <a:tailEnd type="triangle"/>
          </a:ln>
        </p:spPr>
      </p:sp>
      <p:sp>
        <p:nvSpPr>
          <p:cNvPr id="28" name="Shape 26"/>
          <p:cNvSpPr/>
          <p:nvPr/>
        </p:nvSpPr>
        <p:spPr>
          <a:xfrm>
            <a:off x="9464040" y="1993392"/>
            <a:ext cx="2057400" cy="2578608"/>
          </a:xfrm>
          <a:prstGeom prst="roundRect">
            <a:avLst>
              <a:gd name="adj" fmla="val 4000"/>
            </a:avLst>
          </a:prstGeom>
          <a:solidFill>
            <a:srgbClr val="F8FAFC"/>
          </a:solidFill>
          <a:ln w="19050">
            <a:solidFill>
              <a:srgbClr val="E11D48">
                <a:alpha val="60000"/>
              </a:srgbClr>
            </a:solidFill>
            <a:prstDash val="solid"/>
          </a:ln>
          <a:effectLst>
            <a:outerShdw sx="100000" sy="100000" kx="0" ky="0" algn="bl" rotWithShape="0" blurRad="101600" dist="38100" dir="5400000">
              <a:srgbClr val="000000">
                <a:alpha val="13000"/>
              </a:srgbClr>
            </a:outerShdw>
          </a:effectLst>
        </p:spPr>
      </p:sp>
      <p:sp>
        <p:nvSpPr>
          <p:cNvPr id="29" name="Text 27"/>
          <p:cNvSpPr/>
          <p:nvPr/>
        </p:nvSpPr>
        <p:spPr>
          <a:xfrm>
            <a:off x="9966960" y="2084832"/>
            <a:ext cx="960120" cy="54864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30" name="Text 28"/>
          <p:cNvSpPr/>
          <p:nvPr/>
        </p:nvSpPr>
        <p:spPr>
          <a:xfrm>
            <a:off x="9601200" y="2670048"/>
            <a:ext cx="1810512" cy="457200"/>
          </a:xfrm>
          <a:prstGeom prst="rect">
            <a:avLst/>
          </a:prstGeom>
          <a:noFill/>
          <a:ln/>
        </p:spPr>
        <p:txBody>
          <a:bodyPr wrap="square" lIns="0" tIns="0" rIns="0" bIns="0" rtlCol="0" anchor="ctr"/>
          <a:lstStyle/>
          <a:p>
            <a:pPr indent="0" marL="0">
              <a:lnSpc>
                <a:spcPct val="110000"/>
              </a:lnSpc>
              <a:buNone/>
            </a:pPr>
            <a:r>
              <a:rPr lang="en-US" sz="1300" b="1" dirty="0">
                <a:solidFill>
                  <a:srgbClr val="E11D48"/>
                </a:solidFill>
                <a:latin typeface="Calibri" pitchFamily="34" charset="0"/>
                <a:ea typeface="Calibri" pitchFamily="34" charset="-122"/>
                <a:cs typeface="Calibri" pitchFamily="34" charset="-120"/>
              </a:rPr>
              <a:t>Transcript</a:t>
            </a:r>
            <a:endParaRPr lang="en-US" sz="1300" dirty="0"/>
          </a:p>
        </p:txBody>
      </p:sp>
      <p:sp>
        <p:nvSpPr>
          <p:cNvPr id="31" name="Shape 29"/>
          <p:cNvSpPr/>
          <p:nvPr/>
        </p:nvSpPr>
        <p:spPr>
          <a:xfrm>
            <a:off x="9646920" y="3182112"/>
            <a:ext cx="1719072" cy="0"/>
          </a:xfrm>
          <a:prstGeom prst="line">
            <a:avLst/>
          </a:prstGeom>
          <a:noFill/>
          <a:ln w="9525">
            <a:solidFill>
              <a:srgbClr val="E11D48">
                <a:alpha val="45000"/>
              </a:srgbClr>
            </a:solidFill>
            <a:prstDash val="solid"/>
          </a:ln>
        </p:spPr>
      </p:sp>
      <p:sp>
        <p:nvSpPr>
          <p:cNvPr id="32" name="Text 30"/>
          <p:cNvSpPr/>
          <p:nvPr/>
        </p:nvSpPr>
        <p:spPr>
          <a:xfrm>
            <a:off x="9601200" y="3273552"/>
            <a:ext cx="1810512" cy="1188720"/>
          </a:xfrm>
          <a:prstGeom prst="rect">
            <a:avLst/>
          </a:prstGeom>
          <a:noFill/>
          <a:ln/>
        </p:spPr>
        <p:txBody>
          <a:bodyPr wrap="square" lIns="0" tIns="0" rIns="0" bIns="0" rtlCol="0" anchor="ctr"/>
          <a:lstStyle/>
          <a:p>
            <a:pPr indent="0" marL="0">
              <a:lnSpc>
                <a:spcPct val="128000"/>
              </a:lnSpc>
              <a:buNone/>
            </a:pPr>
            <a:r>
              <a:rPr lang="en-US" sz="1100" dirty="0">
                <a:solidFill>
                  <a:srgbClr val="475569"/>
                </a:solidFill>
                <a:latin typeface="Calibri" pitchFamily="34" charset="0"/>
                <a:ea typeface="Calibri" pitchFamily="34" charset="-122"/>
                <a:cs typeface="Calibri" pitchFamily="34" charset="-120"/>
              </a:rPr>
              <a:t>Clean text. Optional word-level timestamps. Language auto-detected.</a:t>
            </a:r>
            <a:endParaRPr lang="en-US" sz="1100" dirty="0"/>
          </a:p>
        </p:txBody>
      </p:sp>
      <p:sp>
        <p:nvSpPr>
          <p:cNvPr id="33" name="Shape 31"/>
          <p:cNvSpPr/>
          <p:nvPr/>
        </p:nvSpPr>
        <p:spPr>
          <a:xfrm>
            <a:off x="502920" y="4800600"/>
            <a:ext cx="2743200" cy="1417320"/>
          </a:xfrm>
          <a:prstGeom prst="roundRect">
            <a:avLst>
              <a:gd name="adj" fmla="val 5806"/>
            </a:avLst>
          </a:prstGeom>
          <a:solidFill>
            <a:srgbClr val="F8FAFC"/>
          </a:solidFill>
          <a:ln w="12700">
            <a:solidFill>
              <a:srgbClr val="0891B2">
                <a:alpha val="45000"/>
              </a:srgbClr>
            </a:solidFill>
            <a:prstDash val="solid"/>
          </a:ln>
        </p:spPr>
      </p:sp>
      <p:sp>
        <p:nvSpPr>
          <p:cNvPr id="34" name="Text 32"/>
          <p:cNvSpPr/>
          <p:nvPr/>
        </p:nvSpPr>
        <p:spPr>
          <a:xfrm>
            <a:off x="667512" y="4919472"/>
            <a:ext cx="2423160" cy="384048"/>
          </a:xfrm>
          <a:prstGeom prst="rect">
            <a:avLst/>
          </a:prstGeom>
          <a:noFill/>
          <a:ln/>
        </p:spPr>
        <p:txBody>
          <a:bodyPr wrap="square" lIns="0" tIns="0" rIns="0" bIns="0" rtlCol="0" anchor="ctr"/>
          <a:lstStyle/>
          <a:p>
            <a:pPr indent="0" marL="0">
              <a:buNone/>
            </a:pPr>
            <a:r>
              <a:rPr lang="en-US" sz="1500" b="1" dirty="0">
                <a:solidFill>
                  <a:srgbClr val="0891B2"/>
                </a:solidFill>
                <a:latin typeface="Calibri" pitchFamily="34" charset="0"/>
                <a:ea typeface="Calibri" pitchFamily="34" charset="-122"/>
                <a:cs typeface="Calibri" pitchFamily="34" charset="-120"/>
              </a:rPr>
              <a:t>99 languages</a:t>
            </a:r>
            <a:endParaRPr lang="en-US" sz="1500" dirty="0"/>
          </a:p>
        </p:txBody>
      </p:sp>
      <p:sp>
        <p:nvSpPr>
          <p:cNvPr id="35" name="Text 33"/>
          <p:cNvSpPr/>
          <p:nvPr/>
        </p:nvSpPr>
        <p:spPr>
          <a:xfrm>
            <a:off x="667512" y="5321808"/>
            <a:ext cx="2423160" cy="777240"/>
          </a:xfrm>
          <a:prstGeom prst="rect">
            <a:avLst/>
          </a:prstGeom>
          <a:noFill/>
          <a:ln/>
        </p:spPr>
        <p:txBody>
          <a:bodyPr wrap="square" lIns="0" tIns="0" rIns="0" bIns="0" rtlCol="0" anchor="ctr"/>
          <a:lstStyle/>
          <a:p>
            <a:pPr indent="0" marL="0">
              <a:lnSpc>
                <a:spcPct val="128000"/>
              </a:lnSpc>
              <a:buNone/>
            </a:pPr>
            <a:r>
              <a:rPr lang="en-US" sz="1200" dirty="0">
                <a:solidFill>
                  <a:srgbClr val="475569"/>
                </a:solidFill>
                <a:latin typeface="Calibri" pitchFamily="34" charset="0"/>
                <a:ea typeface="Calibri" pitchFamily="34" charset="-122"/>
                <a:cs typeface="Calibri" pitchFamily="34" charset="-120"/>
              </a:rPr>
              <a:t>Auto-detects language from audio. Specify it explicitly for faster, more accurate results.</a:t>
            </a:r>
            <a:endParaRPr lang="en-US" sz="1200" dirty="0"/>
          </a:p>
        </p:txBody>
      </p:sp>
      <p:sp>
        <p:nvSpPr>
          <p:cNvPr id="36" name="Shape 34"/>
          <p:cNvSpPr/>
          <p:nvPr/>
        </p:nvSpPr>
        <p:spPr>
          <a:xfrm>
            <a:off x="3410712" y="4800600"/>
            <a:ext cx="2743200" cy="1417320"/>
          </a:xfrm>
          <a:prstGeom prst="roundRect">
            <a:avLst>
              <a:gd name="adj" fmla="val 5806"/>
            </a:avLst>
          </a:prstGeom>
          <a:solidFill>
            <a:srgbClr val="F8FAFC"/>
          </a:solidFill>
          <a:ln w="12700">
            <a:solidFill>
              <a:srgbClr val="7C3AED">
                <a:alpha val="45000"/>
              </a:srgbClr>
            </a:solidFill>
            <a:prstDash val="solid"/>
          </a:ln>
        </p:spPr>
      </p:sp>
      <p:sp>
        <p:nvSpPr>
          <p:cNvPr id="37" name="Text 35"/>
          <p:cNvSpPr/>
          <p:nvPr/>
        </p:nvSpPr>
        <p:spPr>
          <a:xfrm>
            <a:off x="3575304" y="4919472"/>
            <a:ext cx="2423160" cy="384048"/>
          </a:xfrm>
          <a:prstGeom prst="rect">
            <a:avLst/>
          </a:prstGeom>
          <a:noFill/>
          <a:ln/>
        </p:spPr>
        <p:txBody>
          <a:bodyPr wrap="square" lIns="0" tIns="0" rIns="0" bIns="0" rtlCol="0" anchor="ctr"/>
          <a:lstStyle/>
          <a:p>
            <a:pPr indent="0" marL="0">
              <a:buNone/>
            </a:pPr>
            <a:r>
              <a:rPr lang="en-US" sz="1500" b="1" dirty="0">
                <a:solidFill>
                  <a:srgbClr val="7C3AED"/>
                </a:solidFill>
                <a:latin typeface="Calibri" pitchFamily="34" charset="0"/>
                <a:ea typeface="Calibri" pitchFamily="34" charset="-122"/>
                <a:cs typeface="Calibri" pitchFamily="34" charset="-120"/>
              </a:rPr>
              <a:t>Noise robust</a:t>
            </a:r>
            <a:endParaRPr lang="en-US" sz="1500" dirty="0"/>
          </a:p>
        </p:txBody>
      </p:sp>
      <p:sp>
        <p:nvSpPr>
          <p:cNvPr id="38" name="Text 36"/>
          <p:cNvSpPr/>
          <p:nvPr/>
        </p:nvSpPr>
        <p:spPr>
          <a:xfrm>
            <a:off x="3575304" y="5321808"/>
            <a:ext cx="2423160" cy="777240"/>
          </a:xfrm>
          <a:prstGeom prst="rect">
            <a:avLst/>
          </a:prstGeom>
          <a:noFill/>
          <a:ln/>
        </p:spPr>
        <p:txBody>
          <a:bodyPr wrap="square" lIns="0" tIns="0" rIns="0" bIns="0" rtlCol="0" anchor="ctr"/>
          <a:lstStyle/>
          <a:p>
            <a:pPr indent="0" marL="0">
              <a:lnSpc>
                <a:spcPct val="128000"/>
              </a:lnSpc>
              <a:buNone/>
            </a:pPr>
            <a:r>
              <a:rPr lang="en-US" sz="1200" dirty="0">
                <a:solidFill>
                  <a:srgbClr val="475569"/>
                </a:solidFill>
                <a:latin typeface="Calibri" pitchFamily="34" charset="0"/>
                <a:ea typeface="Calibri" pitchFamily="34" charset="-122"/>
                <a:cs typeface="Calibri" pitchFamily="34" charset="-120"/>
              </a:rPr>
              <a:t>Trained on real-world audio with background noise, accents, and imperfect recording quality.</a:t>
            </a:r>
            <a:endParaRPr lang="en-US" sz="1200" dirty="0"/>
          </a:p>
        </p:txBody>
      </p:sp>
      <p:sp>
        <p:nvSpPr>
          <p:cNvPr id="39" name="Shape 37"/>
          <p:cNvSpPr/>
          <p:nvPr/>
        </p:nvSpPr>
        <p:spPr>
          <a:xfrm>
            <a:off x="6318504" y="4800600"/>
            <a:ext cx="2743200" cy="1417320"/>
          </a:xfrm>
          <a:prstGeom prst="roundRect">
            <a:avLst>
              <a:gd name="adj" fmla="val 5806"/>
            </a:avLst>
          </a:prstGeom>
          <a:solidFill>
            <a:srgbClr val="F8FAFC"/>
          </a:solidFill>
          <a:ln w="12700">
            <a:solidFill>
              <a:srgbClr val="16A34A">
                <a:alpha val="45000"/>
              </a:srgbClr>
            </a:solidFill>
            <a:prstDash val="solid"/>
          </a:ln>
        </p:spPr>
      </p:sp>
      <p:sp>
        <p:nvSpPr>
          <p:cNvPr id="40" name="Text 38"/>
          <p:cNvSpPr/>
          <p:nvPr/>
        </p:nvSpPr>
        <p:spPr>
          <a:xfrm>
            <a:off x="6483096" y="4919472"/>
            <a:ext cx="2423160" cy="384048"/>
          </a:xfrm>
          <a:prstGeom prst="rect">
            <a:avLst/>
          </a:prstGeom>
          <a:noFill/>
          <a:ln/>
        </p:spPr>
        <p:txBody>
          <a:bodyPr wrap="square" lIns="0" tIns="0" rIns="0" bIns="0" rtlCol="0" anchor="ctr"/>
          <a:lstStyle/>
          <a:p>
            <a:pPr indent="0" marL="0">
              <a:buNone/>
            </a:pPr>
            <a:r>
              <a:rPr lang="en-US" sz="1500" b="1" dirty="0">
                <a:solidFill>
                  <a:srgbClr val="16A34A"/>
                </a:solidFill>
                <a:latin typeface="Calibri" pitchFamily="34" charset="0"/>
                <a:ea typeface="Calibri" pitchFamily="34" charset="-122"/>
                <a:cs typeface="Calibri" pitchFamily="34" charset="-120"/>
              </a:rPr>
              <a:t>Punctuation included</a:t>
            </a:r>
            <a:endParaRPr lang="en-US" sz="1500" dirty="0"/>
          </a:p>
        </p:txBody>
      </p:sp>
      <p:sp>
        <p:nvSpPr>
          <p:cNvPr id="41" name="Text 39"/>
          <p:cNvSpPr/>
          <p:nvPr/>
        </p:nvSpPr>
        <p:spPr>
          <a:xfrm>
            <a:off x="6483096" y="5321808"/>
            <a:ext cx="2423160" cy="777240"/>
          </a:xfrm>
          <a:prstGeom prst="rect">
            <a:avLst/>
          </a:prstGeom>
          <a:noFill/>
          <a:ln/>
        </p:spPr>
        <p:txBody>
          <a:bodyPr wrap="square" lIns="0" tIns="0" rIns="0" bIns="0" rtlCol="0" anchor="ctr"/>
          <a:lstStyle/>
          <a:p>
            <a:pPr indent="0" marL="0">
              <a:lnSpc>
                <a:spcPct val="128000"/>
              </a:lnSpc>
              <a:buNone/>
            </a:pPr>
            <a:r>
              <a:rPr lang="en-US" sz="1200" dirty="0">
                <a:solidFill>
                  <a:srgbClr val="475569"/>
                </a:solidFill>
                <a:latin typeface="Calibri" pitchFamily="34" charset="0"/>
                <a:ea typeface="Calibri" pitchFamily="34" charset="-122"/>
                <a:cs typeface="Calibri" pitchFamily="34" charset="-120"/>
              </a:rPr>
              <a:t>Returns properly punctuated, capitalised text. No post-processing needed.</a:t>
            </a:r>
            <a:endParaRPr lang="en-US" sz="1200" dirty="0"/>
          </a:p>
        </p:txBody>
      </p:sp>
      <p:sp>
        <p:nvSpPr>
          <p:cNvPr id="42" name="Shape 40"/>
          <p:cNvSpPr/>
          <p:nvPr/>
        </p:nvSpPr>
        <p:spPr>
          <a:xfrm>
            <a:off x="9226296" y="4800600"/>
            <a:ext cx="2743200" cy="1417320"/>
          </a:xfrm>
          <a:prstGeom prst="roundRect">
            <a:avLst>
              <a:gd name="adj" fmla="val 5806"/>
            </a:avLst>
          </a:prstGeom>
          <a:solidFill>
            <a:srgbClr val="F8FAFC"/>
          </a:solidFill>
          <a:ln w="12700">
            <a:solidFill>
              <a:srgbClr val="D97706">
                <a:alpha val="45000"/>
              </a:srgbClr>
            </a:solidFill>
            <a:prstDash val="solid"/>
          </a:ln>
        </p:spPr>
      </p:sp>
      <p:sp>
        <p:nvSpPr>
          <p:cNvPr id="43" name="Text 41"/>
          <p:cNvSpPr/>
          <p:nvPr/>
        </p:nvSpPr>
        <p:spPr>
          <a:xfrm>
            <a:off x="9390888" y="4919472"/>
            <a:ext cx="2423160" cy="384048"/>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Word timestamps</a:t>
            </a:r>
            <a:endParaRPr lang="en-US" sz="1500" dirty="0"/>
          </a:p>
        </p:txBody>
      </p:sp>
      <p:sp>
        <p:nvSpPr>
          <p:cNvPr id="44" name="Text 42"/>
          <p:cNvSpPr/>
          <p:nvPr/>
        </p:nvSpPr>
        <p:spPr>
          <a:xfrm>
            <a:off x="9390888" y="5321808"/>
            <a:ext cx="2423160" cy="777240"/>
          </a:xfrm>
          <a:prstGeom prst="rect">
            <a:avLst/>
          </a:prstGeom>
          <a:noFill/>
          <a:ln/>
        </p:spPr>
        <p:txBody>
          <a:bodyPr wrap="square" lIns="0" tIns="0" rIns="0" bIns="0" rtlCol="0" anchor="ctr"/>
          <a:lstStyle/>
          <a:p>
            <a:pPr indent="0" marL="0">
              <a:lnSpc>
                <a:spcPct val="128000"/>
              </a:lnSpc>
              <a:buNone/>
            </a:pPr>
            <a:r>
              <a:rPr lang="en-US" sz="1200" dirty="0">
                <a:solidFill>
                  <a:srgbClr val="475569"/>
                </a:solidFill>
                <a:latin typeface="Calibri" pitchFamily="34" charset="0"/>
                <a:ea typeface="Calibri" pitchFamily="34" charset="-122"/>
                <a:cs typeface="Calibri" pitchFamily="34" charset="-120"/>
              </a:rPr>
              <a:t>Optional: get start/end time for each word. Useful for subtitles and search.</a:t>
            </a:r>
            <a:endParaRPr lang="en-US" sz="1200" dirty="0"/>
          </a:p>
        </p:txBody>
      </p:sp>
      <p:sp>
        <p:nvSpPr>
          <p:cNvPr id="46" name="Shape 43"/>
          <p:cNvSpPr/>
          <p:nvPr/>
        </p:nvSpPr>
        <p:spPr>
          <a:xfrm>
            <a:off x="0" y="6583680"/>
            <a:ext cx="12191695" cy="274320"/>
          </a:xfrm>
          <a:prstGeom prst="rect">
            <a:avLst/>
          </a:prstGeom>
          <a:solidFill>
            <a:srgbClr val="0891B2">
              <a:alpha val="12000"/>
            </a:srgbClr>
          </a:solidFill>
          <a:ln w="12700">
            <a:solidFill>
              <a:srgbClr val="0891B2">
                <a:alpha val="35000"/>
              </a:srgbClr>
            </a:solidFill>
            <a:prstDash val="solid"/>
          </a:ln>
        </p:spPr>
      </p:sp>
      <p:sp>
        <p:nvSpPr>
          <p:cNvPr id="47" name="Text 44"/>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48" name="Text 45"/>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8 / 31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WHISPER — JAVA IMPLEMENTATION</a:t>
            </a:r>
            <a:endParaRPr lang="en-US" sz="1200" dirty="0"/>
          </a:p>
        </p:txBody>
      </p:sp>
      <p:sp>
        <p:nvSpPr>
          <p:cNvPr id="3" name="Text 1"/>
          <p:cNvSpPr/>
          <p:nvPr/>
        </p:nvSpPr>
        <p:spPr>
          <a:xfrm>
            <a:off x="685800" y="749808"/>
            <a:ext cx="10789920" cy="822960"/>
          </a:xfrm>
          <a:prstGeom prst="rect">
            <a:avLst/>
          </a:prstGeom>
          <a:noFill/>
          <a:ln/>
        </p:spPr>
        <p:txBody>
          <a:bodyPr wrap="square" lIns="0" tIns="0" rIns="0" bIns="0" rtlCol="0" anchor="ctr"/>
          <a:lstStyle/>
          <a:p>
            <a:pPr indent="0" marL="0">
              <a:lnSpc>
                <a:spcPct val="105000"/>
              </a:lnSpc>
              <a:buNone/>
            </a:pPr>
            <a:r>
              <a:rPr lang="en-US" sz="3400" b="1" dirty="0">
                <a:solidFill>
                  <a:srgbClr val="475569"/>
                </a:solidFill>
                <a:latin typeface="Calibri" pitchFamily="34" charset="0"/>
                <a:ea typeface="Calibri" pitchFamily="34" charset="-122"/>
                <a:cs typeface="Calibri" pitchFamily="34" charset="-120"/>
              </a:rPr>
              <a:t>Audio file to text transcript in 5 lines.</a:t>
            </a:r>
            <a:endParaRPr lang="en-US" sz="3400" dirty="0"/>
          </a:p>
        </p:txBody>
      </p:sp>
      <p:sp>
        <p:nvSpPr>
          <p:cNvPr id="4" name="Shape 2"/>
          <p:cNvSpPr/>
          <p:nvPr/>
        </p:nvSpPr>
        <p:spPr>
          <a:xfrm>
            <a:off x="502920" y="1847088"/>
            <a:ext cx="6903720" cy="4114800"/>
          </a:xfrm>
          <a:prstGeom prst="roundRect">
            <a:avLst>
              <a:gd name="adj" fmla="val 2222"/>
            </a:avLst>
          </a:prstGeom>
          <a:solidFill>
            <a:srgbClr val="111827"/>
          </a:solidFill>
          <a:ln w="12700">
            <a:solidFill>
              <a:srgbClr val="374151"/>
            </a:solidFill>
            <a:prstDash val="solid"/>
          </a:ln>
          <a:effectLst>
            <a:outerShdw sx="100000" sy="100000" kx="0" ky="0" algn="bl" rotWithShape="0" blurRad="101600" dist="38100" dir="5400000">
              <a:srgbClr val="000000">
                <a:alpha val="13000"/>
              </a:srgbClr>
            </a:outerShdw>
          </a:effectLst>
        </p:spPr>
      </p:sp>
      <p:sp>
        <p:nvSpPr>
          <p:cNvPr id="5" name="Shape 3"/>
          <p:cNvSpPr/>
          <p:nvPr/>
        </p:nvSpPr>
        <p:spPr>
          <a:xfrm>
            <a:off x="502920" y="1847088"/>
            <a:ext cx="6903720" cy="365760"/>
          </a:xfrm>
          <a:prstGeom prst="roundRect">
            <a:avLst>
              <a:gd name="adj" fmla="val 25000"/>
            </a:avLst>
          </a:prstGeom>
          <a:solidFill>
            <a:srgbClr val="1F2937"/>
          </a:solidFill>
          <a:ln w="12700">
            <a:solidFill>
              <a:srgbClr val="374151"/>
            </a:solidFill>
            <a:prstDash val="solid"/>
          </a:ln>
        </p:spPr>
      </p:sp>
      <p:sp>
        <p:nvSpPr>
          <p:cNvPr id="6" name="Shape 4"/>
          <p:cNvSpPr/>
          <p:nvPr/>
        </p:nvSpPr>
        <p:spPr>
          <a:xfrm>
            <a:off x="667512" y="1947672"/>
            <a:ext cx="155448" cy="155448"/>
          </a:xfrm>
          <a:prstGeom prst="ellipse">
            <a:avLst/>
          </a:prstGeom>
          <a:solidFill>
            <a:srgbClr val="E11D48"/>
          </a:solidFill>
          <a:ln/>
        </p:spPr>
      </p:sp>
      <p:sp>
        <p:nvSpPr>
          <p:cNvPr id="7" name="Shape 5"/>
          <p:cNvSpPr/>
          <p:nvPr/>
        </p:nvSpPr>
        <p:spPr>
          <a:xfrm>
            <a:off x="905256" y="1947672"/>
            <a:ext cx="155448" cy="155448"/>
          </a:xfrm>
          <a:prstGeom prst="ellipse">
            <a:avLst/>
          </a:prstGeom>
          <a:solidFill>
            <a:srgbClr val="F59E0B"/>
          </a:solidFill>
          <a:ln/>
        </p:spPr>
      </p:sp>
      <p:sp>
        <p:nvSpPr>
          <p:cNvPr id="8" name="Shape 6"/>
          <p:cNvSpPr/>
          <p:nvPr/>
        </p:nvSpPr>
        <p:spPr>
          <a:xfrm>
            <a:off x="1143000" y="1947672"/>
            <a:ext cx="155448" cy="155448"/>
          </a:xfrm>
          <a:prstGeom prst="ellipse">
            <a:avLst/>
          </a:prstGeom>
          <a:solidFill>
            <a:srgbClr val="16A34A"/>
          </a:solidFill>
          <a:ln/>
        </p:spPr>
      </p:sp>
      <p:sp>
        <p:nvSpPr>
          <p:cNvPr id="9" name="Text 7"/>
          <p:cNvSpPr/>
          <p:nvPr/>
        </p:nvSpPr>
        <p:spPr>
          <a:xfrm>
            <a:off x="1417320" y="1911096"/>
            <a:ext cx="5852160" cy="237744"/>
          </a:xfrm>
          <a:prstGeom prst="rect">
            <a:avLst/>
          </a:prstGeom>
          <a:noFill/>
          <a:ln/>
        </p:spPr>
        <p:txBody>
          <a:bodyPr wrap="square" lIns="0" tIns="0" rIns="0" bIns="0" rtlCol="0" anchor="ctr"/>
          <a:lstStyle/>
          <a:p>
            <a:pPr indent="0" marL="0">
              <a:buNone/>
            </a:pPr>
            <a:r>
              <a:rPr lang="en-US" sz="1050" dirty="0">
                <a:solidFill>
                  <a:srgbClr val="9CA3AF"/>
                </a:solidFill>
                <a:latin typeface="Courier New" pitchFamily="34" charset="0"/>
                <a:ea typeface="Courier New" pitchFamily="34" charset="-122"/>
                <a:cs typeface="Courier New" pitchFamily="34" charset="-120"/>
              </a:rPr>
              <a:t>WhisperDemo.java</a:t>
            </a:r>
            <a:endParaRPr lang="en-US" sz="1050" dirty="0"/>
          </a:p>
        </p:txBody>
      </p:sp>
      <p:sp>
        <p:nvSpPr>
          <p:cNvPr id="10" name="Text 8"/>
          <p:cNvSpPr/>
          <p:nvPr/>
        </p:nvSpPr>
        <p:spPr>
          <a:xfrm>
            <a:off x="704088" y="2304288"/>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Basic transcription</a:t>
            </a:r>
            <a:endParaRPr lang="en-US" sz="1050" dirty="0"/>
          </a:p>
        </p:txBody>
      </p:sp>
      <p:sp>
        <p:nvSpPr>
          <p:cNvPr id="11" name="Text 9"/>
          <p:cNvSpPr/>
          <p:nvPr/>
        </p:nvSpPr>
        <p:spPr>
          <a:xfrm>
            <a:off x="704088" y="2495831"/>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var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transcription</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 client.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audio</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transcriptions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create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2" name="Text 10"/>
          <p:cNvSpPr/>
          <p:nvPr/>
        </p:nvSpPr>
        <p:spPr>
          <a:xfrm>
            <a:off x="704088" y="2687373"/>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AudioTranscriptionCreateParams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builder</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3" name="Text 11"/>
          <p:cNvSpPr/>
          <p:nvPr/>
        </p:nvSpPr>
        <p:spPr>
          <a:xfrm>
            <a:off x="704088" y="2878916"/>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model</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AudioModel</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WHISPER_1</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4" name="Text 12"/>
          <p:cNvSpPr/>
          <p:nvPr/>
        </p:nvSpPr>
        <p:spPr>
          <a:xfrm>
            <a:off x="704088" y="3070459"/>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file</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(Path.of(</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"task-voice.mp3"</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5" name="Text 13"/>
          <p:cNvSpPr/>
          <p:nvPr/>
        </p:nvSpPr>
        <p:spPr>
          <a:xfrm>
            <a:off x="704088" y="3262002"/>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responseFormat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AudioTranscriptionCreateParams</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.ResponseFormat.</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TEXT</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6" name="Text 14"/>
          <p:cNvSpPr/>
          <p:nvPr/>
        </p:nvSpPr>
        <p:spPr>
          <a:xfrm>
            <a:off x="704088" y="3453544"/>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language</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"en"</a:t>
            </a:r>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optional: auto-detects if omitted</a:t>
            </a:r>
            <a:endParaRPr lang="en-US" sz="1050" dirty="0"/>
          </a:p>
        </p:txBody>
      </p:sp>
      <p:sp>
        <p:nvSpPr>
          <p:cNvPr id="17" name="Text 15"/>
          <p:cNvSpPr/>
          <p:nvPr/>
        </p:nvSpPr>
        <p:spPr>
          <a:xfrm>
            <a:off x="704088" y="3645087"/>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8" name="Text 16"/>
          <p:cNvSpPr/>
          <p:nvPr/>
        </p:nvSpPr>
        <p:spPr>
          <a:xfrm>
            <a:off x="704088" y="3836630"/>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19" name="Text 17"/>
          <p:cNvSpPr/>
          <p:nvPr/>
        </p:nvSpPr>
        <p:spPr>
          <a:xfrm>
            <a:off x="704088" y="4028173"/>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String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text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 transcription.</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text</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0" name="Text 18"/>
          <p:cNvSpPr/>
          <p:nvPr/>
        </p:nvSpPr>
        <p:spPr>
          <a:xfrm>
            <a:off x="704088" y="4219715"/>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1" name="Text 19"/>
          <p:cNvSpPr/>
          <p:nvPr/>
        </p:nvSpPr>
        <p:spPr>
          <a:xfrm>
            <a:off x="704088" y="4411258"/>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Advanced: with word timestamps</a:t>
            </a:r>
            <a:endParaRPr lang="en-US" sz="1050" dirty="0"/>
          </a:p>
        </p:txBody>
      </p:sp>
      <p:sp>
        <p:nvSpPr>
          <p:cNvPr id="22" name="Text 20"/>
          <p:cNvSpPr/>
          <p:nvPr/>
        </p:nvSpPr>
        <p:spPr>
          <a:xfrm>
            <a:off x="704088" y="4602801"/>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var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detailed</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 client.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audio</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transcriptions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createVerbose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3" name="Text 21"/>
          <p:cNvSpPr/>
          <p:nvPr/>
        </p:nvSpPr>
        <p:spPr>
          <a:xfrm>
            <a:off x="704088" y="4794344"/>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params.toBuilder().</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responseFormat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AudioTranscriptionCreateParams</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.ResponseFormat.</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VERBOSE_JSON</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4" name="Text 22"/>
          <p:cNvSpPr/>
          <p:nvPr/>
        </p:nvSpPr>
        <p:spPr>
          <a:xfrm>
            <a:off x="704088" y="4985886"/>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5" name="Text 23"/>
          <p:cNvSpPr/>
          <p:nvPr/>
        </p:nvSpPr>
        <p:spPr>
          <a:xfrm>
            <a:off x="704088" y="5177429"/>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6" name="Text 24"/>
          <p:cNvSpPr/>
          <p:nvPr/>
        </p:nvSpPr>
        <p:spPr>
          <a:xfrm>
            <a:off x="704088" y="5368972"/>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Translate non-English audio to English</a:t>
            </a:r>
            <a:endParaRPr lang="en-US" sz="1050" dirty="0"/>
          </a:p>
        </p:txBody>
      </p:sp>
      <p:sp>
        <p:nvSpPr>
          <p:cNvPr id="27" name="Text 25"/>
          <p:cNvSpPr/>
          <p:nvPr/>
        </p:nvSpPr>
        <p:spPr>
          <a:xfrm>
            <a:off x="704088" y="5560515"/>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var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english</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 client.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audio</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translations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create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8" name="Text 26"/>
          <p:cNvSpPr/>
          <p:nvPr/>
        </p:nvSpPr>
        <p:spPr>
          <a:xfrm>
            <a:off x="704088" y="5752057"/>
            <a:ext cx="6583680" cy="191543"/>
          </a:xfrm>
          <a:prstGeom prst="rect">
            <a:avLst/>
          </a:prstGeom>
          <a:noFill/>
          <a:ln/>
        </p:spPr>
        <p:txBody>
          <a:bodyPr wrap="square" lIns="0" tIns="0" rIns="0" bIns="0" rtlCol="0" anchor="ctr"/>
          <a:lstStyle/>
          <a:p>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AudioTranslationCreateParams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builder</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model</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(WHISPER_1).</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file</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(path).</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9" name="Shape 27"/>
          <p:cNvSpPr/>
          <p:nvPr/>
        </p:nvSpPr>
        <p:spPr>
          <a:xfrm>
            <a:off x="7571232" y="2304288"/>
            <a:ext cx="4370832" cy="457200"/>
          </a:xfrm>
          <a:prstGeom prst="roundRect">
            <a:avLst>
              <a:gd name="adj" fmla="val 14000"/>
            </a:avLst>
          </a:prstGeom>
          <a:solidFill>
            <a:srgbClr val="F8FAFC"/>
          </a:solidFill>
          <a:ln w="12700">
            <a:solidFill>
              <a:srgbClr val="0891B2">
                <a:alpha val="45000"/>
              </a:srgbClr>
            </a:solidFill>
            <a:prstDash val="solid"/>
          </a:ln>
        </p:spPr>
      </p:sp>
      <p:sp>
        <p:nvSpPr>
          <p:cNvPr id="30" name="Text 28"/>
          <p:cNvSpPr/>
          <p:nvPr/>
        </p:nvSpPr>
        <p:spPr>
          <a:xfrm>
            <a:off x="7717536" y="2377440"/>
            <a:ext cx="4069080" cy="310896"/>
          </a:xfrm>
          <a:prstGeom prst="rect">
            <a:avLst/>
          </a:prstGeom>
          <a:noFill/>
          <a:ln/>
        </p:spPr>
        <p:txBody>
          <a:bodyPr wrap="square" lIns="0" tIns="0" rIns="0" bIns="0" rtlCol="0" anchor="ctr"/>
          <a:lstStyle/>
          <a:p>
            <a:pPr indent="0" marL="0">
              <a:lnSpc>
                <a:spcPct val="110000"/>
              </a:lnSpc>
              <a:buNone/>
            </a:pPr>
            <a:r>
              <a:rPr lang="en-US" sz="1100" b="1" dirty="0">
                <a:solidFill>
                  <a:srgbClr val="0891B2"/>
                </a:solidFill>
                <a:latin typeface="Calibri" pitchFamily="34" charset="0"/>
                <a:ea typeface="Calibri" pitchFamily="34" charset="-122"/>
                <a:cs typeface="Calibri" pitchFamily="34" charset="-120"/>
              </a:rPr>
              <a:t>◀  Specify language for 20% faster transcription and better accuracy</a:t>
            </a:r>
            <a:endParaRPr lang="en-US" sz="1100" dirty="0"/>
          </a:p>
        </p:txBody>
      </p:sp>
      <p:sp>
        <p:nvSpPr>
          <p:cNvPr id="31" name="Shape 29"/>
          <p:cNvSpPr/>
          <p:nvPr/>
        </p:nvSpPr>
        <p:spPr>
          <a:xfrm>
            <a:off x="7571232" y="3703320"/>
            <a:ext cx="4370832" cy="457200"/>
          </a:xfrm>
          <a:prstGeom prst="roundRect">
            <a:avLst>
              <a:gd name="adj" fmla="val 14000"/>
            </a:avLst>
          </a:prstGeom>
          <a:solidFill>
            <a:srgbClr val="F8FAFC"/>
          </a:solidFill>
          <a:ln w="12700">
            <a:solidFill>
              <a:srgbClr val="7C3AED">
                <a:alpha val="45000"/>
              </a:srgbClr>
            </a:solidFill>
            <a:prstDash val="solid"/>
          </a:ln>
        </p:spPr>
      </p:sp>
      <p:sp>
        <p:nvSpPr>
          <p:cNvPr id="32" name="Text 30"/>
          <p:cNvSpPr/>
          <p:nvPr/>
        </p:nvSpPr>
        <p:spPr>
          <a:xfrm>
            <a:off x="7717536" y="3776472"/>
            <a:ext cx="4069080" cy="310896"/>
          </a:xfrm>
          <a:prstGeom prst="rect">
            <a:avLst/>
          </a:prstGeom>
          <a:noFill/>
          <a:ln/>
        </p:spPr>
        <p:txBody>
          <a:bodyPr wrap="square" lIns="0" tIns="0" rIns="0" bIns="0" rtlCol="0" anchor="ctr"/>
          <a:lstStyle/>
          <a:p>
            <a:pPr indent="0" marL="0">
              <a:lnSpc>
                <a:spcPct val="110000"/>
              </a:lnSpc>
              <a:buNone/>
            </a:pPr>
            <a:r>
              <a:rPr lang="en-US" sz="1100" b="1" dirty="0">
                <a:solidFill>
                  <a:srgbClr val="7C3AED"/>
                </a:solidFill>
                <a:latin typeface="Calibri" pitchFamily="34" charset="0"/>
                <a:ea typeface="Calibri" pitchFamily="34" charset="-122"/>
                <a:cs typeface="Calibri" pitchFamily="34" charset="-120"/>
              </a:rPr>
              <a:t>◀  VERBOSE_JSON gives per-word timestamps — perfect for subtitles</a:t>
            </a:r>
            <a:endParaRPr lang="en-US" sz="1100" dirty="0"/>
          </a:p>
        </p:txBody>
      </p:sp>
      <p:sp>
        <p:nvSpPr>
          <p:cNvPr id="33" name="Shape 31"/>
          <p:cNvSpPr/>
          <p:nvPr/>
        </p:nvSpPr>
        <p:spPr>
          <a:xfrm>
            <a:off x="7571232" y="4956048"/>
            <a:ext cx="4370832" cy="457200"/>
          </a:xfrm>
          <a:prstGeom prst="roundRect">
            <a:avLst>
              <a:gd name="adj" fmla="val 14000"/>
            </a:avLst>
          </a:prstGeom>
          <a:solidFill>
            <a:srgbClr val="F8FAFC"/>
          </a:solidFill>
          <a:ln w="12700">
            <a:solidFill>
              <a:srgbClr val="16A34A">
                <a:alpha val="45000"/>
              </a:srgbClr>
            </a:solidFill>
            <a:prstDash val="solid"/>
          </a:ln>
        </p:spPr>
      </p:sp>
      <p:sp>
        <p:nvSpPr>
          <p:cNvPr id="34" name="Text 32"/>
          <p:cNvSpPr/>
          <p:nvPr/>
        </p:nvSpPr>
        <p:spPr>
          <a:xfrm>
            <a:off x="7717536" y="5029200"/>
            <a:ext cx="4069080" cy="310896"/>
          </a:xfrm>
          <a:prstGeom prst="rect">
            <a:avLst/>
          </a:prstGeom>
          <a:noFill/>
          <a:ln/>
        </p:spPr>
        <p:txBody>
          <a:bodyPr wrap="square" lIns="0" tIns="0" rIns="0" bIns="0" rtlCol="0" anchor="ctr"/>
          <a:lstStyle/>
          <a:p>
            <a:pPr indent="0" marL="0">
              <a:lnSpc>
                <a:spcPct val="110000"/>
              </a:lnSpc>
              <a:buNone/>
            </a:pPr>
            <a:r>
              <a:rPr lang="en-US" sz="1100" b="1" dirty="0">
                <a:solidFill>
                  <a:srgbClr val="16A34A"/>
                </a:solidFill>
                <a:latin typeface="Calibri" pitchFamily="34" charset="0"/>
                <a:ea typeface="Calibri" pitchFamily="34" charset="-122"/>
                <a:cs typeface="Calibri" pitchFamily="34" charset="-120"/>
              </a:rPr>
              <a:t>◀  Translation endpoint converts any language to English in one call</a:t>
            </a:r>
            <a:endParaRPr lang="en-US" sz="1100" dirty="0"/>
          </a:p>
        </p:txBody>
      </p:sp>
      <p:sp>
        <p:nvSpPr>
          <p:cNvPr id="35" name="Shape 33"/>
          <p:cNvSpPr/>
          <p:nvPr/>
        </p:nvSpPr>
        <p:spPr>
          <a:xfrm>
            <a:off x="7571232" y="5596128"/>
            <a:ext cx="4370832" cy="932688"/>
          </a:xfrm>
          <a:prstGeom prst="roundRect">
            <a:avLst>
              <a:gd name="adj" fmla="val 8824"/>
            </a:avLst>
          </a:prstGeom>
          <a:solidFill>
            <a:srgbClr val="ECFEFF"/>
          </a:solidFill>
          <a:ln w="12700">
            <a:solidFill>
              <a:srgbClr val="0891B2">
                <a:alpha val="50000"/>
              </a:srgbClr>
            </a:solidFill>
            <a:prstDash val="solid"/>
          </a:ln>
        </p:spPr>
      </p:sp>
      <p:sp>
        <p:nvSpPr>
          <p:cNvPr id="36" name="Text 34"/>
          <p:cNvSpPr/>
          <p:nvPr/>
        </p:nvSpPr>
        <p:spPr>
          <a:xfrm>
            <a:off x="7726680" y="5687568"/>
            <a:ext cx="4069080" cy="320040"/>
          </a:xfrm>
          <a:prstGeom prst="rect">
            <a:avLst/>
          </a:prstGeom>
          <a:noFill/>
          <a:ln/>
        </p:spPr>
        <p:txBody>
          <a:bodyPr wrap="square" lIns="0" tIns="0" rIns="0" bIns="0" rtlCol="0" anchor="ctr"/>
          <a:lstStyle/>
          <a:p>
            <a:pPr indent="0" marL="0">
              <a:buNone/>
            </a:pPr>
            <a:r>
              <a:rPr lang="en-US" sz="1300" b="1" dirty="0">
                <a:solidFill>
                  <a:srgbClr val="0891B2"/>
                </a:solidFill>
                <a:latin typeface="Calibri" pitchFamily="34" charset="0"/>
                <a:ea typeface="Calibri" pitchFamily="34" charset="-122"/>
                <a:cs typeface="Calibri" pitchFamily="34" charset="-120"/>
              </a:rPr>
              <a:t>Supported formats + cost</a:t>
            </a:r>
            <a:endParaRPr lang="en-US" sz="1300" dirty="0"/>
          </a:p>
        </p:txBody>
      </p:sp>
      <p:sp>
        <p:nvSpPr>
          <p:cNvPr id="37" name="Text 35"/>
          <p:cNvSpPr/>
          <p:nvPr/>
        </p:nvSpPr>
        <p:spPr>
          <a:xfrm>
            <a:off x="7726680" y="6035040"/>
            <a:ext cx="4069080" cy="438912"/>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ourier New" pitchFamily="34" charset="0"/>
                <a:ea typeface="Courier New" pitchFamily="34" charset="-122"/>
                <a:cs typeface="Courier New" pitchFamily="34" charset="-120"/>
              </a:rPr>
              <a:t>mp3 · mp4 · mpeg · mpga · m4a · wav · webm</a:t>
            </a:r>
            <a:endParaRPr lang="en-US" sz="1050" dirty="0"/>
          </a:p>
          <a:p>
            <a:pPr indent="0" marL="0">
              <a:lnSpc>
                <a:spcPct val="135000"/>
              </a:lnSpc>
              <a:buNone/>
            </a:pPr>
            <a:r>
              <a:rPr lang="en-US" sz="1050" dirty="0">
                <a:solidFill>
                  <a:srgbClr val="475569"/>
                </a:solidFill>
                <a:latin typeface="Courier New" pitchFamily="34" charset="0"/>
                <a:ea typeface="Courier New" pitchFamily="34" charset="-122"/>
                <a:cs typeface="Courier New" pitchFamily="34" charset="-120"/>
              </a:rPr>
              <a:t>Max: 25 MB · Cost: $0.006 per minute</a:t>
            </a:r>
            <a:endParaRPr lang="en-US" sz="1050" dirty="0"/>
          </a:p>
          <a:p>
            <a:pPr indent="0" marL="0">
              <a:lnSpc>
                <a:spcPct val="135000"/>
              </a:lnSpc>
              <a:buNone/>
            </a:pPr>
            <a:r>
              <a:rPr lang="en-US" sz="1050" dirty="0">
                <a:solidFill>
                  <a:srgbClr val="475569"/>
                </a:solidFill>
                <a:latin typeface="Courier New" pitchFamily="34" charset="0"/>
                <a:ea typeface="Courier New" pitchFamily="34" charset="-122"/>
                <a:cs typeface="Courier New" pitchFamily="34" charset="-120"/>
              </a:rPr>
              <a:t>Free alternative: faster-whisper (local, Python)</a:t>
            </a:r>
            <a:endParaRPr lang="en-US" sz="1050" dirty="0"/>
          </a:p>
        </p:txBody>
      </p:sp>
      <p:sp>
        <p:nvSpPr>
          <p:cNvPr id="39" name="Shape 36"/>
          <p:cNvSpPr/>
          <p:nvPr/>
        </p:nvSpPr>
        <p:spPr>
          <a:xfrm>
            <a:off x="0" y="6583680"/>
            <a:ext cx="12191695" cy="274320"/>
          </a:xfrm>
          <a:prstGeom prst="rect">
            <a:avLst/>
          </a:prstGeom>
          <a:solidFill>
            <a:srgbClr val="0891B2">
              <a:alpha val="12000"/>
            </a:srgbClr>
          </a:solidFill>
          <a:ln w="12700">
            <a:solidFill>
              <a:srgbClr val="0891B2">
                <a:alpha val="35000"/>
              </a:srgbClr>
            </a:solidFill>
            <a:prstDash val="solid"/>
          </a:ln>
        </p:spPr>
      </p:sp>
      <p:sp>
        <p:nvSpPr>
          <p:cNvPr id="40" name="Text 37"/>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41" name="Text 38"/>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9 / 31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F1A"/>
        </a:solidFill>
      </p:bgPr>
    </p:bg>
    <p:spTree>
      <p:nvGrpSpPr>
        <p:cNvPr id="1" name=""/>
        <p:cNvGrpSpPr/>
        <p:nvPr/>
      </p:nvGrpSpPr>
      <p:grpSpPr>
        <a:xfrm>
          <a:off x="0" y="0"/>
          <a:ext cx="0" cy="0"/>
          <a:chOff x="0" y="0"/>
          <a:chExt cx="0" cy="0"/>
        </a:xfrm>
      </p:grpSpPr>
      <p:sp>
        <p:nvSpPr>
          <p:cNvPr id="2" name="Text 0"/>
          <p:cNvSpPr/>
          <p:nvPr/>
        </p:nvSpPr>
        <p:spPr>
          <a:xfrm>
            <a:off x="6400800" y="-274320"/>
            <a:ext cx="6400800" cy="5029200"/>
          </a:xfrm>
          <a:prstGeom prst="rect">
            <a:avLst/>
          </a:prstGeom>
          <a:noFill/>
          <a:ln/>
        </p:spPr>
        <p:txBody>
          <a:bodyPr wrap="square" lIns="0" tIns="0" rIns="0" bIns="0" rtlCol="0" anchor="ctr"/>
          <a:lstStyle/>
          <a:p>
            <a:pPr indent="0" marL="0">
              <a:buNone/>
            </a:pPr>
            <a:r>
              <a:rPr lang="en-US" sz="20000" b="1" dirty="0">
                <a:solidFill>
                  <a:srgbClr val="16A34A">
                    <a:alpha val="9000"/>
                  </a:srgbClr>
                </a:solidFill>
                <a:latin typeface="Calibri" pitchFamily="34" charset="0"/>
                <a:ea typeface="Calibri" pitchFamily="34" charset="-122"/>
                <a:cs typeface="Calibri" pitchFamily="34" charset="-120"/>
              </a:rPr>
              <a:t>TTS</a:t>
            </a:r>
            <a:endParaRPr lang="en-US" sz="20000" dirty="0"/>
          </a:p>
        </p:txBody>
      </p:sp>
      <p:sp>
        <p:nvSpPr>
          <p:cNvPr id="3" name="Shape 1"/>
          <p:cNvSpPr/>
          <p:nvPr/>
        </p:nvSpPr>
        <p:spPr>
          <a:xfrm>
            <a:off x="475488" y="804672"/>
            <a:ext cx="749808" cy="749808"/>
          </a:xfrm>
          <a:prstGeom prst="roundRect">
            <a:avLst>
              <a:gd name="adj" fmla="val 12195"/>
            </a:avLst>
          </a:prstGeom>
          <a:solidFill>
            <a:srgbClr val="16A34A"/>
          </a:solidFill>
          <a:ln w="12700">
            <a:solidFill>
              <a:srgbClr val="16A34A"/>
            </a:solidFill>
            <a:prstDash val="solid"/>
          </a:ln>
        </p:spPr>
      </p:sp>
      <p:sp>
        <p:nvSpPr>
          <p:cNvPr id="4" name="Text 2"/>
          <p:cNvSpPr/>
          <p:nvPr/>
        </p:nvSpPr>
        <p:spPr>
          <a:xfrm>
            <a:off x="475488" y="804672"/>
            <a:ext cx="749808" cy="749808"/>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5" name="Text 3"/>
          <p:cNvSpPr/>
          <p:nvPr/>
        </p:nvSpPr>
        <p:spPr>
          <a:xfrm>
            <a:off x="1371600" y="841248"/>
            <a:ext cx="2743200" cy="292608"/>
          </a:xfrm>
          <a:prstGeom prst="rect">
            <a:avLst/>
          </a:prstGeom>
          <a:noFill/>
          <a:ln/>
        </p:spPr>
        <p:txBody>
          <a:bodyPr wrap="square" lIns="0" tIns="0" rIns="0" bIns="0" rtlCol="0" anchor="ctr"/>
          <a:lstStyle/>
          <a:p>
            <a:pPr indent="0" marL="0">
              <a:buNone/>
            </a:pPr>
            <a:r>
              <a:rPr lang="en-US" sz="1300" b="1" spc="500" kern="0" dirty="0">
                <a:solidFill>
                  <a:srgbClr val="16A34A"/>
                </a:solidFill>
                <a:latin typeface="Calibri" pitchFamily="34" charset="0"/>
                <a:ea typeface="Calibri" pitchFamily="34" charset="-122"/>
                <a:cs typeface="Calibri" pitchFamily="34" charset="-120"/>
              </a:rPr>
              <a:t>SECTION</a:t>
            </a:r>
            <a:endParaRPr lang="en-US" sz="1300" dirty="0"/>
          </a:p>
        </p:txBody>
      </p:sp>
      <p:sp>
        <p:nvSpPr>
          <p:cNvPr id="6" name="Text 4"/>
          <p:cNvSpPr/>
          <p:nvPr/>
        </p:nvSpPr>
        <p:spPr>
          <a:xfrm>
            <a:off x="685800" y="1417320"/>
            <a:ext cx="9144000" cy="1920240"/>
          </a:xfrm>
          <a:prstGeom prst="rect">
            <a:avLst/>
          </a:prstGeom>
          <a:noFill/>
          <a:ln/>
        </p:spPr>
        <p:txBody>
          <a:bodyPr wrap="square" lIns="0" tIns="0" rIns="0" bIns="0" rtlCol="0" anchor="ctr"/>
          <a:lstStyle/>
          <a:p>
            <a:pPr indent="0" marL="0">
              <a:lnSpc>
                <a:spcPct val="104000"/>
              </a:lnSpc>
              <a:buNone/>
            </a:pPr>
            <a:r>
              <a:rPr lang="en-US" sz="5400" b="1" dirty="0">
                <a:solidFill>
                  <a:srgbClr val="FFFFFF"/>
                </a:solidFill>
                <a:latin typeface="Calibri" pitchFamily="34" charset="0"/>
                <a:ea typeface="Calibri" pitchFamily="34" charset="-122"/>
                <a:cs typeface="Calibri" pitchFamily="34" charset="-120"/>
              </a:rPr>
              <a:t>TTS</a:t>
            </a:r>
            <a:endParaRPr lang="en-US" sz="5400" dirty="0"/>
          </a:p>
          <a:p>
            <a:pPr indent="0" marL="0">
              <a:lnSpc>
                <a:spcPct val="104000"/>
              </a:lnSpc>
              <a:buNone/>
            </a:pPr>
            <a:r>
              <a:rPr lang="en-US" sz="5400" b="1" dirty="0">
                <a:solidFill>
                  <a:srgbClr val="FFFFFF"/>
                </a:solidFill>
                <a:latin typeface="Calibri" pitchFamily="34" charset="0"/>
                <a:ea typeface="Calibri" pitchFamily="34" charset="-122"/>
                <a:cs typeface="Calibri" pitchFamily="34" charset="-120"/>
              </a:rPr>
              <a:t>Text-to-Speech</a:t>
            </a:r>
            <a:endParaRPr lang="en-US" sz="5400" dirty="0"/>
          </a:p>
        </p:txBody>
      </p:sp>
      <p:sp>
        <p:nvSpPr>
          <p:cNvPr id="7" name="Text 5"/>
          <p:cNvSpPr/>
          <p:nvPr/>
        </p:nvSpPr>
        <p:spPr>
          <a:xfrm>
            <a:off x="685800" y="3493008"/>
            <a:ext cx="9144000" cy="777240"/>
          </a:xfrm>
          <a:prstGeom prst="rect">
            <a:avLst/>
          </a:prstGeom>
          <a:noFill/>
          <a:ln/>
        </p:spPr>
        <p:txBody>
          <a:bodyPr wrap="square" lIns="0" tIns="0" rIns="0" bIns="0" rtlCol="0" anchor="ctr"/>
          <a:lstStyle/>
          <a:p>
            <a:pPr indent="0" marL="0">
              <a:lnSpc>
                <a:spcPct val="130000"/>
              </a:lnSpc>
              <a:buNone/>
            </a:pPr>
            <a:r>
              <a:rPr lang="en-US" sz="2000" dirty="0">
                <a:solidFill>
                  <a:srgbClr val="8B92B8"/>
                </a:solidFill>
                <a:latin typeface="Calibri" pitchFamily="34" charset="0"/>
                <a:ea typeface="Calibri" pitchFamily="34" charset="-122"/>
                <a:cs typeface="Calibri" pitchFamily="34" charset="-120"/>
              </a:rPr>
              <a:t>Any string becomes spoken audio in the voice of your choice. Stream it live.</a:t>
            </a:r>
            <a:endParaRPr lang="en-US" sz="2000" dirty="0"/>
          </a:p>
        </p:txBody>
      </p:sp>
      <p:sp>
        <p:nvSpPr>
          <p:cNvPr id="9" name="Shape 6"/>
          <p:cNvSpPr/>
          <p:nvPr/>
        </p:nvSpPr>
        <p:spPr>
          <a:xfrm>
            <a:off x="0" y="6583680"/>
            <a:ext cx="12191695" cy="274320"/>
          </a:xfrm>
          <a:prstGeom prst="rect">
            <a:avLst/>
          </a:prstGeom>
          <a:solidFill>
            <a:srgbClr val="16A34A">
              <a:alpha val="12000"/>
            </a:srgbClr>
          </a:solidFill>
          <a:ln w="12700">
            <a:solidFill>
              <a:srgbClr val="16A34A">
                <a:alpha val="35000"/>
              </a:srgbClr>
            </a:solidFill>
            <a:prstDash val="solid"/>
          </a:ln>
        </p:spPr>
      </p:sp>
      <p:sp>
        <p:nvSpPr>
          <p:cNvPr id="10" name="Text 7"/>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1" name="Text 8"/>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10 / 31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16A34A"/>
                </a:solidFill>
                <a:latin typeface="Calibri" pitchFamily="34" charset="0"/>
                <a:ea typeface="Calibri" pitchFamily="34" charset="-122"/>
                <a:cs typeface="Calibri" pitchFamily="34" charset="-120"/>
              </a:rPr>
              <a:t>TTS — JAVA IMPLEMENTATION + 6 VOICE OPTIONS</a:t>
            </a:r>
            <a:endParaRPr lang="en-US" sz="1200" dirty="0"/>
          </a:p>
        </p:txBody>
      </p:sp>
      <p:sp>
        <p:nvSpPr>
          <p:cNvPr id="3" name="Text 1"/>
          <p:cNvSpPr/>
          <p:nvPr/>
        </p:nvSpPr>
        <p:spPr>
          <a:xfrm>
            <a:off x="685800" y="749808"/>
            <a:ext cx="10789920" cy="822960"/>
          </a:xfrm>
          <a:prstGeom prst="rect">
            <a:avLst/>
          </a:prstGeom>
          <a:noFill/>
          <a:ln/>
        </p:spPr>
        <p:txBody>
          <a:bodyPr wrap="square" lIns="0" tIns="0" rIns="0" bIns="0" rtlCol="0" anchor="ctr"/>
          <a:lstStyle/>
          <a:p>
            <a:pPr indent="0" marL="0">
              <a:lnSpc>
                <a:spcPct val="105000"/>
              </a:lnSpc>
              <a:buNone/>
            </a:pPr>
            <a:r>
              <a:rPr lang="en-US" sz="3200" b="1" dirty="0">
                <a:solidFill>
                  <a:srgbClr val="475569"/>
                </a:solidFill>
                <a:latin typeface="Calibri" pitchFamily="34" charset="0"/>
                <a:ea typeface="Calibri" pitchFamily="34" charset="-122"/>
                <a:cs typeface="Calibri" pitchFamily="34" charset="-120"/>
              </a:rPr>
              <a:t>Text to MP3 audio in 4 lines. Six voices to choose from.</a:t>
            </a:r>
            <a:endParaRPr lang="en-US" sz="3200" dirty="0"/>
          </a:p>
        </p:txBody>
      </p:sp>
      <p:sp>
        <p:nvSpPr>
          <p:cNvPr id="4" name="Shape 2"/>
          <p:cNvSpPr/>
          <p:nvPr/>
        </p:nvSpPr>
        <p:spPr>
          <a:xfrm>
            <a:off x="502920" y="1847088"/>
            <a:ext cx="6053328" cy="3474720"/>
          </a:xfrm>
          <a:prstGeom prst="roundRect">
            <a:avLst>
              <a:gd name="adj" fmla="val 2632"/>
            </a:avLst>
          </a:prstGeom>
          <a:solidFill>
            <a:srgbClr val="111827"/>
          </a:solidFill>
          <a:ln w="12700">
            <a:solidFill>
              <a:srgbClr val="374151"/>
            </a:solidFill>
            <a:prstDash val="solid"/>
          </a:ln>
          <a:effectLst>
            <a:outerShdw sx="100000" sy="100000" kx="0" ky="0" algn="bl" rotWithShape="0" blurRad="101600" dist="38100" dir="5400000">
              <a:srgbClr val="000000">
                <a:alpha val="13000"/>
              </a:srgbClr>
            </a:outerShdw>
          </a:effectLst>
        </p:spPr>
      </p:sp>
      <p:sp>
        <p:nvSpPr>
          <p:cNvPr id="5" name="Shape 3"/>
          <p:cNvSpPr/>
          <p:nvPr/>
        </p:nvSpPr>
        <p:spPr>
          <a:xfrm>
            <a:off x="502920" y="1847088"/>
            <a:ext cx="6053328" cy="365760"/>
          </a:xfrm>
          <a:prstGeom prst="roundRect">
            <a:avLst>
              <a:gd name="adj" fmla="val 25000"/>
            </a:avLst>
          </a:prstGeom>
          <a:solidFill>
            <a:srgbClr val="1F2937"/>
          </a:solidFill>
          <a:ln w="12700">
            <a:solidFill>
              <a:srgbClr val="374151"/>
            </a:solidFill>
            <a:prstDash val="solid"/>
          </a:ln>
        </p:spPr>
      </p:sp>
      <p:sp>
        <p:nvSpPr>
          <p:cNvPr id="6" name="Shape 4"/>
          <p:cNvSpPr/>
          <p:nvPr/>
        </p:nvSpPr>
        <p:spPr>
          <a:xfrm>
            <a:off x="667512" y="1947672"/>
            <a:ext cx="155448" cy="155448"/>
          </a:xfrm>
          <a:prstGeom prst="ellipse">
            <a:avLst/>
          </a:prstGeom>
          <a:solidFill>
            <a:srgbClr val="E11D48"/>
          </a:solidFill>
          <a:ln/>
        </p:spPr>
      </p:sp>
      <p:sp>
        <p:nvSpPr>
          <p:cNvPr id="7" name="Shape 5"/>
          <p:cNvSpPr/>
          <p:nvPr/>
        </p:nvSpPr>
        <p:spPr>
          <a:xfrm>
            <a:off x="905256" y="1947672"/>
            <a:ext cx="155448" cy="155448"/>
          </a:xfrm>
          <a:prstGeom prst="ellipse">
            <a:avLst/>
          </a:prstGeom>
          <a:solidFill>
            <a:srgbClr val="F59E0B"/>
          </a:solidFill>
          <a:ln/>
        </p:spPr>
      </p:sp>
      <p:sp>
        <p:nvSpPr>
          <p:cNvPr id="8" name="Shape 6"/>
          <p:cNvSpPr/>
          <p:nvPr/>
        </p:nvSpPr>
        <p:spPr>
          <a:xfrm>
            <a:off x="1143000" y="1947672"/>
            <a:ext cx="155448" cy="155448"/>
          </a:xfrm>
          <a:prstGeom prst="ellipse">
            <a:avLst/>
          </a:prstGeom>
          <a:solidFill>
            <a:srgbClr val="16A34A"/>
          </a:solidFill>
          <a:ln/>
        </p:spPr>
      </p:sp>
      <p:sp>
        <p:nvSpPr>
          <p:cNvPr id="9" name="Text 7"/>
          <p:cNvSpPr/>
          <p:nvPr/>
        </p:nvSpPr>
        <p:spPr>
          <a:xfrm>
            <a:off x="1417320" y="1911096"/>
            <a:ext cx="5001768" cy="237744"/>
          </a:xfrm>
          <a:prstGeom prst="rect">
            <a:avLst/>
          </a:prstGeom>
          <a:noFill/>
          <a:ln/>
        </p:spPr>
        <p:txBody>
          <a:bodyPr wrap="square" lIns="0" tIns="0" rIns="0" bIns="0" rtlCol="0" anchor="ctr"/>
          <a:lstStyle/>
          <a:p>
            <a:pPr indent="0" marL="0">
              <a:buNone/>
            </a:pPr>
            <a:r>
              <a:rPr lang="en-US" sz="1050" dirty="0">
                <a:solidFill>
                  <a:srgbClr val="9CA3AF"/>
                </a:solidFill>
                <a:latin typeface="Courier New" pitchFamily="34" charset="0"/>
                <a:ea typeface="Courier New" pitchFamily="34" charset="-122"/>
                <a:cs typeface="Courier New" pitchFamily="34" charset="-120"/>
              </a:rPr>
              <a:t>TTSDemo.java</a:t>
            </a:r>
            <a:endParaRPr lang="en-US" sz="1050" dirty="0"/>
          </a:p>
        </p:txBody>
      </p:sp>
      <p:sp>
        <p:nvSpPr>
          <p:cNvPr id="10" name="Text 8"/>
          <p:cNvSpPr/>
          <p:nvPr/>
        </p:nvSpPr>
        <p:spPr>
          <a:xfrm>
            <a:off x="704088" y="2304288"/>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Generate speech from text</a:t>
            </a:r>
            <a:endParaRPr lang="en-US" sz="1050" dirty="0"/>
          </a:p>
        </p:txBody>
      </p:sp>
      <p:sp>
        <p:nvSpPr>
          <p:cNvPr id="11" name="Text 9"/>
          <p:cNvSpPr/>
          <p:nvPr/>
        </p:nvSpPr>
        <p:spPr>
          <a:xfrm>
            <a:off x="704088" y="2518519"/>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var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response</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 client.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audio</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speech</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create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2" name="Text 10"/>
          <p:cNvSpPr/>
          <p:nvPr/>
        </p:nvSpPr>
        <p:spPr>
          <a:xfrm>
            <a:off x="704088" y="2732750"/>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AudioSpeechCreateParams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builder</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3" name="Text 11"/>
          <p:cNvSpPr/>
          <p:nvPr/>
        </p:nvSpPr>
        <p:spPr>
          <a:xfrm>
            <a:off x="704088" y="2946981"/>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model</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AudioSpeechCreateParams</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.Model.</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TTS_1</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4" name="Text 12"/>
          <p:cNvSpPr/>
          <p:nvPr/>
        </p:nvSpPr>
        <p:spPr>
          <a:xfrm>
            <a:off x="704088" y="3161211"/>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input</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"Task added: deploy to production by Thursday."</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5" name="Text 13"/>
          <p:cNvSpPr/>
          <p:nvPr/>
        </p:nvSpPr>
        <p:spPr>
          <a:xfrm>
            <a:off x="704088" y="3375442"/>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voice</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AudioSpeechCreateParams</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.Voice.</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ALLOY</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6" name="Text 14"/>
          <p:cNvSpPr/>
          <p:nvPr/>
        </p:nvSpPr>
        <p:spPr>
          <a:xfrm>
            <a:off x="704088" y="3589673"/>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speed</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1.0</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0.25 to 4.0</a:t>
            </a:r>
            <a:endParaRPr lang="en-US" sz="1050" dirty="0"/>
          </a:p>
        </p:txBody>
      </p:sp>
      <p:sp>
        <p:nvSpPr>
          <p:cNvPr id="17" name="Text 15"/>
          <p:cNvSpPr/>
          <p:nvPr/>
        </p:nvSpPr>
        <p:spPr>
          <a:xfrm>
            <a:off x="704088" y="3803904"/>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responseFormat</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(AudioSpeechCreateParams.ResponseFormat.</a:t>
            </a:r>
            <a:pPr indent="0" marL="0">
              <a:lnSpc>
                <a:spcPct val="100000"/>
              </a:lnSpc>
              <a:buNone/>
            </a:pPr>
            <a:r>
              <a:rPr lang="en-US" sz="1050" dirty="0">
                <a:solidFill>
                  <a:srgbClr val="FCD34D"/>
                </a:solidFill>
                <a:latin typeface="Courier New" pitchFamily="34" charset="0"/>
                <a:ea typeface="Courier New" pitchFamily="34" charset="-122"/>
                <a:cs typeface="Courier New" pitchFamily="34" charset="-120"/>
              </a:rPr>
              <a:t>MP3</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8" name="Text 16"/>
          <p:cNvSpPr/>
          <p:nvPr/>
        </p:nvSpPr>
        <p:spPr>
          <a:xfrm>
            <a:off x="704088" y="4018135"/>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9" name="Text 17"/>
          <p:cNvSpPr/>
          <p:nvPr/>
        </p:nvSpPr>
        <p:spPr>
          <a:xfrm>
            <a:off x="704088" y="4232366"/>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0" name="Text 18"/>
          <p:cNvSpPr/>
          <p:nvPr/>
        </p:nvSpPr>
        <p:spPr>
          <a:xfrm>
            <a:off x="704088" y="4446597"/>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Write to file and play</a:t>
            </a:r>
            <a:endParaRPr lang="en-US" sz="1050" dirty="0"/>
          </a:p>
        </p:txBody>
      </p:sp>
      <p:sp>
        <p:nvSpPr>
          <p:cNvPr id="21" name="Text 19"/>
          <p:cNvSpPr/>
          <p:nvPr/>
        </p:nvSpPr>
        <p:spPr>
          <a:xfrm>
            <a:off x="704088" y="4660827"/>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byte</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audio = response.</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body</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bytes</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2" name="Text 20"/>
          <p:cNvSpPr/>
          <p:nvPr/>
        </p:nvSpPr>
        <p:spPr>
          <a:xfrm>
            <a:off x="704088" y="4875058"/>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Files.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write</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(Path.of(</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"reply.mp3"</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audio);</a:t>
            </a:r>
            <a:endParaRPr lang="en-US" sz="1050" dirty="0"/>
          </a:p>
        </p:txBody>
      </p:sp>
      <p:sp>
        <p:nvSpPr>
          <p:cNvPr id="23" name="Text 21"/>
          <p:cNvSpPr/>
          <p:nvPr/>
        </p:nvSpPr>
        <p:spPr>
          <a:xfrm>
            <a:off x="704088" y="5089289"/>
            <a:ext cx="5733288" cy="214231"/>
          </a:xfrm>
          <a:prstGeom prst="rect">
            <a:avLst/>
          </a:prstGeom>
          <a:noFill/>
          <a:ln/>
        </p:spPr>
        <p:txBody>
          <a:bodyPr wrap="square" lIns="0" tIns="0" rIns="0" bIns="0" rtlCol="0" anchor="ctr"/>
          <a:lstStyle/>
          <a:p>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Runtime.</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getRuntime</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exec</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86EFAC"/>
                </a:solidFill>
                <a:latin typeface="Courier New" pitchFamily="34" charset="0"/>
                <a:ea typeface="Courier New" pitchFamily="34" charset="-122"/>
                <a:cs typeface="Courier New" pitchFamily="34" charset="-120"/>
              </a:rPr>
              <a:t>"open reply.mp3"</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macOS</a:t>
            </a:r>
            <a:endParaRPr lang="en-US" sz="1050" dirty="0"/>
          </a:p>
        </p:txBody>
      </p:sp>
      <p:sp>
        <p:nvSpPr>
          <p:cNvPr id="24" name="Shape 22"/>
          <p:cNvSpPr/>
          <p:nvPr/>
        </p:nvSpPr>
        <p:spPr>
          <a:xfrm>
            <a:off x="6720840" y="1847088"/>
            <a:ext cx="5230368" cy="3474720"/>
          </a:xfrm>
          <a:prstGeom prst="roundRect">
            <a:avLst>
              <a:gd name="adj" fmla="val 2632"/>
            </a:avLst>
          </a:prstGeom>
          <a:solidFill>
            <a:srgbClr val="F8FAFC"/>
          </a:solidFill>
          <a:ln w="12700">
            <a:solidFill>
              <a:srgbClr val="16A34A">
                <a:alpha val="50000"/>
              </a:srgbClr>
            </a:solidFill>
            <a:prstDash val="solid"/>
          </a:ln>
        </p:spPr>
      </p:sp>
      <p:sp>
        <p:nvSpPr>
          <p:cNvPr id="25" name="Text 23"/>
          <p:cNvSpPr/>
          <p:nvPr/>
        </p:nvSpPr>
        <p:spPr>
          <a:xfrm>
            <a:off x="6876288" y="1965960"/>
            <a:ext cx="4937760" cy="347472"/>
          </a:xfrm>
          <a:prstGeom prst="rect">
            <a:avLst/>
          </a:prstGeom>
          <a:noFill/>
          <a:ln/>
        </p:spPr>
        <p:txBody>
          <a:bodyPr wrap="square" lIns="0" tIns="0" rIns="0" bIns="0"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The 6 voices</a:t>
            </a:r>
            <a:endParaRPr lang="en-US" sz="1400" dirty="0"/>
          </a:p>
        </p:txBody>
      </p:sp>
      <p:sp>
        <p:nvSpPr>
          <p:cNvPr id="26" name="Shape 24"/>
          <p:cNvSpPr/>
          <p:nvPr/>
        </p:nvSpPr>
        <p:spPr>
          <a:xfrm>
            <a:off x="6876288" y="2450592"/>
            <a:ext cx="868680" cy="384048"/>
          </a:xfrm>
          <a:prstGeom prst="roundRect">
            <a:avLst>
              <a:gd name="adj" fmla="val 14286"/>
            </a:avLst>
          </a:prstGeom>
          <a:solidFill>
            <a:srgbClr val="16A34A"/>
          </a:solidFill>
          <a:ln w="12700">
            <a:solidFill>
              <a:srgbClr val="16A34A"/>
            </a:solidFill>
            <a:prstDash val="solid"/>
          </a:ln>
        </p:spPr>
      </p:sp>
      <p:sp>
        <p:nvSpPr>
          <p:cNvPr id="27" name="Text 25"/>
          <p:cNvSpPr/>
          <p:nvPr/>
        </p:nvSpPr>
        <p:spPr>
          <a:xfrm>
            <a:off x="6903720" y="2487168"/>
            <a:ext cx="81381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alloy</a:t>
            </a:r>
            <a:endParaRPr lang="en-US" sz="1200" dirty="0"/>
          </a:p>
        </p:txBody>
      </p:sp>
      <p:sp>
        <p:nvSpPr>
          <p:cNvPr id="28" name="Text 26"/>
          <p:cNvSpPr/>
          <p:nvPr/>
        </p:nvSpPr>
        <p:spPr>
          <a:xfrm>
            <a:off x="7818120" y="2505456"/>
            <a:ext cx="4005072" cy="29260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Neutral, balanced — good default for assistants</a:t>
            </a:r>
            <a:endParaRPr lang="en-US" sz="1200" dirty="0"/>
          </a:p>
        </p:txBody>
      </p:sp>
      <p:sp>
        <p:nvSpPr>
          <p:cNvPr id="29" name="Shape 27"/>
          <p:cNvSpPr/>
          <p:nvPr/>
        </p:nvSpPr>
        <p:spPr>
          <a:xfrm>
            <a:off x="6876288" y="2926080"/>
            <a:ext cx="868680" cy="384048"/>
          </a:xfrm>
          <a:prstGeom prst="roundRect">
            <a:avLst>
              <a:gd name="adj" fmla="val 14286"/>
            </a:avLst>
          </a:prstGeom>
          <a:solidFill>
            <a:srgbClr val="16A34A"/>
          </a:solidFill>
          <a:ln w="12700">
            <a:solidFill>
              <a:srgbClr val="16A34A"/>
            </a:solidFill>
            <a:prstDash val="solid"/>
          </a:ln>
        </p:spPr>
      </p:sp>
      <p:sp>
        <p:nvSpPr>
          <p:cNvPr id="30" name="Text 28"/>
          <p:cNvSpPr/>
          <p:nvPr/>
        </p:nvSpPr>
        <p:spPr>
          <a:xfrm>
            <a:off x="6903720" y="2962656"/>
            <a:ext cx="81381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echo</a:t>
            </a:r>
            <a:endParaRPr lang="en-US" sz="1200" dirty="0"/>
          </a:p>
        </p:txBody>
      </p:sp>
      <p:sp>
        <p:nvSpPr>
          <p:cNvPr id="31" name="Text 29"/>
          <p:cNvSpPr/>
          <p:nvPr/>
        </p:nvSpPr>
        <p:spPr>
          <a:xfrm>
            <a:off x="7818120" y="2980944"/>
            <a:ext cx="4005072" cy="29260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Warm, slightly deeper — knowledge / tutor apps</a:t>
            </a:r>
            <a:endParaRPr lang="en-US" sz="1200" dirty="0"/>
          </a:p>
        </p:txBody>
      </p:sp>
      <p:sp>
        <p:nvSpPr>
          <p:cNvPr id="32" name="Shape 30"/>
          <p:cNvSpPr/>
          <p:nvPr/>
        </p:nvSpPr>
        <p:spPr>
          <a:xfrm>
            <a:off x="6876288" y="3401568"/>
            <a:ext cx="868680" cy="384048"/>
          </a:xfrm>
          <a:prstGeom prst="roundRect">
            <a:avLst>
              <a:gd name="adj" fmla="val 14286"/>
            </a:avLst>
          </a:prstGeom>
          <a:solidFill>
            <a:srgbClr val="16A34A"/>
          </a:solidFill>
          <a:ln w="12700">
            <a:solidFill>
              <a:srgbClr val="16A34A"/>
            </a:solidFill>
            <a:prstDash val="solid"/>
          </a:ln>
        </p:spPr>
      </p:sp>
      <p:sp>
        <p:nvSpPr>
          <p:cNvPr id="33" name="Text 31"/>
          <p:cNvSpPr/>
          <p:nvPr/>
        </p:nvSpPr>
        <p:spPr>
          <a:xfrm>
            <a:off x="6903720" y="3438144"/>
            <a:ext cx="81381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fable</a:t>
            </a:r>
            <a:endParaRPr lang="en-US" sz="1200" dirty="0"/>
          </a:p>
        </p:txBody>
      </p:sp>
      <p:sp>
        <p:nvSpPr>
          <p:cNvPr id="34" name="Text 32"/>
          <p:cNvSpPr/>
          <p:nvPr/>
        </p:nvSpPr>
        <p:spPr>
          <a:xfrm>
            <a:off x="7818120" y="3456432"/>
            <a:ext cx="4005072" cy="29260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British accent, expressive — storytelling</a:t>
            </a:r>
            <a:endParaRPr lang="en-US" sz="1200" dirty="0"/>
          </a:p>
        </p:txBody>
      </p:sp>
      <p:sp>
        <p:nvSpPr>
          <p:cNvPr id="35" name="Shape 33"/>
          <p:cNvSpPr/>
          <p:nvPr/>
        </p:nvSpPr>
        <p:spPr>
          <a:xfrm>
            <a:off x="6876288" y="3877056"/>
            <a:ext cx="868680" cy="384048"/>
          </a:xfrm>
          <a:prstGeom prst="roundRect">
            <a:avLst>
              <a:gd name="adj" fmla="val 14286"/>
            </a:avLst>
          </a:prstGeom>
          <a:solidFill>
            <a:srgbClr val="16A34A"/>
          </a:solidFill>
          <a:ln w="12700">
            <a:solidFill>
              <a:srgbClr val="16A34A"/>
            </a:solidFill>
            <a:prstDash val="solid"/>
          </a:ln>
        </p:spPr>
      </p:sp>
      <p:sp>
        <p:nvSpPr>
          <p:cNvPr id="36" name="Text 34"/>
          <p:cNvSpPr/>
          <p:nvPr/>
        </p:nvSpPr>
        <p:spPr>
          <a:xfrm>
            <a:off x="6903720" y="3913632"/>
            <a:ext cx="81381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onyx</a:t>
            </a:r>
            <a:endParaRPr lang="en-US" sz="1200" dirty="0"/>
          </a:p>
        </p:txBody>
      </p:sp>
      <p:sp>
        <p:nvSpPr>
          <p:cNvPr id="37" name="Text 35"/>
          <p:cNvSpPr/>
          <p:nvPr/>
        </p:nvSpPr>
        <p:spPr>
          <a:xfrm>
            <a:off x="7818120" y="3931920"/>
            <a:ext cx="4005072" cy="29260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Deep, authoritative — announcements, news</a:t>
            </a:r>
            <a:endParaRPr lang="en-US" sz="1200" dirty="0"/>
          </a:p>
        </p:txBody>
      </p:sp>
      <p:sp>
        <p:nvSpPr>
          <p:cNvPr id="38" name="Shape 36"/>
          <p:cNvSpPr/>
          <p:nvPr/>
        </p:nvSpPr>
        <p:spPr>
          <a:xfrm>
            <a:off x="6876288" y="4352544"/>
            <a:ext cx="868680" cy="384048"/>
          </a:xfrm>
          <a:prstGeom prst="roundRect">
            <a:avLst>
              <a:gd name="adj" fmla="val 14286"/>
            </a:avLst>
          </a:prstGeom>
          <a:solidFill>
            <a:srgbClr val="16A34A"/>
          </a:solidFill>
          <a:ln w="12700">
            <a:solidFill>
              <a:srgbClr val="16A34A"/>
            </a:solidFill>
            <a:prstDash val="solid"/>
          </a:ln>
        </p:spPr>
      </p:sp>
      <p:sp>
        <p:nvSpPr>
          <p:cNvPr id="39" name="Text 37"/>
          <p:cNvSpPr/>
          <p:nvPr/>
        </p:nvSpPr>
        <p:spPr>
          <a:xfrm>
            <a:off x="6903720" y="4389120"/>
            <a:ext cx="81381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nova</a:t>
            </a:r>
            <a:endParaRPr lang="en-US" sz="1200" dirty="0"/>
          </a:p>
        </p:txBody>
      </p:sp>
      <p:sp>
        <p:nvSpPr>
          <p:cNvPr id="40" name="Text 38"/>
          <p:cNvSpPr/>
          <p:nvPr/>
        </p:nvSpPr>
        <p:spPr>
          <a:xfrm>
            <a:off x="7818120" y="4407408"/>
            <a:ext cx="4005072" cy="29260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Energetic, young — customer service, chatbots</a:t>
            </a:r>
            <a:endParaRPr lang="en-US" sz="1200" dirty="0"/>
          </a:p>
        </p:txBody>
      </p:sp>
      <p:sp>
        <p:nvSpPr>
          <p:cNvPr id="41" name="Shape 39"/>
          <p:cNvSpPr/>
          <p:nvPr/>
        </p:nvSpPr>
        <p:spPr>
          <a:xfrm>
            <a:off x="6876288" y="4828032"/>
            <a:ext cx="868680" cy="384048"/>
          </a:xfrm>
          <a:prstGeom prst="roundRect">
            <a:avLst>
              <a:gd name="adj" fmla="val 14286"/>
            </a:avLst>
          </a:prstGeom>
          <a:solidFill>
            <a:srgbClr val="16A34A"/>
          </a:solidFill>
          <a:ln w="12700">
            <a:solidFill>
              <a:srgbClr val="16A34A"/>
            </a:solidFill>
            <a:prstDash val="solid"/>
          </a:ln>
        </p:spPr>
      </p:sp>
      <p:sp>
        <p:nvSpPr>
          <p:cNvPr id="42" name="Text 40"/>
          <p:cNvSpPr/>
          <p:nvPr/>
        </p:nvSpPr>
        <p:spPr>
          <a:xfrm>
            <a:off x="6903720" y="4864608"/>
            <a:ext cx="81381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shimmer</a:t>
            </a:r>
            <a:endParaRPr lang="en-US" sz="1200" dirty="0"/>
          </a:p>
        </p:txBody>
      </p:sp>
      <p:sp>
        <p:nvSpPr>
          <p:cNvPr id="43" name="Text 41"/>
          <p:cNvSpPr/>
          <p:nvPr/>
        </p:nvSpPr>
        <p:spPr>
          <a:xfrm>
            <a:off x="7818120" y="4882896"/>
            <a:ext cx="4005072" cy="292608"/>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Soft, clear — medical, accessibility apps</a:t>
            </a:r>
            <a:endParaRPr lang="en-US" sz="1200" dirty="0"/>
          </a:p>
        </p:txBody>
      </p:sp>
      <p:sp>
        <p:nvSpPr>
          <p:cNvPr id="44" name="Shape 42"/>
          <p:cNvSpPr/>
          <p:nvPr/>
        </p:nvSpPr>
        <p:spPr>
          <a:xfrm>
            <a:off x="502920" y="5468112"/>
            <a:ext cx="11109960" cy="987552"/>
          </a:xfrm>
          <a:prstGeom prst="roundRect">
            <a:avLst>
              <a:gd name="adj" fmla="val 8333"/>
            </a:avLst>
          </a:prstGeom>
          <a:solidFill>
            <a:srgbClr val="F0FDF4"/>
          </a:solidFill>
          <a:ln w="12700">
            <a:solidFill>
              <a:srgbClr val="16A34A">
                <a:alpha val="45000"/>
              </a:srgbClr>
            </a:solidFill>
            <a:prstDash val="solid"/>
          </a:ln>
        </p:spPr>
      </p:sp>
      <p:sp>
        <p:nvSpPr>
          <p:cNvPr id="45" name="Text 43"/>
          <p:cNvSpPr/>
          <p:nvPr/>
        </p:nvSpPr>
        <p:spPr>
          <a:xfrm>
            <a:off x="713232" y="5559552"/>
            <a:ext cx="2743200" cy="320040"/>
          </a:xfrm>
          <a:prstGeom prst="rect">
            <a:avLst/>
          </a:prstGeom>
          <a:noFill/>
          <a:ln/>
        </p:spPr>
        <p:txBody>
          <a:bodyPr wrap="square" lIns="0" tIns="0" rIns="0" bIns="0" rtlCol="0" anchor="ctr"/>
          <a:lstStyle/>
          <a:p>
            <a:pPr indent="0" marL="0">
              <a:buNone/>
            </a:pPr>
            <a:r>
              <a:rPr lang="en-US" sz="1300" b="1" dirty="0">
                <a:solidFill>
                  <a:srgbClr val="16A34A"/>
                </a:solidFill>
                <a:latin typeface="Calibri" pitchFamily="34" charset="0"/>
                <a:ea typeface="Calibri" pitchFamily="34" charset="-122"/>
                <a:cs typeface="Calibri" pitchFamily="34" charset="-120"/>
              </a:rPr>
              <a:t>Parameters at a glance:</a:t>
            </a:r>
            <a:endParaRPr lang="en-US" sz="1300" dirty="0"/>
          </a:p>
        </p:txBody>
      </p:sp>
      <p:sp>
        <p:nvSpPr>
          <p:cNvPr id="46" name="Text 44"/>
          <p:cNvSpPr/>
          <p:nvPr/>
        </p:nvSpPr>
        <p:spPr>
          <a:xfrm>
            <a:off x="3493008" y="5596128"/>
            <a:ext cx="713232" cy="256032"/>
          </a:xfrm>
          <a:prstGeom prst="rect">
            <a:avLst/>
          </a:prstGeom>
          <a:noFill/>
          <a:ln/>
        </p:spPr>
        <p:txBody>
          <a:bodyPr wrap="square" lIns="0" tIns="0" rIns="0" bIns="0" rtlCol="0" anchor="ctr"/>
          <a:lstStyle/>
          <a:p>
            <a:pPr indent="0" marL="0">
              <a:buNone/>
            </a:pPr>
            <a:r>
              <a:rPr lang="en-US" sz="1100" b="1" dirty="0">
                <a:solidFill>
                  <a:srgbClr val="16A34A"/>
                </a:solidFill>
                <a:latin typeface="Courier New" pitchFamily="34" charset="0"/>
                <a:ea typeface="Courier New" pitchFamily="34" charset="-122"/>
                <a:cs typeface="Courier New" pitchFamily="34" charset="-120"/>
              </a:rPr>
              <a:t>model: </a:t>
            </a:r>
            <a:endParaRPr lang="en-US" sz="1100" dirty="0"/>
          </a:p>
        </p:txBody>
      </p:sp>
      <p:sp>
        <p:nvSpPr>
          <p:cNvPr id="47" name="Text 45"/>
          <p:cNvSpPr/>
          <p:nvPr/>
        </p:nvSpPr>
        <p:spPr>
          <a:xfrm>
            <a:off x="4251960" y="5596128"/>
            <a:ext cx="713232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tts-1 (fast, $0.015/1k chars) or tts-1-hd (higher quality, $0.030/1k chars)</a:t>
            </a:r>
            <a:endParaRPr lang="en-US" sz="1100" dirty="0"/>
          </a:p>
        </p:txBody>
      </p:sp>
      <p:sp>
        <p:nvSpPr>
          <p:cNvPr id="48" name="Text 46"/>
          <p:cNvSpPr/>
          <p:nvPr/>
        </p:nvSpPr>
        <p:spPr>
          <a:xfrm>
            <a:off x="3493008" y="5870448"/>
            <a:ext cx="713232" cy="256032"/>
          </a:xfrm>
          <a:prstGeom prst="rect">
            <a:avLst/>
          </a:prstGeom>
          <a:noFill/>
          <a:ln/>
        </p:spPr>
        <p:txBody>
          <a:bodyPr wrap="square" lIns="0" tIns="0" rIns="0" bIns="0" rtlCol="0" anchor="ctr"/>
          <a:lstStyle/>
          <a:p>
            <a:pPr indent="0" marL="0">
              <a:buNone/>
            </a:pPr>
            <a:r>
              <a:rPr lang="en-US" sz="1100" b="1" dirty="0">
                <a:solidFill>
                  <a:srgbClr val="16A34A"/>
                </a:solidFill>
                <a:latin typeface="Courier New" pitchFamily="34" charset="0"/>
                <a:ea typeface="Courier New" pitchFamily="34" charset="-122"/>
                <a:cs typeface="Courier New" pitchFamily="34" charset="-120"/>
              </a:rPr>
              <a:t>speed: </a:t>
            </a:r>
            <a:endParaRPr lang="en-US" sz="1100" dirty="0"/>
          </a:p>
        </p:txBody>
      </p:sp>
      <p:sp>
        <p:nvSpPr>
          <p:cNvPr id="49" name="Text 47"/>
          <p:cNvSpPr/>
          <p:nvPr/>
        </p:nvSpPr>
        <p:spPr>
          <a:xfrm>
            <a:off x="4251960" y="5870448"/>
            <a:ext cx="713232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0.25 (slow/clear) to 4.0 (fast). Default 1.0. Great for accessibility use cases.</a:t>
            </a:r>
            <a:endParaRPr lang="en-US" sz="1100" dirty="0"/>
          </a:p>
        </p:txBody>
      </p:sp>
      <p:sp>
        <p:nvSpPr>
          <p:cNvPr id="50" name="Text 48"/>
          <p:cNvSpPr/>
          <p:nvPr/>
        </p:nvSpPr>
        <p:spPr>
          <a:xfrm>
            <a:off x="3493008" y="6144768"/>
            <a:ext cx="713232" cy="256032"/>
          </a:xfrm>
          <a:prstGeom prst="rect">
            <a:avLst/>
          </a:prstGeom>
          <a:noFill/>
          <a:ln/>
        </p:spPr>
        <p:txBody>
          <a:bodyPr wrap="square" lIns="0" tIns="0" rIns="0" bIns="0" rtlCol="0" anchor="ctr"/>
          <a:lstStyle/>
          <a:p>
            <a:pPr indent="0" marL="0">
              <a:buNone/>
            </a:pPr>
            <a:r>
              <a:rPr lang="en-US" sz="1100" b="1" dirty="0">
                <a:solidFill>
                  <a:srgbClr val="16A34A"/>
                </a:solidFill>
                <a:latin typeface="Courier New" pitchFamily="34" charset="0"/>
                <a:ea typeface="Courier New" pitchFamily="34" charset="-122"/>
                <a:cs typeface="Courier New" pitchFamily="34" charset="-120"/>
              </a:rPr>
              <a:t>format: </a:t>
            </a:r>
            <a:endParaRPr lang="en-US" sz="1100" dirty="0"/>
          </a:p>
        </p:txBody>
      </p:sp>
      <p:sp>
        <p:nvSpPr>
          <p:cNvPr id="51" name="Text 49"/>
          <p:cNvSpPr/>
          <p:nvPr/>
        </p:nvSpPr>
        <p:spPr>
          <a:xfrm>
            <a:off x="4251960" y="6144768"/>
            <a:ext cx="713232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mp3 (default) · opus (smaller) · aac · flac · wav · pcm (streaming)</a:t>
            </a:r>
            <a:endParaRPr lang="en-US" sz="1100" dirty="0"/>
          </a:p>
        </p:txBody>
      </p:sp>
      <p:sp>
        <p:nvSpPr>
          <p:cNvPr id="53" name="Shape 50"/>
          <p:cNvSpPr/>
          <p:nvPr/>
        </p:nvSpPr>
        <p:spPr>
          <a:xfrm>
            <a:off x="0" y="6583680"/>
            <a:ext cx="12191695" cy="274320"/>
          </a:xfrm>
          <a:prstGeom prst="rect">
            <a:avLst/>
          </a:prstGeom>
          <a:solidFill>
            <a:srgbClr val="16A34A">
              <a:alpha val="12000"/>
            </a:srgbClr>
          </a:solidFill>
          <a:ln w="12700">
            <a:solidFill>
              <a:srgbClr val="16A34A">
                <a:alpha val="35000"/>
              </a:srgbClr>
            </a:solidFill>
            <a:prstDash val="solid"/>
          </a:ln>
        </p:spPr>
      </p:sp>
      <p:sp>
        <p:nvSpPr>
          <p:cNvPr id="54" name="Text 51"/>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55" name="Text 52"/>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11 / 31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16A34A"/>
                </a:solidFill>
                <a:latin typeface="Calibri" pitchFamily="34" charset="0"/>
                <a:ea typeface="Calibri" pitchFamily="34" charset="-122"/>
                <a:cs typeface="Calibri" pitchFamily="34" charset="-120"/>
              </a:rPr>
              <a:t>TTS — HOW NEURAL VOICE SYNTHESIS WORKS</a:t>
            </a:r>
            <a:endParaRPr lang="en-US" sz="1200" dirty="0"/>
          </a:p>
        </p:txBody>
      </p:sp>
      <p:sp>
        <p:nvSpPr>
          <p:cNvPr id="3" name="Text 1"/>
          <p:cNvSpPr/>
          <p:nvPr/>
        </p:nvSpPr>
        <p:spPr>
          <a:xfrm>
            <a:off x="685800" y="749808"/>
            <a:ext cx="10789920" cy="868680"/>
          </a:xfrm>
          <a:prstGeom prst="rect">
            <a:avLst/>
          </a:prstGeom>
          <a:noFill/>
          <a:ln/>
        </p:spPr>
        <p:txBody>
          <a:bodyPr wrap="square" lIns="0" tIns="0" rIns="0" bIns="0" rtlCol="0" anchor="ctr"/>
          <a:lstStyle/>
          <a:p>
            <a:pPr indent="0" marL="0">
              <a:lnSpc>
                <a:spcPct val="105000"/>
              </a:lnSpc>
              <a:buNone/>
            </a:pPr>
            <a:r>
              <a:rPr lang="en-US" sz="3000" b="1" dirty="0">
                <a:solidFill>
                  <a:srgbClr val="475569"/>
                </a:solidFill>
                <a:latin typeface="Calibri" pitchFamily="34" charset="0"/>
                <a:ea typeface="Calibri" pitchFamily="34" charset="-122"/>
                <a:cs typeface="Calibri" pitchFamily="34" charset="-120"/>
              </a:rPr>
              <a:t>The same transformer architecture — but generating audio tokens.</a:t>
            </a:r>
            <a:endParaRPr lang="en-US" sz="3000" dirty="0"/>
          </a:p>
        </p:txBody>
      </p:sp>
      <p:sp>
        <p:nvSpPr>
          <p:cNvPr id="4" name="Shape 2"/>
          <p:cNvSpPr/>
          <p:nvPr/>
        </p:nvSpPr>
        <p:spPr>
          <a:xfrm>
            <a:off x="502920" y="1993392"/>
            <a:ext cx="2057400" cy="2450592"/>
          </a:xfrm>
          <a:prstGeom prst="roundRect">
            <a:avLst>
              <a:gd name="adj" fmla="val 4000"/>
            </a:avLst>
          </a:prstGeom>
          <a:solidFill>
            <a:srgbClr val="F8FAFC"/>
          </a:solidFill>
          <a:ln w="19050">
            <a:solidFill>
              <a:srgbClr val="16A34A">
                <a:alpha val="60000"/>
              </a:srgbClr>
            </a:solidFill>
            <a:prstDash val="solid"/>
          </a:ln>
          <a:effectLst>
            <a:outerShdw sx="100000" sy="100000" kx="0" ky="0" algn="bl" rotWithShape="0" blurRad="101600" dist="38100" dir="5400000">
              <a:srgbClr val="000000">
                <a:alpha val="13000"/>
              </a:srgbClr>
            </a:outerShdw>
          </a:effectLst>
        </p:spPr>
      </p:sp>
      <p:sp>
        <p:nvSpPr>
          <p:cNvPr id="5" name="Text 3"/>
          <p:cNvSpPr/>
          <p:nvPr/>
        </p:nvSpPr>
        <p:spPr>
          <a:xfrm>
            <a:off x="1005840" y="2103120"/>
            <a:ext cx="960120" cy="50292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6" name="Text 4"/>
          <p:cNvSpPr/>
          <p:nvPr/>
        </p:nvSpPr>
        <p:spPr>
          <a:xfrm>
            <a:off x="640080" y="2670048"/>
            <a:ext cx="1810512" cy="457200"/>
          </a:xfrm>
          <a:prstGeom prst="rect">
            <a:avLst/>
          </a:prstGeom>
          <a:noFill/>
          <a:ln/>
        </p:spPr>
        <p:txBody>
          <a:bodyPr wrap="square" lIns="0" tIns="0" rIns="0" bIns="0" rtlCol="0" anchor="ctr"/>
          <a:lstStyle/>
          <a:p>
            <a:pPr indent="0" marL="0">
              <a:lnSpc>
                <a:spcPct val="110000"/>
              </a:lnSpc>
              <a:buNone/>
            </a:pPr>
            <a:r>
              <a:rPr lang="en-US" sz="1300" b="1" dirty="0">
                <a:solidFill>
                  <a:srgbClr val="16A34A"/>
                </a:solidFill>
                <a:latin typeface="Calibri" pitchFamily="34" charset="0"/>
                <a:ea typeface="Calibri" pitchFamily="34" charset="-122"/>
                <a:cs typeface="Calibri" pitchFamily="34" charset="-120"/>
              </a:rPr>
              <a:t>Text input</a:t>
            </a:r>
            <a:endParaRPr lang="en-US" sz="1300" dirty="0"/>
          </a:p>
        </p:txBody>
      </p:sp>
      <p:sp>
        <p:nvSpPr>
          <p:cNvPr id="7" name="Shape 5"/>
          <p:cNvSpPr/>
          <p:nvPr/>
        </p:nvSpPr>
        <p:spPr>
          <a:xfrm>
            <a:off x="685800" y="3182112"/>
            <a:ext cx="1719072" cy="0"/>
          </a:xfrm>
          <a:prstGeom prst="line">
            <a:avLst/>
          </a:prstGeom>
          <a:noFill/>
          <a:ln w="9525">
            <a:solidFill>
              <a:srgbClr val="16A34A">
                <a:alpha val="45000"/>
              </a:srgbClr>
            </a:solidFill>
            <a:prstDash val="solid"/>
          </a:ln>
        </p:spPr>
      </p:sp>
      <p:sp>
        <p:nvSpPr>
          <p:cNvPr id="8" name="Text 6"/>
          <p:cNvSpPr/>
          <p:nvPr/>
        </p:nvSpPr>
        <p:spPr>
          <a:xfrm>
            <a:off x="640080" y="3273552"/>
            <a:ext cx="1810512" cy="105156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'Task added: deploy by Thursday' — your string</a:t>
            </a:r>
            <a:endParaRPr lang="en-US" sz="1100" dirty="0"/>
          </a:p>
        </p:txBody>
      </p:sp>
      <p:sp>
        <p:nvSpPr>
          <p:cNvPr id="9" name="Shape 7"/>
          <p:cNvSpPr/>
          <p:nvPr/>
        </p:nvSpPr>
        <p:spPr>
          <a:xfrm>
            <a:off x="2587752" y="3200400"/>
            <a:ext cx="137160" cy="0"/>
          </a:xfrm>
          <a:prstGeom prst="line">
            <a:avLst/>
          </a:prstGeom>
          <a:noFill/>
          <a:ln w="25400">
            <a:solidFill>
              <a:srgbClr val="16A34A"/>
            </a:solidFill>
            <a:prstDash val="solid"/>
            <a:tailEnd type="triangle"/>
          </a:ln>
        </p:spPr>
      </p:sp>
      <p:sp>
        <p:nvSpPr>
          <p:cNvPr id="10" name="Shape 8"/>
          <p:cNvSpPr/>
          <p:nvPr/>
        </p:nvSpPr>
        <p:spPr>
          <a:xfrm>
            <a:off x="2743200" y="1993392"/>
            <a:ext cx="2057400" cy="2450592"/>
          </a:xfrm>
          <a:prstGeom prst="roundRect">
            <a:avLst>
              <a:gd name="adj" fmla="val 4000"/>
            </a:avLst>
          </a:prstGeom>
          <a:solidFill>
            <a:srgbClr val="F8FAFC"/>
          </a:solidFill>
          <a:ln w="19050">
            <a:solidFill>
              <a:srgbClr val="0891B2">
                <a:alpha val="60000"/>
              </a:srgbClr>
            </a:solidFill>
            <a:prstDash val="solid"/>
          </a:ln>
          <a:effectLst>
            <a:outerShdw sx="100000" sy="100000" kx="0" ky="0" algn="bl" rotWithShape="0" blurRad="101600" dist="38100" dir="5400000">
              <a:srgbClr val="000000">
                <a:alpha val="13000"/>
              </a:srgbClr>
            </a:outerShdw>
          </a:effectLst>
        </p:spPr>
      </p:sp>
      <p:sp>
        <p:nvSpPr>
          <p:cNvPr id="11" name="Text 9"/>
          <p:cNvSpPr/>
          <p:nvPr/>
        </p:nvSpPr>
        <p:spPr>
          <a:xfrm>
            <a:off x="3246120" y="2103120"/>
            <a:ext cx="960120" cy="50292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2880360" y="2670048"/>
            <a:ext cx="1810512" cy="457200"/>
          </a:xfrm>
          <a:prstGeom prst="rect">
            <a:avLst/>
          </a:prstGeom>
          <a:noFill/>
          <a:ln/>
        </p:spPr>
        <p:txBody>
          <a:bodyPr wrap="square" lIns="0" tIns="0" rIns="0" bIns="0" rtlCol="0" anchor="ctr"/>
          <a:lstStyle/>
          <a:p>
            <a:pPr indent="0" marL="0">
              <a:lnSpc>
                <a:spcPct val="110000"/>
              </a:lnSpc>
              <a:buNone/>
            </a:pPr>
            <a:r>
              <a:rPr lang="en-US" sz="1300" b="1" dirty="0">
                <a:solidFill>
                  <a:srgbClr val="0891B2"/>
                </a:solidFill>
                <a:latin typeface="Calibri" pitchFamily="34" charset="0"/>
                <a:ea typeface="Calibri" pitchFamily="34" charset="-122"/>
                <a:cs typeface="Calibri" pitchFamily="34" charset="-120"/>
              </a:rPr>
              <a:t>Text tokenisation</a:t>
            </a:r>
            <a:endParaRPr lang="en-US" sz="1300" dirty="0"/>
          </a:p>
        </p:txBody>
      </p:sp>
      <p:sp>
        <p:nvSpPr>
          <p:cNvPr id="13" name="Shape 11"/>
          <p:cNvSpPr/>
          <p:nvPr/>
        </p:nvSpPr>
        <p:spPr>
          <a:xfrm>
            <a:off x="2926080" y="3182112"/>
            <a:ext cx="1719072" cy="0"/>
          </a:xfrm>
          <a:prstGeom prst="line">
            <a:avLst/>
          </a:prstGeom>
          <a:noFill/>
          <a:ln w="9525">
            <a:solidFill>
              <a:srgbClr val="0891B2">
                <a:alpha val="45000"/>
              </a:srgbClr>
            </a:solidFill>
            <a:prstDash val="solid"/>
          </a:ln>
        </p:spPr>
      </p:sp>
      <p:sp>
        <p:nvSpPr>
          <p:cNvPr id="14" name="Text 12"/>
          <p:cNvSpPr/>
          <p:nvPr/>
        </p:nvSpPr>
        <p:spPr>
          <a:xfrm>
            <a:off x="2880360" y="3273552"/>
            <a:ext cx="1810512" cy="105156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Words become tokens — the same process as LLM tokenisation</a:t>
            </a:r>
            <a:endParaRPr lang="en-US" sz="1100" dirty="0"/>
          </a:p>
        </p:txBody>
      </p:sp>
      <p:sp>
        <p:nvSpPr>
          <p:cNvPr id="15" name="Shape 13"/>
          <p:cNvSpPr/>
          <p:nvPr/>
        </p:nvSpPr>
        <p:spPr>
          <a:xfrm>
            <a:off x="4828032" y="3200400"/>
            <a:ext cx="137160" cy="0"/>
          </a:xfrm>
          <a:prstGeom prst="line">
            <a:avLst/>
          </a:prstGeom>
          <a:noFill/>
          <a:ln w="25400">
            <a:solidFill>
              <a:srgbClr val="0891B2"/>
            </a:solidFill>
            <a:prstDash val="solid"/>
            <a:tailEnd type="triangle"/>
          </a:ln>
        </p:spPr>
      </p:sp>
      <p:sp>
        <p:nvSpPr>
          <p:cNvPr id="16" name="Shape 14"/>
          <p:cNvSpPr/>
          <p:nvPr/>
        </p:nvSpPr>
        <p:spPr>
          <a:xfrm>
            <a:off x="4983480" y="1993392"/>
            <a:ext cx="2057400" cy="2450592"/>
          </a:xfrm>
          <a:prstGeom prst="roundRect">
            <a:avLst>
              <a:gd name="adj" fmla="val 4000"/>
            </a:avLst>
          </a:prstGeom>
          <a:solidFill>
            <a:srgbClr val="F8FAFC"/>
          </a:solidFill>
          <a:ln w="19050">
            <a:solidFill>
              <a:srgbClr val="7C3AED">
                <a:alpha val="60000"/>
              </a:srgbClr>
            </a:solidFill>
            <a:prstDash val="solid"/>
          </a:ln>
          <a:effectLst>
            <a:outerShdw sx="100000" sy="100000" kx="0" ky="0" algn="bl" rotWithShape="0" blurRad="101600" dist="38100" dir="5400000">
              <a:srgbClr val="000000">
                <a:alpha val="13000"/>
              </a:srgbClr>
            </a:outerShdw>
          </a:effectLst>
        </p:spPr>
      </p:sp>
      <p:sp>
        <p:nvSpPr>
          <p:cNvPr id="17" name="Text 15"/>
          <p:cNvSpPr/>
          <p:nvPr/>
        </p:nvSpPr>
        <p:spPr>
          <a:xfrm>
            <a:off x="5486400" y="2103120"/>
            <a:ext cx="960120" cy="50292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8" name="Text 16"/>
          <p:cNvSpPr/>
          <p:nvPr/>
        </p:nvSpPr>
        <p:spPr>
          <a:xfrm>
            <a:off x="5120640" y="2670048"/>
            <a:ext cx="1810512" cy="457200"/>
          </a:xfrm>
          <a:prstGeom prst="rect">
            <a:avLst/>
          </a:prstGeom>
          <a:noFill/>
          <a:ln/>
        </p:spPr>
        <p:txBody>
          <a:bodyPr wrap="square" lIns="0" tIns="0" rIns="0" bIns="0" rtlCol="0" anchor="ctr"/>
          <a:lstStyle/>
          <a:p>
            <a:pPr indent="0" marL="0">
              <a:lnSpc>
                <a:spcPct val="110000"/>
              </a:lnSpc>
              <a:buNone/>
            </a:pPr>
            <a:r>
              <a:rPr lang="en-US" sz="1300" b="1" dirty="0">
                <a:solidFill>
                  <a:srgbClr val="7C3AED"/>
                </a:solidFill>
                <a:latin typeface="Calibri" pitchFamily="34" charset="0"/>
                <a:ea typeface="Calibri" pitchFamily="34" charset="-122"/>
                <a:cs typeface="Calibri" pitchFamily="34" charset="-120"/>
              </a:rPr>
              <a:t>Acoustic tokens</a:t>
            </a:r>
            <a:endParaRPr lang="en-US" sz="1300" dirty="0"/>
          </a:p>
        </p:txBody>
      </p:sp>
      <p:sp>
        <p:nvSpPr>
          <p:cNvPr id="19" name="Shape 17"/>
          <p:cNvSpPr/>
          <p:nvPr/>
        </p:nvSpPr>
        <p:spPr>
          <a:xfrm>
            <a:off x="5166360" y="3182112"/>
            <a:ext cx="1719072" cy="0"/>
          </a:xfrm>
          <a:prstGeom prst="line">
            <a:avLst/>
          </a:prstGeom>
          <a:noFill/>
          <a:ln w="9525">
            <a:solidFill>
              <a:srgbClr val="7C3AED">
                <a:alpha val="45000"/>
              </a:srgbClr>
            </a:solidFill>
            <a:prstDash val="solid"/>
          </a:ln>
        </p:spPr>
      </p:sp>
      <p:sp>
        <p:nvSpPr>
          <p:cNvPr id="20" name="Text 18"/>
          <p:cNvSpPr/>
          <p:nvPr/>
        </p:nvSpPr>
        <p:spPr>
          <a:xfrm>
            <a:off x="5120640" y="3273552"/>
            <a:ext cx="1810512" cy="105156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Tokens mapped to discrete audio codes (codec tokens represent spectral features)</a:t>
            </a:r>
            <a:endParaRPr lang="en-US" sz="1100" dirty="0"/>
          </a:p>
        </p:txBody>
      </p:sp>
      <p:sp>
        <p:nvSpPr>
          <p:cNvPr id="21" name="Shape 19"/>
          <p:cNvSpPr/>
          <p:nvPr/>
        </p:nvSpPr>
        <p:spPr>
          <a:xfrm>
            <a:off x="7068312" y="3200400"/>
            <a:ext cx="137160" cy="0"/>
          </a:xfrm>
          <a:prstGeom prst="line">
            <a:avLst/>
          </a:prstGeom>
          <a:noFill/>
          <a:ln w="25400">
            <a:solidFill>
              <a:srgbClr val="7C3AED"/>
            </a:solidFill>
            <a:prstDash val="solid"/>
            <a:tailEnd type="triangle"/>
          </a:ln>
        </p:spPr>
      </p:sp>
      <p:sp>
        <p:nvSpPr>
          <p:cNvPr id="22" name="Shape 20"/>
          <p:cNvSpPr/>
          <p:nvPr/>
        </p:nvSpPr>
        <p:spPr>
          <a:xfrm>
            <a:off x="7223760" y="1993392"/>
            <a:ext cx="2057400" cy="2450592"/>
          </a:xfrm>
          <a:prstGeom prst="roundRect">
            <a:avLst>
              <a:gd name="adj" fmla="val 4000"/>
            </a:avLst>
          </a:prstGeom>
          <a:solidFill>
            <a:srgbClr val="F8FAFC"/>
          </a:solidFill>
          <a:ln w="19050">
            <a:solidFill>
              <a:srgbClr val="D97706">
                <a:alpha val="60000"/>
              </a:srgbClr>
            </a:solidFill>
            <a:prstDash val="solid"/>
          </a:ln>
          <a:effectLst>
            <a:outerShdw sx="100000" sy="100000" kx="0" ky="0" algn="bl" rotWithShape="0" blurRad="101600" dist="38100" dir="5400000">
              <a:srgbClr val="000000">
                <a:alpha val="13000"/>
              </a:srgbClr>
            </a:outerShdw>
          </a:effectLst>
        </p:spPr>
      </p:sp>
      <p:sp>
        <p:nvSpPr>
          <p:cNvPr id="23" name="Text 21"/>
          <p:cNvSpPr/>
          <p:nvPr/>
        </p:nvSpPr>
        <p:spPr>
          <a:xfrm>
            <a:off x="7726680" y="2103120"/>
            <a:ext cx="960120" cy="50292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4" name="Text 22"/>
          <p:cNvSpPr/>
          <p:nvPr/>
        </p:nvSpPr>
        <p:spPr>
          <a:xfrm>
            <a:off x="7360920" y="2670048"/>
            <a:ext cx="1810512" cy="457200"/>
          </a:xfrm>
          <a:prstGeom prst="rect">
            <a:avLst/>
          </a:prstGeom>
          <a:noFill/>
          <a:ln/>
        </p:spPr>
        <p:txBody>
          <a:bodyPr wrap="square" lIns="0" tIns="0" rIns="0" bIns="0" rtlCol="0" anchor="ctr"/>
          <a:lstStyle/>
          <a:p>
            <a:pPr indent="0" marL="0">
              <a:lnSpc>
                <a:spcPct val="110000"/>
              </a:lnSpc>
              <a:buNone/>
            </a:pPr>
            <a:r>
              <a:rPr lang="en-US" sz="1300" b="1" dirty="0">
                <a:solidFill>
                  <a:srgbClr val="D97706"/>
                </a:solidFill>
                <a:latin typeface="Calibri" pitchFamily="34" charset="0"/>
                <a:ea typeface="Calibri" pitchFamily="34" charset="-122"/>
                <a:cs typeface="Calibri" pitchFamily="34" charset="-120"/>
              </a:rPr>
              <a:t>Neural vocoder</a:t>
            </a:r>
            <a:endParaRPr lang="en-US" sz="1300" dirty="0"/>
          </a:p>
        </p:txBody>
      </p:sp>
      <p:sp>
        <p:nvSpPr>
          <p:cNvPr id="25" name="Shape 23"/>
          <p:cNvSpPr/>
          <p:nvPr/>
        </p:nvSpPr>
        <p:spPr>
          <a:xfrm>
            <a:off x="7406640" y="3182112"/>
            <a:ext cx="1719072" cy="0"/>
          </a:xfrm>
          <a:prstGeom prst="line">
            <a:avLst/>
          </a:prstGeom>
          <a:noFill/>
          <a:ln w="9525">
            <a:solidFill>
              <a:srgbClr val="D97706">
                <a:alpha val="45000"/>
              </a:srgbClr>
            </a:solidFill>
            <a:prstDash val="solid"/>
          </a:ln>
        </p:spPr>
      </p:sp>
      <p:sp>
        <p:nvSpPr>
          <p:cNvPr id="26" name="Text 24"/>
          <p:cNvSpPr/>
          <p:nvPr/>
        </p:nvSpPr>
        <p:spPr>
          <a:xfrm>
            <a:off x="7360920" y="3273552"/>
            <a:ext cx="1810512" cy="105156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Acoustic tokens converted to continuous waveform (audio samples)</a:t>
            </a:r>
            <a:endParaRPr lang="en-US" sz="1100" dirty="0"/>
          </a:p>
        </p:txBody>
      </p:sp>
      <p:sp>
        <p:nvSpPr>
          <p:cNvPr id="27" name="Shape 25"/>
          <p:cNvSpPr/>
          <p:nvPr/>
        </p:nvSpPr>
        <p:spPr>
          <a:xfrm>
            <a:off x="9308592" y="3200400"/>
            <a:ext cx="137160" cy="0"/>
          </a:xfrm>
          <a:prstGeom prst="line">
            <a:avLst/>
          </a:prstGeom>
          <a:noFill/>
          <a:ln w="25400">
            <a:solidFill>
              <a:srgbClr val="D97706"/>
            </a:solidFill>
            <a:prstDash val="solid"/>
            <a:tailEnd type="triangle"/>
          </a:ln>
        </p:spPr>
      </p:sp>
      <p:sp>
        <p:nvSpPr>
          <p:cNvPr id="28" name="Shape 26"/>
          <p:cNvSpPr/>
          <p:nvPr/>
        </p:nvSpPr>
        <p:spPr>
          <a:xfrm>
            <a:off x="9464040" y="1993392"/>
            <a:ext cx="2057400" cy="2450592"/>
          </a:xfrm>
          <a:prstGeom prst="roundRect">
            <a:avLst>
              <a:gd name="adj" fmla="val 4000"/>
            </a:avLst>
          </a:prstGeom>
          <a:solidFill>
            <a:srgbClr val="F8FAFC"/>
          </a:solidFill>
          <a:ln w="19050">
            <a:solidFill>
              <a:srgbClr val="E11D48">
                <a:alpha val="60000"/>
              </a:srgbClr>
            </a:solidFill>
            <a:prstDash val="solid"/>
          </a:ln>
          <a:effectLst>
            <a:outerShdw sx="100000" sy="100000" kx="0" ky="0" algn="bl" rotWithShape="0" blurRad="101600" dist="38100" dir="5400000">
              <a:srgbClr val="000000">
                <a:alpha val="13000"/>
              </a:srgbClr>
            </a:outerShdw>
          </a:effectLst>
        </p:spPr>
      </p:sp>
      <p:sp>
        <p:nvSpPr>
          <p:cNvPr id="29" name="Text 27"/>
          <p:cNvSpPr/>
          <p:nvPr/>
        </p:nvSpPr>
        <p:spPr>
          <a:xfrm>
            <a:off x="9966960" y="2103120"/>
            <a:ext cx="960120" cy="50292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30" name="Text 28"/>
          <p:cNvSpPr/>
          <p:nvPr/>
        </p:nvSpPr>
        <p:spPr>
          <a:xfrm>
            <a:off x="9601200" y="2670048"/>
            <a:ext cx="1810512" cy="457200"/>
          </a:xfrm>
          <a:prstGeom prst="rect">
            <a:avLst/>
          </a:prstGeom>
          <a:noFill/>
          <a:ln/>
        </p:spPr>
        <p:txBody>
          <a:bodyPr wrap="square" lIns="0" tIns="0" rIns="0" bIns="0" rtlCol="0" anchor="ctr"/>
          <a:lstStyle/>
          <a:p>
            <a:pPr indent="0" marL="0">
              <a:lnSpc>
                <a:spcPct val="110000"/>
              </a:lnSpc>
              <a:buNone/>
            </a:pPr>
            <a:r>
              <a:rPr lang="en-US" sz="1300" b="1" dirty="0">
                <a:solidFill>
                  <a:srgbClr val="E11D48"/>
                </a:solidFill>
                <a:latin typeface="Calibri" pitchFamily="34" charset="0"/>
                <a:ea typeface="Calibri" pitchFamily="34" charset="-122"/>
                <a:cs typeface="Calibri" pitchFamily="34" charset="-120"/>
              </a:rPr>
              <a:t>Audio file</a:t>
            </a:r>
            <a:endParaRPr lang="en-US" sz="1300" dirty="0"/>
          </a:p>
        </p:txBody>
      </p:sp>
      <p:sp>
        <p:nvSpPr>
          <p:cNvPr id="31" name="Shape 29"/>
          <p:cNvSpPr/>
          <p:nvPr/>
        </p:nvSpPr>
        <p:spPr>
          <a:xfrm>
            <a:off x="9646920" y="3182112"/>
            <a:ext cx="1719072" cy="0"/>
          </a:xfrm>
          <a:prstGeom prst="line">
            <a:avLst/>
          </a:prstGeom>
          <a:noFill/>
          <a:ln w="9525">
            <a:solidFill>
              <a:srgbClr val="E11D48">
                <a:alpha val="45000"/>
              </a:srgbClr>
            </a:solidFill>
            <a:prstDash val="solid"/>
          </a:ln>
        </p:spPr>
      </p:sp>
      <p:sp>
        <p:nvSpPr>
          <p:cNvPr id="32" name="Text 30"/>
          <p:cNvSpPr/>
          <p:nvPr/>
        </p:nvSpPr>
        <p:spPr>
          <a:xfrm>
            <a:off x="9601200" y="3273552"/>
            <a:ext cx="1810512" cy="105156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MP3/WAV bytes sent back — ready to play in 100–500ms</a:t>
            </a:r>
            <a:endParaRPr lang="en-US" sz="1100" dirty="0"/>
          </a:p>
        </p:txBody>
      </p:sp>
      <p:sp>
        <p:nvSpPr>
          <p:cNvPr id="33" name="Shape 31"/>
          <p:cNvSpPr/>
          <p:nvPr/>
        </p:nvSpPr>
        <p:spPr>
          <a:xfrm>
            <a:off x="502920" y="4681728"/>
            <a:ext cx="3639312" cy="1627632"/>
          </a:xfrm>
          <a:prstGeom prst="roundRect">
            <a:avLst>
              <a:gd name="adj" fmla="val 5056"/>
            </a:avLst>
          </a:prstGeom>
          <a:solidFill>
            <a:srgbClr val="F8FAFC"/>
          </a:solidFill>
          <a:ln w="12700">
            <a:solidFill>
              <a:srgbClr val="16A34A">
                <a:alpha val="45000"/>
              </a:srgbClr>
            </a:solidFill>
            <a:prstDash val="solid"/>
          </a:ln>
        </p:spPr>
      </p:sp>
      <p:sp>
        <p:nvSpPr>
          <p:cNvPr id="34" name="Text 32"/>
          <p:cNvSpPr/>
          <p:nvPr/>
        </p:nvSpPr>
        <p:spPr>
          <a:xfrm>
            <a:off x="667512" y="4800600"/>
            <a:ext cx="3337560" cy="384048"/>
          </a:xfrm>
          <a:prstGeom prst="rect">
            <a:avLst/>
          </a:prstGeom>
          <a:noFill/>
          <a:ln/>
        </p:spPr>
        <p:txBody>
          <a:bodyPr wrap="square" lIns="0" tIns="0" rIns="0" bIns="0"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Why it sounds natural</a:t>
            </a:r>
            <a:endParaRPr lang="en-US" sz="1400" dirty="0"/>
          </a:p>
        </p:txBody>
      </p:sp>
      <p:sp>
        <p:nvSpPr>
          <p:cNvPr id="35" name="Text 33"/>
          <p:cNvSpPr/>
          <p:nvPr/>
        </p:nvSpPr>
        <p:spPr>
          <a:xfrm>
            <a:off x="667512" y="5230368"/>
            <a:ext cx="3337560" cy="960120"/>
          </a:xfrm>
          <a:prstGeom prst="rect">
            <a:avLst/>
          </a:prstGeom>
          <a:noFill/>
          <a:ln/>
        </p:spPr>
        <p:txBody>
          <a:bodyPr wrap="square" lIns="0" tIns="0" rIns="0" bIns="0" rtlCol="0" anchor="ctr"/>
          <a:lstStyle/>
          <a:p>
            <a:pPr indent="0" marL="0">
              <a:lnSpc>
                <a:spcPct val="130000"/>
              </a:lnSpc>
              <a:buNone/>
            </a:pPr>
            <a:r>
              <a:rPr lang="en-US" sz="1300" dirty="0">
                <a:solidFill>
                  <a:srgbClr val="475569"/>
                </a:solidFill>
                <a:latin typeface="Calibri" pitchFamily="34" charset="0"/>
                <a:ea typeface="Calibri" pitchFamily="34" charset="-122"/>
                <a:cs typeface="Calibri" pitchFamily="34" charset="-120"/>
              </a:rPr>
              <a:t>The model learned prosody, intonation, and rhythm from thousands of hours of human speech — not rules.</a:t>
            </a:r>
            <a:endParaRPr lang="en-US" sz="1300" dirty="0"/>
          </a:p>
        </p:txBody>
      </p:sp>
      <p:sp>
        <p:nvSpPr>
          <p:cNvPr id="36" name="Shape 34"/>
          <p:cNvSpPr/>
          <p:nvPr/>
        </p:nvSpPr>
        <p:spPr>
          <a:xfrm>
            <a:off x="4325112" y="4681728"/>
            <a:ext cx="3639312" cy="1627632"/>
          </a:xfrm>
          <a:prstGeom prst="roundRect">
            <a:avLst>
              <a:gd name="adj" fmla="val 5056"/>
            </a:avLst>
          </a:prstGeom>
          <a:solidFill>
            <a:srgbClr val="F8FAFC"/>
          </a:solidFill>
          <a:ln w="12700">
            <a:solidFill>
              <a:srgbClr val="0891B2">
                <a:alpha val="45000"/>
              </a:srgbClr>
            </a:solidFill>
            <a:prstDash val="solid"/>
          </a:ln>
        </p:spPr>
      </p:sp>
      <p:sp>
        <p:nvSpPr>
          <p:cNvPr id="37" name="Text 35"/>
          <p:cNvSpPr/>
          <p:nvPr/>
        </p:nvSpPr>
        <p:spPr>
          <a:xfrm>
            <a:off x="4489704" y="4800600"/>
            <a:ext cx="3337560" cy="384048"/>
          </a:xfrm>
          <a:prstGeom prst="rect">
            <a:avLst/>
          </a:prstGeom>
          <a:noFill/>
          <a:ln/>
        </p:spPr>
        <p:txBody>
          <a:bodyPr wrap="square" lIns="0" tIns="0" rIns="0" bIns="0" rtlCol="0" anchor="ctr"/>
          <a:lstStyle/>
          <a:p>
            <a:pPr indent="0" marL="0">
              <a:buNone/>
            </a:pPr>
            <a:r>
              <a:rPr lang="en-US" sz="1400" b="1" dirty="0">
                <a:solidFill>
                  <a:srgbClr val="0891B2"/>
                </a:solidFill>
                <a:latin typeface="Calibri" pitchFamily="34" charset="0"/>
                <a:ea typeface="Calibri" pitchFamily="34" charset="-122"/>
                <a:cs typeface="Calibri" pitchFamily="34" charset="-120"/>
              </a:rPr>
              <a:t>Latency vs quality</a:t>
            </a:r>
            <a:endParaRPr lang="en-US" sz="1400" dirty="0"/>
          </a:p>
        </p:txBody>
      </p:sp>
      <p:sp>
        <p:nvSpPr>
          <p:cNvPr id="38" name="Text 36"/>
          <p:cNvSpPr/>
          <p:nvPr/>
        </p:nvSpPr>
        <p:spPr>
          <a:xfrm>
            <a:off x="4489704" y="5230368"/>
            <a:ext cx="3337560" cy="960120"/>
          </a:xfrm>
          <a:prstGeom prst="rect">
            <a:avLst/>
          </a:prstGeom>
          <a:noFill/>
          <a:ln/>
        </p:spPr>
        <p:txBody>
          <a:bodyPr wrap="square" lIns="0" tIns="0" rIns="0" bIns="0" rtlCol="0" anchor="ctr"/>
          <a:lstStyle/>
          <a:p>
            <a:pPr indent="0" marL="0">
              <a:lnSpc>
                <a:spcPct val="130000"/>
              </a:lnSpc>
              <a:buNone/>
            </a:pPr>
            <a:r>
              <a:rPr lang="en-US" sz="1300" dirty="0">
                <a:solidFill>
                  <a:srgbClr val="475569"/>
                </a:solidFill>
                <a:latin typeface="Calibri" pitchFamily="34" charset="0"/>
                <a:ea typeface="Calibri" pitchFamily="34" charset="-122"/>
                <a:cs typeface="Calibri" pitchFamily="34" charset="-120"/>
              </a:rPr>
              <a:t>tts-1 is optimised for low latency (~100ms first byte). tts-1-hd trades latency for quality. For real-time voice apps use tts-1.</a:t>
            </a:r>
            <a:endParaRPr lang="en-US" sz="1300" dirty="0"/>
          </a:p>
        </p:txBody>
      </p:sp>
      <p:sp>
        <p:nvSpPr>
          <p:cNvPr id="39" name="Shape 37"/>
          <p:cNvSpPr/>
          <p:nvPr/>
        </p:nvSpPr>
        <p:spPr>
          <a:xfrm>
            <a:off x="8147304" y="4681728"/>
            <a:ext cx="3639312" cy="1627632"/>
          </a:xfrm>
          <a:prstGeom prst="roundRect">
            <a:avLst>
              <a:gd name="adj" fmla="val 5056"/>
            </a:avLst>
          </a:prstGeom>
          <a:solidFill>
            <a:srgbClr val="F8FAFC"/>
          </a:solidFill>
          <a:ln w="12700">
            <a:solidFill>
              <a:srgbClr val="7C3AED">
                <a:alpha val="45000"/>
              </a:srgbClr>
            </a:solidFill>
            <a:prstDash val="solid"/>
          </a:ln>
        </p:spPr>
      </p:sp>
      <p:sp>
        <p:nvSpPr>
          <p:cNvPr id="40" name="Text 38"/>
          <p:cNvSpPr/>
          <p:nvPr/>
        </p:nvSpPr>
        <p:spPr>
          <a:xfrm>
            <a:off x="8311896" y="4800600"/>
            <a:ext cx="3337560" cy="384048"/>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Streaming audio</a:t>
            </a:r>
            <a:endParaRPr lang="en-US" sz="1400" dirty="0"/>
          </a:p>
        </p:txBody>
      </p:sp>
      <p:sp>
        <p:nvSpPr>
          <p:cNvPr id="41" name="Text 39"/>
          <p:cNvSpPr/>
          <p:nvPr/>
        </p:nvSpPr>
        <p:spPr>
          <a:xfrm>
            <a:off x="8311896" y="5230368"/>
            <a:ext cx="3337560" cy="960120"/>
          </a:xfrm>
          <a:prstGeom prst="rect">
            <a:avLst/>
          </a:prstGeom>
          <a:noFill/>
          <a:ln/>
        </p:spPr>
        <p:txBody>
          <a:bodyPr wrap="square" lIns="0" tIns="0" rIns="0" bIns="0" rtlCol="0" anchor="ctr"/>
          <a:lstStyle/>
          <a:p>
            <a:pPr indent="0" marL="0">
              <a:lnSpc>
                <a:spcPct val="130000"/>
              </a:lnSpc>
              <a:buNone/>
            </a:pPr>
            <a:r>
              <a:rPr lang="en-US" sz="1300" dirty="0">
                <a:solidFill>
                  <a:srgbClr val="475569"/>
                </a:solidFill>
                <a:latin typeface="Calibri" pitchFamily="34" charset="0"/>
                <a:ea typeface="Calibri" pitchFamily="34" charset="-122"/>
                <a:cs typeface="Calibri" pitchFamily="34" charset="-120"/>
              </a:rPr>
              <a:t>For long text, stream the audio: client returns a Stream of bytes. Play the first chunk while the rest generates. Reduces perceived latency.</a:t>
            </a:r>
            <a:endParaRPr lang="en-US" sz="1300" dirty="0"/>
          </a:p>
        </p:txBody>
      </p:sp>
      <p:sp>
        <p:nvSpPr>
          <p:cNvPr id="43" name="Shape 40"/>
          <p:cNvSpPr/>
          <p:nvPr/>
        </p:nvSpPr>
        <p:spPr>
          <a:xfrm>
            <a:off x="0" y="6583680"/>
            <a:ext cx="12191695" cy="274320"/>
          </a:xfrm>
          <a:prstGeom prst="rect">
            <a:avLst/>
          </a:prstGeom>
          <a:solidFill>
            <a:srgbClr val="16A34A">
              <a:alpha val="12000"/>
            </a:srgbClr>
          </a:solidFill>
          <a:ln w="12700">
            <a:solidFill>
              <a:srgbClr val="16A34A">
                <a:alpha val="35000"/>
              </a:srgbClr>
            </a:solidFill>
            <a:prstDash val="solid"/>
          </a:ln>
        </p:spPr>
      </p:sp>
      <p:sp>
        <p:nvSpPr>
          <p:cNvPr id="44" name="Text 41"/>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45" name="Text 42"/>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12 / 31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F1A"/>
        </a:solidFill>
      </p:bgPr>
    </p:bg>
    <p:spTree>
      <p:nvGrpSpPr>
        <p:cNvPr id="1" name=""/>
        <p:cNvGrpSpPr/>
        <p:nvPr/>
      </p:nvGrpSpPr>
      <p:grpSpPr>
        <a:xfrm>
          <a:off x="0" y="0"/>
          <a:ext cx="0" cy="0"/>
          <a:chOff x="0" y="0"/>
          <a:chExt cx="0" cy="0"/>
        </a:xfrm>
      </p:grpSpPr>
      <p:sp>
        <p:nvSpPr>
          <p:cNvPr id="2" name="Text 0"/>
          <p:cNvSpPr/>
          <p:nvPr/>
        </p:nvSpPr>
        <p:spPr>
          <a:xfrm>
            <a:off x="6400800" y="-274320"/>
            <a:ext cx="6400800" cy="5029200"/>
          </a:xfrm>
          <a:prstGeom prst="rect">
            <a:avLst/>
          </a:prstGeom>
          <a:noFill/>
          <a:ln/>
        </p:spPr>
        <p:txBody>
          <a:bodyPr wrap="square" lIns="0" tIns="0" rIns="0" bIns="0" rtlCol="0" anchor="ctr"/>
          <a:lstStyle/>
          <a:p>
            <a:pPr indent="0" marL="0">
              <a:buNone/>
            </a:pPr>
            <a:r>
              <a:rPr lang="en-US" sz="20000" b="1" dirty="0">
                <a:solidFill>
                  <a:srgbClr val="D97706">
                    <a:alpha val="9000"/>
                  </a:srgbClr>
                </a:solidFill>
                <a:latin typeface="Calibri" pitchFamily="34" charset="0"/>
                <a:ea typeface="Calibri" pitchFamily="34" charset="-122"/>
                <a:cs typeface="Calibri" pitchFamily="34" charset="-120"/>
              </a:rPr>
              <a:t>The Voic</a:t>
            </a:r>
            <a:endParaRPr lang="en-US" sz="20000" dirty="0"/>
          </a:p>
        </p:txBody>
      </p:sp>
      <p:sp>
        <p:nvSpPr>
          <p:cNvPr id="3" name="Shape 1"/>
          <p:cNvSpPr/>
          <p:nvPr/>
        </p:nvSpPr>
        <p:spPr>
          <a:xfrm>
            <a:off x="475488" y="804672"/>
            <a:ext cx="749808" cy="749808"/>
          </a:xfrm>
          <a:prstGeom prst="roundRect">
            <a:avLst>
              <a:gd name="adj" fmla="val 12195"/>
            </a:avLst>
          </a:prstGeom>
          <a:solidFill>
            <a:srgbClr val="D97706"/>
          </a:solidFill>
          <a:ln w="12700">
            <a:solidFill>
              <a:srgbClr val="D97706"/>
            </a:solidFill>
            <a:prstDash val="solid"/>
          </a:ln>
        </p:spPr>
      </p:sp>
      <p:sp>
        <p:nvSpPr>
          <p:cNvPr id="4" name="Text 2"/>
          <p:cNvSpPr/>
          <p:nvPr/>
        </p:nvSpPr>
        <p:spPr>
          <a:xfrm>
            <a:off x="475488" y="804672"/>
            <a:ext cx="749808" cy="749808"/>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5" name="Text 3"/>
          <p:cNvSpPr/>
          <p:nvPr/>
        </p:nvSpPr>
        <p:spPr>
          <a:xfrm>
            <a:off x="1371600" y="841248"/>
            <a:ext cx="2743200" cy="292608"/>
          </a:xfrm>
          <a:prstGeom prst="rect">
            <a:avLst/>
          </a:prstGeom>
          <a:noFill/>
          <a:ln/>
        </p:spPr>
        <p:txBody>
          <a:bodyPr wrap="square" lIns="0" tIns="0" rIns="0" bIns="0" rtlCol="0" anchor="ctr"/>
          <a:lstStyle/>
          <a:p>
            <a:pPr indent="0" marL="0">
              <a:buNone/>
            </a:pPr>
            <a:r>
              <a:rPr lang="en-US" sz="1300" b="1" spc="500" kern="0" dirty="0">
                <a:solidFill>
                  <a:srgbClr val="D97706"/>
                </a:solidFill>
                <a:latin typeface="Calibri" pitchFamily="34" charset="0"/>
                <a:ea typeface="Calibri" pitchFamily="34" charset="-122"/>
                <a:cs typeface="Calibri" pitchFamily="34" charset="-120"/>
              </a:rPr>
              <a:t>SECTION</a:t>
            </a:r>
            <a:endParaRPr lang="en-US" sz="1300" dirty="0"/>
          </a:p>
        </p:txBody>
      </p:sp>
      <p:sp>
        <p:nvSpPr>
          <p:cNvPr id="6" name="Text 4"/>
          <p:cNvSpPr/>
          <p:nvPr/>
        </p:nvSpPr>
        <p:spPr>
          <a:xfrm>
            <a:off x="685800" y="1417320"/>
            <a:ext cx="9144000" cy="1920240"/>
          </a:xfrm>
          <a:prstGeom prst="rect">
            <a:avLst/>
          </a:prstGeom>
          <a:noFill/>
          <a:ln/>
        </p:spPr>
        <p:txBody>
          <a:bodyPr wrap="square" lIns="0" tIns="0" rIns="0" bIns="0" rtlCol="0" anchor="ctr"/>
          <a:lstStyle/>
          <a:p>
            <a:pPr indent="0" marL="0">
              <a:lnSpc>
                <a:spcPct val="104000"/>
              </a:lnSpc>
              <a:buNone/>
            </a:pPr>
            <a:r>
              <a:rPr lang="en-US" sz="5400" b="1" dirty="0">
                <a:solidFill>
                  <a:srgbClr val="FFFFFF"/>
                </a:solidFill>
                <a:latin typeface="Calibri" pitchFamily="34" charset="0"/>
                <a:ea typeface="Calibri" pitchFamily="34" charset="-122"/>
                <a:cs typeface="Calibri" pitchFamily="34" charset="-120"/>
              </a:rPr>
              <a:t>The Voice</a:t>
            </a:r>
            <a:endParaRPr lang="en-US" sz="5400" dirty="0"/>
          </a:p>
          <a:p>
            <a:pPr indent="0" marL="0">
              <a:lnSpc>
                <a:spcPct val="104000"/>
              </a:lnSpc>
              <a:buNone/>
            </a:pPr>
            <a:r>
              <a:rPr lang="en-US" sz="5400" b="1" dirty="0">
                <a:solidFill>
                  <a:srgbClr val="FFFFFF"/>
                </a:solidFill>
                <a:latin typeface="Calibri" pitchFamily="34" charset="0"/>
                <a:ea typeface="Calibri" pitchFamily="34" charset="-122"/>
                <a:cs typeface="Calibri" pitchFamily="34" charset="-120"/>
              </a:rPr>
              <a:t>Loop</a:t>
            </a:r>
            <a:endParaRPr lang="en-US" sz="5400" dirty="0"/>
          </a:p>
        </p:txBody>
      </p:sp>
      <p:sp>
        <p:nvSpPr>
          <p:cNvPr id="7" name="Text 5"/>
          <p:cNvSpPr/>
          <p:nvPr/>
        </p:nvSpPr>
        <p:spPr>
          <a:xfrm>
            <a:off x="685800" y="3493008"/>
            <a:ext cx="9144000" cy="777240"/>
          </a:xfrm>
          <a:prstGeom prst="rect">
            <a:avLst/>
          </a:prstGeom>
          <a:noFill/>
          <a:ln/>
        </p:spPr>
        <p:txBody>
          <a:bodyPr wrap="square" lIns="0" tIns="0" rIns="0" bIns="0" rtlCol="0" anchor="ctr"/>
          <a:lstStyle/>
          <a:p>
            <a:pPr indent="0" marL="0">
              <a:lnSpc>
                <a:spcPct val="130000"/>
              </a:lnSpc>
              <a:buNone/>
            </a:pPr>
            <a:r>
              <a:rPr lang="en-US" sz="2000" dirty="0">
                <a:solidFill>
                  <a:srgbClr val="8B92B8"/>
                </a:solidFill>
                <a:latin typeface="Calibri" pitchFamily="34" charset="0"/>
                <a:ea typeface="Calibri" pitchFamily="34" charset="-122"/>
                <a:cs typeface="Calibri" pitchFamily="34" charset="-120"/>
              </a:rPr>
              <a:t>Speak → think → reply. Three APIs, one chain. The foundation of every voice AI app.</a:t>
            </a:r>
            <a:endParaRPr lang="en-US" sz="2000" dirty="0"/>
          </a:p>
        </p:txBody>
      </p:sp>
      <p:sp>
        <p:nvSpPr>
          <p:cNvPr id="9" name="Shape 6"/>
          <p:cNvSpPr/>
          <p:nvPr/>
        </p:nvSpPr>
        <p:spPr>
          <a:xfrm>
            <a:off x="0" y="6583680"/>
            <a:ext cx="12191695" cy="274320"/>
          </a:xfrm>
          <a:prstGeom prst="rect">
            <a:avLst/>
          </a:prstGeom>
          <a:solidFill>
            <a:srgbClr val="D97706">
              <a:alpha val="12000"/>
            </a:srgbClr>
          </a:solidFill>
          <a:ln w="12700">
            <a:solidFill>
              <a:srgbClr val="D97706">
                <a:alpha val="35000"/>
              </a:srgbClr>
            </a:solidFill>
            <a:prstDash val="solid"/>
          </a:ln>
        </p:spPr>
      </p:sp>
      <p:sp>
        <p:nvSpPr>
          <p:cNvPr id="10" name="Text 7"/>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1" name="Text 8"/>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13 / 31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D97706"/>
                </a:solidFill>
                <a:latin typeface="Calibri" pitchFamily="34" charset="0"/>
                <a:ea typeface="Calibri" pitchFamily="34" charset="-122"/>
                <a:cs typeface="Calibri" pitchFamily="34" charset="-120"/>
              </a:rPr>
              <a:t>THE VOICE LOOP — FULL ARCHITECTURE</a:t>
            </a:r>
            <a:endParaRPr lang="en-US" sz="1200" dirty="0"/>
          </a:p>
        </p:txBody>
      </p:sp>
      <p:sp>
        <p:nvSpPr>
          <p:cNvPr id="3" name="Text 1"/>
          <p:cNvSpPr/>
          <p:nvPr/>
        </p:nvSpPr>
        <p:spPr>
          <a:xfrm>
            <a:off x="685800" y="749808"/>
            <a:ext cx="10789920" cy="868680"/>
          </a:xfrm>
          <a:prstGeom prst="rect">
            <a:avLst/>
          </a:prstGeom>
          <a:noFill/>
          <a:ln/>
        </p:spPr>
        <p:txBody>
          <a:bodyPr wrap="square" lIns="0" tIns="0" rIns="0" bIns="0" rtlCol="0" anchor="ctr"/>
          <a:lstStyle/>
          <a:p>
            <a:pPr indent="0" marL="0">
              <a:lnSpc>
                <a:spcPct val="105000"/>
              </a:lnSpc>
              <a:buNone/>
            </a:pPr>
            <a:r>
              <a:rPr lang="en-US" sz="3000" b="1" dirty="0">
                <a:solidFill>
                  <a:srgbClr val="475569"/>
                </a:solidFill>
                <a:latin typeface="Calibri" pitchFamily="34" charset="0"/>
                <a:ea typeface="Calibri" pitchFamily="34" charset="-122"/>
                <a:cs typeface="Calibri" pitchFamily="34" charset="-120"/>
              </a:rPr>
              <a:t>Three APIs. One user experience: speak, wait 2 seconds, hear reply.</a:t>
            </a:r>
            <a:endParaRPr lang="en-US" sz="3000" dirty="0"/>
          </a:p>
        </p:txBody>
      </p:sp>
      <p:sp>
        <p:nvSpPr>
          <p:cNvPr id="4" name="Shape 2"/>
          <p:cNvSpPr/>
          <p:nvPr/>
        </p:nvSpPr>
        <p:spPr>
          <a:xfrm>
            <a:off x="502920" y="2395728"/>
            <a:ext cx="1481328" cy="1627632"/>
          </a:xfrm>
          <a:prstGeom prst="roundRect">
            <a:avLst>
              <a:gd name="adj" fmla="val 5556"/>
            </a:avLst>
          </a:prstGeom>
          <a:solidFill>
            <a:srgbClr val="F8FAFC"/>
          </a:solidFill>
          <a:ln w="19050">
            <a:solidFill>
              <a:srgbClr val="7C3AED">
                <a:alpha val="60000"/>
              </a:srgbClr>
            </a:solidFill>
            <a:prstDash val="solid"/>
          </a:ln>
          <a:effectLst>
            <a:outerShdw sx="100000" sy="100000" kx="0" ky="0" algn="bl" rotWithShape="0" blurRad="101600" dist="38100" dir="5400000">
              <a:srgbClr val="000000">
                <a:alpha val="13000"/>
              </a:srgbClr>
            </a:outerShdw>
          </a:effectLst>
        </p:spPr>
      </p:sp>
      <p:sp>
        <p:nvSpPr>
          <p:cNvPr id="5" name="Text 3"/>
          <p:cNvSpPr/>
          <p:nvPr/>
        </p:nvSpPr>
        <p:spPr>
          <a:xfrm>
            <a:off x="822960" y="2487168"/>
            <a:ext cx="804672"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594360" y="3035808"/>
            <a:ext cx="1325880" cy="475488"/>
          </a:xfrm>
          <a:prstGeom prst="rect">
            <a:avLst/>
          </a:prstGeom>
          <a:noFill/>
          <a:ln/>
        </p:spPr>
        <p:txBody>
          <a:bodyPr wrap="square" lIns="0" tIns="0" rIns="0" bIns="0" rtlCol="0" anchor="ctr"/>
          <a:lstStyle/>
          <a:p>
            <a:pPr indent="0" marL="0">
              <a:lnSpc>
                <a:spcPct val="110000"/>
              </a:lnSpc>
              <a:buNone/>
            </a:pPr>
            <a:r>
              <a:rPr lang="en-US" sz="1100" b="1" dirty="0">
                <a:solidFill>
                  <a:srgbClr val="7C3AED"/>
                </a:solidFill>
                <a:latin typeface="Calibri" pitchFamily="34" charset="0"/>
                <a:ea typeface="Calibri" pitchFamily="34" charset="-122"/>
                <a:cs typeface="Calibri" pitchFamily="34" charset="-120"/>
              </a:rPr>
              <a:t>User speaks</a:t>
            </a:r>
            <a:endParaRPr lang="en-US" sz="1100" dirty="0"/>
          </a:p>
        </p:txBody>
      </p:sp>
      <p:sp>
        <p:nvSpPr>
          <p:cNvPr id="7" name="Text 5"/>
          <p:cNvSpPr/>
          <p:nvPr/>
        </p:nvSpPr>
        <p:spPr>
          <a:xfrm>
            <a:off x="576072" y="3547872"/>
            <a:ext cx="1371600" cy="411480"/>
          </a:xfrm>
          <a:prstGeom prst="rect">
            <a:avLst/>
          </a:prstGeom>
          <a:noFill/>
          <a:ln/>
        </p:spPr>
        <p:txBody>
          <a:bodyPr wrap="square" lIns="0" tIns="0" rIns="0" bIns="0" rtlCol="0" anchor="ctr"/>
          <a:lstStyle/>
          <a:p>
            <a:pPr indent="0" marL="0">
              <a:lnSpc>
                <a:spcPct val="115000"/>
              </a:lnSpc>
              <a:buNone/>
            </a:pPr>
            <a:r>
              <a:rPr lang="en-US" sz="900" dirty="0">
                <a:solidFill>
                  <a:srgbClr val="8B92B8"/>
                </a:solidFill>
                <a:latin typeface="Courier New" pitchFamily="34" charset="0"/>
                <a:ea typeface="Courier New" pitchFamily="34" charset="-122"/>
                <a:cs typeface="Courier New" pitchFamily="34" charset="-120"/>
              </a:rPr>
              <a:t>'Add task: review PR by Friday'</a:t>
            </a:r>
            <a:endParaRPr lang="en-US" sz="900" dirty="0"/>
          </a:p>
        </p:txBody>
      </p:sp>
      <p:sp>
        <p:nvSpPr>
          <p:cNvPr id="8" name="Shape 6"/>
          <p:cNvSpPr/>
          <p:nvPr/>
        </p:nvSpPr>
        <p:spPr>
          <a:xfrm>
            <a:off x="2011680" y="3218688"/>
            <a:ext cx="256032" cy="0"/>
          </a:xfrm>
          <a:prstGeom prst="line">
            <a:avLst/>
          </a:prstGeom>
          <a:noFill/>
          <a:ln w="25400">
            <a:solidFill>
              <a:srgbClr val="7C3AED"/>
            </a:solidFill>
            <a:prstDash val="solid"/>
            <a:tailEnd type="triangle"/>
          </a:ln>
        </p:spPr>
      </p:sp>
      <p:sp>
        <p:nvSpPr>
          <p:cNvPr id="9" name="Shape 7"/>
          <p:cNvSpPr/>
          <p:nvPr/>
        </p:nvSpPr>
        <p:spPr>
          <a:xfrm>
            <a:off x="2148840" y="2395728"/>
            <a:ext cx="1481328" cy="1627632"/>
          </a:xfrm>
          <a:prstGeom prst="roundRect">
            <a:avLst>
              <a:gd name="adj" fmla="val 5556"/>
            </a:avLst>
          </a:prstGeom>
          <a:solidFill>
            <a:srgbClr val="F8FAFC"/>
          </a:solidFill>
          <a:ln w="19050">
            <a:solidFill>
              <a:srgbClr val="7C3AED">
                <a:alpha val="60000"/>
              </a:srgbClr>
            </a:solidFill>
            <a:prstDash val="solid"/>
          </a:ln>
          <a:effectLst>
            <a:outerShdw sx="100000" sy="100000" kx="0" ky="0" algn="bl" rotWithShape="0" blurRad="101600" dist="38100" dir="5400000">
              <a:srgbClr val="000000">
                <a:alpha val="13000"/>
              </a:srgbClr>
            </a:outerShdw>
          </a:effectLst>
        </p:spPr>
      </p:sp>
      <p:sp>
        <p:nvSpPr>
          <p:cNvPr id="10" name="Text 8"/>
          <p:cNvSpPr/>
          <p:nvPr/>
        </p:nvSpPr>
        <p:spPr>
          <a:xfrm>
            <a:off x="2468880" y="2487168"/>
            <a:ext cx="804672"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2240280" y="3035808"/>
            <a:ext cx="1325880" cy="475488"/>
          </a:xfrm>
          <a:prstGeom prst="rect">
            <a:avLst/>
          </a:prstGeom>
          <a:noFill/>
          <a:ln/>
        </p:spPr>
        <p:txBody>
          <a:bodyPr wrap="square" lIns="0" tIns="0" rIns="0" bIns="0" rtlCol="0" anchor="ctr"/>
          <a:lstStyle/>
          <a:p>
            <a:pPr indent="0" marL="0">
              <a:lnSpc>
                <a:spcPct val="110000"/>
              </a:lnSpc>
              <a:buNone/>
            </a:pPr>
            <a:r>
              <a:rPr lang="en-US" sz="1100" b="1" dirty="0">
                <a:solidFill>
                  <a:srgbClr val="7C3AED"/>
                </a:solidFill>
                <a:latin typeface="Calibri" pitchFamily="34" charset="0"/>
                <a:ea typeface="Calibri" pitchFamily="34" charset="-122"/>
                <a:cs typeface="Calibri" pitchFamily="34" charset="-120"/>
              </a:rPr>
              <a:t>Audio file</a:t>
            </a:r>
            <a:endParaRPr lang="en-US" sz="1100" dirty="0"/>
          </a:p>
          <a:p>
            <a:pPr indent="0" marL="0">
              <a:lnSpc>
                <a:spcPct val="110000"/>
              </a:lnSpc>
              <a:buNone/>
            </a:pPr>
            <a:r>
              <a:rPr lang="en-US" sz="1100" b="1" dirty="0">
                <a:solidFill>
                  <a:srgbClr val="7C3AED"/>
                </a:solidFill>
                <a:latin typeface="Calibri" pitchFamily="34" charset="0"/>
                <a:ea typeface="Calibri" pitchFamily="34" charset="-122"/>
                <a:cs typeface="Calibri" pitchFamily="34" charset="-120"/>
              </a:rPr>
              <a:t>(MP3/WAV)</a:t>
            </a:r>
            <a:endParaRPr lang="en-US" sz="1100" dirty="0"/>
          </a:p>
        </p:txBody>
      </p:sp>
      <p:sp>
        <p:nvSpPr>
          <p:cNvPr id="12" name="Text 10"/>
          <p:cNvSpPr/>
          <p:nvPr/>
        </p:nvSpPr>
        <p:spPr>
          <a:xfrm>
            <a:off x="2221992" y="3547872"/>
            <a:ext cx="1371600" cy="411480"/>
          </a:xfrm>
          <a:prstGeom prst="rect">
            <a:avLst/>
          </a:prstGeom>
          <a:noFill/>
          <a:ln/>
        </p:spPr>
        <p:txBody>
          <a:bodyPr wrap="square" lIns="0" tIns="0" rIns="0" bIns="0" rtlCol="0" anchor="ctr"/>
          <a:lstStyle/>
          <a:p>
            <a:pPr indent="0" marL="0">
              <a:lnSpc>
                <a:spcPct val="115000"/>
              </a:lnSpc>
              <a:buNone/>
            </a:pPr>
            <a:r>
              <a:rPr lang="en-US" sz="900" dirty="0">
                <a:solidFill>
                  <a:srgbClr val="8B92B8"/>
                </a:solidFill>
                <a:latin typeface="Courier New" pitchFamily="34" charset="0"/>
                <a:ea typeface="Courier New" pitchFamily="34" charset="-122"/>
                <a:cs typeface="Courier New" pitchFamily="34" charset="-120"/>
              </a:rPr>
              <a:t>Saved from mic or uploaded</a:t>
            </a:r>
            <a:endParaRPr lang="en-US" sz="900" dirty="0"/>
          </a:p>
        </p:txBody>
      </p:sp>
      <p:sp>
        <p:nvSpPr>
          <p:cNvPr id="13" name="Shape 11"/>
          <p:cNvSpPr/>
          <p:nvPr/>
        </p:nvSpPr>
        <p:spPr>
          <a:xfrm>
            <a:off x="3657600" y="3218688"/>
            <a:ext cx="256032" cy="0"/>
          </a:xfrm>
          <a:prstGeom prst="line">
            <a:avLst/>
          </a:prstGeom>
          <a:noFill/>
          <a:ln w="25400">
            <a:solidFill>
              <a:srgbClr val="7C3AED"/>
            </a:solidFill>
            <a:prstDash val="solid"/>
            <a:tailEnd type="triangle"/>
          </a:ln>
        </p:spPr>
      </p:sp>
      <p:sp>
        <p:nvSpPr>
          <p:cNvPr id="14" name="Shape 12"/>
          <p:cNvSpPr/>
          <p:nvPr/>
        </p:nvSpPr>
        <p:spPr>
          <a:xfrm>
            <a:off x="3794760" y="2395728"/>
            <a:ext cx="1481328" cy="1627632"/>
          </a:xfrm>
          <a:prstGeom prst="roundRect">
            <a:avLst>
              <a:gd name="adj" fmla="val 5556"/>
            </a:avLst>
          </a:prstGeom>
          <a:solidFill>
            <a:srgbClr val="F8FAFC"/>
          </a:solidFill>
          <a:ln w="19050">
            <a:solidFill>
              <a:srgbClr val="0891B2">
                <a:alpha val="60000"/>
              </a:srgbClr>
            </a:solidFill>
            <a:prstDash val="solid"/>
          </a:ln>
          <a:effectLst>
            <a:outerShdw sx="100000" sy="100000" kx="0" ky="0" algn="bl" rotWithShape="0" blurRad="101600" dist="38100" dir="5400000">
              <a:srgbClr val="000000">
                <a:alpha val="13000"/>
              </a:srgbClr>
            </a:outerShdw>
          </a:effectLst>
        </p:spPr>
      </p:sp>
      <p:sp>
        <p:nvSpPr>
          <p:cNvPr id="15" name="Text 13"/>
          <p:cNvSpPr/>
          <p:nvPr/>
        </p:nvSpPr>
        <p:spPr>
          <a:xfrm>
            <a:off x="4114800" y="2487168"/>
            <a:ext cx="804672"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6" name="Text 14"/>
          <p:cNvSpPr/>
          <p:nvPr/>
        </p:nvSpPr>
        <p:spPr>
          <a:xfrm>
            <a:off x="3886200" y="3035808"/>
            <a:ext cx="1325880" cy="475488"/>
          </a:xfrm>
          <a:prstGeom prst="rect">
            <a:avLst/>
          </a:prstGeom>
          <a:noFill/>
          <a:ln/>
        </p:spPr>
        <p:txBody>
          <a:bodyPr wrap="square" lIns="0" tIns="0" rIns="0" bIns="0" rtlCol="0" anchor="ctr"/>
          <a:lstStyle/>
          <a:p>
            <a:pPr indent="0" marL="0">
              <a:lnSpc>
                <a:spcPct val="110000"/>
              </a:lnSpc>
              <a:buNone/>
            </a:pPr>
            <a:r>
              <a:rPr lang="en-US" sz="1100" b="1" dirty="0">
                <a:solidFill>
                  <a:srgbClr val="0891B2"/>
                </a:solidFill>
                <a:latin typeface="Calibri" pitchFamily="34" charset="0"/>
                <a:ea typeface="Calibri" pitchFamily="34" charset="-122"/>
                <a:cs typeface="Calibri" pitchFamily="34" charset="-120"/>
              </a:rPr>
              <a:t>Whisper API</a:t>
            </a:r>
            <a:endParaRPr lang="en-US" sz="1100" dirty="0"/>
          </a:p>
        </p:txBody>
      </p:sp>
      <p:sp>
        <p:nvSpPr>
          <p:cNvPr id="17" name="Text 15"/>
          <p:cNvSpPr/>
          <p:nvPr/>
        </p:nvSpPr>
        <p:spPr>
          <a:xfrm>
            <a:off x="3867912" y="3547872"/>
            <a:ext cx="1371600" cy="411480"/>
          </a:xfrm>
          <a:prstGeom prst="rect">
            <a:avLst/>
          </a:prstGeom>
          <a:noFill/>
          <a:ln/>
        </p:spPr>
        <p:txBody>
          <a:bodyPr wrap="square" lIns="0" tIns="0" rIns="0" bIns="0" rtlCol="0" anchor="ctr"/>
          <a:lstStyle/>
          <a:p>
            <a:pPr indent="0" marL="0">
              <a:lnSpc>
                <a:spcPct val="115000"/>
              </a:lnSpc>
              <a:buNone/>
            </a:pPr>
            <a:r>
              <a:rPr lang="en-US" sz="900" dirty="0">
                <a:solidFill>
                  <a:srgbClr val="8B92B8"/>
                </a:solidFill>
                <a:latin typeface="Courier New" pitchFamily="34" charset="0"/>
                <a:ea typeface="Courier New" pitchFamily="34" charset="-122"/>
                <a:cs typeface="Courier New" pitchFamily="34" charset="-120"/>
              </a:rPr>
              <a:t>Audio → text transcript</a:t>
            </a:r>
            <a:endParaRPr lang="en-US" sz="900" dirty="0"/>
          </a:p>
        </p:txBody>
      </p:sp>
      <p:sp>
        <p:nvSpPr>
          <p:cNvPr id="18" name="Shape 16"/>
          <p:cNvSpPr/>
          <p:nvPr/>
        </p:nvSpPr>
        <p:spPr>
          <a:xfrm>
            <a:off x="5303520" y="3218688"/>
            <a:ext cx="256032" cy="0"/>
          </a:xfrm>
          <a:prstGeom prst="line">
            <a:avLst/>
          </a:prstGeom>
          <a:noFill/>
          <a:ln w="25400">
            <a:solidFill>
              <a:srgbClr val="0891B2"/>
            </a:solidFill>
            <a:prstDash val="solid"/>
            <a:tailEnd type="triangle"/>
          </a:ln>
        </p:spPr>
      </p:sp>
      <p:sp>
        <p:nvSpPr>
          <p:cNvPr id="19" name="Shape 17"/>
          <p:cNvSpPr/>
          <p:nvPr/>
        </p:nvSpPr>
        <p:spPr>
          <a:xfrm>
            <a:off x="5440680" y="2395728"/>
            <a:ext cx="1481328" cy="1627632"/>
          </a:xfrm>
          <a:prstGeom prst="roundRect">
            <a:avLst>
              <a:gd name="adj" fmla="val 5556"/>
            </a:avLst>
          </a:prstGeom>
          <a:solidFill>
            <a:srgbClr val="F8FAFC"/>
          </a:solidFill>
          <a:ln w="19050">
            <a:solidFill>
              <a:srgbClr val="0891B2">
                <a:alpha val="60000"/>
              </a:srgbClr>
            </a:solidFill>
            <a:prstDash val="solid"/>
          </a:ln>
          <a:effectLst>
            <a:outerShdw sx="100000" sy="100000" kx="0" ky="0" algn="bl" rotWithShape="0" blurRad="101600" dist="38100" dir="5400000">
              <a:srgbClr val="000000">
                <a:alpha val="13000"/>
              </a:srgbClr>
            </a:outerShdw>
          </a:effectLst>
        </p:spPr>
      </p:sp>
      <p:sp>
        <p:nvSpPr>
          <p:cNvPr id="20" name="Text 18"/>
          <p:cNvSpPr/>
          <p:nvPr/>
        </p:nvSpPr>
        <p:spPr>
          <a:xfrm>
            <a:off x="5760720" y="2487168"/>
            <a:ext cx="804672"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Text 19"/>
          <p:cNvSpPr/>
          <p:nvPr/>
        </p:nvSpPr>
        <p:spPr>
          <a:xfrm>
            <a:off x="5532120" y="3035808"/>
            <a:ext cx="1325880" cy="475488"/>
          </a:xfrm>
          <a:prstGeom prst="rect">
            <a:avLst/>
          </a:prstGeom>
          <a:noFill/>
          <a:ln/>
        </p:spPr>
        <p:txBody>
          <a:bodyPr wrap="square" lIns="0" tIns="0" rIns="0" bIns="0" rtlCol="0" anchor="ctr"/>
          <a:lstStyle/>
          <a:p>
            <a:pPr indent="0" marL="0">
              <a:lnSpc>
                <a:spcPct val="110000"/>
              </a:lnSpc>
              <a:buNone/>
            </a:pPr>
            <a:r>
              <a:rPr lang="en-US" sz="1100" b="1" dirty="0">
                <a:solidFill>
                  <a:srgbClr val="0891B2"/>
                </a:solidFill>
                <a:latin typeface="Calibri" pitchFamily="34" charset="0"/>
                <a:ea typeface="Calibri" pitchFamily="34" charset="-122"/>
                <a:cs typeface="Calibri" pitchFamily="34" charset="-120"/>
              </a:rPr>
              <a:t>Transcript</a:t>
            </a:r>
            <a:endParaRPr lang="en-US" sz="1100" dirty="0"/>
          </a:p>
        </p:txBody>
      </p:sp>
      <p:sp>
        <p:nvSpPr>
          <p:cNvPr id="22" name="Text 20"/>
          <p:cNvSpPr/>
          <p:nvPr/>
        </p:nvSpPr>
        <p:spPr>
          <a:xfrm>
            <a:off x="5513832" y="3547872"/>
            <a:ext cx="1371600" cy="411480"/>
          </a:xfrm>
          <a:prstGeom prst="rect">
            <a:avLst/>
          </a:prstGeom>
          <a:noFill/>
          <a:ln/>
        </p:spPr>
        <p:txBody>
          <a:bodyPr wrap="square" lIns="0" tIns="0" rIns="0" bIns="0" rtlCol="0" anchor="ctr"/>
          <a:lstStyle/>
          <a:p>
            <a:pPr indent="0" marL="0">
              <a:lnSpc>
                <a:spcPct val="115000"/>
              </a:lnSpc>
              <a:buNone/>
            </a:pPr>
            <a:r>
              <a:rPr lang="en-US" sz="900" dirty="0">
                <a:solidFill>
                  <a:srgbClr val="8B92B8"/>
                </a:solidFill>
                <a:latin typeface="Courier New" pitchFamily="34" charset="0"/>
                <a:ea typeface="Courier New" pitchFamily="34" charset="-122"/>
                <a:cs typeface="Courier New" pitchFamily="34" charset="-120"/>
              </a:rPr>
              <a:t>'Add task: review PR by Friday'</a:t>
            </a:r>
            <a:endParaRPr lang="en-US" sz="900" dirty="0"/>
          </a:p>
        </p:txBody>
      </p:sp>
      <p:sp>
        <p:nvSpPr>
          <p:cNvPr id="23" name="Shape 21"/>
          <p:cNvSpPr/>
          <p:nvPr/>
        </p:nvSpPr>
        <p:spPr>
          <a:xfrm>
            <a:off x="6949440" y="3218688"/>
            <a:ext cx="256032" cy="0"/>
          </a:xfrm>
          <a:prstGeom prst="line">
            <a:avLst/>
          </a:prstGeom>
          <a:noFill/>
          <a:ln w="25400">
            <a:solidFill>
              <a:srgbClr val="0891B2"/>
            </a:solidFill>
            <a:prstDash val="solid"/>
            <a:tailEnd type="triangle"/>
          </a:ln>
        </p:spPr>
      </p:sp>
      <p:sp>
        <p:nvSpPr>
          <p:cNvPr id="24" name="Shape 22"/>
          <p:cNvSpPr/>
          <p:nvPr/>
        </p:nvSpPr>
        <p:spPr>
          <a:xfrm>
            <a:off x="7086600" y="2395728"/>
            <a:ext cx="1481328" cy="1627632"/>
          </a:xfrm>
          <a:prstGeom prst="roundRect">
            <a:avLst>
              <a:gd name="adj" fmla="val 5556"/>
            </a:avLst>
          </a:prstGeom>
          <a:solidFill>
            <a:srgbClr val="F8FAFC"/>
          </a:solidFill>
          <a:ln w="19050">
            <a:solidFill>
              <a:srgbClr val="16A34A">
                <a:alpha val="60000"/>
              </a:srgbClr>
            </a:solidFill>
            <a:prstDash val="solid"/>
          </a:ln>
          <a:effectLst>
            <a:outerShdw sx="100000" sy="100000" kx="0" ky="0" algn="bl" rotWithShape="0" blurRad="101600" dist="38100" dir="5400000">
              <a:srgbClr val="000000">
                <a:alpha val="13000"/>
              </a:srgbClr>
            </a:outerShdw>
          </a:effectLst>
        </p:spPr>
      </p:sp>
      <p:sp>
        <p:nvSpPr>
          <p:cNvPr id="25" name="Text 23"/>
          <p:cNvSpPr/>
          <p:nvPr/>
        </p:nvSpPr>
        <p:spPr>
          <a:xfrm>
            <a:off x="7406640" y="2487168"/>
            <a:ext cx="804672"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6" name="Text 24"/>
          <p:cNvSpPr/>
          <p:nvPr/>
        </p:nvSpPr>
        <p:spPr>
          <a:xfrm>
            <a:off x="7178040" y="3035808"/>
            <a:ext cx="1325880" cy="475488"/>
          </a:xfrm>
          <a:prstGeom prst="rect">
            <a:avLst/>
          </a:prstGeom>
          <a:noFill/>
          <a:ln/>
        </p:spPr>
        <p:txBody>
          <a:bodyPr wrap="square" lIns="0" tIns="0" rIns="0" bIns="0" rtlCol="0" anchor="ctr"/>
          <a:lstStyle/>
          <a:p>
            <a:pPr indent="0" marL="0">
              <a:lnSpc>
                <a:spcPct val="110000"/>
              </a:lnSpc>
              <a:buNone/>
            </a:pPr>
            <a:r>
              <a:rPr lang="en-US" sz="1100" b="1" dirty="0">
                <a:solidFill>
                  <a:srgbClr val="16A34A"/>
                </a:solidFill>
                <a:latin typeface="Calibri" pitchFamily="34" charset="0"/>
                <a:ea typeface="Calibri" pitchFamily="34" charset="-122"/>
                <a:cs typeface="Calibri" pitchFamily="34" charset="-120"/>
              </a:rPr>
              <a:t>GPT-4o +</a:t>
            </a:r>
            <a:endParaRPr lang="en-US" sz="1100" dirty="0"/>
          </a:p>
          <a:p>
            <a:pPr indent="0" marL="0">
              <a:lnSpc>
                <a:spcPct val="110000"/>
              </a:lnSpc>
              <a:buNone/>
            </a:pPr>
            <a:r>
              <a:rPr lang="en-US" sz="1100" b="1" dirty="0">
                <a:solidFill>
                  <a:srgbClr val="16A34A"/>
                </a:solidFill>
                <a:latin typeface="Calibri" pitchFamily="34" charset="0"/>
                <a:ea typeface="Calibri" pitchFamily="34" charset="-122"/>
                <a:cs typeface="Calibri" pitchFamily="34" charset="-120"/>
              </a:rPr>
              <a:t>Tools</a:t>
            </a:r>
            <a:endParaRPr lang="en-US" sz="1100" dirty="0"/>
          </a:p>
        </p:txBody>
      </p:sp>
      <p:sp>
        <p:nvSpPr>
          <p:cNvPr id="27" name="Text 25"/>
          <p:cNvSpPr/>
          <p:nvPr/>
        </p:nvSpPr>
        <p:spPr>
          <a:xfrm>
            <a:off x="7159752" y="3547872"/>
            <a:ext cx="1371600" cy="411480"/>
          </a:xfrm>
          <a:prstGeom prst="rect">
            <a:avLst/>
          </a:prstGeom>
          <a:noFill/>
          <a:ln/>
        </p:spPr>
        <p:txBody>
          <a:bodyPr wrap="square" lIns="0" tIns="0" rIns="0" bIns="0" rtlCol="0" anchor="ctr"/>
          <a:lstStyle/>
          <a:p>
            <a:pPr indent="0" marL="0">
              <a:lnSpc>
                <a:spcPct val="115000"/>
              </a:lnSpc>
              <a:buNone/>
            </a:pPr>
            <a:r>
              <a:rPr lang="en-US" sz="900" dirty="0">
                <a:solidFill>
                  <a:srgbClr val="8B92B8"/>
                </a:solidFill>
                <a:latin typeface="Courier New" pitchFamily="34" charset="0"/>
                <a:ea typeface="Courier New" pitchFamily="34" charset="-122"/>
                <a:cs typeface="Courier New" pitchFamily="34" charset="-120"/>
              </a:rPr>
              <a:t>Decides: call addTask()</a:t>
            </a:r>
            <a:endParaRPr lang="en-US" sz="900" dirty="0"/>
          </a:p>
        </p:txBody>
      </p:sp>
      <p:sp>
        <p:nvSpPr>
          <p:cNvPr id="28" name="Shape 26"/>
          <p:cNvSpPr/>
          <p:nvPr/>
        </p:nvSpPr>
        <p:spPr>
          <a:xfrm>
            <a:off x="8595360" y="3218688"/>
            <a:ext cx="256032" cy="0"/>
          </a:xfrm>
          <a:prstGeom prst="line">
            <a:avLst/>
          </a:prstGeom>
          <a:noFill/>
          <a:ln w="25400">
            <a:solidFill>
              <a:srgbClr val="16A34A"/>
            </a:solidFill>
            <a:prstDash val="solid"/>
            <a:tailEnd type="triangle"/>
          </a:ln>
        </p:spPr>
      </p:sp>
      <p:sp>
        <p:nvSpPr>
          <p:cNvPr id="29" name="Shape 27"/>
          <p:cNvSpPr/>
          <p:nvPr/>
        </p:nvSpPr>
        <p:spPr>
          <a:xfrm>
            <a:off x="8732520" y="2395728"/>
            <a:ext cx="1481328" cy="1627632"/>
          </a:xfrm>
          <a:prstGeom prst="roundRect">
            <a:avLst>
              <a:gd name="adj" fmla="val 5556"/>
            </a:avLst>
          </a:prstGeom>
          <a:solidFill>
            <a:srgbClr val="F8FAFC"/>
          </a:solidFill>
          <a:ln w="19050">
            <a:solidFill>
              <a:srgbClr val="D97706">
                <a:alpha val="60000"/>
              </a:srgbClr>
            </a:solidFill>
            <a:prstDash val="solid"/>
          </a:ln>
          <a:effectLst>
            <a:outerShdw sx="100000" sy="100000" kx="0" ky="0" algn="bl" rotWithShape="0" blurRad="101600" dist="38100" dir="5400000">
              <a:srgbClr val="000000">
                <a:alpha val="13000"/>
              </a:srgbClr>
            </a:outerShdw>
          </a:effectLst>
        </p:spPr>
      </p:sp>
      <p:sp>
        <p:nvSpPr>
          <p:cNvPr id="30" name="Text 28"/>
          <p:cNvSpPr/>
          <p:nvPr/>
        </p:nvSpPr>
        <p:spPr>
          <a:xfrm>
            <a:off x="9052560" y="2487168"/>
            <a:ext cx="804672"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1" name="Text 29"/>
          <p:cNvSpPr/>
          <p:nvPr/>
        </p:nvSpPr>
        <p:spPr>
          <a:xfrm>
            <a:off x="8823960" y="3035808"/>
            <a:ext cx="1325880" cy="475488"/>
          </a:xfrm>
          <a:prstGeom prst="rect">
            <a:avLst/>
          </a:prstGeom>
          <a:noFill/>
          <a:ln/>
        </p:spPr>
        <p:txBody>
          <a:bodyPr wrap="square" lIns="0" tIns="0" rIns="0" bIns="0" rtlCol="0" anchor="ctr"/>
          <a:lstStyle/>
          <a:p>
            <a:pPr indent="0" marL="0">
              <a:lnSpc>
                <a:spcPct val="110000"/>
              </a:lnSpc>
              <a:buNone/>
            </a:pPr>
            <a:r>
              <a:rPr lang="en-US" sz="1100" b="1" dirty="0">
                <a:solidFill>
                  <a:srgbClr val="D97706"/>
                </a:solidFill>
                <a:latin typeface="Calibri" pitchFamily="34" charset="0"/>
                <a:ea typeface="Calibri" pitchFamily="34" charset="-122"/>
                <a:cs typeface="Calibri" pitchFamily="34" charset="-120"/>
              </a:rPr>
              <a:t>Java code</a:t>
            </a:r>
            <a:endParaRPr lang="en-US" sz="1100" dirty="0"/>
          </a:p>
          <a:p>
            <a:pPr indent="0" marL="0">
              <a:lnSpc>
                <a:spcPct val="110000"/>
              </a:lnSpc>
              <a:buNone/>
            </a:pPr>
            <a:r>
              <a:rPr lang="en-US" sz="1100" b="1" dirty="0">
                <a:solidFill>
                  <a:srgbClr val="D97706"/>
                </a:solidFill>
                <a:latin typeface="Calibri" pitchFamily="34" charset="0"/>
                <a:ea typeface="Calibri" pitchFamily="34" charset="-122"/>
                <a:cs typeface="Calibri" pitchFamily="34" charset="-120"/>
              </a:rPr>
              <a:t>executes</a:t>
            </a:r>
            <a:endParaRPr lang="en-US" sz="1100" dirty="0"/>
          </a:p>
        </p:txBody>
      </p:sp>
      <p:sp>
        <p:nvSpPr>
          <p:cNvPr id="32" name="Text 30"/>
          <p:cNvSpPr/>
          <p:nvPr/>
        </p:nvSpPr>
        <p:spPr>
          <a:xfrm>
            <a:off x="8805672" y="3547872"/>
            <a:ext cx="1371600" cy="411480"/>
          </a:xfrm>
          <a:prstGeom prst="rect">
            <a:avLst/>
          </a:prstGeom>
          <a:noFill/>
          <a:ln/>
        </p:spPr>
        <p:txBody>
          <a:bodyPr wrap="square" lIns="0" tIns="0" rIns="0" bIns="0" rtlCol="0" anchor="ctr"/>
          <a:lstStyle/>
          <a:p>
            <a:pPr indent="0" marL="0">
              <a:lnSpc>
                <a:spcPct val="115000"/>
              </a:lnSpc>
              <a:buNone/>
            </a:pPr>
            <a:r>
              <a:rPr lang="en-US" sz="900" dirty="0">
                <a:solidFill>
                  <a:srgbClr val="8B92B8"/>
                </a:solidFill>
                <a:latin typeface="Courier New" pitchFamily="34" charset="0"/>
                <a:ea typeface="Courier New" pitchFamily="34" charset="-122"/>
                <a:cs typeface="Courier New" pitchFamily="34" charset="-120"/>
              </a:rPr>
              <a:t>taskStore.addTask(...)</a:t>
            </a:r>
            <a:endParaRPr lang="en-US" sz="900" dirty="0"/>
          </a:p>
        </p:txBody>
      </p:sp>
      <p:sp>
        <p:nvSpPr>
          <p:cNvPr id="33" name="Shape 31"/>
          <p:cNvSpPr/>
          <p:nvPr/>
        </p:nvSpPr>
        <p:spPr>
          <a:xfrm>
            <a:off x="10241280" y="3218688"/>
            <a:ext cx="256032" cy="0"/>
          </a:xfrm>
          <a:prstGeom prst="line">
            <a:avLst/>
          </a:prstGeom>
          <a:noFill/>
          <a:ln w="25400">
            <a:solidFill>
              <a:srgbClr val="D97706"/>
            </a:solidFill>
            <a:prstDash val="solid"/>
            <a:tailEnd type="triangle"/>
          </a:ln>
        </p:spPr>
      </p:sp>
      <p:sp>
        <p:nvSpPr>
          <p:cNvPr id="34" name="Shape 32"/>
          <p:cNvSpPr/>
          <p:nvPr/>
        </p:nvSpPr>
        <p:spPr>
          <a:xfrm>
            <a:off x="10378440" y="2395728"/>
            <a:ext cx="1481328" cy="1627632"/>
          </a:xfrm>
          <a:prstGeom prst="roundRect">
            <a:avLst>
              <a:gd name="adj" fmla="val 5556"/>
            </a:avLst>
          </a:prstGeom>
          <a:solidFill>
            <a:srgbClr val="F8FAFC"/>
          </a:solidFill>
          <a:ln w="19050">
            <a:solidFill>
              <a:srgbClr val="E11D48">
                <a:alpha val="60000"/>
              </a:srgbClr>
            </a:solidFill>
            <a:prstDash val="solid"/>
          </a:ln>
          <a:effectLst>
            <a:outerShdw sx="100000" sy="100000" kx="0" ky="0" algn="bl" rotWithShape="0" blurRad="101600" dist="38100" dir="5400000">
              <a:srgbClr val="000000">
                <a:alpha val="13000"/>
              </a:srgbClr>
            </a:outerShdw>
          </a:effectLst>
        </p:spPr>
      </p:sp>
      <p:sp>
        <p:nvSpPr>
          <p:cNvPr id="35" name="Text 33"/>
          <p:cNvSpPr/>
          <p:nvPr/>
        </p:nvSpPr>
        <p:spPr>
          <a:xfrm>
            <a:off x="10698480" y="2487168"/>
            <a:ext cx="804672"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6" name="Text 34"/>
          <p:cNvSpPr/>
          <p:nvPr/>
        </p:nvSpPr>
        <p:spPr>
          <a:xfrm>
            <a:off x="10469880" y="3035808"/>
            <a:ext cx="1325880" cy="475488"/>
          </a:xfrm>
          <a:prstGeom prst="rect">
            <a:avLst/>
          </a:prstGeom>
          <a:noFill/>
          <a:ln/>
        </p:spPr>
        <p:txBody>
          <a:bodyPr wrap="square" lIns="0" tIns="0" rIns="0" bIns="0" rtlCol="0" anchor="ctr"/>
          <a:lstStyle/>
          <a:p>
            <a:pPr indent="0" marL="0">
              <a:lnSpc>
                <a:spcPct val="110000"/>
              </a:lnSpc>
              <a:buNone/>
            </a:pPr>
            <a:r>
              <a:rPr lang="en-US" sz="1100" b="1" dirty="0">
                <a:solidFill>
                  <a:srgbClr val="E11D48"/>
                </a:solidFill>
                <a:latin typeface="Calibri" pitchFamily="34" charset="0"/>
                <a:ea typeface="Calibri" pitchFamily="34" charset="-122"/>
                <a:cs typeface="Calibri" pitchFamily="34" charset="-120"/>
              </a:rPr>
              <a:t>TTS API</a:t>
            </a:r>
            <a:endParaRPr lang="en-US" sz="1100" dirty="0"/>
          </a:p>
        </p:txBody>
      </p:sp>
      <p:sp>
        <p:nvSpPr>
          <p:cNvPr id="37" name="Text 35"/>
          <p:cNvSpPr/>
          <p:nvPr/>
        </p:nvSpPr>
        <p:spPr>
          <a:xfrm>
            <a:off x="10451592" y="3547872"/>
            <a:ext cx="1371600" cy="411480"/>
          </a:xfrm>
          <a:prstGeom prst="rect">
            <a:avLst/>
          </a:prstGeom>
          <a:noFill/>
          <a:ln/>
        </p:spPr>
        <p:txBody>
          <a:bodyPr wrap="square" lIns="0" tIns="0" rIns="0" bIns="0" rtlCol="0" anchor="ctr"/>
          <a:lstStyle/>
          <a:p>
            <a:pPr indent="0" marL="0">
              <a:lnSpc>
                <a:spcPct val="115000"/>
              </a:lnSpc>
              <a:buNone/>
            </a:pPr>
            <a:r>
              <a:rPr lang="en-US" sz="900" dirty="0">
                <a:solidFill>
                  <a:srgbClr val="8B92B8"/>
                </a:solidFill>
                <a:latin typeface="Courier New" pitchFamily="34" charset="0"/>
                <a:ea typeface="Courier New" pitchFamily="34" charset="-122"/>
                <a:cs typeface="Courier New" pitchFamily="34" charset="-120"/>
              </a:rPr>
              <a:t>Confirmation text → MP3</a:t>
            </a:r>
            <a:endParaRPr lang="en-US" sz="900" dirty="0"/>
          </a:p>
        </p:txBody>
      </p:sp>
      <p:sp>
        <p:nvSpPr>
          <p:cNvPr id="38" name="Text 36"/>
          <p:cNvSpPr/>
          <p:nvPr/>
        </p:nvSpPr>
        <p:spPr>
          <a:xfrm>
            <a:off x="502920" y="4224528"/>
            <a:ext cx="11109960" cy="384048"/>
          </a:xfrm>
          <a:prstGeom prst="rect">
            <a:avLst/>
          </a:prstGeom>
          <a:noFill/>
          <a:ln/>
        </p:spPr>
        <p:txBody>
          <a:bodyPr wrap="square" lIns="0" tIns="0" rIns="0" bIns="0" rtlCol="0" anchor="ctr"/>
          <a:lstStyle/>
          <a:p>
            <a:pPr indent="0" marL="0">
              <a:buNone/>
            </a:pPr>
            <a:r>
              <a:rPr lang="en-US" sz="1500" b="1" dirty="0">
                <a:solidFill>
                  <a:srgbClr val="E11D48"/>
                </a:solidFill>
                <a:latin typeface="Courier New" pitchFamily="34" charset="0"/>
                <a:ea typeface="Courier New" pitchFamily="34" charset="-122"/>
                <a:cs typeface="Courier New" pitchFamily="34" charset="-120"/>
              </a:rPr>
              <a:t>🔊 User hears: 'Done! I added the task: review PR, due Friday.'</a:t>
            </a:r>
            <a:endParaRPr lang="en-US" sz="1500" dirty="0"/>
          </a:p>
        </p:txBody>
      </p:sp>
      <p:sp>
        <p:nvSpPr>
          <p:cNvPr id="39" name="Shape 37"/>
          <p:cNvSpPr/>
          <p:nvPr/>
        </p:nvSpPr>
        <p:spPr>
          <a:xfrm>
            <a:off x="502920" y="4800600"/>
            <a:ext cx="11109960" cy="1536192"/>
          </a:xfrm>
          <a:prstGeom prst="roundRect">
            <a:avLst>
              <a:gd name="adj" fmla="val 5952"/>
            </a:avLst>
          </a:prstGeom>
          <a:solidFill>
            <a:srgbClr val="F8FAFC"/>
          </a:solidFill>
          <a:ln w="12700">
            <a:solidFill>
              <a:srgbClr val="D97706">
                <a:alpha val="45000"/>
              </a:srgbClr>
            </a:solidFill>
            <a:prstDash val="solid"/>
          </a:ln>
        </p:spPr>
      </p:sp>
      <p:sp>
        <p:nvSpPr>
          <p:cNvPr id="40" name="Text 38"/>
          <p:cNvSpPr/>
          <p:nvPr/>
        </p:nvSpPr>
        <p:spPr>
          <a:xfrm>
            <a:off x="713232" y="4919472"/>
            <a:ext cx="3657600" cy="320040"/>
          </a:xfrm>
          <a:prstGeom prst="rect">
            <a:avLst/>
          </a:prstGeom>
          <a:noFill/>
          <a:ln/>
        </p:spPr>
        <p:txBody>
          <a:bodyPr wrap="square" lIns="0" tIns="0" rIns="0" bIns="0" rtlCol="0" anchor="ctr"/>
          <a:lstStyle/>
          <a:p>
            <a:pPr indent="0" marL="0">
              <a:buNone/>
            </a:pPr>
            <a:r>
              <a:rPr lang="en-US" sz="1300" b="1" dirty="0">
                <a:solidFill>
                  <a:srgbClr val="D97706"/>
                </a:solidFill>
                <a:latin typeface="Calibri" pitchFamily="34" charset="0"/>
                <a:ea typeface="Calibri" pitchFamily="34" charset="-122"/>
                <a:cs typeface="Calibri" pitchFamily="34" charset="-120"/>
              </a:rPr>
              <a:t>Typical latency breakdown:</a:t>
            </a:r>
            <a:endParaRPr lang="en-US" sz="1300" dirty="0"/>
          </a:p>
        </p:txBody>
      </p:sp>
      <p:sp>
        <p:nvSpPr>
          <p:cNvPr id="41" name="Shape 39"/>
          <p:cNvSpPr/>
          <p:nvPr/>
        </p:nvSpPr>
        <p:spPr>
          <a:xfrm>
            <a:off x="685800" y="5349240"/>
            <a:ext cx="2578608" cy="841248"/>
          </a:xfrm>
          <a:prstGeom prst="roundRect">
            <a:avLst>
              <a:gd name="adj" fmla="val 7609"/>
            </a:avLst>
          </a:prstGeom>
          <a:solidFill>
            <a:srgbClr val="FFFFFF"/>
          </a:solidFill>
          <a:ln w="12700">
            <a:solidFill>
              <a:srgbClr val="CBD5E1">
                <a:alpha val="60000"/>
              </a:srgbClr>
            </a:solidFill>
            <a:prstDash val="solid"/>
          </a:ln>
        </p:spPr>
      </p:sp>
      <p:sp>
        <p:nvSpPr>
          <p:cNvPr id="42" name="Text 40"/>
          <p:cNvSpPr/>
          <p:nvPr/>
        </p:nvSpPr>
        <p:spPr>
          <a:xfrm>
            <a:off x="795528" y="5413248"/>
            <a:ext cx="237744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Whisper transcription</a:t>
            </a:r>
            <a:endParaRPr lang="en-US" sz="1200" dirty="0"/>
          </a:p>
        </p:txBody>
      </p:sp>
      <p:sp>
        <p:nvSpPr>
          <p:cNvPr id="43" name="Text 41"/>
          <p:cNvSpPr/>
          <p:nvPr/>
        </p:nvSpPr>
        <p:spPr>
          <a:xfrm>
            <a:off x="795528" y="5687568"/>
            <a:ext cx="2377440" cy="274320"/>
          </a:xfrm>
          <a:prstGeom prst="rect">
            <a:avLst/>
          </a:prstGeom>
          <a:noFill/>
          <a:ln/>
        </p:spPr>
        <p:txBody>
          <a:bodyPr wrap="square" lIns="0" tIns="0" rIns="0" bIns="0" rtlCol="0" anchor="ctr"/>
          <a:lstStyle/>
          <a:p>
            <a:pPr indent="0" marL="0">
              <a:buNone/>
            </a:pPr>
            <a:r>
              <a:rPr lang="en-US" sz="1300" b="1" dirty="0">
                <a:solidFill>
                  <a:srgbClr val="16A34A"/>
                </a:solidFill>
                <a:latin typeface="Courier New" pitchFamily="34" charset="0"/>
                <a:ea typeface="Courier New" pitchFamily="34" charset="-122"/>
                <a:cs typeface="Courier New" pitchFamily="34" charset="-120"/>
              </a:rPr>
              <a:t>~0.3–0.8s</a:t>
            </a:r>
            <a:endParaRPr lang="en-US" sz="1300" dirty="0"/>
          </a:p>
        </p:txBody>
      </p:sp>
      <p:sp>
        <p:nvSpPr>
          <p:cNvPr id="44" name="Text 42"/>
          <p:cNvSpPr/>
          <p:nvPr/>
        </p:nvSpPr>
        <p:spPr>
          <a:xfrm>
            <a:off x="795528" y="5961888"/>
            <a:ext cx="2377440" cy="201168"/>
          </a:xfrm>
          <a:prstGeom prst="rect">
            <a:avLst/>
          </a:prstGeom>
          <a:noFill/>
          <a:ln/>
        </p:spPr>
        <p:txBody>
          <a:bodyPr wrap="square" lIns="0" tIns="0" rIns="0" bIns="0" rtlCol="0" anchor="ctr"/>
          <a:lstStyle/>
          <a:p>
            <a:pPr indent="0" marL="0">
              <a:buNone/>
            </a:pPr>
            <a:r>
              <a:rPr lang="en-US" sz="1000" i="1" dirty="0">
                <a:solidFill>
                  <a:srgbClr val="8B92B8"/>
                </a:solidFill>
                <a:latin typeface="Calibri" pitchFamily="34" charset="0"/>
                <a:ea typeface="Calibri" pitchFamily="34" charset="-122"/>
                <a:cs typeface="Calibri" pitchFamily="34" charset="-120"/>
              </a:rPr>
              <a:t>depends on audio length</a:t>
            </a:r>
            <a:endParaRPr lang="en-US" sz="1000" dirty="0"/>
          </a:p>
        </p:txBody>
      </p:sp>
      <p:sp>
        <p:nvSpPr>
          <p:cNvPr id="45" name="Shape 43"/>
          <p:cNvSpPr/>
          <p:nvPr/>
        </p:nvSpPr>
        <p:spPr>
          <a:xfrm>
            <a:off x="3474720" y="5349240"/>
            <a:ext cx="2578608" cy="841248"/>
          </a:xfrm>
          <a:prstGeom prst="roundRect">
            <a:avLst>
              <a:gd name="adj" fmla="val 7609"/>
            </a:avLst>
          </a:prstGeom>
          <a:solidFill>
            <a:srgbClr val="FFFFFF"/>
          </a:solidFill>
          <a:ln w="12700">
            <a:solidFill>
              <a:srgbClr val="CBD5E1">
                <a:alpha val="60000"/>
              </a:srgbClr>
            </a:solidFill>
            <a:prstDash val="solid"/>
          </a:ln>
        </p:spPr>
      </p:sp>
      <p:sp>
        <p:nvSpPr>
          <p:cNvPr id="46" name="Text 44"/>
          <p:cNvSpPr/>
          <p:nvPr/>
        </p:nvSpPr>
        <p:spPr>
          <a:xfrm>
            <a:off x="3584448" y="5413248"/>
            <a:ext cx="237744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GPT-4o-mini inference</a:t>
            </a:r>
            <a:endParaRPr lang="en-US" sz="1200" dirty="0"/>
          </a:p>
        </p:txBody>
      </p:sp>
      <p:sp>
        <p:nvSpPr>
          <p:cNvPr id="47" name="Text 45"/>
          <p:cNvSpPr/>
          <p:nvPr/>
        </p:nvSpPr>
        <p:spPr>
          <a:xfrm>
            <a:off x="3584448" y="5687568"/>
            <a:ext cx="2377440" cy="274320"/>
          </a:xfrm>
          <a:prstGeom prst="rect">
            <a:avLst/>
          </a:prstGeom>
          <a:noFill/>
          <a:ln/>
        </p:spPr>
        <p:txBody>
          <a:bodyPr wrap="square" lIns="0" tIns="0" rIns="0" bIns="0" rtlCol="0" anchor="ctr"/>
          <a:lstStyle/>
          <a:p>
            <a:pPr indent="0" marL="0">
              <a:buNone/>
            </a:pPr>
            <a:r>
              <a:rPr lang="en-US" sz="1300" b="1" dirty="0">
                <a:solidFill>
                  <a:srgbClr val="16A34A"/>
                </a:solidFill>
                <a:latin typeface="Courier New" pitchFamily="34" charset="0"/>
                <a:ea typeface="Courier New" pitchFamily="34" charset="-122"/>
                <a:cs typeface="Courier New" pitchFamily="34" charset="-120"/>
              </a:rPr>
              <a:t>~0.4–0.8s</a:t>
            </a:r>
            <a:endParaRPr lang="en-US" sz="1300" dirty="0"/>
          </a:p>
        </p:txBody>
      </p:sp>
      <p:sp>
        <p:nvSpPr>
          <p:cNvPr id="48" name="Text 46"/>
          <p:cNvSpPr/>
          <p:nvPr/>
        </p:nvSpPr>
        <p:spPr>
          <a:xfrm>
            <a:off x="3584448" y="5961888"/>
            <a:ext cx="2377440" cy="201168"/>
          </a:xfrm>
          <a:prstGeom prst="rect">
            <a:avLst/>
          </a:prstGeom>
          <a:noFill/>
          <a:ln/>
        </p:spPr>
        <p:txBody>
          <a:bodyPr wrap="square" lIns="0" tIns="0" rIns="0" bIns="0" rtlCol="0" anchor="ctr"/>
          <a:lstStyle/>
          <a:p>
            <a:pPr indent="0" marL="0">
              <a:buNone/>
            </a:pPr>
            <a:r>
              <a:rPr lang="en-US" sz="1000" i="1" dirty="0">
                <a:solidFill>
                  <a:srgbClr val="8B92B8"/>
                </a:solidFill>
                <a:latin typeface="Calibri" pitchFamily="34" charset="0"/>
                <a:ea typeface="Calibri" pitchFamily="34" charset="-122"/>
                <a:cs typeface="Calibri" pitchFamily="34" charset="-120"/>
              </a:rPr>
              <a:t>including tool call round-trip</a:t>
            </a:r>
            <a:endParaRPr lang="en-US" sz="1000" dirty="0"/>
          </a:p>
        </p:txBody>
      </p:sp>
      <p:sp>
        <p:nvSpPr>
          <p:cNvPr id="49" name="Shape 47"/>
          <p:cNvSpPr/>
          <p:nvPr/>
        </p:nvSpPr>
        <p:spPr>
          <a:xfrm>
            <a:off x="6263640" y="5349240"/>
            <a:ext cx="2578608" cy="841248"/>
          </a:xfrm>
          <a:prstGeom prst="roundRect">
            <a:avLst>
              <a:gd name="adj" fmla="val 7609"/>
            </a:avLst>
          </a:prstGeom>
          <a:solidFill>
            <a:srgbClr val="FFFFFF"/>
          </a:solidFill>
          <a:ln w="12700">
            <a:solidFill>
              <a:srgbClr val="CBD5E1">
                <a:alpha val="60000"/>
              </a:srgbClr>
            </a:solidFill>
            <a:prstDash val="solid"/>
          </a:ln>
        </p:spPr>
      </p:sp>
      <p:sp>
        <p:nvSpPr>
          <p:cNvPr id="50" name="Text 48"/>
          <p:cNvSpPr/>
          <p:nvPr/>
        </p:nvSpPr>
        <p:spPr>
          <a:xfrm>
            <a:off x="6373368" y="5413248"/>
            <a:ext cx="237744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TTS generation</a:t>
            </a:r>
            <a:endParaRPr lang="en-US" sz="1200" dirty="0"/>
          </a:p>
        </p:txBody>
      </p:sp>
      <p:sp>
        <p:nvSpPr>
          <p:cNvPr id="51" name="Text 49"/>
          <p:cNvSpPr/>
          <p:nvPr/>
        </p:nvSpPr>
        <p:spPr>
          <a:xfrm>
            <a:off x="6373368" y="5687568"/>
            <a:ext cx="2377440" cy="274320"/>
          </a:xfrm>
          <a:prstGeom prst="rect">
            <a:avLst/>
          </a:prstGeom>
          <a:noFill/>
          <a:ln/>
        </p:spPr>
        <p:txBody>
          <a:bodyPr wrap="square" lIns="0" tIns="0" rIns="0" bIns="0" rtlCol="0" anchor="ctr"/>
          <a:lstStyle/>
          <a:p>
            <a:pPr indent="0" marL="0">
              <a:buNone/>
            </a:pPr>
            <a:r>
              <a:rPr lang="en-US" sz="1300" b="1" dirty="0">
                <a:solidFill>
                  <a:srgbClr val="16A34A"/>
                </a:solidFill>
                <a:latin typeface="Courier New" pitchFamily="34" charset="0"/>
                <a:ea typeface="Courier New" pitchFamily="34" charset="-122"/>
                <a:cs typeface="Courier New" pitchFamily="34" charset="-120"/>
              </a:rPr>
              <a:t>~0.2–0.5s</a:t>
            </a:r>
            <a:endParaRPr lang="en-US" sz="1300" dirty="0"/>
          </a:p>
        </p:txBody>
      </p:sp>
      <p:sp>
        <p:nvSpPr>
          <p:cNvPr id="52" name="Text 50"/>
          <p:cNvSpPr/>
          <p:nvPr/>
        </p:nvSpPr>
        <p:spPr>
          <a:xfrm>
            <a:off x="6373368" y="5961888"/>
            <a:ext cx="2377440" cy="201168"/>
          </a:xfrm>
          <a:prstGeom prst="rect">
            <a:avLst/>
          </a:prstGeom>
          <a:noFill/>
          <a:ln/>
        </p:spPr>
        <p:txBody>
          <a:bodyPr wrap="square" lIns="0" tIns="0" rIns="0" bIns="0" rtlCol="0" anchor="ctr"/>
          <a:lstStyle/>
          <a:p>
            <a:pPr indent="0" marL="0">
              <a:buNone/>
            </a:pPr>
            <a:r>
              <a:rPr lang="en-US" sz="1000" i="1" dirty="0">
                <a:solidFill>
                  <a:srgbClr val="8B92B8"/>
                </a:solidFill>
                <a:latin typeface="Calibri" pitchFamily="34" charset="0"/>
                <a:ea typeface="Calibri" pitchFamily="34" charset="-122"/>
                <a:cs typeface="Calibri" pitchFamily="34" charset="-120"/>
              </a:rPr>
              <a:t>tts-1 model, short text</a:t>
            </a:r>
            <a:endParaRPr lang="en-US" sz="1000" dirty="0"/>
          </a:p>
        </p:txBody>
      </p:sp>
      <p:sp>
        <p:nvSpPr>
          <p:cNvPr id="53" name="Shape 51"/>
          <p:cNvSpPr/>
          <p:nvPr/>
        </p:nvSpPr>
        <p:spPr>
          <a:xfrm>
            <a:off x="9052560" y="5349240"/>
            <a:ext cx="2578608" cy="841248"/>
          </a:xfrm>
          <a:prstGeom prst="roundRect">
            <a:avLst>
              <a:gd name="adj" fmla="val 7609"/>
            </a:avLst>
          </a:prstGeom>
          <a:solidFill>
            <a:srgbClr val="FFFBEB"/>
          </a:solidFill>
          <a:ln w="12700">
            <a:solidFill>
              <a:srgbClr val="D97706">
                <a:alpha val="60000"/>
              </a:srgbClr>
            </a:solidFill>
            <a:prstDash val="solid"/>
          </a:ln>
        </p:spPr>
      </p:sp>
      <p:sp>
        <p:nvSpPr>
          <p:cNvPr id="54" name="Text 52"/>
          <p:cNvSpPr/>
          <p:nvPr/>
        </p:nvSpPr>
        <p:spPr>
          <a:xfrm>
            <a:off x="9162288" y="5413248"/>
            <a:ext cx="2377440" cy="274320"/>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TOTAL</a:t>
            </a:r>
            <a:endParaRPr lang="en-US" sz="1200" dirty="0"/>
          </a:p>
        </p:txBody>
      </p:sp>
      <p:sp>
        <p:nvSpPr>
          <p:cNvPr id="55" name="Text 53"/>
          <p:cNvSpPr/>
          <p:nvPr/>
        </p:nvSpPr>
        <p:spPr>
          <a:xfrm>
            <a:off x="9162288" y="5687568"/>
            <a:ext cx="2377440" cy="274320"/>
          </a:xfrm>
          <a:prstGeom prst="rect">
            <a:avLst/>
          </a:prstGeom>
          <a:noFill/>
          <a:ln/>
        </p:spPr>
        <p:txBody>
          <a:bodyPr wrap="square" lIns="0" tIns="0" rIns="0" bIns="0" rtlCol="0" anchor="ctr"/>
          <a:lstStyle/>
          <a:p>
            <a:pPr indent="0" marL="0">
              <a:buNone/>
            </a:pPr>
            <a:r>
              <a:rPr lang="en-US" sz="1300" b="1" dirty="0">
                <a:solidFill>
                  <a:srgbClr val="D97706"/>
                </a:solidFill>
                <a:latin typeface="Courier New" pitchFamily="34" charset="0"/>
                <a:ea typeface="Courier New" pitchFamily="34" charset="-122"/>
                <a:cs typeface="Courier New" pitchFamily="34" charset="-120"/>
              </a:rPr>
              <a:t>~1–2 seconds</a:t>
            </a:r>
            <a:endParaRPr lang="en-US" sz="1300" dirty="0"/>
          </a:p>
        </p:txBody>
      </p:sp>
      <p:sp>
        <p:nvSpPr>
          <p:cNvPr id="56" name="Text 54"/>
          <p:cNvSpPr/>
          <p:nvPr/>
        </p:nvSpPr>
        <p:spPr>
          <a:xfrm>
            <a:off x="9162288" y="5961888"/>
            <a:ext cx="2377440" cy="201168"/>
          </a:xfrm>
          <a:prstGeom prst="rect">
            <a:avLst/>
          </a:prstGeom>
          <a:noFill/>
          <a:ln/>
        </p:spPr>
        <p:txBody>
          <a:bodyPr wrap="square" lIns="0" tIns="0" rIns="0" bIns="0" rtlCol="0" anchor="ctr"/>
          <a:lstStyle/>
          <a:p>
            <a:pPr indent="0" marL="0">
              <a:buNone/>
            </a:pPr>
            <a:r>
              <a:rPr lang="en-US" sz="1000" i="1" dirty="0">
                <a:solidFill>
                  <a:srgbClr val="8B92B8"/>
                </a:solidFill>
                <a:latin typeface="Calibri" pitchFamily="34" charset="0"/>
                <a:ea typeface="Calibri" pitchFamily="34" charset="-122"/>
                <a:cs typeface="Calibri" pitchFamily="34" charset="-120"/>
              </a:rPr>
              <a:t>end-to-end, typical task command</a:t>
            </a:r>
            <a:endParaRPr lang="en-US" sz="1000" dirty="0"/>
          </a:p>
        </p:txBody>
      </p:sp>
      <p:sp>
        <p:nvSpPr>
          <p:cNvPr id="58" name="Shape 55"/>
          <p:cNvSpPr/>
          <p:nvPr/>
        </p:nvSpPr>
        <p:spPr>
          <a:xfrm>
            <a:off x="0" y="6583680"/>
            <a:ext cx="12191695" cy="274320"/>
          </a:xfrm>
          <a:prstGeom prst="rect">
            <a:avLst/>
          </a:prstGeom>
          <a:solidFill>
            <a:srgbClr val="D97706">
              <a:alpha val="12000"/>
            </a:srgbClr>
          </a:solidFill>
          <a:ln w="12700">
            <a:solidFill>
              <a:srgbClr val="D97706">
                <a:alpha val="35000"/>
              </a:srgbClr>
            </a:solidFill>
            <a:prstDash val="solid"/>
          </a:ln>
        </p:spPr>
      </p:sp>
      <p:sp>
        <p:nvSpPr>
          <p:cNvPr id="59" name="Text 56"/>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60" name="Text 57"/>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14 / 31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D97706"/>
                </a:solidFill>
                <a:latin typeface="Calibri" pitchFamily="34" charset="0"/>
                <a:ea typeface="Calibri" pitchFamily="34" charset="-122"/>
                <a:cs typeface="Calibri" pitchFamily="34" charset="-120"/>
              </a:rPr>
              <a:t>THE VOICE LOOP — COMPLETE JAVA IMPLEMENTATION</a:t>
            </a:r>
            <a:endParaRPr lang="en-US" sz="1200" dirty="0"/>
          </a:p>
        </p:txBody>
      </p:sp>
      <p:sp>
        <p:nvSpPr>
          <p:cNvPr id="3" name="Text 1"/>
          <p:cNvSpPr/>
          <p:nvPr/>
        </p:nvSpPr>
        <p:spPr>
          <a:xfrm>
            <a:off x="685800" y="749808"/>
            <a:ext cx="10789920" cy="804672"/>
          </a:xfrm>
          <a:prstGeom prst="rect">
            <a:avLst/>
          </a:prstGeom>
          <a:noFill/>
          <a:ln/>
        </p:spPr>
        <p:txBody>
          <a:bodyPr wrap="square" lIns="0" tIns="0" rIns="0" bIns="0" rtlCol="0" anchor="ctr"/>
          <a:lstStyle/>
          <a:p>
            <a:pPr indent="0" marL="0">
              <a:lnSpc>
                <a:spcPct val="105000"/>
              </a:lnSpc>
              <a:buNone/>
            </a:pPr>
            <a:r>
              <a:rPr lang="en-US" sz="3200" b="1" dirty="0">
                <a:solidFill>
                  <a:srgbClr val="475569"/>
                </a:solidFill>
                <a:latin typeface="Calibri" pitchFamily="34" charset="0"/>
                <a:ea typeface="Calibri" pitchFamily="34" charset="-122"/>
                <a:cs typeface="Calibri" pitchFamily="34" charset="-120"/>
              </a:rPr>
              <a:t>The full chain: transcribe → reason → speak</a:t>
            </a:r>
            <a:endParaRPr lang="en-US" sz="3200" dirty="0"/>
          </a:p>
        </p:txBody>
      </p:sp>
      <p:sp>
        <p:nvSpPr>
          <p:cNvPr id="4" name="Shape 2"/>
          <p:cNvSpPr/>
          <p:nvPr/>
        </p:nvSpPr>
        <p:spPr>
          <a:xfrm>
            <a:off x="502920" y="1847088"/>
            <a:ext cx="6903720" cy="4645152"/>
          </a:xfrm>
          <a:prstGeom prst="roundRect">
            <a:avLst>
              <a:gd name="adj" fmla="val 1969"/>
            </a:avLst>
          </a:prstGeom>
          <a:solidFill>
            <a:srgbClr val="111827"/>
          </a:solidFill>
          <a:ln w="12700">
            <a:solidFill>
              <a:srgbClr val="374151"/>
            </a:solidFill>
            <a:prstDash val="solid"/>
          </a:ln>
          <a:effectLst>
            <a:outerShdw sx="100000" sy="100000" kx="0" ky="0" algn="bl" rotWithShape="0" blurRad="101600" dist="38100" dir="5400000">
              <a:srgbClr val="000000">
                <a:alpha val="13000"/>
              </a:srgbClr>
            </a:outerShdw>
          </a:effectLst>
        </p:spPr>
      </p:sp>
      <p:sp>
        <p:nvSpPr>
          <p:cNvPr id="5" name="Shape 3"/>
          <p:cNvSpPr/>
          <p:nvPr/>
        </p:nvSpPr>
        <p:spPr>
          <a:xfrm>
            <a:off x="502920" y="1847088"/>
            <a:ext cx="6903720" cy="365760"/>
          </a:xfrm>
          <a:prstGeom prst="roundRect">
            <a:avLst>
              <a:gd name="adj" fmla="val 25000"/>
            </a:avLst>
          </a:prstGeom>
          <a:solidFill>
            <a:srgbClr val="1F2937"/>
          </a:solidFill>
          <a:ln w="12700">
            <a:solidFill>
              <a:srgbClr val="374151"/>
            </a:solidFill>
            <a:prstDash val="solid"/>
          </a:ln>
        </p:spPr>
      </p:sp>
      <p:sp>
        <p:nvSpPr>
          <p:cNvPr id="6" name="Shape 4"/>
          <p:cNvSpPr/>
          <p:nvPr/>
        </p:nvSpPr>
        <p:spPr>
          <a:xfrm>
            <a:off x="667512" y="1947672"/>
            <a:ext cx="155448" cy="155448"/>
          </a:xfrm>
          <a:prstGeom prst="ellipse">
            <a:avLst/>
          </a:prstGeom>
          <a:solidFill>
            <a:srgbClr val="E11D48"/>
          </a:solidFill>
          <a:ln/>
        </p:spPr>
      </p:sp>
      <p:sp>
        <p:nvSpPr>
          <p:cNvPr id="7" name="Shape 5"/>
          <p:cNvSpPr/>
          <p:nvPr/>
        </p:nvSpPr>
        <p:spPr>
          <a:xfrm>
            <a:off x="905256" y="1947672"/>
            <a:ext cx="155448" cy="155448"/>
          </a:xfrm>
          <a:prstGeom prst="ellipse">
            <a:avLst/>
          </a:prstGeom>
          <a:solidFill>
            <a:srgbClr val="F59E0B"/>
          </a:solidFill>
          <a:ln/>
        </p:spPr>
      </p:sp>
      <p:sp>
        <p:nvSpPr>
          <p:cNvPr id="8" name="Shape 6"/>
          <p:cNvSpPr/>
          <p:nvPr/>
        </p:nvSpPr>
        <p:spPr>
          <a:xfrm>
            <a:off x="1143000" y="1947672"/>
            <a:ext cx="155448" cy="155448"/>
          </a:xfrm>
          <a:prstGeom prst="ellipse">
            <a:avLst/>
          </a:prstGeom>
          <a:solidFill>
            <a:srgbClr val="16A34A"/>
          </a:solidFill>
          <a:ln/>
        </p:spPr>
      </p:sp>
      <p:sp>
        <p:nvSpPr>
          <p:cNvPr id="9" name="Text 7"/>
          <p:cNvSpPr/>
          <p:nvPr/>
        </p:nvSpPr>
        <p:spPr>
          <a:xfrm>
            <a:off x="1417320" y="1911096"/>
            <a:ext cx="5852160" cy="237744"/>
          </a:xfrm>
          <a:prstGeom prst="rect">
            <a:avLst/>
          </a:prstGeom>
          <a:noFill/>
          <a:ln/>
        </p:spPr>
        <p:txBody>
          <a:bodyPr wrap="square" lIns="0" tIns="0" rIns="0" bIns="0" rtlCol="0" anchor="ctr"/>
          <a:lstStyle/>
          <a:p>
            <a:pPr indent="0" marL="0">
              <a:buNone/>
            </a:pPr>
            <a:r>
              <a:rPr lang="en-US" sz="1050" dirty="0">
                <a:solidFill>
                  <a:srgbClr val="9CA3AF"/>
                </a:solidFill>
                <a:latin typeface="Courier New" pitchFamily="34" charset="0"/>
                <a:ea typeface="Courier New" pitchFamily="34" charset="-122"/>
                <a:cs typeface="Courier New" pitchFamily="34" charset="-120"/>
              </a:rPr>
              <a:t>VoiceLoop.java</a:t>
            </a:r>
            <a:endParaRPr lang="en-US" sz="1050" dirty="0"/>
          </a:p>
        </p:txBody>
      </p:sp>
      <p:sp>
        <p:nvSpPr>
          <p:cNvPr id="10" name="Text 8"/>
          <p:cNvSpPr/>
          <p:nvPr/>
        </p:nvSpPr>
        <p:spPr>
          <a:xfrm>
            <a:off x="704088" y="2304288"/>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public class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VoiceLoop</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t>
            </a:r>
            <a:endParaRPr lang="en-US" sz="1050" dirty="0"/>
          </a:p>
        </p:txBody>
      </p:sp>
      <p:sp>
        <p:nvSpPr>
          <p:cNvPr id="11" name="Text 9"/>
          <p:cNvSpPr/>
          <p:nvPr/>
        </p:nvSpPr>
        <p:spPr>
          <a:xfrm>
            <a:off x="704088" y="2478024"/>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private final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OpenAIClient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 client =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OpenAIClient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fromEnv</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2" name="Text 10"/>
          <p:cNvSpPr/>
          <p:nvPr/>
        </p:nvSpPr>
        <p:spPr>
          <a:xfrm>
            <a:off x="704088" y="2651760"/>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13" name="Text 11"/>
          <p:cNvSpPr/>
          <p:nvPr/>
        </p:nvSpPr>
        <p:spPr>
          <a:xfrm>
            <a:off x="704088" y="2825496"/>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public void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processVoiceCommand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(Path audioFile) throws Exception {</a:t>
            </a:r>
            <a:endParaRPr lang="en-US" sz="1050" dirty="0"/>
          </a:p>
        </p:txBody>
      </p:sp>
      <p:sp>
        <p:nvSpPr>
          <p:cNvPr id="14" name="Text 12"/>
          <p:cNvSpPr/>
          <p:nvPr/>
        </p:nvSpPr>
        <p:spPr>
          <a:xfrm>
            <a:off x="704088" y="2999232"/>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15" name="Text 13"/>
          <p:cNvSpPr/>
          <p:nvPr/>
        </p:nvSpPr>
        <p:spPr>
          <a:xfrm>
            <a:off x="704088" y="3172968"/>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Step 1: Whisper — audio to text</a:t>
            </a:r>
            <a:endParaRPr lang="en-US" sz="1050" dirty="0"/>
          </a:p>
        </p:txBody>
      </p:sp>
      <p:sp>
        <p:nvSpPr>
          <p:cNvPr id="16" name="Text 14"/>
          <p:cNvSpPr/>
          <p:nvPr/>
        </p:nvSpPr>
        <p:spPr>
          <a:xfrm>
            <a:off x="704088" y="3346704"/>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String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transcript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 client.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audio</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transcriptions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create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7" name="Text 15"/>
          <p:cNvSpPr/>
          <p:nvPr/>
        </p:nvSpPr>
        <p:spPr>
          <a:xfrm>
            <a:off x="704088" y="3520440"/>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AudioTranscriptionCreateParams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builder</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model</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(WHISPER_1)</a:t>
            </a:r>
            <a:endParaRPr lang="en-US" sz="1050" dirty="0"/>
          </a:p>
        </p:txBody>
      </p:sp>
      <p:sp>
        <p:nvSpPr>
          <p:cNvPr id="18" name="Text 16"/>
          <p:cNvSpPr/>
          <p:nvPr/>
        </p:nvSpPr>
        <p:spPr>
          <a:xfrm>
            <a:off x="704088" y="3694176"/>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file</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(audioFile).</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responseFormat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(TEXT).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9" name="Text 17"/>
          <p:cNvSpPr/>
          <p:nvPr/>
        </p:nvSpPr>
        <p:spPr>
          <a:xfrm>
            <a:off x="704088" y="3867912"/>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text</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0" name="Text 18"/>
          <p:cNvSpPr/>
          <p:nvPr/>
        </p:nvSpPr>
        <p:spPr>
          <a:xfrm>
            <a:off x="704088" y="4041648"/>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1" name="Text 19"/>
          <p:cNvSpPr/>
          <p:nvPr/>
        </p:nvSpPr>
        <p:spPr>
          <a:xfrm>
            <a:off x="704088" y="4215384"/>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Step 2: GPT-4o with task tools — decide + act</a:t>
            </a:r>
            <a:endParaRPr lang="en-US" sz="1050" dirty="0"/>
          </a:p>
        </p:txBody>
      </p:sp>
      <p:sp>
        <p:nvSpPr>
          <p:cNvPr id="22" name="Text 20"/>
          <p:cNvSpPr/>
          <p:nvPr/>
        </p:nvSpPr>
        <p:spPr>
          <a:xfrm>
            <a:off x="704088" y="4389120"/>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String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confirmation</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 taskAgent.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processCommand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(transcript);</a:t>
            </a:r>
            <a:endParaRPr lang="en-US" sz="1050" dirty="0"/>
          </a:p>
        </p:txBody>
      </p:sp>
      <p:sp>
        <p:nvSpPr>
          <p:cNvPr id="23" name="Text 21"/>
          <p:cNvSpPr/>
          <p:nvPr/>
        </p:nvSpPr>
        <p:spPr>
          <a:xfrm>
            <a:off x="704088" y="4562856"/>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4" name="Text 22"/>
          <p:cNvSpPr/>
          <p:nvPr/>
        </p:nvSpPr>
        <p:spPr>
          <a:xfrm>
            <a:off x="704088" y="4736592"/>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Step 3: TTS — speak the confirmation</a:t>
            </a:r>
            <a:endParaRPr lang="en-US" sz="1050" dirty="0"/>
          </a:p>
        </p:txBody>
      </p:sp>
      <p:sp>
        <p:nvSpPr>
          <p:cNvPr id="25" name="Text 23"/>
          <p:cNvSpPr/>
          <p:nvPr/>
        </p:nvSpPr>
        <p:spPr>
          <a:xfrm>
            <a:off x="704088" y="4910328"/>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byte</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audio = client.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audio</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speech</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create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6" name="Text 24"/>
          <p:cNvSpPr/>
          <p:nvPr/>
        </p:nvSpPr>
        <p:spPr>
          <a:xfrm>
            <a:off x="704088" y="5084064"/>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AudioSpeechCreateParams</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builder</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7" name="Text 25"/>
          <p:cNvSpPr/>
          <p:nvPr/>
        </p:nvSpPr>
        <p:spPr>
          <a:xfrm>
            <a:off x="704088" y="5257800"/>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model</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(TTS_1).</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input</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(confirmation)</a:t>
            </a:r>
            <a:endParaRPr lang="en-US" sz="1050" dirty="0"/>
          </a:p>
        </p:txBody>
      </p:sp>
      <p:sp>
        <p:nvSpPr>
          <p:cNvPr id="28" name="Text 26"/>
          <p:cNvSpPr/>
          <p:nvPr/>
        </p:nvSpPr>
        <p:spPr>
          <a:xfrm>
            <a:off x="704088" y="5431536"/>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voice</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(ALLOY).</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build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29" name="Text 27"/>
          <p:cNvSpPr/>
          <p:nvPr/>
        </p:nvSpPr>
        <p:spPr>
          <a:xfrm>
            <a:off x="704088" y="5605272"/>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body</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bytes</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30" name="Text 28"/>
          <p:cNvSpPr/>
          <p:nvPr/>
        </p:nvSpPr>
        <p:spPr>
          <a:xfrm>
            <a:off x="704088" y="5779008"/>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31" name="Text 29"/>
          <p:cNvSpPr/>
          <p:nvPr/>
        </p:nvSpPr>
        <p:spPr>
          <a:xfrm>
            <a:off x="704088" y="5952744"/>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playAudio(audio);   // plays the spoken reply</a:t>
            </a:r>
            <a:endParaRPr lang="en-US" sz="1050" dirty="0"/>
          </a:p>
        </p:txBody>
      </p:sp>
      <p:sp>
        <p:nvSpPr>
          <p:cNvPr id="32" name="Text 30"/>
          <p:cNvSpPr/>
          <p:nvPr/>
        </p:nvSpPr>
        <p:spPr>
          <a:xfrm>
            <a:off x="704088" y="6126480"/>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t>
            </a:r>
            <a:endParaRPr lang="en-US" sz="1050" dirty="0"/>
          </a:p>
        </p:txBody>
      </p:sp>
      <p:sp>
        <p:nvSpPr>
          <p:cNvPr id="33" name="Text 31"/>
          <p:cNvSpPr/>
          <p:nvPr/>
        </p:nvSpPr>
        <p:spPr>
          <a:xfrm>
            <a:off x="704088" y="6300216"/>
            <a:ext cx="6583680" cy="173736"/>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34" name="Shape 32"/>
          <p:cNvSpPr/>
          <p:nvPr/>
        </p:nvSpPr>
        <p:spPr>
          <a:xfrm>
            <a:off x="7571232" y="2697480"/>
            <a:ext cx="4370832" cy="457200"/>
          </a:xfrm>
          <a:prstGeom prst="roundRect">
            <a:avLst>
              <a:gd name="adj" fmla="val 14000"/>
            </a:avLst>
          </a:prstGeom>
          <a:solidFill>
            <a:srgbClr val="F8FAFC"/>
          </a:solidFill>
          <a:ln w="12700">
            <a:solidFill>
              <a:srgbClr val="7C3AED">
                <a:alpha val="45000"/>
              </a:srgbClr>
            </a:solidFill>
            <a:prstDash val="solid"/>
          </a:ln>
        </p:spPr>
      </p:sp>
      <p:sp>
        <p:nvSpPr>
          <p:cNvPr id="35" name="Text 33"/>
          <p:cNvSpPr/>
          <p:nvPr/>
        </p:nvSpPr>
        <p:spPr>
          <a:xfrm>
            <a:off x="7717536" y="2770632"/>
            <a:ext cx="4069080" cy="310896"/>
          </a:xfrm>
          <a:prstGeom prst="rect">
            <a:avLst/>
          </a:prstGeom>
          <a:noFill/>
          <a:ln/>
        </p:spPr>
        <p:txBody>
          <a:bodyPr wrap="square" lIns="0" tIns="0" rIns="0" bIns="0" rtlCol="0" anchor="ctr"/>
          <a:lstStyle/>
          <a:p>
            <a:pPr indent="0" marL="0">
              <a:lnSpc>
                <a:spcPct val="110000"/>
              </a:lnSpc>
              <a:buNone/>
            </a:pPr>
            <a:r>
              <a:rPr lang="en-US" sz="1100" b="1" dirty="0">
                <a:solidFill>
                  <a:srgbClr val="7C3AED"/>
                </a:solidFill>
                <a:latin typeface="Calibri" pitchFamily="34" charset="0"/>
                <a:ea typeface="Calibri" pitchFamily="34" charset="-122"/>
                <a:cs typeface="Calibri" pitchFamily="34" charset="-120"/>
              </a:rPr>
              <a:t>◀  taskAgent is the Session 3 tool-calling code from your task store</a:t>
            </a:r>
            <a:endParaRPr lang="en-US" sz="1100" dirty="0"/>
          </a:p>
        </p:txBody>
      </p:sp>
      <p:sp>
        <p:nvSpPr>
          <p:cNvPr id="36" name="Shape 34"/>
          <p:cNvSpPr/>
          <p:nvPr/>
        </p:nvSpPr>
        <p:spPr>
          <a:xfrm>
            <a:off x="7571232" y="3822192"/>
            <a:ext cx="4370832" cy="457200"/>
          </a:xfrm>
          <a:prstGeom prst="roundRect">
            <a:avLst>
              <a:gd name="adj" fmla="val 14000"/>
            </a:avLst>
          </a:prstGeom>
          <a:solidFill>
            <a:srgbClr val="F8FAFC"/>
          </a:solidFill>
          <a:ln w="12700">
            <a:solidFill>
              <a:srgbClr val="0891B2">
                <a:alpha val="45000"/>
              </a:srgbClr>
            </a:solidFill>
            <a:prstDash val="solid"/>
          </a:ln>
        </p:spPr>
      </p:sp>
      <p:sp>
        <p:nvSpPr>
          <p:cNvPr id="37" name="Text 35"/>
          <p:cNvSpPr/>
          <p:nvPr/>
        </p:nvSpPr>
        <p:spPr>
          <a:xfrm>
            <a:off x="7717536" y="3895344"/>
            <a:ext cx="4069080" cy="310896"/>
          </a:xfrm>
          <a:prstGeom prst="rect">
            <a:avLst/>
          </a:prstGeom>
          <a:noFill/>
          <a:ln/>
        </p:spPr>
        <p:txBody>
          <a:bodyPr wrap="square" lIns="0" tIns="0" rIns="0" bIns="0" rtlCol="0" anchor="ctr"/>
          <a:lstStyle/>
          <a:p>
            <a:pPr indent="0" marL="0">
              <a:lnSpc>
                <a:spcPct val="110000"/>
              </a:lnSpc>
              <a:buNone/>
            </a:pPr>
            <a:r>
              <a:rPr lang="en-US" sz="1100" b="1" dirty="0">
                <a:solidFill>
                  <a:srgbClr val="0891B2"/>
                </a:solidFill>
                <a:latin typeface="Calibri" pitchFamily="34" charset="0"/>
                <a:ea typeface="Calibri" pitchFamily="34" charset="-122"/>
                <a:cs typeface="Calibri" pitchFamily="34" charset="-120"/>
              </a:rPr>
              <a:t>◀  transcript is the userMessage — feeds directly into the chat loop</a:t>
            </a:r>
            <a:endParaRPr lang="en-US" sz="1100" dirty="0"/>
          </a:p>
        </p:txBody>
      </p:sp>
      <p:sp>
        <p:nvSpPr>
          <p:cNvPr id="38" name="Shape 36"/>
          <p:cNvSpPr/>
          <p:nvPr/>
        </p:nvSpPr>
        <p:spPr>
          <a:xfrm>
            <a:off x="7571232" y="5230368"/>
            <a:ext cx="4370832" cy="457200"/>
          </a:xfrm>
          <a:prstGeom prst="roundRect">
            <a:avLst>
              <a:gd name="adj" fmla="val 14000"/>
            </a:avLst>
          </a:prstGeom>
          <a:solidFill>
            <a:srgbClr val="F8FAFC"/>
          </a:solidFill>
          <a:ln w="12700">
            <a:solidFill>
              <a:srgbClr val="16A34A">
                <a:alpha val="45000"/>
              </a:srgbClr>
            </a:solidFill>
            <a:prstDash val="solid"/>
          </a:ln>
        </p:spPr>
      </p:sp>
      <p:sp>
        <p:nvSpPr>
          <p:cNvPr id="39" name="Text 37"/>
          <p:cNvSpPr/>
          <p:nvPr/>
        </p:nvSpPr>
        <p:spPr>
          <a:xfrm>
            <a:off x="7717536" y="5303520"/>
            <a:ext cx="4069080" cy="310896"/>
          </a:xfrm>
          <a:prstGeom prst="rect">
            <a:avLst/>
          </a:prstGeom>
          <a:noFill/>
          <a:ln/>
        </p:spPr>
        <p:txBody>
          <a:bodyPr wrap="square" lIns="0" tIns="0" rIns="0" bIns="0" rtlCol="0" anchor="ctr"/>
          <a:lstStyle/>
          <a:p>
            <a:pPr indent="0" marL="0">
              <a:lnSpc>
                <a:spcPct val="110000"/>
              </a:lnSpc>
              <a:buNone/>
            </a:pPr>
            <a:r>
              <a:rPr lang="en-US" sz="1100" b="1" dirty="0">
                <a:solidFill>
                  <a:srgbClr val="16A34A"/>
                </a:solidFill>
                <a:latin typeface="Calibri" pitchFamily="34" charset="0"/>
                <a:ea typeface="Calibri" pitchFamily="34" charset="-122"/>
                <a:cs typeface="Calibri" pitchFamily="34" charset="-120"/>
              </a:rPr>
              <a:t>◀  playAudio: Runtime.exec('afplay reply.mp3') on Mac, vlc on Linux</a:t>
            </a:r>
            <a:endParaRPr lang="en-US" sz="1100" dirty="0"/>
          </a:p>
        </p:txBody>
      </p:sp>
      <p:sp>
        <p:nvSpPr>
          <p:cNvPr id="40" name="Shape 38"/>
          <p:cNvSpPr/>
          <p:nvPr/>
        </p:nvSpPr>
        <p:spPr>
          <a:xfrm>
            <a:off x="7571232" y="5870448"/>
            <a:ext cx="4370832" cy="594360"/>
          </a:xfrm>
          <a:prstGeom prst="roundRect">
            <a:avLst>
              <a:gd name="adj" fmla="val 13846"/>
            </a:avLst>
          </a:prstGeom>
          <a:solidFill>
            <a:srgbClr val="FFFBEB"/>
          </a:solidFill>
          <a:ln w="12700">
            <a:solidFill>
              <a:srgbClr val="D97706">
                <a:alpha val="50000"/>
              </a:srgbClr>
            </a:solidFill>
            <a:prstDash val="solid"/>
          </a:ln>
        </p:spPr>
      </p:sp>
      <p:sp>
        <p:nvSpPr>
          <p:cNvPr id="41" name="Text 39"/>
          <p:cNvSpPr/>
          <p:nvPr/>
        </p:nvSpPr>
        <p:spPr>
          <a:xfrm>
            <a:off x="7726680" y="5943600"/>
            <a:ext cx="4069080" cy="292608"/>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Three sessions combined:</a:t>
            </a:r>
            <a:endParaRPr lang="en-US" sz="1200" dirty="0"/>
          </a:p>
        </p:txBody>
      </p:sp>
      <p:sp>
        <p:nvSpPr>
          <p:cNvPr id="42" name="Text 40"/>
          <p:cNvSpPr/>
          <p:nvPr/>
        </p:nvSpPr>
        <p:spPr>
          <a:xfrm>
            <a:off x="7726680" y="6236208"/>
            <a:ext cx="4069080"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S3 (tool calling) + S4 (session history) + S5 (Whisper + TTS) = Voice Task Manager</a:t>
            </a:r>
            <a:endParaRPr lang="en-US" sz="950" dirty="0"/>
          </a:p>
        </p:txBody>
      </p:sp>
      <p:sp>
        <p:nvSpPr>
          <p:cNvPr id="44" name="Shape 41"/>
          <p:cNvSpPr/>
          <p:nvPr/>
        </p:nvSpPr>
        <p:spPr>
          <a:xfrm>
            <a:off x="0" y="6583680"/>
            <a:ext cx="12191695" cy="274320"/>
          </a:xfrm>
          <a:prstGeom prst="rect">
            <a:avLst/>
          </a:prstGeom>
          <a:solidFill>
            <a:srgbClr val="D97706">
              <a:alpha val="12000"/>
            </a:srgbClr>
          </a:solidFill>
          <a:ln w="12700">
            <a:solidFill>
              <a:srgbClr val="D97706">
                <a:alpha val="35000"/>
              </a:srgbClr>
            </a:solidFill>
            <a:prstDash val="solid"/>
          </a:ln>
        </p:spPr>
      </p:sp>
      <p:sp>
        <p:nvSpPr>
          <p:cNvPr id="45" name="Text 42"/>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46" name="Text 43"/>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15 / 31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F1A"/>
        </a:solidFill>
      </p:bgPr>
    </p:bg>
    <p:spTree>
      <p:nvGrpSpPr>
        <p:cNvPr id="1" name=""/>
        <p:cNvGrpSpPr/>
        <p:nvPr/>
      </p:nvGrpSpPr>
      <p:grpSpPr>
        <a:xfrm>
          <a:off x="0" y="0"/>
          <a:ext cx="0" cy="0"/>
          <a:chOff x="0" y="0"/>
          <a:chExt cx="0" cy="0"/>
        </a:xfrm>
      </p:grpSpPr>
      <p:sp>
        <p:nvSpPr>
          <p:cNvPr id="2" name="Shape 0"/>
          <p:cNvSpPr/>
          <p:nvPr/>
        </p:nvSpPr>
        <p:spPr>
          <a:xfrm>
            <a:off x="8046720" y="-1371600"/>
            <a:ext cx="5943600" cy="5943600"/>
          </a:xfrm>
          <a:prstGeom prst="ellipse">
            <a:avLst/>
          </a:prstGeom>
          <a:solidFill>
            <a:srgbClr val="E11D48">
              <a:alpha val="9000"/>
            </a:srgbClr>
          </a:solidFill>
          <a:ln/>
        </p:spPr>
      </p:sp>
      <p:sp>
        <p:nvSpPr>
          <p:cNvPr id="3" name="Text 1"/>
          <p:cNvSpPr/>
          <p:nvPr/>
        </p:nvSpPr>
        <p:spPr>
          <a:xfrm>
            <a:off x="685800" y="1645920"/>
            <a:ext cx="7315200" cy="347472"/>
          </a:xfrm>
          <a:prstGeom prst="rect">
            <a:avLst/>
          </a:prstGeom>
          <a:noFill/>
          <a:ln/>
        </p:spPr>
        <p:txBody>
          <a:bodyPr wrap="square" lIns="0" tIns="0" rIns="0" bIns="0" rtlCol="0" anchor="ctr"/>
          <a:lstStyle/>
          <a:p>
            <a:pPr indent="0" marL="0">
              <a:buNone/>
            </a:pPr>
            <a:r>
              <a:rPr lang="en-US" sz="1400" b="1" spc="600" kern="0" dirty="0">
                <a:solidFill>
                  <a:srgbClr val="FDA4AF"/>
                </a:solidFill>
                <a:latin typeface="Calibri" pitchFamily="34" charset="0"/>
                <a:ea typeface="Calibri" pitchFamily="34" charset="-122"/>
                <a:cs typeface="Calibri" pitchFamily="34" charset="-120"/>
              </a:rPr>
              <a:t>LIVE PROJECT</a:t>
            </a:r>
            <a:endParaRPr lang="en-US" sz="1400" dirty="0"/>
          </a:p>
        </p:txBody>
      </p:sp>
      <p:sp>
        <p:nvSpPr>
          <p:cNvPr id="4" name="Text 2"/>
          <p:cNvSpPr/>
          <p:nvPr/>
        </p:nvSpPr>
        <p:spPr>
          <a:xfrm>
            <a:off x="658368" y="2011680"/>
            <a:ext cx="8229600" cy="2651760"/>
          </a:xfrm>
          <a:prstGeom prst="rect">
            <a:avLst/>
          </a:prstGeom>
          <a:noFill/>
          <a:ln/>
        </p:spPr>
        <p:txBody>
          <a:bodyPr wrap="square" lIns="0" tIns="0" rIns="0" bIns="0" rtlCol="0" anchor="ctr"/>
          <a:lstStyle/>
          <a:p>
            <a:pPr indent="0" marL="0">
              <a:lnSpc>
                <a:spcPct val="105000"/>
              </a:lnSpc>
              <a:buNone/>
            </a:pPr>
            <a:r>
              <a:rPr lang="en-US" sz="5400" b="1" dirty="0">
                <a:solidFill>
                  <a:srgbClr val="FFFFFF"/>
                </a:solidFill>
                <a:latin typeface="Calibri" pitchFamily="34" charset="0"/>
                <a:ea typeface="Calibri" pitchFamily="34" charset="-122"/>
                <a:cs typeface="Calibri" pitchFamily="34" charset="-120"/>
              </a:rPr>
              <a:t>Voice Task</a:t>
            </a:r>
            <a:endParaRPr lang="en-US" sz="5400" dirty="0"/>
          </a:p>
          <a:p>
            <a:pPr indent="0" marL="0">
              <a:lnSpc>
                <a:spcPct val="105000"/>
              </a:lnSpc>
              <a:buNone/>
            </a:pPr>
            <a:r>
              <a:rPr lang="en-US" sz="5400" b="1" dirty="0">
                <a:solidFill>
                  <a:srgbClr val="FFFFFF"/>
                </a:solidFill>
                <a:latin typeface="Calibri" pitchFamily="34" charset="0"/>
                <a:ea typeface="Calibri" pitchFamily="34" charset="-122"/>
                <a:cs typeface="Calibri" pitchFamily="34" charset="-120"/>
              </a:rPr>
              <a:t>Manager</a:t>
            </a:r>
            <a:endParaRPr lang="en-US" sz="5400" dirty="0"/>
          </a:p>
        </p:txBody>
      </p:sp>
      <p:sp>
        <p:nvSpPr>
          <p:cNvPr id="5" name="Text 3"/>
          <p:cNvSpPr/>
          <p:nvPr/>
        </p:nvSpPr>
        <p:spPr>
          <a:xfrm>
            <a:off x="685800" y="4800600"/>
            <a:ext cx="8229600" cy="475488"/>
          </a:xfrm>
          <a:prstGeom prst="rect">
            <a:avLst/>
          </a:prstGeom>
          <a:noFill/>
          <a:ln/>
        </p:spPr>
        <p:txBody>
          <a:bodyPr wrap="square" lIns="0" tIns="0" rIns="0" bIns="0" rtlCol="0" anchor="ctr"/>
          <a:lstStyle/>
          <a:p>
            <a:pPr indent="0" marL="0">
              <a:buNone/>
            </a:pPr>
            <a:r>
              <a:rPr lang="en-US" sz="2000" dirty="0">
                <a:solidFill>
                  <a:srgbClr val="8B92B8"/>
                </a:solidFill>
                <a:latin typeface="Calibri" pitchFamily="34" charset="0"/>
                <a:ea typeface="Calibri" pitchFamily="34" charset="-122"/>
                <a:cs typeface="Calibri" pitchFamily="34" charset="-120"/>
              </a:rPr>
              <a:t>The Week 1 classroom project — built in 40 minutes.</a:t>
            </a:r>
            <a:endParaRPr lang="en-US" sz="2000" dirty="0"/>
          </a:p>
        </p:txBody>
      </p:sp>
      <p:sp>
        <p:nvSpPr>
          <p:cNvPr id="6" name="Shape 4"/>
          <p:cNvSpPr/>
          <p:nvPr/>
        </p:nvSpPr>
        <p:spPr>
          <a:xfrm>
            <a:off x="685800" y="5468112"/>
            <a:ext cx="2029968" cy="658368"/>
          </a:xfrm>
          <a:prstGeom prst="roundRect">
            <a:avLst>
              <a:gd name="adj" fmla="val 11111"/>
            </a:avLst>
          </a:prstGeom>
          <a:solidFill>
            <a:srgbClr val="1C2236"/>
          </a:solidFill>
          <a:ln w="12700">
            <a:solidFill>
              <a:srgbClr val="E11D48">
                <a:alpha val="45000"/>
              </a:srgbClr>
            </a:solidFill>
            <a:prstDash val="solid"/>
          </a:ln>
        </p:spPr>
      </p:sp>
      <p:sp>
        <p:nvSpPr>
          <p:cNvPr id="7" name="Text 5"/>
          <p:cNvSpPr/>
          <p:nvPr/>
        </p:nvSpPr>
        <p:spPr>
          <a:xfrm>
            <a:off x="795528" y="5522976"/>
            <a:ext cx="1828800" cy="548640"/>
          </a:xfrm>
          <a:prstGeom prst="rect">
            <a:avLst/>
          </a:prstGeom>
          <a:noFill/>
          <a:ln/>
        </p:spPr>
        <p:txBody>
          <a:bodyPr wrap="square" lIns="0" tIns="0" rIns="0" bIns="0" rtlCol="0" anchor="ctr"/>
          <a:lstStyle/>
          <a:p>
            <a:pPr indent="0" marL="0">
              <a:lnSpc>
                <a:spcPct val="115000"/>
              </a:lnSpc>
              <a:buNone/>
            </a:pPr>
            <a:r>
              <a:rPr lang="en-US" sz="1200" b="1" dirty="0">
                <a:solidFill>
                  <a:srgbClr val="FDA4AF"/>
                </a:solidFill>
                <a:latin typeface="Calibri" pitchFamily="34" charset="0"/>
                <a:ea typeface="Calibri" pitchFamily="34" charset="-122"/>
                <a:cs typeface="Calibri" pitchFamily="34" charset="-120"/>
              </a:rPr>
              <a:t>1. Task store</a:t>
            </a:r>
            <a:endParaRPr lang="en-US" sz="1200" dirty="0"/>
          </a:p>
        </p:txBody>
      </p:sp>
      <p:sp>
        <p:nvSpPr>
          <p:cNvPr id="8" name="Shape 6"/>
          <p:cNvSpPr/>
          <p:nvPr/>
        </p:nvSpPr>
        <p:spPr>
          <a:xfrm>
            <a:off x="2862072" y="5468112"/>
            <a:ext cx="2029968" cy="658368"/>
          </a:xfrm>
          <a:prstGeom prst="roundRect">
            <a:avLst>
              <a:gd name="adj" fmla="val 11111"/>
            </a:avLst>
          </a:prstGeom>
          <a:solidFill>
            <a:srgbClr val="1C2236"/>
          </a:solidFill>
          <a:ln w="12700">
            <a:solidFill>
              <a:srgbClr val="E11D48">
                <a:alpha val="45000"/>
              </a:srgbClr>
            </a:solidFill>
            <a:prstDash val="solid"/>
          </a:ln>
        </p:spPr>
      </p:sp>
      <p:sp>
        <p:nvSpPr>
          <p:cNvPr id="9" name="Text 7"/>
          <p:cNvSpPr/>
          <p:nvPr/>
        </p:nvSpPr>
        <p:spPr>
          <a:xfrm>
            <a:off x="2971800" y="5522976"/>
            <a:ext cx="1828800" cy="548640"/>
          </a:xfrm>
          <a:prstGeom prst="rect">
            <a:avLst/>
          </a:prstGeom>
          <a:noFill/>
          <a:ln/>
        </p:spPr>
        <p:txBody>
          <a:bodyPr wrap="square" lIns="0" tIns="0" rIns="0" bIns="0" rtlCol="0" anchor="ctr"/>
          <a:lstStyle/>
          <a:p>
            <a:pPr indent="0" marL="0">
              <a:lnSpc>
                <a:spcPct val="115000"/>
              </a:lnSpc>
              <a:buNone/>
            </a:pPr>
            <a:r>
              <a:rPr lang="en-US" sz="1200" b="1" dirty="0">
                <a:solidFill>
                  <a:srgbClr val="FDA4AF"/>
                </a:solidFill>
                <a:latin typeface="Calibri" pitchFamily="34" charset="0"/>
                <a:ea typeface="Calibri" pitchFamily="34" charset="-122"/>
                <a:cs typeface="Calibri" pitchFamily="34" charset="-120"/>
              </a:rPr>
              <a:t>2. 4 tools</a:t>
            </a:r>
            <a:endParaRPr lang="en-US" sz="1200" dirty="0"/>
          </a:p>
        </p:txBody>
      </p:sp>
      <p:sp>
        <p:nvSpPr>
          <p:cNvPr id="10" name="Shape 8"/>
          <p:cNvSpPr/>
          <p:nvPr/>
        </p:nvSpPr>
        <p:spPr>
          <a:xfrm>
            <a:off x="5038344" y="5468112"/>
            <a:ext cx="2029968" cy="658368"/>
          </a:xfrm>
          <a:prstGeom prst="roundRect">
            <a:avLst>
              <a:gd name="adj" fmla="val 11111"/>
            </a:avLst>
          </a:prstGeom>
          <a:solidFill>
            <a:srgbClr val="1C2236"/>
          </a:solidFill>
          <a:ln w="12700">
            <a:solidFill>
              <a:srgbClr val="E11D48">
                <a:alpha val="45000"/>
              </a:srgbClr>
            </a:solidFill>
            <a:prstDash val="solid"/>
          </a:ln>
        </p:spPr>
      </p:sp>
      <p:sp>
        <p:nvSpPr>
          <p:cNvPr id="11" name="Text 9"/>
          <p:cNvSpPr/>
          <p:nvPr/>
        </p:nvSpPr>
        <p:spPr>
          <a:xfrm>
            <a:off x="5148072" y="5522976"/>
            <a:ext cx="1828800" cy="548640"/>
          </a:xfrm>
          <a:prstGeom prst="rect">
            <a:avLst/>
          </a:prstGeom>
          <a:noFill/>
          <a:ln/>
        </p:spPr>
        <p:txBody>
          <a:bodyPr wrap="square" lIns="0" tIns="0" rIns="0" bIns="0" rtlCol="0" anchor="ctr"/>
          <a:lstStyle/>
          <a:p>
            <a:pPr indent="0" marL="0">
              <a:lnSpc>
                <a:spcPct val="115000"/>
              </a:lnSpc>
              <a:buNone/>
            </a:pPr>
            <a:r>
              <a:rPr lang="en-US" sz="1200" b="1" dirty="0">
                <a:solidFill>
                  <a:srgbClr val="FDA4AF"/>
                </a:solidFill>
                <a:latin typeface="Calibri" pitchFamily="34" charset="0"/>
                <a:ea typeface="Calibri" pitchFamily="34" charset="-122"/>
                <a:cs typeface="Calibri" pitchFamily="34" charset="-120"/>
              </a:rPr>
              <a:t>3. Voice loop</a:t>
            </a:r>
            <a:endParaRPr lang="en-US" sz="1200" dirty="0"/>
          </a:p>
        </p:txBody>
      </p:sp>
      <p:sp>
        <p:nvSpPr>
          <p:cNvPr id="12" name="Shape 10"/>
          <p:cNvSpPr/>
          <p:nvPr/>
        </p:nvSpPr>
        <p:spPr>
          <a:xfrm>
            <a:off x="7214616" y="5468112"/>
            <a:ext cx="2029968" cy="658368"/>
          </a:xfrm>
          <a:prstGeom prst="roundRect">
            <a:avLst>
              <a:gd name="adj" fmla="val 11111"/>
            </a:avLst>
          </a:prstGeom>
          <a:solidFill>
            <a:srgbClr val="1C2236"/>
          </a:solidFill>
          <a:ln w="12700">
            <a:solidFill>
              <a:srgbClr val="E11D48">
                <a:alpha val="45000"/>
              </a:srgbClr>
            </a:solidFill>
            <a:prstDash val="solid"/>
          </a:ln>
        </p:spPr>
      </p:sp>
      <p:sp>
        <p:nvSpPr>
          <p:cNvPr id="13" name="Text 11"/>
          <p:cNvSpPr/>
          <p:nvPr/>
        </p:nvSpPr>
        <p:spPr>
          <a:xfrm>
            <a:off x="7324344" y="5522976"/>
            <a:ext cx="1828800" cy="548640"/>
          </a:xfrm>
          <a:prstGeom prst="rect">
            <a:avLst/>
          </a:prstGeom>
          <a:noFill/>
          <a:ln/>
        </p:spPr>
        <p:txBody>
          <a:bodyPr wrap="square" lIns="0" tIns="0" rIns="0" bIns="0" rtlCol="0" anchor="ctr"/>
          <a:lstStyle/>
          <a:p>
            <a:pPr indent="0" marL="0">
              <a:lnSpc>
                <a:spcPct val="115000"/>
              </a:lnSpc>
              <a:buNone/>
            </a:pPr>
            <a:r>
              <a:rPr lang="en-US" sz="1200" b="1" dirty="0">
                <a:solidFill>
                  <a:srgbClr val="FDA4AF"/>
                </a:solidFill>
                <a:latin typeface="Calibri" pitchFamily="34" charset="0"/>
                <a:ea typeface="Calibri" pitchFamily="34" charset="-122"/>
                <a:cs typeface="Calibri" pitchFamily="34" charset="-120"/>
              </a:rPr>
              <a:t>4. Test it live</a:t>
            </a:r>
            <a:endParaRPr lang="en-US" sz="1200" dirty="0"/>
          </a:p>
        </p:txBody>
      </p:sp>
      <p:sp>
        <p:nvSpPr>
          <p:cNvPr id="14" name="Shape 12"/>
          <p:cNvSpPr/>
          <p:nvPr/>
        </p:nvSpPr>
        <p:spPr>
          <a:xfrm>
            <a:off x="9390888" y="5468112"/>
            <a:ext cx="2029968" cy="658368"/>
          </a:xfrm>
          <a:prstGeom prst="roundRect">
            <a:avLst>
              <a:gd name="adj" fmla="val 11111"/>
            </a:avLst>
          </a:prstGeom>
          <a:solidFill>
            <a:srgbClr val="1C2236"/>
          </a:solidFill>
          <a:ln w="12700">
            <a:solidFill>
              <a:srgbClr val="E11D48">
                <a:alpha val="45000"/>
              </a:srgbClr>
            </a:solidFill>
            <a:prstDash val="solid"/>
          </a:ln>
        </p:spPr>
      </p:sp>
      <p:sp>
        <p:nvSpPr>
          <p:cNvPr id="15" name="Text 13"/>
          <p:cNvSpPr/>
          <p:nvPr/>
        </p:nvSpPr>
        <p:spPr>
          <a:xfrm>
            <a:off x="9500616" y="5522976"/>
            <a:ext cx="1828800" cy="548640"/>
          </a:xfrm>
          <a:prstGeom prst="rect">
            <a:avLst/>
          </a:prstGeom>
          <a:noFill/>
          <a:ln/>
        </p:spPr>
        <p:txBody>
          <a:bodyPr wrap="square" lIns="0" tIns="0" rIns="0" bIns="0" rtlCol="0" anchor="ctr"/>
          <a:lstStyle/>
          <a:p>
            <a:pPr indent="0" marL="0">
              <a:lnSpc>
                <a:spcPct val="115000"/>
              </a:lnSpc>
              <a:buNone/>
            </a:pPr>
            <a:r>
              <a:rPr lang="en-US" sz="1200" b="1" dirty="0">
                <a:solidFill>
                  <a:srgbClr val="FDA4AF"/>
                </a:solidFill>
                <a:latin typeface="Calibri" pitchFamily="34" charset="0"/>
                <a:ea typeface="Calibri" pitchFamily="34" charset="-122"/>
                <a:cs typeface="Calibri" pitchFamily="34" charset="-120"/>
              </a:rPr>
              <a:t>5. Polish</a:t>
            </a:r>
            <a:endParaRPr lang="en-US" sz="1200" dirty="0"/>
          </a:p>
        </p:txBody>
      </p:sp>
      <p:sp>
        <p:nvSpPr>
          <p:cNvPr id="17" name="Shape 14"/>
          <p:cNvSpPr/>
          <p:nvPr/>
        </p:nvSpPr>
        <p:spPr>
          <a:xfrm>
            <a:off x="0" y="6583680"/>
            <a:ext cx="12191695" cy="274320"/>
          </a:xfrm>
          <a:prstGeom prst="rect">
            <a:avLst/>
          </a:prstGeom>
          <a:solidFill>
            <a:srgbClr val="E11D48">
              <a:alpha val="12000"/>
            </a:srgbClr>
          </a:solidFill>
          <a:ln w="12700">
            <a:solidFill>
              <a:srgbClr val="E11D48">
                <a:alpha val="35000"/>
              </a:srgbClr>
            </a:solidFill>
            <a:prstDash val="solid"/>
          </a:ln>
        </p:spPr>
      </p:sp>
      <p:sp>
        <p:nvSpPr>
          <p:cNvPr id="18" name="Text 15"/>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9" name="Text 16"/>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16 / 31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E11D48"/>
                </a:solidFill>
                <a:latin typeface="Calibri" pitchFamily="34" charset="0"/>
                <a:ea typeface="Calibri" pitchFamily="34" charset="-122"/>
                <a:cs typeface="Calibri" pitchFamily="34" charset="-120"/>
              </a:rPr>
              <a:t>VOICE TASK MANAGER — TASK STORE AND TOOL DEFINITIONS</a:t>
            </a:r>
            <a:endParaRPr lang="en-US" sz="1200" dirty="0"/>
          </a:p>
        </p:txBody>
      </p:sp>
      <p:sp>
        <p:nvSpPr>
          <p:cNvPr id="3" name="Text 1"/>
          <p:cNvSpPr/>
          <p:nvPr/>
        </p:nvSpPr>
        <p:spPr>
          <a:xfrm>
            <a:off x="685800" y="749808"/>
            <a:ext cx="10789920" cy="804672"/>
          </a:xfrm>
          <a:prstGeom prst="rect">
            <a:avLst/>
          </a:prstGeom>
          <a:noFill/>
          <a:ln/>
        </p:spPr>
        <p:txBody>
          <a:bodyPr wrap="square" lIns="0" tIns="0" rIns="0" bIns="0" rtlCol="0" anchor="ctr"/>
          <a:lstStyle/>
          <a:p>
            <a:pPr indent="0" marL="0">
              <a:lnSpc>
                <a:spcPct val="105000"/>
              </a:lnSpc>
              <a:buNone/>
            </a:pPr>
            <a:r>
              <a:rPr lang="en-US" sz="3200" b="1" dirty="0">
                <a:solidFill>
                  <a:srgbClr val="475569"/>
                </a:solidFill>
                <a:latin typeface="Calibri" pitchFamily="34" charset="0"/>
                <a:ea typeface="Calibri" pitchFamily="34" charset="-122"/>
                <a:cs typeface="Calibri" pitchFamily="34" charset="-120"/>
              </a:rPr>
              <a:t>The data model and 4 tools the model can call</a:t>
            </a:r>
            <a:endParaRPr lang="en-US" sz="3200" dirty="0"/>
          </a:p>
        </p:txBody>
      </p:sp>
      <p:sp>
        <p:nvSpPr>
          <p:cNvPr id="4" name="Shape 2"/>
          <p:cNvSpPr/>
          <p:nvPr/>
        </p:nvSpPr>
        <p:spPr>
          <a:xfrm>
            <a:off x="502920" y="1847088"/>
            <a:ext cx="6355080" cy="4617720"/>
          </a:xfrm>
          <a:prstGeom prst="roundRect">
            <a:avLst>
              <a:gd name="adj" fmla="val 1980"/>
            </a:avLst>
          </a:prstGeom>
          <a:solidFill>
            <a:srgbClr val="111827"/>
          </a:solidFill>
          <a:ln w="12700">
            <a:solidFill>
              <a:srgbClr val="374151"/>
            </a:solidFill>
            <a:prstDash val="solid"/>
          </a:ln>
          <a:effectLst>
            <a:outerShdw sx="100000" sy="100000" kx="0" ky="0" algn="bl" rotWithShape="0" blurRad="101600" dist="38100" dir="5400000">
              <a:srgbClr val="000000">
                <a:alpha val="13000"/>
              </a:srgbClr>
            </a:outerShdw>
          </a:effectLst>
        </p:spPr>
      </p:sp>
      <p:sp>
        <p:nvSpPr>
          <p:cNvPr id="5" name="Shape 3"/>
          <p:cNvSpPr/>
          <p:nvPr/>
        </p:nvSpPr>
        <p:spPr>
          <a:xfrm>
            <a:off x="502920" y="1847088"/>
            <a:ext cx="6355080" cy="365760"/>
          </a:xfrm>
          <a:prstGeom prst="roundRect">
            <a:avLst>
              <a:gd name="adj" fmla="val 25000"/>
            </a:avLst>
          </a:prstGeom>
          <a:solidFill>
            <a:srgbClr val="1F2937"/>
          </a:solidFill>
          <a:ln w="12700">
            <a:solidFill>
              <a:srgbClr val="374151"/>
            </a:solidFill>
            <a:prstDash val="solid"/>
          </a:ln>
        </p:spPr>
      </p:sp>
      <p:sp>
        <p:nvSpPr>
          <p:cNvPr id="6" name="Shape 4"/>
          <p:cNvSpPr/>
          <p:nvPr/>
        </p:nvSpPr>
        <p:spPr>
          <a:xfrm>
            <a:off x="667512" y="1947672"/>
            <a:ext cx="155448" cy="155448"/>
          </a:xfrm>
          <a:prstGeom prst="ellipse">
            <a:avLst/>
          </a:prstGeom>
          <a:solidFill>
            <a:srgbClr val="E11D48"/>
          </a:solidFill>
          <a:ln/>
        </p:spPr>
      </p:sp>
      <p:sp>
        <p:nvSpPr>
          <p:cNvPr id="7" name="Shape 5"/>
          <p:cNvSpPr/>
          <p:nvPr/>
        </p:nvSpPr>
        <p:spPr>
          <a:xfrm>
            <a:off x="905256" y="1947672"/>
            <a:ext cx="155448" cy="155448"/>
          </a:xfrm>
          <a:prstGeom prst="ellipse">
            <a:avLst/>
          </a:prstGeom>
          <a:solidFill>
            <a:srgbClr val="F59E0B"/>
          </a:solidFill>
          <a:ln/>
        </p:spPr>
      </p:sp>
      <p:sp>
        <p:nvSpPr>
          <p:cNvPr id="8" name="Shape 6"/>
          <p:cNvSpPr/>
          <p:nvPr/>
        </p:nvSpPr>
        <p:spPr>
          <a:xfrm>
            <a:off x="1143000" y="1947672"/>
            <a:ext cx="155448" cy="155448"/>
          </a:xfrm>
          <a:prstGeom prst="ellipse">
            <a:avLst/>
          </a:prstGeom>
          <a:solidFill>
            <a:srgbClr val="16A34A"/>
          </a:solidFill>
          <a:ln/>
        </p:spPr>
      </p:sp>
      <p:sp>
        <p:nvSpPr>
          <p:cNvPr id="9" name="Text 7"/>
          <p:cNvSpPr/>
          <p:nvPr/>
        </p:nvSpPr>
        <p:spPr>
          <a:xfrm>
            <a:off x="1417320" y="1911096"/>
            <a:ext cx="5303520" cy="237744"/>
          </a:xfrm>
          <a:prstGeom prst="rect">
            <a:avLst/>
          </a:prstGeom>
          <a:noFill/>
          <a:ln/>
        </p:spPr>
        <p:txBody>
          <a:bodyPr wrap="square" lIns="0" tIns="0" rIns="0" bIns="0" rtlCol="0" anchor="ctr"/>
          <a:lstStyle/>
          <a:p>
            <a:pPr indent="0" marL="0">
              <a:buNone/>
            </a:pPr>
            <a:r>
              <a:rPr lang="en-US" sz="1050" dirty="0">
                <a:solidFill>
                  <a:srgbClr val="9CA3AF"/>
                </a:solidFill>
                <a:latin typeface="Courier New" pitchFamily="34" charset="0"/>
                <a:ea typeface="Courier New" pitchFamily="34" charset="-122"/>
                <a:cs typeface="Courier New" pitchFamily="34" charset="-120"/>
              </a:rPr>
              <a:t>TaskStore.java</a:t>
            </a:r>
            <a:endParaRPr lang="en-US" sz="1050" dirty="0"/>
          </a:p>
        </p:txBody>
      </p:sp>
      <p:sp>
        <p:nvSpPr>
          <p:cNvPr id="10" name="Text 8"/>
          <p:cNvSpPr/>
          <p:nvPr/>
        </p:nvSpPr>
        <p:spPr>
          <a:xfrm>
            <a:off x="704088" y="2304288"/>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Data model</a:t>
            </a:r>
            <a:endParaRPr lang="en-US" sz="1050" dirty="0"/>
          </a:p>
        </p:txBody>
      </p:sp>
      <p:sp>
        <p:nvSpPr>
          <p:cNvPr id="11" name="Text 9"/>
          <p:cNvSpPr/>
          <p:nvPr/>
        </p:nvSpPr>
        <p:spPr>
          <a:xfrm>
            <a:off x="704088" y="2429810"/>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record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Task</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(String id, String title, String due, boolean done) {}</a:t>
            </a:r>
            <a:endParaRPr lang="en-US" sz="1050" dirty="0"/>
          </a:p>
        </p:txBody>
      </p:sp>
      <p:sp>
        <p:nvSpPr>
          <p:cNvPr id="12" name="Text 10"/>
          <p:cNvSpPr/>
          <p:nvPr/>
        </p:nvSpPr>
        <p:spPr>
          <a:xfrm>
            <a:off x="704088" y="2555332"/>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13" name="Text 11"/>
          <p:cNvSpPr/>
          <p:nvPr/>
        </p:nvSpPr>
        <p:spPr>
          <a:xfrm>
            <a:off x="704088" y="2680855"/>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FED7AA"/>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ED7AA"/>
                </a:solidFill>
                <a:latin typeface="Courier New" pitchFamily="34" charset="0"/>
                <a:ea typeface="Courier New" pitchFamily="34" charset="-122"/>
                <a:cs typeface="Courier New" pitchFamily="34" charset="-120"/>
              </a:rPr>
              <a:t>Service</a:t>
            </a:r>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public class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TaskStore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t>
            </a:r>
            <a:endParaRPr lang="en-US" sz="1050" dirty="0"/>
          </a:p>
        </p:txBody>
      </p:sp>
      <p:sp>
        <p:nvSpPr>
          <p:cNvPr id="14" name="Text 12"/>
          <p:cNvSpPr/>
          <p:nvPr/>
        </p:nvSpPr>
        <p:spPr>
          <a:xfrm>
            <a:off x="704088" y="2806377"/>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private final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Map</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&lt;String, Task&gt; tasks = new ConcurrentHashMap&lt;&gt;();</a:t>
            </a:r>
            <a:endParaRPr lang="en-US" sz="1050" dirty="0"/>
          </a:p>
        </p:txBody>
      </p:sp>
      <p:sp>
        <p:nvSpPr>
          <p:cNvPr id="15" name="Text 13"/>
          <p:cNvSpPr/>
          <p:nvPr/>
        </p:nvSpPr>
        <p:spPr>
          <a:xfrm>
            <a:off x="704088" y="2931899"/>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16" name="Text 14"/>
          <p:cNvSpPr/>
          <p:nvPr/>
        </p:nvSpPr>
        <p:spPr>
          <a:xfrm>
            <a:off x="704088" y="3057421"/>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Tool 1: add a task</a:t>
            </a:r>
            <a:endParaRPr lang="en-US" sz="1050" dirty="0"/>
          </a:p>
        </p:txBody>
      </p:sp>
      <p:sp>
        <p:nvSpPr>
          <p:cNvPr id="17" name="Text 15"/>
          <p:cNvSpPr/>
          <p:nvPr/>
        </p:nvSpPr>
        <p:spPr>
          <a:xfrm>
            <a:off x="704088" y="3182943"/>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public String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addTask</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(String title, String due) {</a:t>
            </a:r>
            <a:endParaRPr lang="en-US" sz="1050" dirty="0"/>
          </a:p>
        </p:txBody>
      </p:sp>
      <p:sp>
        <p:nvSpPr>
          <p:cNvPr id="18" name="Text 16"/>
          <p:cNvSpPr/>
          <p:nvPr/>
        </p:nvSpPr>
        <p:spPr>
          <a:xfrm>
            <a:off x="704088" y="3308465"/>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String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id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 UUID.randomUUID().toString().substring(0, 8);</a:t>
            </a:r>
            <a:endParaRPr lang="en-US" sz="1050" dirty="0"/>
          </a:p>
        </p:txBody>
      </p:sp>
      <p:sp>
        <p:nvSpPr>
          <p:cNvPr id="19" name="Text 17"/>
          <p:cNvSpPr/>
          <p:nvPr/>
        </p:nvSpPr>
        <p:spPr>
          <a:xfrm>
            <a:off x="704088" y="3433988"/>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tasks.put(id, new Task(id, title, due, false));</a:t>
            </a:r>
            <a:endParaRPr lang="en-US" sz="1050" dirty="0"/>
          </a:p>
        </p:txBody>
      </p:sp>
      <p:sp>
        <p:nvSpPr>
          <p:cNvPr id="20" name="Text 18"/>
          <p:cNvSpPr/>
          <p:nvPr/>
        </p:nvSpPr>
        <p:spPr>
          <a:xfrm>
            <a:off x="704088" y="3559510"/>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return "Added: " + title + " (due " + due + ", id: " + id + ")";</a:t>
            </a:r>
            <a:endParaRPr lang="en-US" sz="1050" dirty="0"/>
          </a:p>
        </p:txBody>
      </p:sp>
      <p:sp>
        <p:nvSpPr>
          <p:cNvPr id="21" name="Text 19"/>
          <p:cNvSpPr/>
          <p:nvPr/>
        </p:nvSpPr>
        <p:spPr>
          <a:xfrm>
            <a:off x="704088" y="3685032"/>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t>
            </a:r>
            <a:endParaRPr lang="en-US" sz="1050" dirty="0"/>
          </a:p>
        </p:txBody>
      </p:sp>
      <p:sp>
        <p:nvSpPr>
          <p:cNvPr id="22" name="Text 20"/>
          <p:cNvSpPr/>
          <p:nvPr/>
        </p:nvSpPr>
        <p:spPr>
          <a:xfrm>
            <a:off x="704088" y="3810554"/>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3" name="Text 21"/>
          <p:cNvSpPr/>
          <p:nvPr/>
        </p:nvSpPr>
        <p:spPr>
          <a:xfrm>
            <a:off x="704088" y="3936076"/>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Tool 2: delete a task by id</a:t>
            </a:r>
            <a:endParaRPr lang="en-US" sz="1050" dirty="0"/>
          </a:p>
        </p:txBody>
      </p:sp>
      <p:sp>
        <p:nvSpPr>
          <p:cNvPr id="24" name="Text 22"/>
          <p:cNvSpPr/>
          <p:nvPr/>
        </p:nvSpPr>
        <p:spPr>
          <a:xfrm>
            <a:off x="704088" y="4061599"/>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public String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deleteTask</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(String id) {</a:t>
            </a:r>
            <a:endParaRPr lang="en-US" sz="1050" dirty="0"/>
          </a:p>
        </p:txBody>
      </p:sp>
      <p:sp>
        <p:nvSpPr>
          <p:cNvPr id="25" name="Text 23"/>
          <p:cNvSpPr/>
          <p:nvPr/>
        </p:nvSpPr>
        <p:spPr>
          <a:xfrm>
            <a:off x="704088" y="4187121"/>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Task t = tasks.remove(id);</a:t>
            </a:r>
            <a:endParaRPr lang="en-US" sz="1050" dirty="0"/>
          </a:p>
        </p:txBody>
      </p:sp>
      <p:sp>
        <p:nvSpPr>
          <p:cNvPr id="26" name="Text 24"/>
          <p:cNvSpPr/>
          <p:nvPr/>
        </p:nvSpPr>
        <p:spPr>
          <a:xfrm>
            <a:off x="704088" y="4312643"/>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return t==null ? "Task not found: "+id : "Deleted: "+t.title();</a:t>
            </a:r>
            <a:endParaRPr lang="en-US" sz="1050" dirty="0"/>
          </a:p>
        </p:txBody>
      </p:sp>
      <p:sp>
        <p:nvSpPr>
          <p:cNvPr id="27" name="Text 25"/>
          <p:cNvSpPr/>
          <p:nvPr/>
        </p:nvSpPr>
        <p:spPr>
          <a:xfrm>
            <a:off x="704088" y="4438165"/>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t>
            </a:r>
            <a:endParaRPr lang="en-US" sz="1050" dirty="0"/>
          </a:p>
        </p:txBody>
      </p:sp>
      <p:sp>
        <p:nvSpPr>
          <p:cNvPr id="28" name="Text 26"/>
          <p:cNvSpPr/>
          <p:nvPr/>
        </p:nvSpPr>
        <p:spPr>
          <a:xfrm>
            <a:off x="704088" y="4563687"/>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9" name="Text 27"/>
          <p:cNvSpPr/>
          <p:nvPr/>
        </p:nvSpPr>
        <p:spPr>
          <a:xfrm>
            <a:off x="704088" y="4689209"/>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Tool 3: list all tasks</a:t>
            </a:r>
            <a:endParaRPr lang="en-US" sz="1050" dirty="0"/>
          </a:p>
        </p:txBody>
      </p:sp>
      <p:sp>
        <p:nvSpPr>
          <p:cNvPr id="30" name="Text 28"/>
          <p:cNvSpPr/>
          <p:nvPr/>
        </p:nvSpPr>
        <p:spPr>
          <a:xfrm>
            <a:off x="704088" y="4814732"/>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public String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listTasks</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t>
            </a:r>
            <a:endParaRPr lang="en-US" sz="1050" dirty="0"/>
          </a:p>
        </p:txBody>
      </p:sp>
      <p:sp>
        <p:nvSpPr>
          <p:cNvPr id="31" name="Text 29"/>
          <p:cNvSpPr/>
          <p:nvPr/>
        </p:nvSpPr>
        <p:spPr>
          <a:xfrm>
            <a:off x="704088" y="4940254"/>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if (tasks.isEmpty()) return "No tasks.";</a:t>
            </a:r>
            <a:endParaRPr lang="en-US" sz="1050" dirty="0"/>
          </a:p>
        </p:txBody>
      </p:sp>
      <p:sp>
        <p:nvSpPr>
          <p:cNvPr id="32" name="Text 30"/>
          <p:cNvSpPr/>
          <p:nvPr/>
        </p:nvSpPr>
        <p:spPr>
          <a:xfrm>
            <a:off x="704088" y="5065776"/>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return tasks.values().stream()</a:t>
            </a:r>
            <a:endParaRPr lang="en-US" sz="1050" dirty="0"/>
          </a:p>
        </p:txBody>
      </p:sp>
      <p:sp>
        <p:nvSpPr>
          <p:cNvPr id="33" name="Text 31"/>
          <p:cNvSpPr/>
          <p:nvPr/>
        </p:nvSpPr>
        <p:spPr>
          <a:xfrm>
            <a:off x="704088" y="5191298"/>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.map(t -&gt; t.id()+": "+t.title()+" ["+t.due()+"] "+(t.done()?"DONE":"TODO"))</a:t>
            </a:r>
            <a:endParaRPr lang="en-US" sz="1050" dirty="0"/>
          </a:p>
        </p:txBody>
      </p:sp>
      <p:sp>
        <p:nvSpPr>
          <p:cNvPr id="34" name="Text 32"/>
          <p:cNvSpPr/>
          <p:nvPr/>
        </p:nvSpPr>
        <p:spPr>
          <a:xfrm>
            <a:off x="704088" y="5316820"/>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.collect(Collectors.joining("\n"));</a:t>
            </a:r>
            <a:endParaRPr lang="en-US" sz="1050" dirty="0"/>
          </a:p>
        </p:txBody>
      </p:sp>
      <p:sp>
        <p:nvSpPr>
          <p:cNvPr id="35" name="Text 33"/>
          <p:cNvSpPr/>
          <p:nvPr/>
        </p:nvSpPr>
        <p:spPr>
          <a:xfrm>
            <a:off x="704088" y="5442343"/>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t>
            </a:r>
            <a:endParaRPr lang="en-US" sz="1050" dirty="0"/>
          </a:p>
        </p:txBody>
      </p:sp>
      <p:sp>
        <p:nvSpPr>
          <p:cNvPr id="36" name="Text 34"/>
          <p:cNvSpPr/>
          <p:nvPr/>
        </p:nvSpPr>
        <p:spPr>
          <a:xfrm>
            <a:off x="704088" y="5567865"/>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37" name="Text 35"/>
          <p:cNvSpPr/>
          <p:nvPr/>
        </p:nvSpPr>
        <p:spPr>
          <a:xfrm>
            <a:off x="704088" y="5693387"/>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Tool 4: mark done</a:t>
            </a:r>
            <a:endParaRPr lang="en-US" sz="1050" dirty="0"/>
          </a:p>
        </p:txBody>
      </p:sp>
      <p:sp>
        <p:nvSpPr>
          <p:cNvPr id="38" name="Text 36"/>
          <p:cNvSpPr/>
          <p:nvPr/>
        </p:nvSpPr>
        <p:spPr>
          <a:xfrm>
            <a:off x="704088" y="5818909"/>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public String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markDone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(String id) {</a:t>
            </a:r>
            <a:endParaRPr lang="en-US" sz="1050" dirty="0"/>
          </a:p>
        </p:txBody>
      </p:sp>
      <p:sp>
        <p:nvSpPr>
          <p:cNvPr id="39" name="Text 37"/>
          <p:cNvSpPr/>
          <p:nvPr/>
        </p:nvSpPr>
        <p:spPr>
          <a:xfrm>
            <a:off x="704088" y="5944431"/>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tasks.computeIfPresent(id, (k,t) -&gt; new Task(t.id(),t.title(),t.due(),true));</a:t>
            </a:r>
            <a:endParaRPr lang="en-US" sz="1050" dirty="0"/>
          </a:p>
        </p:txBody>
      </p:sp>
      <p:sp>
        <p:nvSpPr>
          <p:cNvPr id="40" name="Text 38"/>
          <p:cNvSpPr/>
          <p:nvPr/>
        </p:nvSpPr>
        <p:spPr>
          <a:xfrm>
            <a:off x="704088" y="6069953"/>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return "Marked done: " + id;</a:t>
            </a:r>
            <a:endParaRPr lang="en-US" sz="1050" dirty="0"/>
          </a:p>
        </p:txBody>
      </p:sp>
      <p:sp>
        <p:nvSpPr>
          <p:cNvPr id="41" name="Text 39"/>
          <p:cNvSpPr/>
          <p:nvPr/>
        </p:nvSpPr>
        <p:spPr>
          <a:xfrm>
            <a:off x="704088" y="6195476"/>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t>
            </a:r>
            <a:endParaRPr lang="en-US" sz="1050" dirty="0"/>
          </a:p>
        </p:txBody>
      </p:sp>
      <p:sp>
        <p:nvSpPr>
          <p:cNvPr id="42" name="Text 40"/>
          <p:cNvSpPr/>
          <p:nvPr/>
        </p:nvSpPr>
        <p:spPr>
          <a:xfrm>
            <a:off x="704088" y="6320998"/>
            <a:ext cx="6035040" cy="125522"/>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43" name="Shape 41"/>
          <p:cNvSpPr/>
          <p:nvPr/>
        </p:nvSpPr>
        <p:spPr>
          <a:xfrm>
            <a:off x="7424928" y="1847088"/>
            <a:ext cx="4462272" cy="4617720"/>
          </a:xfrm>
          <a:prstGeom prst="roundRect">
            <a:avLst>
              <a:gd name="adj" fmla="val 2049"/>
            </a:avLst>
          </a:prstGeom>
          <a:solidFill>
            <a:srgbClr val="F8FAFC"/>
          </a:solidFill>
          <a:ln w="12700">
            <a:solidFill>
              <a:srgbClr val="E11D48">
                <a:alpha val="50000"/>
              </a:srgbClr>
            </a:solidFill>
            <a:prstDash val="solid"/>
          </a:ln>
        </p:spPr>
      </p:sp>
      <p:sp>
        <p:nvSpPr>
          <p:cNvPr id="44" name="Text 42"/>
          <p:cNvSpPr/>
          <p:nvPr/>
        </p:nvSpPr>
        <p:spPr>
          <a:xfrm>
            <a:off x="7589520" y="1965960"/>
            <a:ext cx="4133088" cy="347472"/>
          </a:xfrm>
          <a:prstGeom prst="rect">
            <a:avLst/>
          </a:prstGeom>
          <a:noFill/>
          <a:ln/>
        </p:spPr>
        <p:txBody>
          <a:bodyPr wrap="square" lIns="0" tIns="0" rIns="0" bIns="0" rtlCol="0" anchor="ctr"/>
          <a:lstStyle/>
          <a:p>
            <a:pPr indent="0" marL="0">
              <a:buNone/>
            </a:pPr>
            <a:r>
              <a:rPr lang="en-US" sz="1300" b="1" dirty="0">
                <a:solidFill>
                  <a:srgbClr val="E11D48"/>
                </a:solidFill>
                <a:latin typeface="Calibri" pitchFamily="34" charset="0"/>
                <a:ea typeface="Calibri" pitchFamily="34" charset="-122"/>
                <a:cs typeface="Calibri" pitchFamily="34" charset="-120"/>
              </a:rPr>
              <a:t>The 4 task tools GPT-4o calls:</a:t>
            </a:r>
            <a:endParaRPr lang="en-US" sz="1300" dirty="0"/>
          </a:p>
        </p:txBody>
      </p:sp>
      <p:sp>
        <p:nvSpPr>
          <p:cNvPr id="45" name="Shape 43"/>
          <p:cNvSpPr/>
          <p:nvPr/>
        </p:nvSpPr>
        <p:spPr>
          <a:xfrm>
            <a:off x="7571232" y="2487168"/>
            <a:ext cx="4160520" cy="868680"/>
          </a:xfrm>
          <a:prstGeom prst="roundRect">
            <a:avLst>
              <a:gd name="adj" fmla="val 8421"/>
            </a:avLst>
          </a:prstGeom>
          <a:solidFill>
            <a:srgbClr val="F8FAFC"/>
          </a:solidFill>
          <a:ln w="12700">
            <a:solidFill>
              <a:srgbClr val="7C3AED">
                <a:alpha val="45000"/>
              </a:srgbClr>
            </a:solidFill>
            <a:prstDash val="solid"/>
          </a:ln>
        </p:spPr>
      </p:sp>
      <p:sp>
        <p:nvSpPr>
          <p:cNvPr id="46" name="Shape 44"/>
          <p:cNvSpPr/>
          <p:nvPr/>
        </p:nvSpPr>
        <p:spPr>
          <a:xfrm>
            <a:off x="7571232" y="2487168"/>
            <a:ext cx="4160520" cy="347472"/>
          </a:xfrm>
          <a:prstGeom prst="roundRect">
            <a:avLst>
              <a:gd name="adj" fmla="val 21053"/>
            </a:avLst>
          </a:prstGeom>
          <a:solidFill>
            <a:srgbClr val="7C3AED"/>
          </a:solidFill>
          <a:ln w="12700">
            <a:solidFill>
              <a:srgbClr val="7C3AED"/>
            </a:solidFill>
            <a:prstDash val="solid"/>
          </a:ln>
        </p:spPr>
      </p:sp>
      <p:sp>
        <p:nvSpPr>
          <p:cNvPr id="47" name="Text 45"/>
          <p:cNvSpPr/>
          <p:nvPr/>
        </p:nvSpPr>
        <p:spPr>
          <a:xfrm>
            <a:off x="7699248" y="2523744"/>
            <a:ext cx="3858768" cy="274320"/>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addTask(title,due)</a:t>
            </a:r>
            <a:endParaRPr lang="en-US" sz="1200" dirty="0"/>
          </a:p>
        </p:txBody>
      </p:sp>
      <p:sp>
        <p:nvSpPr>
          <p:cNvPr id="48" name="Text 46"/>
          <p:cNvSpPr/>
          <p:nvPr/>
        </p:nvSpPr>
        <p:spPr>
          <a:xfrm>
            <a:off x="7699248" y="2889504"/>
            <a:ext cx="3858768" cy="411480"/>
          </a:xfrm>
          <a:prstGeom prst="rect">
            <a:avLst/>
          </a:prstGeom>
          <a:noFill/>
          <a:ln/>
        </p:spPr>
        <p:txBody>
          <a:bodyPr wrap="square" lIns="0" tIns="0" rIns="0" bIns="0" rtlCol="0" anchor="ctr"/>
          <a:lstStyle/>
          <a:p>
            <a:pPr indent="0" marL="0">
              <a:lnSpc>
                <a:spcPct val="120000"/>
              </a:lnSpc>
              <a:buNone/>
            </a:pPr>
            <a:r>
              <a:rPr lang="en-US" sz="1200" dirty="0">
                <a:solidFill>
                  <a:srgbClr val="475569"/>
                </a:solidFill>
                <a:latin typeface="Calibri" pitchFamily="34" charset="0"/>
                <a:ea typeface="Calibri" pitchFamily="34" charset="-122"/>
                <a:cs typeface="Calibri" pitchFamily="34" charset="-120"/>
              </a:rPr>
              <a:t>Add a task with title and due date. Returns confirmation.</a:t>
            </a:r>
            <a:endParaRPr lang="en-US" sz="1200" dirty="0"/>
          </a:p>
        </p:txBody>
      </p:sp>
      <p:sp>
        <p:nvSpPr>
          <p:cNvPr id="49" name="Shape 47"/>
          <p:cNvSpPr/>
          <p:nvPr/>
        </p:nvSpPr>
        <p:spPr>
          <a:xfrm>
            <a:off x="7571232" y="3474720"/>
            <a:ext cx="4160520" cy="868680"/>
          </a:xfrm>
          <a:prstGeom prst="roundRect">
            <a:avLst>
              <a:gd name="adj" fmla="val 8421"/>
            </a:avLst>
          </a:prstGeom>
          <a:solidFill>
            <a:srgbClr val="F8FAFC"/>
          </a:solidFill>
          <a:ln w="12700">
            <a:solidFill>
              <a:srgbClr val="E11D48">
                <a:alpha val="45000"/>
              </a:srgbClr>
            </a:solidFill>
            <a:prstDash val="solid"/>
          </a:ln>
        </p:spPr>
      </p:sp>
      <p:sp>
        <p:nvSpPr>
          <p:cNvPr id="50" name="Shape 48"/>
          <p:cNvSpPr/>
          <p:nvPr/>
        </p:nvSpPr>
        <p:spPr>
          <a:xfrm>
            <a:off x="7571232" y="3474720"/>
            <a:ext cx="4160520" cy="347472"/>
          </a:xfrm>
          <a:prstGeom prst="roundRect">
            <a:avLst>
              <a:gd name="adj" fmla="val 21053"/>
            </a:avLst>
          </a:prstGeom>
          <a:solidFill>
            <a:srgbClr val="E11D48"/>
          </a:solidFill>
          <a:ln w="12700">
            <a:solidFill>
              <a:srgbClr val="E11D48"/>
            </a:solidFill>
            <a:prstDash val="solid"/>
          </a:ln>
        </p:spPr>
      </p:sp>
      <p:sp>
        <p:nvSpPr>
          <p:cNvPr id="51" name="Text 49"/>
          <p:cNvSpPr/>
          <p:nvPr/>
        </p:nvSpPr>
        <p:spPr>
          <a:xfrm>
            <a:off x="7699248" y="3511296"/>
            <a:ext cx="3858768" cy="274320"/>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deleteTask(id)</a:t>
            </a:r>
            <a:endParaRPr lang="en-US" sz="1200" dirty="0"/>
          </a:p>
        </p:txBody>
      </p:sp>
      <p:sp>
        <p:nvSpPr>
          <p:cNvPr id="52" name="Text 50"/>
          <p:cNvSpPr/>
          <p:nvPr/>
        </p:nvSpPr>
        <p:spPr>
          <a:xfrm>
            <a:off x="7699248" y="3877056"/>
            <a:ext cx="3858768" cy="411480"/>
          </a:xfrm>
          <a:prstGeom prst="rect">
            <a:avLst/>
          </a:prstGeom>
          <a:noFill/>
          <a:ln/>
        </p:spPr>
        <p:txBody>
          <a:bodyPr wrap="square" lIns="0" tIns="0" rIns="0" bIns="0" rtlCol="0" anchor="ctr"/>
          <a:lstStyle/>
          <a:p>
            <a:pPr indent="0" marL="0">
              <a:lnSpc>
                <a:spcPct val="120000"/>
              </a:lnSpc>
              <a:buNone/>
            </a:pPr>
            <a:r>
              <a:rPr lang="en-US" sz="1200" dirty="0">
                <a:solidFill>
                  <a:srgbClr val="475569"/>
                </a:solidFill>
                <a:latin typeface="Calibri" pitchFamily="34" charset="0"/>
                <a:ea typeface="Calibri" pitchFamily="34" charset="-122"/>
                <a:cs typeface="Calibri" pitchFamily="34" charset="-120"/>
              </a:rPr>
              <a:t>Remove a task by its 8-char ID. Returns confirmation.</a:t>
            </a:r>
            <a:endParaRPr lang="en-US" sz="1200" dirty="0"/>
          </a:p>
        </p:txBody>
      </p:sp>
      <p:sp>
        <p:nvSpPr>
          <p:cNvPr id="53" name="Shape 51"/>
          <p:cNvSpPr/>
          <p:nvPr/>
        </p:nvSpPr>
        <p:spPr>
          <a:xfrm>
            <a:off x="7571232" y="4462272"/>
            <a:ext cx="4160520" cy="868680"/>
          </a:xfrm>
          <a:prstGeom prst="roundRect">
            <a:avLst>
              <a:gd name="adj" fmla="val 8421"/>
            </a:avLst>
          </a:prstGeom>
          <a:solidFill>
            <a:srgbClr val="F8FAFC"/>
          </a:solidFill>
          <a:ln w="12700">
            <a:solidFill>
              <a:srgbClr val="16A34A">
                <a:alpha val="45000"/>
              </a:srgbClr>
            </a:solidFill>
            <a:prstDash val="solid"/>
          </a:ln>
        </p:spPr>
      </p:sp>
      <p:sp>
        <p:nvSpPr>
          <p:cNvPr id="54" name="Shape 52"/>
          <p:cNvSpPr/>
          <p:nvPr/>
        </p:nvSpPr>
        <p:spPr>
          <a:xfrm>
            <a:off x="7571232" y="4462272"/>
            <a:ext cx="4160520" cy="347472"/>
          </a:xfrm>
          <a:prstGeom prst="roundRect">
            <a:avLst>
              <a:gd name="adj" fmla="val 21053"/>
            </a:avLst>
          </a:prstGeom>
          <a:solidFill>
            <a:srgbClr val="16A34A"/>
          </a:solidFill>
          <a:ln w="12700">
            <a:solidFill>
              <a:srgbClr val="16A34A"/>
            </a:solidFill>
            <a:prstDash val="solid"/>
          </a:ln>
        </p:spPr>
      </p:sp>
      <p:sp>
        <p:nvSpPr>
          <p:cNvPr id="55" name="Text 53"/>
          <p:cNvSpPr/>
          <p:nvPr/>
        </p:nvSpPr>
        <p:spPr>
          <a:xfrm>
            <a:off x="7699248" y="4498848"/>
            <a:ext cx="3858768" cy="274320"/>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listTasks()</a:t>
            </a:r>
            <a:endParaRPr lang="en-US" sz="1200" dirty="0"/>
          </a:p>
        </p:txBody>
      </p:sp>
      <p:sp>
        <p:nvSpPr>
          <p:cNvPr id="56" name="Text 54"/>
          <p:cNvSpPr/>
          <p:nvPr/>
        </p:nvSpPr>
        <p:spPr>
          <a:xfrm>
            <a:off x="7699248" y="4864608"/>
            <a:ext cx="3858768" cy="411480"/>
          </a:xfrm>
          <a:prstGeom prst="rect">
            <a:avLst/>
          </a:prstGeom>
          <a:noFill/>
          <a:ln/>
        </p:spPr>
        <p:txBody>
          <a:bodyPr wrap="square" lIns="0" tIns="0" rIns="0" bIns="0" rtlCol="0" anchor="ctr"/>
          <a:lstStyle/>
          <a:p>
            <a:pPr indent="0" marL="0">
              <a:lnSpc>
                <a:spcPct val="120000"/>
              </a:lnSpc>
              <a:buNone/>
            </a:pPr>
            <a:r>
              <a:rPr lang="en-US" sz="1200" dirty="0">
                <a:solidFill>
                  <a:srgbClr val="475569"/>
                </a:solidFill>
                <a:latin typeface="Calibri" pitchFamily="34" charset="0"/>
                <a:ea typeface="Calibri" pitchFamily="34" charset="-122"/>
                <a:cs typeface="Calibri" pitchFamily="34" charset="-120"/>
              </a:rPr>
              <a:t>Return all tasks formatted as a readable string.</a:t>
            </a:r>
            <a:endParaRPr lang="en-US" sz="1200" dirty="0"/>
          </a:p>
        </p:txBody>
      </p:sp>
      <p:sp>
        <p:nvSpPr>
          <p:cNvPr id="57" name="Shape 55"/>
          <p:cNvSpPr/>
          <p:nvPr/>
        </p:nvSpPr>
        <p:spPr>
          <a:xfrm>
            <a:off x="7571232" y="5449824"/>
            <a:ext cx="4160520" cy="868680"/>
          </a:xfrm>
          <a:prstGeom prst="roundRect">
            <a:avLst>
              <a:gd name="adj" fmla="val 8421"/>
            </a:avLst>
          </a:prstGeom>
          <a:solidFill>
            <a:srgbClr val="F8FAFC"/>
          </a:solidFill>
          <a:ln w="12700">
            <a:solidFill>
              <a:srgbClr val="D97706">
                <a:alpha val="45000"/>
              </a:srgbClr>
            </a:solidFill>
            <a:prstDash val="solid"/>
          </a:ln>
        </p:spPr>
      </p:sp>
      <p:sp>
        <p:nvSpPr>
          <p:cNvPr id="58" name="Shape 56"/>
          <p:cNvSpPr/>
          <p:nvPr/>
        </p:nvSpPr>
        <p:spPr>
          <a:xfrm>
            <a:off x="7571232" y="5449824"/>
            <a:ext cx="4160520" cy="347472"/>
          </a:xfrm>
          <a:prstGeom prst="roundRect">
            <a:avLst>
              <a:gd name="adj" fmla="val 21053"/>
            </a:avLst>
          </a:prstGeom>
          <a:solidFill>
            <a:srgbClr val="D97706"/>
          </a:solidFill>
          <a:ln w="12700">
            <a:solidFill>
              <a:srgbClr val="D97706"/>
            </a:solidFill>
            <a:prstDash val="solid"/>
          </a:ln>
        </p:spPr>
      </p:sp>
      <p:sp>
        <p:nvSpPr>
          <p:cNvPr id="59" name="Text 57"/>
          <p:cNvSpPr/>
          <p:nvPr/>
        </p:nvSpPr>
        <p:spPr>
          <a:xfrm>
            <a:off x="7699248" y="5486400"/>
            <a:ext cx="3858768" cy="274320"/>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markDone(id)</a:t>
            </a:r>
            <a:endParaRPr lang="en-US" sz="1200" dirty="0"/>
          </a:p>
        </p:txBody>
      </p:sp>
      <p:sp>
        <p:nvSpPr>
          <p:cNvPr id="60" name="Text 58"/>
          <p:cNvSpPr/>
          <p:nvPr/>
        </p:nvSpPr>
        <p:spPr>
          <a:xfrm>
            <a:off x="7699248" y="5852160"/>
            <a:ext cx="3858768" cy="411480"/>
          </a:xfrm>
          <a:prstGeom prst="rect">
            <a:avLst/>
          </a:prstGeom>
          <a:noFill/>
          <a:ln/>
        </p:spPr>
        <p:txBody>
          <a:bodyPr wrap="square" lIns="0" tIns="0" rIns="0" bIns="0" rtlCol="0" anchor="ctr"/>
          <a:lstStyle/>
          <a:p>
            <a:pPr indent="0" marL="0">
              <a:lnSpc>
                <a:spcPct val="120000"/>
              </a:lnSpc>
              <a:buNone/>
            </a:pPr>
            <a:r>
              <a:rPr lang="en-US" sz="1200" dirty="0">
                <a:solidFill>
                  <a:srgbClr val="475569"/>
                </a:solidFill>
                <a:latin typeface="Calibri" pitchFamily="34" charset="0"/>
                <a:ea typeface="Calibri" pitchFamily="34" charset="-122"/>
                <a:cs typeface="Calibri" pitchFamily="34" charset="-120"/>
              </a:rPr>
              <a:t>Mark a specific task as completed.</a:t>
            </a:r>
            <a:endParaRPr lang="en-US" sz="1200" dirty="0"/>
          </a:p>
        </p:txBody>
      </p:sp>
      <p:sp>
        <p:nvSpPr>
          <p:cNvPr id="62" name="Shape 59"/>
          <p:cNvSpPr/>
          <p:nvPr/>
        </p:nvSpPr>
        <p:spPr>
          <a:xfrm>
            <a:off x="0" y="6583680"/>
            <a:ext cx="12191695" cy="274320"/>
          </a:xfrm>
          <a:prstGeom prst="rect">
            <a:avLst/>
          </a:prstGeom>
          <a:solidFill>
            <a:srgbClr val="E11D48">
              <a:alpha val="12000"/>
            </a:srgbClr>
          </a:solidFill>
          <a:ln w="12700">
            <a:solidFill>
              <a:srgbClr val="E11D48">
                <a:alpha val="35000"/>
              </a:srgbClr>
            </a:solidFill>
            <a:prstDash val="solid"/>
          </a:ln>
        </p:spPr>
      </p:sp>
      <p:sp>
        <p:nvSpPr>
          <p:cNvPr id="63" name="Text 60"/>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64" name="Text 61"/>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17 / 31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E11D48"/>
                </a:solidFill>
                <a:latin typeface="Calibri" pitchFamily="34" charset="0"/>
                <a:ea typeface="Calibri" pitchFamily="34" charset="-122"/>
                <a:cs typeface="Calibri" pitchFamily="34" charset="-120"/>
              </a:rPr>
              <a:t>VOICE TASK MANAGER — COMPLETE AGENT IMPLEMENTATION</a:t>
            </a:r>
            <a:endParaRPr lang="en-US" sz="1200" dirty="0"/>
          </a:p>
        </p:txBody>
      </p:sp>
      <p:sp>
        <p:nvSpPr>
          <p:cNvPr id="3" name="Text 1"/>
          <p:cNvSpPr/>
          <p:nvPr/>
        </p:nvSpPr>
        <p:spPr>
          <a:xfrm>
            <a:off x="685800" y="749808"/>
            <a:ext cx="10789920" cy="804672"/>
          </a:xfrm>
          <a:prstGeom prst="rect">
            <a:avLst/>
          </a:prstGeom>
          <a:noFill/>
          <a:ln/>
        </p:spPr>
        <p:txBody>
          <a:bodyPr wrap="square" lIns="0" tIns="0" rIns="0" bIns="0" rtlCol="0" anchor="ctr"/>
          <a:lstStyle/>
          <a:p>
            <a:pPr indent="0" marL="0">
              <a:lnSpc>
                <a:spcPct val="105000"/>
              </a:lnSpc>
              <a:buNone/>
            </a:pPr>
            <a:r>
              <a:rPr lang="en-US" sz="3000" b="1" dirty="0">
                <a:solidFill>
                  <a:srgbClr val="475569"/>
                </a:solidFill>
                <a:latin typeface="Calibri" pitchFamily="34" charset="0"/>
                <a:ea typeface="Calibri" pitchFamily="34" charset="-122"/>
                <a:cs typeface="Calibri" pitchFamily="34" charset="-120"/>
              </a:rPr>
              <a:t>Registering tools and running the voice agent</a:t>
            </a:r>
            <a:endParaRPr lang="en-US" sz="3000" dirty="0"/>
          </a:p>
        </p:txBody>
      </p:sp>
      <p:sp>
        <p:nvSpPr>
          <p:cNvPr id="4" name="Shape 2"/>
          <p:cNvSpPr/>
          <p:nvPr/>
        </p:nvSpPr>
        <p:spPr>
          <a:xfrm>
            <a:off x="502920" y="1847088"/>
            <a:ext cx="6784848" cy="4645152"/>
          </a:xfrm>
          <a:prstGeom prst="roundRect">
            <a:avLst>
              <a:gd name="adj" fmla="val 1969"/>
            </a:avLst>
          </a:prstGeom>
          <a:solidFill>
            <a:srgbClr val="111827"/>
          </a:solidFill>
          <a:ln w="12700">
            <a:solidFill>
              <a:srgbClr val="374151"/>
            </a:solidFill>
            <a:prstDash val="solid"/>
          </a:ln>
          <a:effectLst>
            <a:outerShdw sx="100000" sy="100000" kx="0" ky="0" algn="bl" rotWithShape="0" blurRad="101600" dist="38100" dir="5400000">
              <a:srgbClr val="000000">
                <a:alpha val="13000"/>
              </a:srgbClr>
            </a:outerShdw>
          </a:effectLst>
        </p:spPr>
      </p:sp>
      <p:sp>
        <p:nvSpPr>
          <p:cNvPr id="5" name="Shape 3"/>
          <p:cNvSpPr/>
          <p:nvPr/>
        </p:nvSpPr>
        <p:spPr>
          <a:xfrm>
            <a:off x="502920" y="1847088"/>
            <a:ext cx="6784848" cy="365760"/>
          </a:xfrm>
          <a:prstGeom prst="roundRect">
            <a:avLst>
              <a:gd name="adj" fmla="val 25000"/>
            </a:avLst>
          </a:prstGeom>
          <a:solidFill>
            <a:srgbClr val="1F2937"/>
          </a:solidFill>
          <a:ln w="12700">
            <a:solidFill>
              <a:srgbClr val="374151"/>
            </a:solidFill>
            <a:prstDash val="solid"/>
          </a:ln>
        </p:spPr>
      </p:sp>
      <p:sp>
        <p:nvSpPr>
          <p:cNvPr id="6" name="Shape 4"/>
          <p:cNvSpPr/>
          <p:nvPr/>
        </p:nvSpPr>
        <p:spPr>
          <a:xfrm>
            <a:off x="667512" y="1947672"/>
            <a:ext cx="155448" cy="155448"/>
          </a:xfrm>
          <a:prstGeom prst="ellipse">
            <a:avLst/>
          </a:prstGeom>
          <a:solidFill>
            <a:srgbClr val="E11D48"/>
          </a:solidFill>
          <a:ln/>
        </p:spPr>
      </p:sp>
      <p:sp>
        <p:nvSpPr>
          <p:cNvPr id="7" name="Shape 5"/>
          <p:cNvSpPr/>
          <p:nvPr/>
        </p:nvSpPr>
        <p:spPr>
          <a:xfrm>
            <a:off x="905256" y="1947672"/>
            <a:ext cx="155448" cy="155448"/>
          </a:xfrm>
          <a:prstGeom prst="ellipse">
            <a:avLst/>
          </a:prstGeom>
          <a:solidFill>
            <a:srgbClr val="F59E0B"/>
          </a:solidFill>
          <a:ln/>
        </p:spPr>
      </p:sp>
      <p:sp>
        <p:nvSpPr>
          <p:cNvPr id="8" name="Shape 6"/>
          <p:cNvSpPr/>
          <p:nvPr/>
        </p:nvSpPr>
        <p:spPr>
          <a:xfrm>
            <a:off x="1143000" y="1947672"/>
            <a:ext cx="155448" cy="155448"/>
          </a:xfrm>
          <a:prstGeom prst="ellipse">
            <a:avLst/>
          </a:prstGeom>
          <a:solidFill>
            <a:srgbClr val="16A34A"/>
          </a:solidFill>
          <a:ln/>
        </p:spPr>
      </p:sp>
      <p:sp>
        <p:nvSpPr>
          <p:cNvPr id="9" name="Text 7"/>
          <p:cNvSpPr/>
          <p:nvPr/>
        </p:nvSpPr>
        <p:spPr>
          <a:xfrm>
            <a:off x="1417320" y="1911096"/>
            <a:ext cx="5733288" cy="237744"/>
          </a:xfrm>
          <a:prstGeom prst="rect">
            <a:avLst/>
          </a:prstGeom>
          <a:noFill/>
          <a:ln/>
        </p:spPr>
        <p:txBody>
          <a:bodyPr wrap="square" lIns="0" tIns="0" rIns="0" bIns="0" rtlCol="0" anchor="ctr"/>
          <a:lstStyle/>
          <a:p>
            <a:pPr indent="0" marL="0">
              <a:buNone/>
            </a:pPr>
            <a:r>
              <a:rPr lang="en-US" sz="1050" dirty="0">
                <a:solidFill>
                  <a:srgbClr val="9CA3AF"/>
                </a:solidFill>
                <a:latin typeface="Courier New" pitchFamily="34" charset="0"/>
                <a:ea typeface="Courier New" pitchFamily="34" charset="-122"/>
                <a:cs typeface="Courier New" pitchFamily="34" charset="-120"/>
              </a:rPr>
              <a:t>VoiceTaskManager.java</a:t>
            </a:r>
            <a:endParaRPr lang="en-US" sz="1050" dirty="0"/>
          </a:p>
        </p:txBody>
      </p:sp>
      <p:sp>
        <p:nvSpPr>
          <p:cNvPr id="10" name="Text 8"/>
          <p:cNvSpPr/>
          <p:nvPr/>
        </p:nvSpPr>
        <p:spPr>
          <a:xfrm>
            <a:off x="704088" y="2304288"/>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FED7AA"/>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ED7AA"/>
                </a:solidFill>
                <a:latin typeface="Courier New" pitchFamily="34" charset="0"/>
                <a:ea typeface="Courier New" pitchFamily="34" charset="-122"/>
                <a:cs typeface="Courier New" pitchFamily="34" charset="-120"/>
              </a:rPr>
              <a:t>Service</a:t>
            </a:r>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public class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VoiceTaskManager</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t>
            </a:r>
            <a:endParaRPr lang="en-US" sz="1050" dirty="0"/>
          </a:p>
        </p:txBody>
      </p:sp>
      <p:sp>
        <p:nvSpPr>
          <p:cNvPr id="11" name="Text 9"/>
          <p:cNvSpPr/>
          <p:nvPr/>
        </p:nvSpPr>
        <p:spPr>
          <a:xfrm>
            <a:off x="704088" y="2453205"/>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FED7AA"/>
                </a:solidFill>
                <a:latin typeface="Courier New" pitchFamily="34" charset="0"/>
                <a:ea typeface="Courier New" pitchFamily="34" charset="-122"/>
                <a:cs typeface="Courier New" pitchFamily="34" charset="-120"/>
              </a:rPr>
              <a:t>  @</a:t>
            </a:r>
            <a:pPr indent="0" marL="0">
              <a:lnSpc>
                <a:spcPct val="100000"/>
              </a:lnSpc>
              <a:buNone/>
            </a:pPr>
            <a:r>
              <a:rPr lang="en-US" sz="1050" dirty="0">
                <a:solidFill>
                  <a:srgbClr val="FED7AA"/>
                </a:solidFill>
                <a:latin typeface="Courier New" pitchFamily="34" charset="0"/>
                <a:ea typeface="Courier New" pitchFamily="34" charset="-122"/>
                <a:cs typeface="Courier New" pitchFamily="34" charset="-120"/>
              </a:rPr>
              <a:t>Autowired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TaskStore store;</a:t>
            </a:r>
            <a:endParaRPr lang="en-US" sz="1050" dirty="0"/>
          </a:p>
        </p:txBody>
      </p:sp>
      <p:sp>
        <p:nvSpPr>
          <p:cNvPr id="12" name="Text 10"/>
          <p:cNvSpPr/>
          <p:nvPr/>
        </p:nvSpPr>
        <p:spPr>
          <a:xfrm>
            <a:off x="704088" y="2602121"/>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private final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OpenAIClient</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 client = </a:t>
            </a:r>
            <a:pPr indent="0" marL="0">
              <a:lnSpc>
                <a:spcPct val="100000"/>
              </a:lnSpc>
              <a:buNone/>
            </a:pPr>
            <a:r>
              <a:rPr lang="en-US" sz="1050" dirty="0">
                <a:solidFill>
                  <a:srgbClr val="67E8F9"/>
                </a:solidFill>
                <a:latin typeface="Courier New" pitchFamily="34" charset="0"/>
                <a:ea typeface="Courier New" pitchFamily="34" charset="-122"/>
                <a:cs typeface="Courier New" pitchFamily="34" charset="-120"/>
              </a:rPr>
              <a:t>OpenAIClient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fromEnv</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13" name="Text 11"/>
          <p:cNvSpPr/>
          <p:nvPr/>
        </p:nvSpPr>
        <p:spPr>
          <a:xfrm>
            <a:off x="704088" y="2751038"/>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14" name="Text 12"/>
          <p:cNvSpPr/>
          <p:nvPr/>
        </p:nvSpPr>
        <p:spPr>
          <a:xfrm>
            <a:off x="704088" y="2899954"/>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Tool definitions (description is the model's prompt)</a:t>
            </a:r>
            <a:endParaRPr lang="en-US" sz="1050" dirty="0"/>
          </a:p>
        </p:txBody>
      </p:sp>
      <p:sp>
        <p:nvSpPr>
          <p:cNvPr id="15" name="Text 13"/>
          <p:cNvSpPr/>
          <p:nvPr/>
        </p:nvSpPr>
        <p:spPr>
          <a:xfrm>
            <a:off x="704088" y="3048871"/>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private final List&lt;ChatCompletionTool&gt; TOOLS = buildTools();</a:t>
            </a:r>
            <a:endParaRPr lang="en-US" sz="1050" dirty="0"/>
          </a:p>
        </p:txBody>
      </p:sp>
      <p:sp>
        <p:nvSpPr>
          <p:cNvPr id="16" name="Text 14"/>
          <p:cNvSpPr/>
          <p:nvPr/>
        </p:nvSpPr>
        <p:spPr>
          <a:xfrm>
            <a:off x="704088" y="3197787"/>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17" name="Text 15"/>
          <p:cNvSpPr/>
          <p:nvPr/>
        </p:nvSpPr>
        <p:spPr>
          <a:xfrm>
            <a:off x="704088" y="3346704"/>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public String </a:t>
            </a:r>
            <a:pPr indent="0" marL="0">
              <a:lnSpc>
                <a:spcPct val="100000"/>
              </a:lnSpc>
              <a:buNone/>
            </a:pPr>
            <a:r>
              <a:rPr lang="en-US" sz="1050" dirty="0">
                <a:solidFill>
                  <a:srgbClr val="FDA4AF"/>
                </a:solidFill>
                <a:latin typeface="Courier New" pitchFamily="34" charset="0"/>
                <a:ea typeface="Courier New" pitchFamily="34" charset="-122"/>
                <a:cs typeface="Courier New" pitchFamily="34" charset="-120"/>
              </a:rPr>
              <a:t>processVoiceFile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(Path audio) {</a:t>
            </a:r>
            <a:endParaRPr lang="en-US" sz="1050" dirty="0"/>
          </a:p>
        </p:txBody>
      </p:sp>
      <p:sp>
        <p:nvSpPr>
          <p:cNvPr id="18" name="Text 16"/>
          <p:cNvSpPr/>
          <p:nvPr/>
        </p:nvSpPr>
        <p:spPr>
          <a:xfrm>
            <a:off x="704088" y="3495621"/>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19" name="Text 17"/>
          <p:cNvSpPr/>
          <p:nvPr/>
        </p:nvSpPr>
        <p:spPr>
          <a:xfrm>
            <a:off x="704088" y="3644537"/>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1. Transcribe with Whisper</a:t>
            </a:r>
            <a:endParaRPr lang="en-US" sz="1050" dirty="0"/>
          </a:p>
        </p:txBody>
      </p:sp>
      <p:sp>
        <p:nvSpPr>
          <p:cNvPr id="20" name="Text 18"/>
          <p:cNvSpPr/>
          <p:nvPr/>
        </p:nvSpPr>
        <p:spPr>
          <a:xfrm>
            <a:off x="704088" y="3793454"/>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String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cmd</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 transcribe(audio);</a:t>
            </a:r>
            <a:endParaRPr lang="en-US" sz="1050" dirty="0"/>
          </a:p>
        </p:txBody>
      </p:sp>
      <p:sp>
        <p:nvSpPr>
          <p:cNvPr id="21" name="Text 19"/>
          <p:cNvSpPr/>
          <p:nvPr/>
        </p:nvSpPr>
        <p:spPr>
          <a:xfrm>
            <a:off x="704088" y="3942370"/>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System.out.println("Heard: " + cmd);</a:t>
            </a:r>
            <a:endParaRPr lang="en-US" sz="1050" dirty="0"/>
          </a:p>
        </p:txBody>
      </p:sp>
      <p:sp>
        <p:nvSpPr>
          <p:cNvPr id="22" name="Text 20"/>
          <p:cNvSpPr/>
          <p:nvPr/>
        </p:nvSpPr>
        <p:spPr>
          <a:xfrm>
            <a:off x="704088" y="4091287"/>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3" name="Text 21"/>
          <p:cNvSpPr/>
          <p:nvPr/>
        </p:nvSpPr>
        <p:spPr>
          <a:xfrm>
            <a:off x="704088" y="4240203"/>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2. Run tool-calling loop</a:t>
            </a:r>
            <a:endParaRPr lang="en-US" sz="1050" dirty="0"/>
          </a:p>
        </p:txBody>
      </p:sp>
      <p:sp>
        <p:nvSpPr>
          <p:cNvPr id="24" name="Text 22"/>
          <p:cNvSpPr/>
          <p:nvPr/>
        </p:nvSpPr>
        <p:spPr>
          <a:xfrm>
            <a:off x="704088" y="4389120"/>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var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history</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 new ArrayList&lt;ChatCompletionMessageParam&gt;();</a:t>
            </a:r>
            <a:endParaRPr lang="en-US" sz="1050" dirty="0"/>
          </a:p>
        </p:txBody>
      </p:sp>
      <p:sp>
        <p:nvSpPr>
          <p:cNvPr id="25" name="Text 23"/>
          <p:cNvSpPr/>
          <p:nvPr/>
        </p:nvSpPr>
        <p:spPr>
          <a:xfrm>
            <a:off x="704088" y="4538037"/>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history.add(ofSystem(TASK_SYSTEM_PROMPT));</a:t>
            </a:r>
            <a:endParaRPr lang="en-US" sz="1050" dirty="0"/>
          </a:p>
        </p:txBody>
      </p:sp>
      <p:sp>
        <p:nvSpPr>
          <p:cNvPr id="26" name="Text 24"/>
          <p:cNvSpPr/>
          <p:nvPr/>
        </p:nvSpPr>
        <p:spPr>
          <a:xfrm>
            <a:off x="704088" y="4686953"/>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history.add(ofUser(cmd));</a:t>
            </a:r>
            <a:endParaRPr lang="en-US" sz="1050" dirty="0"/>
          </a:p>
        </p:txBody>
      </p:sp>
      <p:sp>
        <p:nvSpPr>
          <p:cNvPr id="27" name="Text 25"/>
          <p:cNvSpPr/>
          <p:nvPr/>
        </p:nvSpPr>
        <p:spPr>
          <a:xfrm>
            <a:off x="704088" y="4835870"/>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28" name="Text 26"/>
          <p:cNvSpPr/>
          <p:nvPr/>
        </p:nvSpPr>
        <p:spPr>
          <a:xfrm>
            <a:off x="704088" y="4984786"/>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String </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reply</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 runAgentLoop(history);</a:t>
            </a:r>
            <a:endParaRPr lang="en-US" sz="1050" dirty="0"/>
          </a:p>
        </p:txBody>
      </p:sp>
      <p:sp>
        <p:nvSpPr>
          <p:cNvPr id="29" name="Text 27"/>
          <p:cNvSpPr/>
          <p:nvPr/>
        </p:nvSpPr>
        <p:spPr>
          <a:xfrm>
            <a:off x="704088" y="5133703"/>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30" name="Text 28"/>
          <p:cNvSpPr/>
          <p:nvPr/>
        </p:nvSpPr>
        <p:spPr>
          <a:xfrm>
            <a:off x="704088" y="5282619"/>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6B7280"/>
                </a:solidFill>
                <a:latin typeface="Courier New" pitchFamily="34" charset="0"/>
                <a:ea typeface="Courier New" pitchFamily="34" charset="-122"/>
                <a:cs typeface="Courier New" pitchFamily="34" charset="-120"/>
              </a:rPr>
              <a:t>    // 3. Speak the confirmation</a:t>
            </a:r>
            <a:endParaRPr lang="en-US" sz="1050" dirty="0"/>
          </a:p>
        </p:txBody>
      </p:sp>
      <p:sp>
        <p:nvSpPr>
          <p:cNvPr id="31" name="Text 29"/>
          <p:cNvSpPr/>
          <p:nvPr/>
        </p:nvSpPr>
        <p:spPr>
          <a:xfrm>
            <a:off x="704088" y="5431536"/>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C4B5FD"/>
                </a:solidFill>
                <a:latin typeface="Courier New" pitchFamily="34" charset="0"/>
                <a:ea typeface="Courier New" pitchFamily="34" charset="-122"/>
                <a:cs typeface="Courier New" pitchFamily="34" charset="-120"/>
              </a:rPr>
              <a:t>    byte</a:t>
            </a:r>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audio = generateSpeech(reply, AudioSpeechCreateParams.Voice.ALLOY);</a:t>
            </a:r>
            <a:endParaRPr lang="en-US" sz="1050" dirty="0"/>
          </a:p>
        </p:txBody>
      </p:sp>
      <p:sp>
        <p:nvSpPr>
          <p:cNvPr id="32" name="Text 30"/>
          <p:cNvSpPr/>
          <p:nvPr/>
        </p:nvSpPr>
        <p:spPr>
          <a:xfrm>
            <a:off x="704088" y="5580453"/>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Files.write(Path.of("reply.mp3"), audio);</a:t>
            </a:r>
            <a:endParaRPr lang="en-US" sz="1050" dirty="0"/>
          </a:p>
        </p:txBody>
      </p:sp>
      <p:sp>
        <p:nvSpPr>
          <p:cNvPr id="33" name="Text 31"/>
          <p:cNvSpPr/>
          <p:nvPr/>
        </p:nvSpPr>
        <p:spPr>
          <a:xfrm>
            <a:off x="704088" y="5729369"/>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playAudio("reply.mp3");</a:t>
            </a:r>
            <a:endParaRPr lang="en-US" sz="1050" dirty="0"/>
          </a:p>
        </p:txBody>
      </p:sp>
      <p:sp>
        <p:nvSpPr>
          <p:cNvPr id="34" name="Text 32"/>
          <p:cNvSpPr/>
          <p:nvPr/>
        </p:nvSpPr>
        <p:spPr>
          <a:xfrm>
            <a:off x="704088" y="5878286"/>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Courier New" pitchFamily="34" charset="0"/>
                <a:ea typeface="Courier New" pitchFamily="34" charset="-122"/>
                <a:cs typeface="Courier New" pitchFamily="34" charset="-120"/>
              </a:rPr>
              <a:t> </a:t>
            </a:r>
            <a:endParaRPr lang="en-US" sz="1050" dirty="0"/>
          </a:p>
        </p:txBody>
      </p:sp>
      <p:sp>
        <p:nvSpPr>
          <p:cNvPr id="35" name="Text 33"/>
          <p:cNvSpPr/>
          <p:nvPr/>
        </p:nvSpPr>
        <p:spPr>
          <a:xfrm>
            <a:off x="704088" y="6027202"/>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return reply;</a:t>
            </a:r>
            <a:endParaRPr lang="en-US" sz="1050" dirty="0"/>
          </a:p>
        </p:txBody>
      </p:sp>
      <p:sp>
        <p:nvSpPr>
          <p:cNvPr id="36" name="Text 34"/>
          <p:cNvSpPr/>
          <p:nvPr/>
        </p:nvSpPr>
        <p:spPr>
          <a:xfrm>
            <a:off x="704088" y="6176119"/>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  }</a:t>
            </a:r>
            <a:endParaRPr lang="en-US" sz="1050" dirty="0"/>
          </a:p>
        </p:txBody>
      </p:sp>
      <p:sp>
        <p:nvSpPr>
          <p:cNvPr id="37" name="Text 35"/>
          <p:cNvSpPr/>
          <p:nvPr/>
        </p:nvSpPr>
        <p:spPr>
          <a:xfrm>
            <a:off x="704088" y="6325035"/>
            <a:ext cx="6464808" cy="148917"/>
          </a:xfrm>
          <a:prstGeom prst="rect">
            <a:avLst/>
          </a:prstGeom>
          <a:noFill/>
          <a:ln/>
        </p:spPr>
        <p:txBody>
          <a:bodyPr wrap="square" lIns="0" tIns="0" rIns="0" bIns="0" rtlCol="0" anchor="ctr"/>
          <a:lstStyle/>
          <a:p>
            <a:pPr indent="0" marL="0">
              <a:lnSpc>
                <a:spcPct val="100000"/>
              </a:lnSpc>
              <a:buNone/>
            </a:pPr>
            <a:r>
              <a:rPr lang="en-US" sz="1050" dirty="0">
                <a:solidFill>
                  <a:srgbClr val="E5E7EB"/>
                </a:solidFill>
                <a:latin typeface="Courier New" pitchFamily="34" charset="0"/>
                <a:ea typeface="Courier New" pitchFamily="34" charset="-122"/>
                <a:cs typeface="Courier New" pitchFamily="34" charset="-120"/>
              </a:rPr>
              <a:t>}</a:t>
            </a:r>
            <a:endParaRPr lang="en-US" sz="1050" dirty="0"/>
          </a:p>
        </p:txBody>
      </p:sp>
      <p:sp>
        <p:nvSpPr>
          <p:cNvPr id="38" name="Shape 36"/>
          <p:cNvSpPr/>
          <p:nvPr/>
        </p:nvSpPr>
        <p:spPr>
          <a:xfrm>
            <a:off x="7424928" y="1847088"/>
            <a:ext cx="4590288" cy="2423160"/>
          </a:xfrm>
          <a:prstGeom prst="roundRect">
            <a:avLst>
              <a:gd name="adj" fmla="val 3396"/>
            </a:avLst>
          </a:prstGeom>
          <a:solidFill>
            <a:srgbClr val="111827"/>
          </a:solidFill>
          <a:ln w="12700">
            <a:solidFill>
              <a:srgbClr val="374151"/>
            </a:solidFill>
            <a:prstDash val="solid"/>
          </a:ln>
          <a:effectLst>
            <a:outerShdw sx="100000" sy="100000" kx="0" ky="0" algn="bl" rotWithShape="0" blurRad="101600" dist="38100" dir="5400000">
              <a:srgbClr val="000000">
                <a:alpha val="13000"/>
              </a:srgbClr>
            </a:outerShdw>
          </a:effectLst>
        </p:spPr>
      </p:sp>
      <p:sp>
        <p:nvSpPr>
          <p:cNvPr id="39" name="Shape 37"/>
          <p:cNvSpPr/>
          <p:nvPr/>
        </p:nvSpPr>
        <p:spPr>
          <a:xfrm>
            <a:off x="7424928" y="1847088"/>
            <a:ext cx="4590288" cy="347472"/>
          </a:xfrm>
          <a:prstGeom prst="roundRect">
            <a:avLst>
              <a:gd name="adj" fmla="val 23684"/>
            </a:avLst>
          </a:prstGeom>
          <a:solidFill>
            <a:srgbClr val="1F2937"/>
          </a:solidFill>
          <a:ln w="12700">
            <a:solidFill>
              <a:srgbClr val="374151"/>
            </a:solidFill>
            <a:prstDash val="solid"/>
          </a:ln>
        </p:spPr>
      </p:sp>
      <p:sp>
        <p:nvSpPr>
          <p:cNvPr id="40" name="Text 38"/>
          <p:cNvSpPr/>
          <p:nvPr/>
        </p:nvSpPr>
        <p:spPr>
          <a:xfrm>
            <a:off x="7589520" y="1892808"/>
            <a:ext cx="4297680" cy="256032"/>
          </a:xfrm>
          <a:prstGeom prst="rect">
            <a:avLst/>
          </a:prstGeom>
          <a:noFill/>
          <a:ln/>
        </p:spPr>
        <p:txBody>
          <a:bodyPr wrap="square" lIns="0" tIns="0" rIns="0" bIns="0" rtlCol="0" anchor="ctr"/>
          <a:lstStyle/>
          <a:p>
            <a:pPr indent="0" marL="0">
              <a:buNone/>
            </a:pPr>
            <a:r>
              <a:rPr lang="en-US" sz="1050" dirty="0">
                <a:solidFill>
                  <a:srgbClr val="9CA3AF"/>
                </a:solidFill>
                <a:latin typeface="Courier New" pitchFamily="34" charset="0"/>
                <a:ea typeface="Courier New" pitchFamily="34" charset="-122"/>
                <a:cs typeface="Courier New" pitchFamily="34" charset="-120"/>
              </a:rPr>
              <a:t>TASK_SYSTEM_PROMPT</a:t>
            </a:r>
            <a:endParaRPr lang="en-US" sz="1050" dirty="0"/>
          </a:p>
        </p:txBody>
      </p:sp>
      <p:sp>
        <p:nvSpPr>
          <p:cNvPr id="41" name="Text 39"/>
          <p:cNvSpPr/>
          <p:nvPr/>
        </p:nvSpPr>
        <p:spPr>
          <a:xfrm>
            <a:off x="7571232" y="2267712"/>
            <a:ext cx="4315968" cy="1828800"/>
          </a:xfrm>
          <a:prstGeom prst="rect">
            <a:avLst/>
          </a:prstGeom>
          <a:noFill/>
          <a:ln/>
        </p:spPr>
        <p:txBody>
          <a:bodyPr wrap="square" lIns="0" tIns="0" rIns="0" bIns="0" rtlCol="0" anchor="ctr"/>
          <a:lstStyle/>
          <a:p>
            <a:pPr indent="0" marL="0">
              <a:lnSpc>
                <a:spcPct val="135000"/>
              </a:lnSpc>
              <a:buNone/>
            </a:pPr>
            <a:r>
              <a:rPr lang="en-US" sz="1000" dirty="0">
                <a:solidFill>
                  <a:srgbClr val="86EFAC"/>
                </a:solidFill>
                <a:latin typeface="Courier New" pitchFamily="34" charset="0"/>
                <a:ea typeface="Courier New" pitchFamily="34" charset="-122"/>
                <a:cs typeface="Courier New" pitchFamily="34" charset="-120"/>
              </a:rPr>
              <a:t>You are a voice-controlled task manager assistant.</a:t>
            </a:r>
            <a:endParaRPr lang="en-US" sz="1000" dirty="0"/>
          </a:p>
          <a:p>
            <a:pPr indent="0" marL="0">
              <a:lnSpc>
                <a:spcPct val="135000"/>
              </a:lnSpc>
              <a:buNone/>
            </a:pPr>
            <a:r>
              <a:rPr lang="en-US" sz="1000" dirty="0">
                <a:solidFill>
                  <a:srgbClr val="86EFAC"/>
                </a:solidFill>
                <a:latin typeface="Courier New" pitchFamily="34" charset="0"/>
                <a:ea typeface="Courier New" pitchFamily="34" charset="-122"/>
                <a:cs typeface="Courier New" pitchFamily="34" charset="-120"/>
              </a:rPr>
              <a:t>You have 4 tools: addTask, deleteTask, listTasks, markDone.</a:t>
            </a:r>
            <a:endParaRPr lang="en-US" sz="1000" dirty="0"/>
          </a:p>
          <a:p>
            <a:pPr indent="0" marL="0">
              <a:lnSpc>
                <a:spcPct val="135000"/>
              </a:lnSpc>
              <a:buNone/>
            </a:pPr>
            <a:r>
              <a:rPr lang="en-US" sz="1000" dirty="0">
                <a:solidFill>
                  <a:srgbClr val="86EFAC"/>
                </a:solidFill>
                <a:latin typeface="Courier New" pitchFamily="34" charset="0"/>
                <a:ea typeface="Courier New" pitchFamily="34" charset="-122"/>
                <a:cs typeface="Courier New" pitchFamily="34" charset="-120"/>
              </a:rPr>
              <a:t>When given a voice command, determine the intent and call the appropriate tool.</a:t>
            </a:r>
            <a:endParaRPr lang="en-US" sz="1000" dirty="0"/>
          </a:p>
          <a:p>
            <a:pPr indent="0" marL="0">
              <a:lnSpc>
                <a:spcPct val="135000"/>
              </a:lnSpc>
              <a:buNone/>
            </a:pPr>
            <a:r>
              <a:rPr lang="en-US" sz="1000" dirty="0">
                <a:solidFill>
                  <a:srgbClr val="86EFAC"/>
                </a:solidFill>
                <a:latin typeface="Courier New" pitchFamily="34" charset="0"/>
                <a:ea typeface="Courier New" pitchFamily="34" charset="-122"/>
                <a:cs typeface="Courier New" pitchFamily="34" charset="-120"/>
              </a:rPr>
              <a:t>Always confirm the action in a friendly, concise spoken sentence.</a:t>
            </a:r>
            <a:endParaRPr lang="en-US" sz="1000" dirty="0"/>
          </a:p>
          <a:p>
            <a:pPr indent="0" marL="0">
              <a:lnSpc>
                <a:spcPct val="135000"/>
              </a:lnSpc>
              <a:buNone/>
            </a:pPr>
            <a:r>
              <a:rPr lang="en-US" sz="1000" dirty="0">
                <a:solidFill>
                  <a:srgbClr val="86EFAC"/>
                </a:solidFill>
                <a:latin typeface="Courier New" pitchFamily="34" charset="0"/>
                <a:ea typeface="Courier New" pitchFamily="34" charset="-122"/>
                <a:cs typeface="Courier New" pitchFamily="34" charset="-120"/>
              </a:rPr>
              <a:t>Never ask for clarification — make your best guess from the command.</a:t>
            </a:r>
            <a:endParaRPr lang="en-US" sz="1000" dirty="0"/>
          </a:p>
        </p:txBody>
      </p:sp>
      <p:sp>
        <p:nvSpPr>
          <p:cNvPr id="42" name="Shape 40"/>
          <p:cNvSpPr/>
          <p:nvPr/>
        </p:nvSpPr>
        <p:spPr>
          <a:xfrm>
            <a:off x="7424928" y="4407408"/>
            <a:ext cx="4590288" cy="2057400"/>
          </a:xfrm>
          <a:prstGeom prst="roundRect">
            <a:avLst>
              <a:gd name="adj" fmla="val 4000"/>
            </a:avLst>
          </a:prstGeom>
          <a:solidFill>
            <a:srgbClr val="FFFBEB"/>
          </a:solidFill>
          <a:ln w="12700">
            <a:solidFill>
              <a:srgbClr val="D97706">
                <a:alpha val="50000"/>
              </a:srgbClr>
            </a:solidFill>
            <a:prstDash val="solid"/>
          </a:ln>
        </p:spPr>
      </p:sp>
      <p:sp>
        <p:nvSpPr>
          <p:cNvPr id="43" name="Text 41"/>
          <p:cNvSpPr/>
          <p:nvPr/>
        </p:nvSpPr>
        <p:spPr>
          <a:xfrm>
            <a:off x="7589520" y="4526280"/>
            <a:ext cx="4297680" cy="320040"/>
          </a:xfrm>
          <a:prstGeom prst="rect">
            <a:avLst/>
          </a:prstGeom>
          <a:noFill/>
          <a:ln/>
        </p:spPr>
        <p:txBody>
          <a:bodyPr wrap="square" lIns="0" tIns="0" rIns="0" bIns="0" rtlCol="0" anchor="ctr"/>
          <a:lstStyle/>
          <a:p>
            <a:pPr indent="0" marL="0">
              <a:buNone/>
            </a:pPr>
            <a:r>
              <a:rPr lang="en-US" sz="1300" b="1" dirty="0">
                <a:solidFill>
                  <a:srgbClr val="D97706"/>
                </a:solidFill>
                <a:latin typeface="Calibri" pitchFamily="34" charset="0"/>
                <a:ea typeface="Calibri" pitchFamily="34" charset="-122"/>
                <a:cs typeface="Calibri" pitchFamily="34" charset="-120"/>
              </a:rPr>
              <a:t>Test voice commands:</a:t>
            </a:r>
            <a:endParaRPr lang="en-US" sz="1300" dirty="0"/>
          </a:p>
        </p:txBody>
      </p:sp>
      <p:sp>
        <p:nvSpPr>
          <p:cNvPr id="44" name="Text 42"/>
          <p:cNvSpPr/>
          <p:nvPr/>
        </p:nvSpPr>
        <p:spPr>
          <a:xfrm>
            <a:off x="7589520" y="4919472"/>
            <a:ext cx="4297680" cy="274320"/>
          </a:xfrm>
          <a:prstGeom prst="rect">
            <a:avLst/>
          </a:prstGeom>
          <a:noFill/>
          <a:ln/>
        </p:spPr>
        <p:txBody>
          <a:bodyPr wrap="square" lIns="0" tIns="0" rIns="0" bIns="0" rtlCol="0" anchor="ctr"/>
          <a:lstStyle/>
          <a:p>
            <a:pPr indent="0" marL="0">
              <a:buNone/>
            </a:pPr>
            <a:r>
              <a:rPr lang="en-US" sz="1050" dirty="0">
                <a:solidFill>
                  <a:srgbClr val="475569"/>
                </a:solidFill>
                <a:latin typeface="Courier New" pitchFamily="34" charset="0"/>
                <a:ea typeface="Courier New" pitchFamily="34" charset="-122"/>
                <a:cs typeface="Courier New" pitchFamily="34" charset="-120"/>
              </a:rPr>
              <a:t>1. 'Add a task: finish the API docs by Monday'</a:t>
            </a:r>
            <a:endParaRPr lang="en-US" sz="1050" dirty="0"/>
          </a:p>
        </p:txBody>
      </p:sp>
      <p:sp>
        <p:nvSpPr>
          <p:cNvPr id="45" name="Text 43"/>
          <p:cNvSpPr/>
          <p:nvPr/>
        </p:nvSpPr>
        <p:spPr>
          <a:xfrm>
            <a:off x="7589520" y="5212080"/>
            <a:ext cx="4297680" cy="274320"/>
          </a:xfrm>
          <a:prstGeom prst="rect">
            <a:avLst/>
          </a:prstGeom>
          <a:noFill/>
          <a:ln/>
        </p:spPr>
        <p:txBody>
          <a:bodyPr wrap="square" lIns="0" tIns="0" rIns="0" bIns="0" rtlCol="0" anchor="ctr"/>
          <a:lstStyle/>
          <a:p>
            <a:pPr indent="0" marL="0">
              <a:buNone/>
            </a:pPr>
            <a:r>
              <a:rPr lang="en-US" sz="1050" dirty="0">
                <a:solidFill>
                  <a:srgbClr val="475569"/>
                </a:solidFill>
                <a:latin typeface="Courier New" pitchFamily="34" charset="0"/>
                <a:ea typeface="Courier New" pitchFamily="34" charset="-122"/>
                <a:cs typeface="Courier New" pitchFamily="34" charset="-120"/>
              </a:rPr>
              <a:t>2. 'What tasks do I have pending?'</a:t>
            </a:r>
            <a:endParaRPr lang="en-US" sz="1050" dirty="0"/>
          </a:p>
        </p:txBody>
      </p:sp>
      <p:sp>
        <p:nvSpPr>
          <p:cNvPr id="46" name="Text 44"/>
          <p:cNvSpPr/>
          <p:nvPr/>
        </p:nvSpPr>
        <p:spPr>
          <a:xfrm>
            <a:off x="7589520" y="5504688"/>
            <a:ext cx="4297680" cy="274320"/>
          </a:xfrm>
          <a:prstGeom prst="rect">
            <a:avLst/>
          </a:prstGeom>
          <a:noFill/>
          <a:ln/>
        </p:spPr>
        <p:txBody>
          <a:bodyPr wrap="square" lIns="0" tIns="0" rIns="0" bIns="0" rtlCol="0" anchor="ctr"/>
          <a:lstStyle/>
          <a:p>
            <a:pPr indent="0" marL="0">
              <a:buNone/>
            </a:pPr>
            <a:r>
              <a:rPr lang="en-US" sz="1050" dirty="0">
                <a:solidFill>
                  <a:srgbClr val="475569"/>
                </a:solidFill>
                <a:latin typeface="Courier New" pitchFamily="34" charset="0"/>
                <a:ea typeface="Courier New" pitchFamily="34" charset="-122"/>
                <a:cs typeface="Courier New" pitchFamily="34" charset="-120"/>
              </a:rPr>
              <a:t>3. 'Mark task abc12345 as done'</a:t>
            </a:r>
            <a:endParaRPr lang="en-US" sz="1050" dirty="0"/>
          </a:p>
        </p:txBody>
      </p:sp>
      <p:sp>
        <p:nvSpPr>
          <p:cNvPr id="47" name="Text 45"/>
          <p:cNvSpPr/>
          <p:nvPr/>
        </p:nvSpPr>
        <p:spPr>
          <a:xfrm>
            <a:off x="7589520" y="5797296"/>
            <a:ext cx="4297680" cy="274320"/>
          </a:xfrm>
          <a:prstGeom prst="rect">
            <a:avLst/>
          </a:prstGeom>
          <a:noFill/>
          <a:ln/>
        </p:spPr>
        <p:txBody>
          <a:bodyPr wrap="square" lIns="0" tIns="0" rIns="0" bIns="0" rtlCol="0" anchor="ctr"/>
          <a:lstStyle/>
          <a:p>
            <a:pPr indent="0" marL="0">
              <a:buNone/>
            </a:pPr>
            <a:r>
              <a:rPr lang="en-US" sz="1050" dirty="0">
                <a:solidFill>
                  <a:srgbClr val="475569"/>
                </a:solidFill>
                <a:latin typeface="Courier New" pitchFamily="34" charset="0"/>
                <a:ea typeface="Courier New" pitchFamily="34" charset="-122"/>
                <a:cs typeface="Courier New" pitchFamily="34" charset="-120"/>
              </a:rPr>
              <a:t>4. 'Delete the task about API docs'</a:t>
            </a:r>
            <a:endParaRPr lang="en-US" sz="1050" dirty="0"/>
          </a:p>
        </p:txBody>
      </p:sp>
      <p:sp>
        <p:nvSpPr>
          <p:cNvPr id="48" name="Text 46"/>
          <p:cNvSpPr/>
          <p:nvPr/>
        </p:nvSpPr>
        <p:spPr>
          <a:xfrm>
            <a:off x="7589520" y="6089904"/>
            <a:ext cx="4297680" cy="274320"/>
          </a:xfrm>
          <a:prstGeom prst="rect">
            <a:avLst/>
          </a:prstGeom>
          <a:noFill/>
          <a:ln/>
        </p:spPr>
        <p:txBody>
          <a:bodyPr wrap="square" lIns="0" tIns="0" rIns="0" bIns="0" rtlCol="0" anchor="ctr"/>
          <a:lstStyle/>
          <a:p>
            <a:pPr indent="0" marL="0">
              <a:buNone/>
            </a:pPr>
            <a:r>
              <a:rPr lang="en-US" sz="1050" dirty="0">
                <a:solidFill>
                  <a:srgbClr val="475569"/>
                </a:solidFill>
                <a:latin typeface="Courier New" pitchFamily="34" charset="0"/>
                <a:ea typeface="Courier New" pitchFamily="34" charset="-122"/>
                <a:cs typeface="Courier New" pitchFamily="34" charset="-120"/>
              </a:rPr>
              <a:t>5. 'Remind me to review the PR by end of week'</a:t>
            </a:r>
            <a:endParaRPr lang="en-US" sz="1050" dirty="0"/>
          </a:p>
        </p:txBody>
      </p:sp>
      <p:sp>
        <p:nvSpPr>
          <p:cNvPr id="50" name="Shape 47"/>
          <p:cNvSpPr/>
          <p:nvPr/>
        </p:nvSpPr>
        <p:spPr>
          <a:xfrm>
            <a:off x="0" y="6583680"/>
            <a:ext cx="12191695" cy="274320"/>
          </a:xfrm>
          <a:prstGeom prst="rect">
            <a:avLst/>
          </a:prstGeom>
          <a:solidFill>
            <a:srgbClr val="E11D48">
              <a:alpha val="12000"/>
            </a:srgbClr>
          </a:solidFill>
          <a:ln w="12700">
            <a:solidFill>
              <a:srgbClr val="E11D48">
                <a:alpha val="35000"/>
              </a:srgbClr>
            </a:solidFill>
            <a:prstDash val="solid"/>
          </a:ln>
        </p:spPr>
      </p:sp>
      <p:sp>
        <p:nvSpPr>
          <p:cNvPr id="51" name="Text 48"/>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52" name="Text 49"/>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18 / 31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F1A"/>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D97706"/>
                </a:solidFill>
                <a:latin typeface="Calibri" pitchFamily="34" charset="0"/>
                <a:ea typeface="Calibri" pitchFamily="34" charset="-122"/>
                <a:cs typeface="Calibri" pitchFamily="34" charset="-120"/>
              </a:rPr>
              <a:t>WEEK 1 COMPLETE — WHAT YOU HAVE BUILT</a:t>
            </a:r>
            <a:endParaRPr lang="en-US" sz="1200" dirty="0"/>
          </a:p>
        </p:txBody>
      </p:sp>
      <p:sp>
        <p:nvSpPr>
          <p:cNvPr id="3" name="Text 1"/>
          <p:cNvSpPr/>
          <p:nvPr/>
        </p:nvSpPr>
        <p:spPr>
          <a:xfrm>
            <a:off x="685800" y="777240"/>
            <a:ext cx="10789920" cy="1207008"/>
          </a:xfrm>
          <a:prstGeom prst="rect">
            <a:avLst/>
          </a:prstGeom>
          <a:noFill/>
          <a:ln/>
        </p:spPr>
        <p:txBody>
          <a:bodyPr wrap="square" lIns="0" tIns="0" rIns="0" bIns="0" rtlCol="0" anchor="ctr"/>
          <a:lstStyle/>
          <a:p>
            <a:pPr indent="0" marL="0">
              <a:lnSpc>
                <a:spcPct val="105000"/>
              </a:lnSpc>
              <a:buNone/>
            </a:pPr>
            <a:r>
              <a:rPr lang="en-US" sz="2800" b="1" dirty="0">
                <a:solidFill>
                  <a:srgbClr val="E8ECFF"/>
                </a:solidFill>
                <a:latin typeface="Calibri" pitchFamily="34" charset="0"/>
                <a:ea typeface="Calibri" pitchFamily="34" charset="-122"/>
                <a:cs typeface="Calibri" pitchFamily="34" charset="-120"/>
              </a:rPr>
              <a:t>Five sessions. Five APIs. Two projects.</a:t>
            </a:r>
            <a:endParaRPr lang="en-US" sz="2800" dirty="0"/>
          </a:p>
          <a:p>
            <a:pPr indent="0" marL="0">
              <a:lnSpc>
                <a:spcPct val="105000"/>
              </a:lnSpc>
              <a:buNone/>
            </a:pPr>
            <a:r>
              <a:rPr lang="en-US" sz="2800" b="1" dirty="0">
                <a:solidFill>
                  <a:srgbClr val="E8ECFF"/>
                </a:solidFill>
                <a:latin typeface="Calibri" pitchFamily="34" charset="0"/>
                <a:ea typeface="Calibri" pitchFamily="34" charset="-122"/>
                <a:cs typeface="Calibri" pitchFamily="34" charset="-120"/>
              </a:rPr>
              <a:t>You are now an AI developer.</a:t>
            </a:r>
            <a:endParaRPr lang="en-US" sz="2800" dirty="0"/>
          </a:p>
        </p:txBody>
      </p:sp>
      <p:sp>
        <p:nvSpPr>
          <p:cNvPr id="4" name="Shape 2"/>
          <p:cNvSpPr/>
          <p:nvPr/>
        </p:nvSpPr>
        <p:spPr>
          <a:xfrm>
            <a:off x="502920" y="2240280"/>
            <a:ext cx="2057400" cy="2514600"/>
          </a:xfrm>
          <a:prstGeom prst="roundRect">
            <a:avLst>
              <a:gd name="adj" fmla="val 4000"/>
            </a:avLst>
          </a:prstGeom>
          <a:solidFill>
            <a:srgbClr val="1C2236"/>
          </a:solidFill>
          <a:ln w="12700">
            <a:solidFill>
              <a:srgbClr val="7C3AED">
                <a:alpha val="55000"/>
              </a:srgbClr>
            </a:solidFill>
            <a:prstDash val="solid"/>
          </a:ln>
          <a:effectLst>
            <a:outerShdw sx="100000" sy="100000" kx="0" ky="0" algn="bl" rotWithShape="0" blurRad="101600" dist="38100" dir="5400000">
              <a:srgbClr val="000000">
                <a:alpha val="13000"/>
              </a:srgbClr>
            </a:outerShdw>
          </a:effectLst>
        </p:spPr>
      </p:sp>
      <p:sp>
        <p:nvSpPr>
          <p:cNvPr id="5" name="Shape 3"/>
          <p:cNvSpPr/>
          <p:nvPr/>
        </p:nvSpPr>
        <p:spPr>
          <a:xfrm>
            <a:off x="1307592" y="2395728"/>
            <a:ext cx="475488" cy="475488"/>
          </a:xfrm>
          <a:prstGeom prst="ellipse">
            <a:avLst/>
          </a:prstGeom>
          <a:solidFill>
            <a:srgbClr val="7C3AED"/>
          </a:solidFill>
          <a:ln/>
        </p:spPr>
      </p:sp>
      <p:sp>
        <p:nvSpPr>
          <p:cNvPr id="6" name="Text 4"/>
          <p:cNvSpPr/>
          <p:nvPr/>
        </p:nvSpPr>
        <p:spPr>
          <a:xfrm>
            <a:off x="1307592" y="23957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S1</a:t>
            </a:r>
            <a:endParaRPr lang="en-US" sz="1600" dirty="0"/>
          </a:p>
        </p:txBody>
      </p:sp>
      <p:sp>
        <p:nvSpPr>
          <p:cNvPr id="7" name="Text 5"/>
          <p:cNvSpPr/>
          <p:nvPr/>
        </p:nvSpPr>
        <p:spPr>
          <a:xfrm>
            <a:off x="640080" y="2962656"/>
            <a:ext cx="1810512" cy="475488"/>
          </a:xfrm>
          <a:prstGeom prst="rect">
            <a:avLst/>
          </a:prstGeom>
          <a:noFill/>
          <a:ln/>
        </p:spPr>
        <p:txBody>
          <a:bodyPr wrap="square" lIns="0" tIns="0" rIns="0" bIns="0" rtlCol="0" anchor="ctr"/>
          <a:lstStyle/>
          <a:p>
            <a:pPr indent="0" marL="0">
              <a:lnSpc>
                <a:spcPct val="110000"/>
              </a:lnSpc>
              <a:buNone/>
            </a:pPr>
            <a:r>
              <a:rPr lang="en-US" sz="1200" b="1" dirty="0">
                <a:solidFill>
                  <a:srgbClr val="7C3AED"/>
                </a:solidFill>
                <a:latin typeface="Calibri" pitchFamily="34" charset="0"/>
                <a:ea typeface="Calibri" pitchFamily="34" charset="-122"/>
                <a:cs typeface="Calibri" pitchFamily="34" charset="-120"/>
              </a:rPr>
              <a:t>LLM Theory</a:t>
            </a:r>
            <a:endParaRPr lang="en-US" sz="1200" dirty="0"/>
          </a:p>
        </p:txBody>
      </p:sp>
      <p:sp>
        <p:nvSpPr>
          <p:cNvPr id="8" name="Shape 6"/>
          <p:cNvSpPr/>
          <p:nvPr/>
        </p:nvSpPr>
        <p:spPr>
          <a:xfrm>
            <a:off x="667512" y="3474720"/>
            <a:ext cx="1737360" cy="0"/>
          </a:xfrm>
          <a:prstGeom prst="line">
            <a:avLst/>
          </a:prstGeom>
          <a:noFill/>
          <a:ln w="9525">
            <a:solidFill>
              <a:srgbClr val="7C3AED">
                <a:alpha val="45000"/>
              </a:srgbClr>
            </a:solidFill>
            <a:prstDash val="solid"/>
          </a:ln>
        </p:spPr>
      </p:sp>
      <p:sp>
        <p:nvSpPr>
          <p:cNvPr id="9" name="Text 7"/>
          <p:cNvSpPr/>
          <p:nvPr/>
        </p:nvSpPr>
        <p:spPr>
          <a:xfrm>
            <a:off x="640080" y="3566160"/>
            <a:ext cx="1810512" cy="1024128"/>
          </a:xfrm>
          <a:prstGeom prst="rect">
            <a:avLst/>
          </a:prstGeom>
          <a:noFill/>
          <a:ln/>
        </p:spPr>
        <p:txBody>
          <a:bodyPr wrap="square" lIns="0" tIns="0" rIns="0" bIns="0" rtlCol="0" anchor="ctr"/>
          <a:lstStyle/>
          <a:p>
            <a:pPr indent="0" marL="0">
              <a:lnSpc>
                <a:spcPct val="128000"/>
              </a:lnSpc>
              <a:buNone/>
            </a:pPr>
            <a:r>
              <a:rPr lang="en-US" sz="1050" dirty="0">
                <a:solidFill>
                  <a:srgbClr val="8B92B8"/>
                </a:solidFill>
                <a:latin typeface="Calibri" pitchFamily="34" charset="0"/>
                <a:ea typeface="Calibri" pitchFamily="34" charset="-122"/>
                <a:cs typeface="Calibri" pitchFamily="34" charset="-120"/>
              </a:rPr>
              <a:t>Tokens, embeddings, attention, prediction, training</a:t>
            </a:r>
            <a:endParaRPr lang="en-US" sz="1050" dirty="0"/>
          </a:p>
        </p:txBody>
      </p:sp>
      <p:sp>
        <p:nvSpPr>
          <p:cNvPr id="10" name="Shape 8"/>
          <p:cNvSpPr/>
          <p:nvPr/>
        </p:nvSpPr>
        <p:spPr>
          <a:xfrm>
            <a:off x="2743200" y="2240280"/>
            <a:ext cx="2057400" cy="2514600"/>
          </a:xfrm>
          <a:prstGeom prst="roundRect">
            <a:avLst>
              <a:gd name="adj" fmla="val 4000"/>
            </a:avLst>
          </a:prstGeom>
          <a:solidFill>
            <a:srgbClr val="1C2236"/>
          </a:solidFill>
          <a:ln w="12700">
            <a:solidFill>
              <a:srgbClr val="0891B2">
                <a:alpha val="55000"/>
              </a:srgbClr>
            </a:solidFill>
            <a:prstDash val="solid"/>
          </a:ln>
          <a:effectLst>
            <a:outerShdw sx="100000" sy="100000" kx="0" ky="0" algn="bl" rotWithShape="0" blurRad="101600" dist="38100" dir="5400000">
              <a:srgbClr val="000000">
                <a:alpha val="13000"/>
              </a:srgbClr>
            </a:outerShdw>
          </a:effectLst>
        </p:spPr>
      </p:sp>
      <p:sp>
        <p:nvSpPr>
          <p:cNvPr id="11" name="Shape 9"/>
          <p:cNvSpPr/>
          <p:nvPr/>
        </p:nvSpPr>
        <p:spPr>
          <a:xfrm>
            <a:off x="3547872" y="2395728"/>
            <a:ext cx="475488" cy="475488"/>
          </a:xfrm>
          <a:prstGeom prst="ellipse">
            <a:avLst/>
          </a:prstGeom>
          <a:solidFill>
            <a:srgbClr val="0891B2"/>
          </a:solidFill>
          <a:ln/>
        </p:spPr>
      </p:sp>
      <p:sp>
        <p:nvSpPr>
          <p:cNvPr id="12" name="Text 10"/>
          <p:cNvSpPr/>
          <p:nvPr/>
        </p:nvSpPr>
        <p:spPr>
          <a:xfrm>
            <a:off x="3547872" y="23957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S2</a:t>
            </a:r>
            <a:endParaRPr lang="en-US" sz="1600" dirty="0"/>
          </a:p>
        </p:txBody>
      </p:sp>
      <p:sp>
        <p:nvSpPr>
          <p:cNvPr id="13" name="Text 11"/>
          <p:cNvSpPr/>
          <p:nvPr/>
        </p:nvSpPr>
        <p:spPr>
          <a:xfrm>
            <a:off x="2880360" y="2962656"/>
            <a:ext cx="1810512" cy="475488"/>
          </a:xfrm>
          <a:prstGeom prst="rect">
            <a:avLst/>
          </a:prstGeom>
          <a:noFill/>
          <a:ln/>
        </p:spPr>
        <p:txBody>
          <a:bodyPr wrap="square" lIns="0" tIns="0" rIns="0" bIns="0" rtlCol="0" anchor="ctr"/>
          <a:lstStyle/>
          <a:p>
            <a:pPr indent="0" marL="0">
              <a:lnSpc>
                <a:spcPct val="110000"/>
              </a:lnSpc>
              <a:buNone/>
            </a:pPr>
            <a:r>
              <a:rPr lang="en-US" sz="1200" b="1" dirty="0">
                <a:solidFill>
                  <a:srgbClr val="0891B2"/>
                </a:solidFill>
                <a:latin typeface="Calibri" pitchFamily="34" charset="0"/>
                <a:ea typeface="Calibri" pitchFamily="34" charset="-122"/>
                <a:cs typeface="Calibri" pitchFamily="34" charset="-120"/>
              </a:rPr>
              <a:t>Prompt Engineering</a:t>
            </a:r>
            <a:endParaRPr lang="en-US" sz="1200" dirty="0"/>
          </a:p>
        </p:txBody>
      </p:sp>
      <p:sp>
        <p:nvSpPr>
          <p:cNvPr id="14" name="Shape 12"/>
          <p:cNvSpPr/>
          <p:nvPr/>
        </p:nvSpPr>
        <p:spPr>
          <a:xfrm>
            <a:off x="2907792" y="3474720"/>
            <a:ext cx="1737360" cy="0"/>
          </a:xfrm>
          <a:prstGeom prst="line">
            <a:avLst/>
          </a:prstGeom>
          <a:noFill/>
          <a:ln w="9525">
            <a:solidFill>
              <a:srgbClr val="0891B2">
                <a:alpha val="45000"/>
              </a:srgbClr>
            </a:solidFill>
            <a:prstDash val="solid"/>
          </a:ln>
        </p:spPr>
      </p:sp>
      <p:sp>
        <p:nvSpPr>
          <p:cNvPr id="15" name="Text 13"/>
          <p:cNvSpPr/>
          <p:nvPr/>
        </p:nvSpPr>
        <p:spPr>
          <a:xfrm>
            <a:off x="2880360" y="3566160"/>
            <a:ext cx="1810512" cy="1024128"/>
          </a:xfrm>
          <a:prstGeom prst="rect">
            <a:avLst/>
          </a:prstGeom>
          <a:noFill/>
          <a:ln/>
        </p:spPr>
        <p:txBody>
          <a:bodyPr wrap="square" lIns="0" tIns="0" rIns="0" bIns="0" rtlCol="0" anchor="ctr"/>
          <a:lstStyle/>
          <a:p>
            <a:pPr indent="0" marL="0">
              <a:lnSpc>
                <a:spcPct val="128000"/>
              </a:lnSpc>
              <a:buNone/>
            </a:pPr>
            <a:r>
              <a:rPr lang="en-US" sz="1050" dirty="0">
                <a:solidFill>
                  <a:srgbClr val="8B92B8"/>
                </a:solidFill>
                <a:latin typeface="Calibri" pitchFamily="34" charset="0"/>
                <a:ea typeface="Calibri" pitchFamily="34" charset="-122"/>
                <a:cs typeface="Calibri" pitchFamily="34" charset="-120"/>
              </a:rPr>
              <a:t>6 techniques, JSON output, injection defence</a:t>
            </a:r>
            <a:endParaRPr lang="en-US" sz="1050" dirty="0"/>
          </a:p>
        </p:txBody>
      </p:sp>
      <p:sp>
        <p:nvSpPr>
          <p:cNvPr id="16" name="Shape 14"/>
          <p:cNvSpPr/>
          <p:nvPr/>
        </p:nvSpPr>
        <p:spPr>
          <a:xfrm>
            <a:off x="4983480" y="2240280"/>
            <a:ext cx="2057400" cy="2514600"/>
          </a:xfrm>
          <a:prstGeom prst="roundRect">
            <a:avLst>
              <a:gd name="adj" fmla="val 4000"/>
            </a:avLst>
          </a:prstGeom>
          <a:solidFill>
            <a:srgbClr val="1C2236"/>
          </a:solidFill>
          <a:ln w="12700">
            <a:solidFill>
              <a:srgbClr val="16A34A">
                <a:alpha val="55000"/>
              </a:srgbClr>
            </a:solidFill>
            <a:prstDash val="solid"/>
          </a:ln>
          <a:effectLst>
            <a:outerShdw sx="100000" sy="100000" kx="0" ky="0" algn="bl" rotWithShape="0" blurRad="101600" dist="38100" dir="5400000">
              <a:srgbClr val="000000">
                <a:alpha val="13000"/>
              </a:srgbClr>
            </a:outerShdw>
          </a:effectLst>
        </p:spPr>
      </p:sp>
      <p:sp>
        <p:nvSpPr>
          <p:cNvPr id="17" name="Shape 15"/>
          <p:cNvSpPr/>
          <p:nvPr/>
        </p:nvSpPr>
        <p:spPr>
          <a:xfrm>
            <a:off x="5788152" y="2395728"/>
            <a:ext cx="475488" cy="475488"/>
          </a:xfrm>
          <a:prstGeom prst="ellipse">
            <a:avLst/>
          </a:prstGeom>
          <a:solidFill>
            <a:srgbClr val="16A34A"/>
          </a:solidFill>
          <a:ln/>
        </p:spPr>
      </p:sp>
      <p:sp>
        <p:nvSpPr>
          <p:cNvPr id="18" name="Text 16"/>
          <p:cNvSpPr/>
          <p:nvPr/>
        </p:nvSpPr>
        <p:spPr>
          <a:xfrm>
            <a:off x="5788152" y="23957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S3</a:t>
            </a:r>
            <a:endParaRPr lang="en-US" sz="1600" dirty="0"/>
          </a:p>
        </p:txBody>
      </p:sp>
      <p:sp>
        <p:nvSpPr>
          <p:cNvPr id="19" name="Text 17"/>
          <p:cNvSpPr/>
          <p:nvPr/>
        </p:nvSpPr>
        <p:spPr>
          <a:xfrm>
            <a:off x="5120640" y="2962656"/>
            <a:ext cx="1810512" cy="475488"/>
          </a:xfrm>
          <a:prstGeom prst="rect">
            <a:avLst/>
          </a:prstGeom>
          <a:noFill/>
          <a:ln/>
        </p:spPr>
        <p:txBody>
          <a:bodyPr wrap="square" lIns="0" tIns="0" rIns="0" bIns="0" rtlCol="0" anchor="ctr"/>
          <a:lstStyle/>
          <a:p>
            <a:pPr indent="0" marL="0">
              <a:lnSpc>
                <a:spcPct val="110000"/>
              </a:lnSpc>
              <a:buNone/>
            </a:pPr>
            <a:r>
              <a:rPr lang="en-US" sz="1200" b="1" dirty="0">
                <a:solidFill>
                  <a:srgbClr val="16A34A"/>
                </a:solidFill>
                <a:latin typeface="Calibri" pitchFamily="34" charset="0"/>
                <a:ea typeface="Calibri" pitchFamily="34" charset="-122"/>
                <a:cs typeface="Calibri" pitchFamily="34" charset="-120"/>
              </a:rPr>
              <a:t>GPT API + Tools</a:t>
            </a:r>
            <a:endParaRPr lang="en-US" sz="1200" dirty="0"/>
          </a:p>
        </p:txBody>
      </p:sp>
      <p:sp>
        <p:nvSpPr>
          <p:cNvPr id="20" name="Shape 18"/>
          <p:cNvSpPr/>
          <p:nvPr/>
        </p:nvSpPr>
        <p:spPr>
          <a:xfrm>
            <a:off x="5148072" y="3474720"/>
            <a:ext cx="1737360" cy="0"/>
          </a:xfrm>
          <a:prstGeom prst="line">
            <a:avLst/>
          </a:prstGeom>
          <a:noFill/>
          <a:ln w="9525">
            <a:solidFill>
              <a:srgbClr val="16A34A">
                <a:alpha val="45000"/>
              </a:srgbClr>
            </a:solidFill>
            <a:prstDash val="solid"/>
          </a:ln>
        </p:spPr>
      </p:sp>
      <p:sp>
        <p:nvSpPr>
          <p:cNvPr id="21" name="Text 19"/>
          <p:cNvSpPr/>
          <p:nvPr/>
        </p:nvSpPr>
        <p:spPr>
          <a:xfrm>
            <a:off x="5120640" y="3566160"/>
            <a:ext cx="1810512" cy="1024128"/>
          </a:xfrm>
          <a:prstGeom prst="rect">
            <a:avLst/>
          </a:prstGeom>
          <a:noFill/>
          <a:ln/>
        </p:spPr>
        <p:txBody>
          <a:bodyPr wrap="square" lIns="0" tIns="0" rIns="0" bIns="0" rtlCol="0" anchor="ctr"/>
          <a:lstStyle/>
          <a:p>
            <a:pPr indent="0" marL="0">
              <a:lnSpc>
                <a:spcPct val="128000"/>
              </a:lnSpc>
              <a:buNone/>
            </a:pPr>
            <a:r>
              <a:rPr lang="en-US" sz="1050" dirty="0">
                <a:solidFill>
                  <a:srgbClr val="8B92B8"/>
                </a:solidFill>
                <a:latin typeface="Calibri" pitchFamily="34" charset="0"/>
                <a:ea typeface="Calibri" pitchFamily="34" charset="-122"/>
                <a:cs typeface="Calibri" pitchFamily="34" charset="-120"/>
              </a:rPr>
              <a:t>Responses API, streaming, tool calling, structured output</a:t>
            </a:r>
            <a:endParaRPr lang="en-US" sz="1050" dirty="0"/>
          </a:p>
        </p:txBody>
      </p:sp>
      <p:sp>
        <p:nvSpPr>
          <p:cNvPr id="22" name="Shape 20"/>
          <p:cNvSpPr/>
          <p:nvPr/>
        </p:nvSpPr>
        <p:spPr>
          <a:xfrm>
            <a:off x="7223760" y="2240280"/>
            <a:ext cx="2057400" cy="2514600"/>
          </a:xfrm>
          <a:prstGeom prst="roundRect">
            <a:avLst>
              <a:gd name="adj" fmla="val 4000"/>
            </a:avLst>
          </a:prstGeom>
          <a:solidFill>
            <a:srgbClr val="1C2236"/>
          </a:solidFill>
          <a:ln w="12700">
            <a:solidFill>
              <a:srgbClr val="D97706">
                <a:alpha val="55000"/>
              </a:srgbClr>
            </a:solidFill>
            <a:prstDash val="solid"/>
          </a:ln>
          <a:effectLst>
            <a:outerShdw sx="100000" sy="100000" kx="0" ky="0" algn="bl" rotWithShape="0" blurRad="101600" dist="38100" dir="5400000">
              <a:srgbClr val="000000">
                <a:alpha val="13000"/>
              </a:srgbClr>
            </a:outerShdw>
          </a:effectLst>
        </p:spPr>
      </p:sp>
      <p:sp>
        <p:nvSpPr>
          <p:cNvPr id="23" name="Shape 21"/>
          <p:cNvSpPr/>
          <p:nvPr/>
        </p:nvSpPr>
        <p:spPr>
          <a:xfrm>
            <a:off x="8028432" y="2395728"/>
            <a:ext cx="475488" cy="475488"/>
          </a:xfrm>
          <a:prstGeom prst="ellipse">
            <a:avLst/>
          </a:prstGeom>
          <a:solidFill>
            <a:srgbClr val="D97706"/>
          </a:solidFill>
          <a:ln/>
        </p:spPr>
      </p:sp>
      <p:sp>
        <p:nvSpPr>
          <p:cNvPr id="24" name="Text 22"/>
          <p:cNvSpPr/>
          <p:nvPr/>
        </p:nvSpPr>
        <p:spPr>
          <a:xfrm>
            <a:off x="8028432" y="23957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S4</a:t>
            </a:r>
            <a:endParaRPr lang="en-US" sz="1600" dirty="0"/>
          </a:p>
        </p:txBody>
      </p:sp>
      <p:sp>
        <p:nvSpPr>
          <p:cNvPr id="25" name="Text 23"/>
          <p:cNvSpPr/>
          <p:nvPr/>
        </p:nvSpPr>
        <p:spPr>
          <a:xfrm>
            <a:off x="7360920" y="2962656"/>
            <a:ext cx="1810512" cy="475488"/>
          </a:xfrm>
          <a:prstGeom prst="rect">
            <a:avLst/>
          </a:prstGeom>
          <a:noFill/>
          <a:ln/>
        </p:spPr>
        <p:txBody>
          <a:bodyPr wrap="square" lIns="0" tIns="0" rIns="0" bIns="0" rtlCol="0" anchor="ctr"/>
          <a:lstStyle/>
          <a:p>
            <a:pPr indent="0" marL="0">
              <a:lnSpc>
                <a:spcPct val="110000"/>
              </a:lnSpc>
              <a:buNone/>
            </a:pPr>
            <a:r>
              <a:rPr lang="en-US" sz="1200" b="1" dirty="0">
                <a:solidFill>
                  <a:srgbClr val="D97706"/>
                </a:solidFill>
                <a:latin typeface="Calibri" pitchFamily="34" charset="0"/>
                <a:ea typeface="Calibri" pitchFamily="34" charset="-122"/>
                <a:cs typeface="Calibri" pitchFamily="34" charset="-120"/>
              </a:rPr>
              <a:t>Conversation State</a:t>
            </a:r>
            <a:endParaRPr lang="en-US" sz="1200" dirty="0"/>
          </a:p>
        </p:txBody>
      </p:sp>
      <p:sp>
        <p:nvSpPr>
          <p:cNvPr id="26" name="Shape 24"/>
          <p:cNvSpPr/>
          <p:nvPr/>
        </p:nvSpPr>
        <p:spPr>
          <a:xfrm>
            <a:off x="7388352" y="3474720"/>
            <a:ext cx="1737360" cy="0"/>
          </a:xfrm>
          <a:prstGeom prst="line">
            <a:avLst/>
          </a:prstGeom>
          <a:noFill/>
          <a:ln w="9525">
            <a:solidFill>
              <a:srgbClr val="D97706">
                <a:alpha val="45000"/>
              </a:srgbClr>
            </a:solidFill>
            <a:prstDash val="solid"/>
          </a:ln>
        </p:spPr>
      </p:sp>
      <p:sp>
        <p:nvSpPr>
          <p:cNvPr id="27" name="Text 25"/>
          <p:cNvSpPr/>
          <p:nvPr/>
        </p:nvSpPr>
        <p:spPr>
          <a:xfrm>
            <a:off x="7360920" y="3566160"/>
            <a:ext cx="1810512" cy="1024128"/>
          </a:xfrm>
          <a:prstGeom prst="rect">
            <a:avLst/>
          </a:prstGeom>
          <a:noFill/>
          <a:ln/>
        </p:spPr>
        <p:txBody>
          <a:bodyPr wrap="square" lIns="0" tIns="0" rIns="0" bIns="0" rtlCol="0" anchor="ctr"/>
          <a:lstStyle/>
          <a:p>
            <a:pPr indent="0" marL="0">
              <a:lnSpc>
                <a:spcPct val="128000"/>
              </a:lnSpc>
              <a:buNone/>
            </a:pPr>
            <a:r>
              <a:rPr lang="en-US" sz="1050" dirty="0">
                <a:solidFill>
                  <a:srgbClr val="8B92B8"/>
                </a:solidFill>
                <a:latin typeface="Calibri" pitchFamily="34" charset="0"/>
                <a:ea typeface="Calibri" pitchFamily="34" charset="-122"/>
                <a:cs typeface="Calibri" pitchFamily="34" charset="-120"/>
              </a:rPr>
              <a:t>Session management, history loop, context economics</a:t>
            </a:r>
            <a:endParaRPr lang="en-US" sz="1050" dirty="0"/>
          </a:p>
        </p:txBody>
      </p:sp>
      <p:sp>
        <p:nvSpPr>
          <p:cNvPr id="28" name="Shape 26"/>
          <p:cNvSpPr/>
          <p:nvPr/>
        </p:nvSpPr>
        <p:spPr>
          <a:xfrm>
            <a:off x="9464040" y="2240280"/>
            <a:ext cx="2057400" cy="2514600"/>
          </a:xfrm>
          <a:prstGeom prst="roundRect">
            <a:avLst>
              <a:gd name="adj" fmla="val 4000"/>
            </a:avLst>
          </a:prstGeom>
          <a:solidFill>
            <a:srgbClr val="1C2236"/>
          </a:solidFill>
          <a:ln w="12700">
            <a:solidFill>
              <a:srgbClr val="E11D48">
                <a:alpha val="55000"/>
              </a:srgbClr>
            </a:solidFill>
            <a:prstDash val="solid"/>
          </a:ln>
          <a:effectLst>
            <a:outerShdw sx="100000" sy="100000" kx="0" ky="0" algn="bl" rotWithShape="0" blurRad="101600" dist="38100" dir="5400000">
              <a:srgbClr val="000000">
                <a:alpha val="13000"/>
              </a:srgbClr>
            </a:outerShdw>
          </a:effectLst>
        </p:spPr>
      </p:sp>
      <p:sp>
        <p:nvSpPr>
          <p:cNvPr id="29" name="Shape 27"/>
          <p:cNvSpPr/>
          <p:nvPr/>
        </p:nvSpPr>
        <p:spPr>
          <a:xfrm>
            <a:off x="10268712" y="2395728"/>
            <a:ext cx="475488" cy="475488"/>
          </a:xfrm>
          <a:prstGeom prst="ellipse">
            <a:avLst/>
          </a:prstGeom>
          <a:solidFill>
            <a:srgbClr val="E11D48"/>
          </a:solidFill>
          <a:ln/>
        </p:spPr>
      </p:sp>
      <p:sp>
        <p:nvSpPr>
          <p:cNvPr id="30" name="Text 28"/>
          <p:cNvSpPr/>
          <p:nvPr/>
        </p:nvSpPr>
        <p:spPr>
          <a:xfrm>
            <a:off x="10268712" y="23957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S5</a:t>
            </a:r>
            <a:endParaRPr lang="en-US" sz="1600" dirty="0"/>
          </a:p>
        </p:txBody>
      </p:sp>
      <p:sp>
        <p:nvSpPr>
          <p:cNvPr id="31" name="Text 29"/>
          <p:cNvSpPr/>
          <p:nvPr/>
        </p:nvSpPr>
        <p:spPr>
          <a:xfrm>
            <a:off x="9601200" y="2962656"/>
            <a:ext cx="1810512" cy="475488"/>
          </a:xfrm>
          <a:prstGeom prst="rect">
            <a:avLst/>
          </a:prstGeom>
          <a:noFill/>
          <a:ln/>
        </p:spPr>
        <p:txBody>
          <a:bodyPr wrap="square" lIns="0" tIns="0" rIns="0" bIns="0" rtlCol="0" anchor="ctr"/>
          <a:lstStyle/>
          <a:p>
            <a:pPr indent="0" marL="0">
              <a:lnSpc>
                <a:spcPct val="110000"/>
              </a:lnSpc>
              <a:buNone/>
            </a:pPr>
            <a:r>
              <a:rPr lang="en-US" sz="1200" b="1" dirty="0">
                <a:solidFill>
                  <a:srgbClr val="E11D48"/>
                </a:solidFill>
                <a:latin typeface="Calibri" pitchFamily="34" charset="0"/>
                <a:ea typeface="Calibri" pitchFamily="34" charset="-122"/>
                <a:cs typeface="Calibri" pitchFamily="34" charset="-120"/>
              </a:rPr>
              <a:t>Voice + Vision</a:t>
            </a:r>
            <a:endParaRPr lang="en-US" sz="1200" dirty="0"/>
          </a:p>
        </p:txBody>
      </p:sp>
      <p:sp>
        <p:nvSpPr>
          <p:cNvPr id="32" name="Shape 30"/>
          <p:cNvSpPr/>
          <p:nvPr/>
        </p:nvSpPr>
        <p:spPr>
          <a:xfrm>
            <a:off x="9628632" y="3474720"/>
            <a:ext cx="1737360" cy="0"/>
          </a:xfrm>
          <a:prstGeom prst="line">
            <a:avLst/>
          </a:prstGeom>
          <a:noFill/>
          <a:ln w="9525">
            <a:solidFill>
              <a:srgbClr val="E11D48">
                <a:alpha val="45000"/>
              </a:srgbClr>
            </a:solidFill>
            <a:prstDash val="solid"/>
          </a:ln>
        </p:spPr>
      </p:sp>
      <p:sp>
        <p:nvSpPr>
          <p:cNvPr id="33" name="Text 31"/>
          <p:cNvSpPr/>
          <p:nvPr/>
        </p:nvSpPr>
        <p:spPr>
          <a:xfrm>
            <a:off x="9601200" y="3566160"/>
            <a:ext cx="1810512" cy="1024128"/>
          </a:xfrm>
          <a:prstGeom prst="rect">
            <a:avLst/>
          </a:prstGeom>
          <a:noFill/>
          <a:ln/>
        </p:spPr>
        <p:txBody>
          <a:bodyPr wrap="square" lIns="0" tIns="0" rIns="0" bIns="0" rtlCol="0" anchor="ctr"/>
          <a:lstStyle/>
          <a:p>
            <a:pPr indent="0" marL="0">
              <a:lnSpc>
                <a:spcPct val="128000"/>
              </a:lnSpc>
              <a:buNone/>
            </a:pPr>
            <a:r>
              <a:rPr lang="en-US" sz="1050" dirty="0">
                <a:solidFill>
                  <a:srgbClr val="8B92B8"/>
                </a:solidFill>
                <a:latin typeface="Calibri" pitchFamily="34" charset="0"/>
                <a:ea typeface="Calibri" pitchFamily="34" charset="-122"/>
                <a:cs typeface="Calibri" pitchFamily="34" charset="-120"/>
              </a:rPr>
              <a:t>DALL-E, Whisper, TTS, Voice Task Manager</a:t>
            </a:r>
            <a:endParaRPr lang="en-US" sz="1050" dirty="0"/>
          </a:p>
        </p:txBody>
      </p:sp>
      <p:sp>
        <p:nvSpPr>
          <p:cNvPr id="34" name="Shape 32"/>
          <p:cNvSpPr/>
          <p:nvPr/>
        </p:nvSpPr>
        <p:spPr>
          <a:xfrm>
            <a:off x="502920" y="4956048"/>
            <a:ext cx="5349240" cy="1353312"/>
          </a:xfrm>
          <a:prstGeom prst="roundRect">
            <a:avLst>
              <a:gd name="adj" fmla="val 6757"/>
            </a:avLst>
          </a:prstGeom>
          <a:solidFill>
            <a:srgbClr val="211B30"/>
          </a:solidFill>
          <a:ln w="12700">
            <a:solidFill>
              <a:srgbClr val="7C3AED">
                <a:alpha val="55000"/>
              </a:srgbClr>
            </a:solidFill>
            <a:prstDash val="solid"/>
          </a:ln>
        </p:spPr>
      </p:sp>
      <p:sp>
        <p:nvSpPr>
          <p:cNvPr id="35" name="Text 33"/>
          <p:cNvSpPr/>
          <p:nvPr/>
        </p:nvSpPr>
        <p:spPr>
          <a:xfrm>
            <a:off x="713232" y="5074920"/>
            <a:ext cx="4937760" cy="365760"/>
          </a:xfrm>
          <a:prstGeom prst="rect">
            <a:avLst/>
          </a:prstGeom>
          <a:noFill/>
          <a:ln/>
        </p:spPr>
        <p:txBody>
          <a:bodyPr wrap="square" lIns="0" tIns="0" rIns="0" bIns="0" rtlCol="0" anchor="ctr"/>
          <a:lstStyle/>
          <a:p>
            <a:pPr indent="0" marL="0">
              <a:buNone/>
            </a:pPr>
            <a:r>
              <a:rPr lang="en-US" sz="1500" b="1" dirty="0">
                <a:solidFill>
                  <a:srgbClr val="C4B5FD"/>
                </a:solidFill>
                <a:latin typeface="Calibri" pitchFamily="34" charset="0"/>
                <a:ea typeface="Calibri" pitchFamily="34" charset="-122"/>
                <a:cs typeface="Calibri" pitchFamily="34" charset="-120"/>
              </a:rPr>
              <a:t>Project 1: Voice Task Manager</a:t>
            </a:r>
            <a:endParaRPr lang="en-US" sz="1500" dirty="0"/>
          </a:p>
        </p:txBody>
      </p:sp>
      <p:sp>
        <p:nvSpPr>
          <p:cNvPr id="36" name="Text 34"/>
          <p:cNvSpPr/>
          <p:nvPr/>
        </p:nvSpPr>
        <p:spPr>
          <a:xfrm>
            <a:off x="713232" y="5468112"/>
            <a:ext cx="4937760" cy="713232"/>
          </a:xfrm>
          <a:prstGeom prst="rect">
            <a:avLst/>
          </a:prstGeom>
          <a:noFill/>
          <a:ln/>
        </p:spPr>
        <p:txBody>
          <a:bodyPr wrap="square" lIns="0" tIns="0" rIns="0" bIns="0" rtlCol="0" anchor="ctr"/>
          <a:lstStyle/>
          <a:p>
            <a:pPr indent="0" marL="0">
              <a:lnSpc>
                <a:spcPct val="130000"/>
              </a:lnSpc>
              <a:buNone/>
            </a:pPr>
            <a:r>
              <a:rPr lang="en-US" sz="1300" dirty="0">
                <a:solidFill>
                  <a:srgbClr val="8B92B8"/>
                </a:solidFill>
                <a:latin typeface="Calibri" pitchFamily="34" charset="0"/>
                <a:ea typeface="Calibri" pitchFamily="34" charset="-122"/>
                <a:cs typeface="Calibri" pitchFamily="34" charset="-120"/>
              </a:rPr>
              <a:t>Speak a task command → GPT decides what to do → Java executes → TTS confirms by voice. Sessions 3+4+5.</a:t>
            </a:r>
            <a:endParaRPr lang="en-US" sz="1300" dirty="0"/>
          </a:p>
        </p:txBody>
      </p:sp>
      <p:sp>
        <p:nvSpPr>
          <p:cNvPr id="37" name="Shape 35"/>
          <p:cNvSpPr/>
          <p:nvPr/>
        </p:nvSpPr>
        <p:spPr>
          <a:xfrm>
            <a:off x="6309360" y="4956048"/>
            <a:ext cx="5349240" cy="1353312"/>
          </a:xfrm>
          <a:prstGeom prst="roundRect">
            <a:avLst>
              <a:gd name="adj" fmla="val 6757"/>
            </a:avLst>
          </a:prstGeom>
          <a:solidFill>
            <a:srgbClr val="211B30"/>
          </a:solidFill>
          <a:ln w="12700">
            <a:solidFill>
              <a:srgbClr val="16A34A">
                <a:alpha val="55000"/>
              </a:srgbClr>
            </a:solidFill>
            <a:prstDash val="solid"/>
          </a:ln>
        </p:spPr>
      </p:sp>
      <p:sp>
        <p:nvSpPr>
          <p:cNvPr id="38" name="Text 36"/>
          <p:cNvSpPr/>
          <p:nvPr/>
        </p:nvSpPr>
        <p:spPr>
          <a:xfrm>
            <a:off x="6510528" y="5074920"/>
            <a:ext cx="4937760" cy="365760"/>
          </a:xfrm>
          <a:prstGeom prst="rect">
            <a:avLst/>
          </a:prstGeom>
          <a:noFill/>
          <a:ln/>
        </p:spPr>
        <p:txBody>
          <a:bodyPr wrap="square" lIns="0" tIns="0" rIns="0" bIns="0" rtlCol="0" anchor="ctr"/>
          <a:lstStyle/>
          <a:p>
            <a:pPr indent="0" marL="0">
              <a:buNone/>
            </a:pPr>
            <a:r>
              <a:rPr lang="en-US" sz="1500" b="1" dirty="0">
                <a:solidFill>
                  <a:srgbClr val="86EFAC"/>
                </a:solidFill>
                <a:latin typeface="Calibri" pitchFamily="34" charset="0"/>
                <a:ea typeface="Calibri" pitchFamily="34" charset="-122"/>
                <a:cs typeface="Calibri" pitchFamily="34" charset="-120"/>
              </a:rPr>
              <a:t>Project 2: AI Travel Planner</a:t>
            </a:r>
            <a:endParaRPr lang="en-US" sz="1500" dirty="0"/>
          </a:p>
        </p:txBody>
      </p:sp>
      <p:sp>
        <p:nvSpPr>
          <p:cNvPr id="39" name="Text 37"/>
          <p:cNvSpPr/>
          <p:nvPr/>
        </p:nvSpPr>
        <p:spPr>
          <a:xfrm>
            <a:off x="6510528" y="5468112"/>
            <a:ext cx="4937760" cy="713232"/>
          </a:xfrm>
          <a:prstGeom prst="rect">
            <a:avLst/>
          </a:prstGeom>
          <a:noFill/>
          <a:ln/>
        </p:spPr>
        <p:txBody>
          <a:bodyPr wrap="square" lIns="0" tIns="0" rIns="0" bIns="0" rtlCol="0" anchor="ctr"/>
          <a:lstStyle/>
          <a:p>
            <a:pPr indent="0" marL="0">
              <a:lnSpc>
                <a:spcPct val="130000"/>
              </a:lnSpc>
              <a:buNone/>
            </a:pPr>
            <a:r>
              <a:rPr lang="en-US" sz="1300" dirty="0">
                <a:solidFill>
                  <a:srgbClr val="8B92B8"/>
                </a:solidFill>
                <a:latin typeface="Calibri" pitchFamily="34" charset="0"/>
                <a:ea typeface="Calibri" pitchFamily="34" charset="-122"/>
                <a:cs typeface="Calibri" pitchFamily="34" charset="-120"/>
              </a:rPr>
              <a:t>Multi-turn conversation gathers destination, dates, budget → GPT generates a structured day-by-day itinerary JSON. Sessions 2+4.</a:t>
            </a:r>
            <a:endParaRPr lang="en-US" sz="1300" dirty="0"/>
          </a:p>
        </p:txBody>
      </p:sp>
      <p:sp>
        <p:nvSpPr>
          <p:cNvPr id="40" name="Shape 38"/>
          <p:cNvSpPr/>
          <p:nvPr/>
        </p:nvSpPr>
        <p:spPr>
          <a:xfrm>
            <a:off x="502920" y="6419088"/>
            <a:ext cx="11109960" cy="36576"/>
          </a:xfrm>
          <a:prstGeom prst="roundRect">
            <a:avLst/>
          </a:prstGeom>
          <a:solidFill>
            <a:srgbClr val="D97706"/>
          </a:solidFill>
          <a:ln w="12700">
            <a:solidFill>
              <a:srgbClr val="D97706"/>
            </a:solidFill>
            <a:prstDash val="solid"/>
          </a:ln>
        </p:spPr>
      </p:sp>
      <p:sp>
        <p:nvSpPr>
          <p:cNvPr id="42" name="Shape 39"/>
          <p:cNvSpPr/>
          <p:nvPr/>
        </p:nvSpPr>
        <p:spPr>
          <a:xfrm>
            <a:off x="0" y="6583680"/>
            <a:ext cx="12191695" cy="274320"/>
          </a:xfrm>
          <a:prstGeom prst="rect">
            <a:avLst/>
          </a:prstGeom>
          <a:solidFill>
            <a:srgbClr val="D97706">
              <a:alpha val="12000"/>
            </a:srgbClr>
          </a:solidFill>
          <a:ln w="12700">
            <a:solidFill>
              <a:srgbClr val="D97706">
                <a:alpha val="35000"/>
              </a:srgbClr>
            </a:solidFill>
            <a:prstDash val="solid"/>
          </a:ln>
        </p:spPr>
      </p:sp>
      <p:sp>
        <p:nvSpPr>
          <p:cNvPr id="43" name="Text 40"/>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44" name="Text 41"/>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19 / 31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EA580C"/>
                </a:solidFill>
                <a:latin typeface="Calibri" pitchFamily="34" charset="0"/>
                <a:ea typeface="Calibri" pitchFamily="34" charset="-122"/>
                <a:cs typeface="Calibri" pitchFamily="34" charset="-120"/>
              </a:rPr>
              <a:t>PRODUCTION PATTERNS — VOICE APPS IN THE REAL WORLD</a:t>
            </a:r>
            <a:endParaRPr lang="en-US" sz="1200" dirty="0"/>
          </a:p>
        </p:txBody>
      </p:sp>
      <p:sp>
        <p:nvSpPr>
          <p:cNvPr id="3" name="Text 1"/>
          <p:cNvSpPr/>
          <p:nvPr/>
        </p:nvSpPr>
        <p:spPr>
          <a:xfrm>
            <a:off x="685800" y="749808"/>
            <a:ext cx="10789920" cy="868680"/>
          </a:xfrm>
          <a:prstGeom prst="rect">
            <a:avLst/>
          </a:prstGeom>
          <a:noFill/>
          <a:ln/>
        </p:spPr>
        <p:txBody>
          <a:bodyPr wrap="square" lIns="0" tIns="0" rIns="0" bIns="0" rtlCol="0" anchor="ctr"/>
          <a:lstStyle/>
          <a:p>
            <a:pPr indent="0" marL="0">
              <a:lnSpc>
                <a:spcPct val="105000"/>
              </a:lnSpc>
              <a:buNone/>
            </a:pPr>
            <a:r>
              <a:rPr lang="en-US" sz="3000" b="1" dirty="0">
                <a:solidFill>
                  <a:srgbClr val="475569"/>
                </a:solidFill>
                <a:latin typeface="Calibri" pitchFamily="34" charset="0"/>
                <a:ea typeface="Calibri" pitchFamily="34" charset="-122"/>
                <a:cs typeface="Calibri" pitchFamily="34" charset="-120"/>
              </a:rPr>
              <a:t>What to think about before you ship a voice feature</a:t>
            </a:r>
            <a:endParaRPr lang="en-US" sz="3000" dirty="0"/>
          </a:p>
        </p:txBody>
      </p:sp>
      <p:sp>
        <p:nvSpPr>
          <p:cNvPr id="4" name="Shape 2"/>
          <p:cNvSpPr/>
          <p:nvPr/>
        </p:nvSpPr>
        <p:spPr>
          <a:xfrm>
            <a:off x="502920" y="1874520"/>
            <a:ext cx="3675888" cy="2084832"/>
          </a:xfrm>
          <a:prstGeom prst="roundRect">
            <a:avLst>
              <a:gd name="adj" fmla="val 4386"/>
            </a:avLst>
          </a:prstGeom>
          <a:solidFill>
            <a:srgbClr val="ECFEFF"/>
          </a:solidFill>
          <a:ln w="12700">
            <a:solidFill>
              <a:srgbClr val="0891B2">
                <a:alpha val="50000"/>
              </a:srgbClr>
            </a:solidFill>
            <a:prstDash val="solid"/>
          </a:ln>
          <a:effectLst>
            <a:outerShdw sx="100000" sy="100000" kx="0" ky="0" algn="bl" rotWithShape="0" blurRad="101600" dist="38100" dir="5400000">
              <a:srgbClr val="000000">
                <a:alpha val="13000"/>
              </a:srgbClr>
            </a:outerShdw>
          </a:effectLst>
        </p:spPr>
      </p:sp>
      <p:sp>
        <p:nvSpPr>
          <p:cNvPr id="5" name="Text 3"/>
          <p:cNvSpPr/>
          <p:nvPr/>
        </p:nvSpPr>
        <p:spPr>
          <a:xfrm>
            <a:off x="667512" y="2011680"/>
            <a:ext cx="3364992" cy="438912"/>
          </a:xfrm>
          <a:prstGeom prst="rect">
            <a:avLst/>
          </a:prstGeom>
          <a:noFill/>
          <a:ln/>
        </p:spPr>
        <p:txBody>
          <a:bodyPr wrap="square" lIns="0" tIns="0" rIns="0" bIns="0" rtlCol="0" anchor="ctr"/>
          <a:lstStyle/>
          <a:p>
            <a:pPr indent="0" marL="0">
              <a:lnSpc>
                <a:spcPct val="110000"/>
              </a:lnSpc>
              <a:buNone/>
            </a:pPr>
            <a:r>
              <a:rPr lang="en-US" sz="1400" b="1" dirty="0">
                <a:solidFill>
                  <a:srgbClr val="0891B2"/>
                </a:solidFill>
                <a:latin typeface="Calibri" pitchFamily="34" charset="0"/>
                <a:ea typeface="Calibri" pitchFamily="34" charset="-122"/>
                <a:cs typeface="Calibri" pitchFamily="34" charset="-120"/>
              </a:rPr>
              <a:t>📏 25 MB audio limit</a:t>
            </a:r>
            <a:endParaRPr lang="en-US" sz="1400" dirty="0"/>
          </a:p>
        </p:txBody>
      </p:sp>
      <p:sp>
        <p:nvSpPr>
          <p:cNvPr id="6" name="Shape 4"/>
          <p:cNvSpPr/>
          <p:nvPr/>
        </p:nvSpPr>
        <p:spPr>
          <a:xfrm>
            <a:off x="667512" y="2496312"/>
            <a:ext cx="3364992" cy="0"/>
          </a:xfrm>
          <a:prstGeom prst="line">
            <a:avLst/>
          </a:prstGeom>
          <a:noFill/>
          <a:ln w="9525">
            <a:solidFill>
              <a:srgbClr val="0891B2">
                <a:alpha val="45000"/>
              </a:srgbClr>
            </a:solidFill>
            <a:prstDash val="solid"/>
          </a:ln>
        </p:spPr>
      </p:sp>
      <p:sp>
        <p:nvSpPr>
          <p:cNvPr id="7" name="Text 5"/>
          <p:cNvSpPr/>
          <p:nvPr/>
        </p:nvSpPr>
        <p:spPr>
          <a:xfrm>
            <a:off x="667512" y="2587752"/>
            <a:ext cx="3364992" cy="1261872"/>
          </a:xfrm>
          <a:prstGeom prst="rect">
            <a:avLst/>
          </a:prstGeom>
          <a:noFill/>
          <a:ln/>
        </p:spPr>
        <p:txBody>
          <a:bodyPr wrap="square" lIns="0" tIns="0" rIns="0" bIns="0" rtlCol="0" anchor="ctr"/>
          <a:lstStyle/>
          <a:p>
            <a:pPr indent="0" marL="0">
              <a:lnSpc>
                <a:spcPct val="128000"/>
              </a:lnSpc>
              <a:buNone/>
            </a:pPr>
            <a:r>
              <a:rPr lang="en-US" sz="1200" dirty="0">
                <a:solidFill>
                  <a:srgbClr val="475569"/>
                </a:solidFill>
                <a:latin typeface="Calibri" pitchFamily="34" charset="0"/>
                <a:ea typeface="Calibri" pitchFamily="34" charset="-122"/>
                <a:cs typeface="Calibri" pitchFamily="34" charset="-120"/>
              </a:rPr>
              <a:t>Whisper rejects files over 25 MB. Long recordings need chunking: split every 10 min, transcribe each chunk, join transcripts. Use ffmpeg via Runtime.exec().</a:t>
            </a:r>
            <a:endParaRPr lang="en-US" sz="1200" dirty="0"/>
          </a:p>
        </p:txBody>
      </p:sp>
      <p:sp>
        <p:nvSpPr>
          <p:cNvPr id="8" name="Shape 6"/>
          <p:cNvSpPr/>
          <p:nvPr/>
        </p:nvSpPr>
        <p:spPr>
          <a:xfrm>
            <a:off x="4361688" y="1874520"/>
            <a:ext cx="3675888" cy="2084832"/>
          </a:xfrm>
          <a:prstGeom prst="roundRect">
            <a:avLst>
              <a:gd name="adj" fmla="val 4386"/>
            </a:avLst>
          </a:prstGeom>
          <a:solidFill>
            <a:srgbClr val="EDE9FE"/>
          </a:solidFill>
          <a:ln w="12700">
            <a:solidFill>
              <a:srgbClr val="7C3AED">
                <a:alpha val="50000"/>
              </a:srgbClr>
            </a:solidFill>
            <a:prstDash val="solid"/>
          </a:ln>
          <a:effectLst>
            <a:outerShdw sx="100000" sy="100000" kx="0" ky="0" algn="bl" rotWithShape="0" blurRad="101600" dist="38100" dir="5400000">
              <a:srgbClr val="000000">
                <a:alpha val="13000"/>
              </a:srgbClr>
            </a:outerShdw>
          </a:effectLst>
        </p:spPr>
      </p:sp>
      <p:sp>
        <p:nvSpPr>
          <p:cNvPr id="9" name="Text 7"/>
          <p:cNvSpPr/>
          <p:nvPr/>
        </p:nvSpPr>
        <p:spPr>
          <a:xfrm>
            <a:off x="4526280" y="2011680"/>
            <a:ext cx="3364992" cy="438912"/>
          </a:xfrm>
          <a:prstGeom prst="rect">
            <a:avLst/>
          </a:prstGeom>
          <a:noFill/>
          <a:ln/>
        </p:spPr>
        <p:txBody>
          <a:bodyPr wrap="square" lIns="0" tIns="0" rIns="0" bIns="0" rtlCol="0" anchor="ctr"/>
          <a:lstStyle/>
          <a:p>
            <a:pPr indent="0" marL="0">
              <a:lnSpc>
                <a:spcPct val="110000"/>
              </a:lnSpc>
              <a:buNone/>
            </a:pPr>
            <a:r>
              <a:rPr lang="en-US" sz="1400" b="1" dirty="0">
                <a:solidFill>
                  <a:srgbClr val="7C3AED"/>
                </a:solidFill>
                <a:latin typeface="Calibri" pitchFamily="34" charset="0"/>
                <a:ea typeface="Calibri" pitchFamily="34" charset="-122"/>
                <a:cs typeface="Calibri" pitchFamily="34" charset="-120"/>
              </a:rPr>
              <a:t>🌍 Multi-language support</a:t>
            </a:r>
            <a:endParaRPr lang="en-US" sz="1400" dirty="0"/>
          </a:p>
        </p:txBody>
      </p:sp>
      <p:sp>
        <p:nvSpPr>
          <p:cNvPr id="10" name="Shape 8"/>
          <p:cNvSpPr/>
          <p:nvPr/>
        </p:nvSpPr>
        <p:spPr>
          <a:xfrm>
            <a:off x="4526280" y="2496312"/>
            <a:ext cx="3364992" cy="0"/>
          </a:xfrm>
          <a:prstGeom prst="line">
            <a:avLst/>
          </a:prstGeom>
          <a:noFill/>
          <a:ln w="9525">
            <a:solidFill>
              <a:srgbClr val="7C3AED">
                <a:alpha val="45000"/>
              </a:srgbClr>
            </a:solidFill>
            <a:prstDash val="solid"/>
          </a:ln>
        </p:spPr>
      </p:sp>
      <p:sp>
        <p:nvSpPr>
          <p:cNvPr id="11" name="Text 9"/>
          <p:cNvSpPr/>
          <p:nvPr/>
        </p:nvSpPr>
        <p:spPr>
          <a:xfrm>
            <a:off x="4526280" y="2587752"/>
            <a:ext cx="3364992" cy="1261872"/>
          </a:xfrm>
          <a:prstGeom prst="rect">
            <a:avLst/>
          </a:prstGeom>
          <a:noFill/>
          <a:ln/>
        </p:spPr>
        <p:txBody>
          <a:bodyPr wrap="square" lIns="0" tIns="0" rIns="0" bIns="0" rtlCol="0" anchor="ctr"/>
          <a:lstStyle/>
          <a:p>
            <a:pPr indent="0" marL="0">
              <a:lnSpc>
                <a:spcPct val="128000"/>
              </a:lnSpc>
              <a:buNone/>
            </a:pPr>
            <a:r>
              <a:rPr lang="en-US" sz="1200" dirty="0">
                <a:solidFill>
                  <a:srgbClr val="475569"/>
                </a:solidFill>
                <a:latin typeface="Calibri" pitchFamily="34" charset="0"/>
                <a:ea typeface="Calibri" pitchFamily="34" charset="-122"/>
                <a:cs typeface="Calibri" pitchFamily="34" charset="-120"/>
              </a:rPr>
              <a:t>Specify language='hi' for Hindi, 'ta' for Tamil, 'te' for Telugu. Improves accuracy 20%+. Detect language first with language=null, then retranscribe with detected language.</a:t>
            </a:r>
            <a:endParaRPr lang="en-US" sz="1200" dirty="0"/>
          </a:p>
        </p:txBody>
      </p:sp>
      <p:sp>
        <p:nvSpPr>
          <p:cNvPr id="12" name="Shape 10"/>
          <p:cNvSpPr/>
          <p:nvPr/>
        </p:nvSpPr>
        <p:spPr>
          <a:xfrm>
            <a:off x="8220456" y="4114800"/>
            <a:ext cx="3675888" cy="2084832"/>
          </a:xfrm>
          <a:prstGeom prst="roundRect">
            <a:avLst>
              <a:gd name="adj" fmla="val 4386"/>
            </a:avLst>
          </a:prstGeom>
          <a:solidFill>
            <a:srgbClr val="F0FDF4"/>
          </a:solidFill>
          <a:ln w="12700">
            <a:solidFill>
              <a:srgbClr val="16A34A">
                <a:alpha val="50000"/>
              </a:srgbClr>
            </a:solidFill>
            <a:prstDash val="solid"/>
          </a:ln>
          <a:effectLst>
            <a:outerShdw sx="100000" sy="100000" kx="0" ky="0" algn="bl" rotWithShape="0" blurRad="101600" dist="38100" dir="5400000">
              <a:srgbClr val="000000">
                <a:alpha val="13000"/>
              </a:srgbClr>
            </a:outerShdw>
          </a:effectLst>
        </p:spPr>
      </p:sp>
      <p:sp>
        <p:nvSpPr>
          <p:cNvPr id="13" name="Text 11"/>
          <p:cNvSpPr/>
          <p:nvPr/>
        </p:nvSpPr>
        <p:spPr>
          <a:xfrm>
            <a:off x="8385048" y="4251960"/>
            <a:ext cx="3364992" cy="438912"/>
          </a:xfrm>
          <a:prstGeom prst="rect">
            <a:avLst/>
          </a:prstGeom>
          <a:noFill/>
          <a:ln/>
        </p:spPr>
        <p:txBody>
          <a:bodyPr wrap="square" lIns="0" tIns="0" rIns="0" bIns="0" rtlCol="0" anchor="ctr"/>
          <a:lstStyle/>
          <a:p>
            <a:pPr indent="0" marL="0">
              <a:lnSpc>
                <a:spcPct val="110000"/>
              </a:lnSpc>
              <a:buNone/>
            </a:pPr>
            <a:r>
              <a:rPr lang="en-US" sz="1400" b="1" dirty="0">
                <a:solidFill>
                  <a:srgbClr val="16A34A"/>
                </a:solidFill>
                <a:latin typeface="Calibri" pitchFamily="34" charset="0"/>
                <a:ea typeface="Calibri" pitchFamily="34" charset="-122"/>
                <a:cs typeface="Calibri" pitchFamily="34" charset="-120"/>
              </a:rPr>
              <a:t>🔇 Silence &amp; noise handling</a:t>
            </a:r>
            <a:endParaRPr lang="en-US" sz="1400" dirty="0"/>
          </a:p>
        </p:txBody>
      </p:sp>
      <p:sp>
        <p:nvSpPr>
          <p:cNvPr id="14" name="Shape 12"/>
          <p:cNvSpPr/>
          <p:nvPr/>
        </p:nvSpPr>
        <p:spPr>
          <a:xfrm>
            <a:off x="8385048" y="4736592"/>
            <a:ext cx="3364992" cy="0"/>
          </a:xfrm>
          <a:prstGeom prst="line">
            <a:avLst/>
          </a:prstGeom>
          <a:noFill/>
          <a:ln w="9525">
            <a:solidFill>
              <a:srgbClr val="16A34A">
                <a:alpha val="45000"/>
              </a:srgbClr>
            </a:solidFill>
            <a:prstDash val="solid"/>
          </a:ln>
        </p:spPr>
      </p:sp>
      <p:sp>
        <p:nvSpPr>
          <p:cNvPr id="15" name="Text 13"/>
          <p:cNvSpPr/>
          <p:nvPr/>
        </p:nvSpPr>
        <p:spPr>
          <a:xfrm>
            <a:off x="8385048" y="4828032"/>
            <a:ext cx="3364992" cy="1261872"/>
          </a:xfrm>
          <a:prstGeom prst="rect">
            <a:avLst/>
          </a:prstGeom>
          <a:noFill/>
          <a:ln/>
        </p:spPr>
        <p:txBody>
          <a:bodyPr wrap="square" lIns="0" tIns="0" rIns="0" bIns="0" rtlCol="0" anchor="ctr"/>
          <a:lstStyle/>
          <a:p>
            <a:pPr indent="0" marL="0">
              <a:lnSpc>
                <a:spcPct val="128000"/>
              </a:lnSpc>
              <a:buNone/>
            </a:pPr>
            <a:r>
              <a:rPr lang="en-US" sz="1200" dirty="0">
                <a:solidFill>
                  <a:srgbClr val="475569"/>
                </a:solidFill>
                <a:latin typeface="Calibri" pitchFamily="34" charset="0"/>
                <a:ea typeface="Calibri" pitchFamily="34" charset="-122"/>
                <a:cs typeface="Calibri" pitchFamily="34" charset="-120"/>
              </a:rPr>
              <a:t>Whisper handles background noise well but fails on pure silence. Run a VAD (voice activity detection) before sending to Whisper. ffmpeg: -af silenceremove strips silences.</a:t>
            </a:r>
            <a:endParaRPr lang="en-US" sz="1200" dirty="0"/>
          </a:p>
        </p:txBody>
      </p:sp>
      <p:sp>
        <p:nvSpPr>
          <p:cNvPr id="16" name="Shape 14"/>
          <p:cNvSpPr/>
          <p:nvPr/>
        </p:nvSpPr>
        <p:spPr>
          <a:xfrm>
            <a:off x="502920" y="4114800"/>
            <a:ext cx="3675888" cy="2084832"/>
          </a:xfrm>
          <a:prstGeom prst="roundRect">
            <a:avLst>
              <a:gd name="adj" fmla="val 4386"/>
            </a:avLst>
          </a:prstGeom>
          <a:solidFill>
            <a:srgbClr val="FFFBEB"/>
          </a:solidFill>
          <a:ln w="12700">
            <a:solidFill>
              <a:srgbClr val="D97706">
                <a:alpha val="50000"/>
              </a:srgbClr>
            </a:solidFill>
            <a:prstDash val="solid"/>
          </a:ln>
          <a:effectLst>
            <a:outerShdw sx="100000" sy="100000" kx="0" ky="0" algn="bl" rotWithShape="0" blurRad="101600" dist="38100" dir="5400000">
              <a:srgbClr val="000000">
                <a:alpha val="13000"/>
              </a:srgbClr>
            </a:outerShdw>
          </a:effectLst>
        </p:spPr>
      </p:sp>
      <p:sp>
        <p:nvSpPr>
          <p:cNvPr id="17" name="Text 15"/>
          <p:cNvSpPr/>
          <p:nvPr/>
        </p:nvSpPr>
        <p:spPr>
          <a:xfrm>
            <a:off x="667512" y="4251960"/>
            <a:ext cx="3364992" cy="438912"/>
          </a:xfrm>
          <a:prstGeom prst="rect">
            <a:avLst/>
          </a:prstGeom>
          <a:noFill/>
          <a:ln/>
        </p:spPr>
        <p:txBody>
          <a:bodyPr wrap="square" lIns="0" tIns="0" rIns="0" bIns="0" rtlCol="0" anchor="ctr"/>
          <a:lstStyle/>
          <a:p>
            <a:pPr indent="0" marL="0">
              <a:lnSpc>
                <a:spcPct val="110000"/>
              </a:lnSpc>
              <a:buNone/>
            </a:pPr>
            <a:r>
              <a:rPr lang="en-US" sz="1400" b="1" dirty="0">
                <a:solidFill>
                  <a:srgbClr val="D97706"/>
                </a:solidFill>
                <a:latin typeface="Calibri" pitchFamily="34" charset="0"/>
                <a:ea typeface="Calibri" pitchFamily="34" charset="-122"/>
                <a:cs typeface="Calibri" pitchFamily="34" charset="-120"/>
              </a:rPr>
              <a:t>⏱ Reduce voice latency</a:t>
            </a:r>
            <a:endParaRPr lang="en-US" sz="1400" dirty="0"/>
          </a:p>
        </p:txBody>
      </p:sp>
      <p:sp>
        <p:nvSpPr>
          <p:cNvPr id="18" name="Shape 16"/>
          <p:cNvSpPr/>
          <p:nvPr/>
        </p:nvSpPr>
        <p:spPr>
          <a:xfrm>
            <a:off x="667512" y="4736592"/>
            <a:ext cx="3364992" cy="0"/>
          </a:xfrm>
          <a:prstGeom prst="line">
            <a:avLst/>
          </a:prstGeom>
          <a:noFill/>
          <a:ln w="9525">
            <a:solidFill>
              <a:srgbClr val="D97706">
                <a:alpha val="45000"/>
              </a:srgbClr>
            </a:solidFill>
            <a:prstDash val="solid"/>
          </a:ln>
        </p:spPr>
      </p:sp>
      <p:sp>
        <p:nvSpPr>
          <p:cNvPr id="19" name="Text 17"/>
          <p:cNvSpPr/>
          <p:nvPr/>
        </p:nvSpPr>
        <p:spPr>
          <a:xfrm>
            <a:off x="667512" y="4828032"/>
            <a:ext cx="3364992" cy="1261872"/>
          </a:xfrm>
          <a:prstGeom prst="rect">
            <a:avLst/>
          </a:prstGeom>
          <a:noFill/>
          <a:ln/>
        </p:spPr>
        <p:txBody>
          <a:bodyPr wrap="square" lIns="0" tIns="0" rIns="0" bIns="0" rtlCol="0" anchor="ctr"/>
          <a:lstStyle/>
          <a:p>
            <a:pPr indent="0" marL="0">
              <a:lnSpc>
                <a:spcPct val="128000"/>
              </a:lnSpc>
              <a:buNone/>
            </a:pPr>
            <a:r>
              <a:rPr lang="en-US" sz="1200" dirty="0">
                <a:solidFill>
                  <a:srgbClr val="475569"/>
                </a:solidFill>
                <a:latin typeface="Calibri" pitchFamily="34" charset="0"/>
                <a:ea typeface="Calibri" pitchFamily="34" charset="-122"/>
                <a:cs typeface="Calibri" pitchFamily="34" charset="-120"/>
              </a:rPr>
              <a:t>Cache TTS audio for common confirmations ('Done!', 'I will add that.'). Stream TTS via opus format for faster first-byte audio. Use gpt-4o-mini not gpt-4o for faster tool call decisions.</a:t>
            </a:r>
            <a:endParaRPr lang="en-US" sz="1200" dirty="0"/>
          </a:p>
        </p:txBody>
      </p:sp>
      <p:sp>
        <p:nvSpPr>
          <p:cNvPr id="20" name="Shape 18"/>
          <p:cNvSpPr/>
          <p:nvPr/>
        </p:nvSpPr>
        <p:spPr>
          <a:xfrm>
            <a:off x="4361688" y="6355080"/>
            <a:ext cx="3675888" cy="2084832"/>
          </a:xfrm>
          <a:prstGeom prst="roundRect">
            <a:avLst>
              <a:gd name="adj" fmla="val 4386"/>
            </a:avLst>
          </a:prstGeom>
          <a:solidFill>
            <a:srgbClr val="FFF1F2"/>
          </a:solidFill>
          <a:ln w="12700">
            <a:solidFill>
              <a:srgbClr val="E11D48">
                <a:alpha val="50000"/>
              </a:srgbClr>
            </a:solidFill>
            <a:prstDash val="solid"/>
          </a:ln>
          <a:effectLst>
            <a:outerShdw sx="100000" sy="100000" kx="0" ky="0" algn="bl" rotWithShape="0" blurRad="101600" dist="38100" dir="5400000">
              <a:srgbClr val="000000">
                <a:alpha val="13000"/>
              </a:srgbClr>
            </a:outerShdw>
          </a:effectLst>
        </p:spPr>
      </p:sp>
      <p:sp>
        <p:nvSpPr>
          <p:cNvPr id="21" name="Text 19"/>
          <p:cNvSpPr/>
          <p:nvPr/>
        </p:nvSpPr>
        <p:spPr>
          <a:xfrm>
            <a:off x="4526280" y="6492240"/>
            <a:ext cx="3364992" cy="438912"/>
          </a:xfrm>
          <a:prstGeom prst="rect">
            <a:avLst/>
          </a:prstGeom>
          <a:noFill/>
          <a:ln/>
        </p:spPr>
        <p:txBody>
          <a:bodyPr wrap="square" lIns="0" tIns="0" rIns="0" bIns="0" rtlCol="0" anchor="ctr"/>
          <a:lstStyle/>
          <a:p>
            <a:pPr indent="0" marL="0">
              <a:lnSpc>
                <a:spcPct val="110000"/>
              </a:lnSpc>
              <a:buNone/>
            </a:pPr>
            <a:r>
              <a:rPr lang="en-US" sz="1400" b="1" dirty="0">
                <a:solidFill>
                  <a:srgbClr val="E11D48"/>
                </a:solidFill>
                <a:latin typeface="Calibri" pitchFamily="34" charset="0"/>
                <a:ea typeface="Calibri" pitchFamily="34" charset="-122"/>
                <a:cs typeface="Calibri" pitchFamily="34" charset="-120"/>
              </a:rPr>
              <a:t>🔒 Privacy: voice data</a:t>
            </a:r>
            <a:endParaRPr lang="en-US" sz="1400" dirty="0"/>
          </a:p>
        </p:txBody>
      </p:sp>
      <p:sp>
        <p:nvSpPr>
          <p:cNvPr id="22" name="Shape 20"/>
          <p:cNvSpPr/>
          <p:nvPr/>
        </p:nvSpPr>
        <p:spPr>
          <a:xfrm>
            <a:off x="4526280" y="6976872"/>
            <a:ext cx="3364992" cy="0"/>
          </a:xfrm>
          <a:prstGeom prst="line">
            <a:avLst/>
          </a:prstGeom>
          <a:noFill/>
          <a:ln w="9525">
            <a:solidFill>
              <a:srgbClr val="E11D48">
                <a:alpha val="45000"/>
              </a:srgbClr>
            </a:solidFill>
            <a:prstDash val="solid"/>
          </a:ln>
        </p:spPr>
      </p:sp>
      <p:sp>
        <p:nvSpPr>
          <p:cNvPr id="23" name="Text 21"/>
          <p:cNvSpPr/>
          <p:nvPr/>
        </p:nvSpPr>
        <p:spPr>
          <a:xfrm>
            <a:off x="4526280" y="7068312"/>
            <a:ext cx="3364992" cy="1261872"/>
          </a:xfrm>
          <a:prstGeom prst="rect">
            <a:avLst/>
          </a:prstGeom>
          <a:noFill/>
          <a:ln/>
        </p:spPr>
        <p:txBody>
          <a:bodyPr wrap="square" lIns="0" tIns="0" rIns="0" bIns="0" rtlCol="0" anchor="ctr"/>
          <a:lstStyle/>
          <a:p>
            <a:pPr indent="0" marL="0">
              <a:lnSpc>
                <a:spcPct val="128000"/>
              </a:lnSpc>
              <a:buNone/>
            </a:pPr>
            <a:r>
              <a:rPr lang="en-US" sz="1200" dirty="0">
                <a:solidFill>
                  <a:srgbClr val="475569"/>
                </a:solidFill>
                <a:latin typeface="Calibri" pitchFamily="34" charset="0"/>
                <a:ea typeface="Calibri" pitchFamily="34" charset="-122"/>
                <a:cs typeface="Calibri" pitchFamily="34" charset="-120"/>
              </a:rPr>
              <a:t>Audio sent to OpenAI is processed but (per their policy) not used for training by default. For regulated industries (healthcare, finance), use local Whisper (open-source model, runs on CPU).</a:t>
            </a:r>
            <a:endParaRPr lang="en-US" sz="1200" dirty="0"/>
          </a:p>
        </p:txBody>
      </p:sp>
      <p:sp>
        <p:nvSpPr>
          <p:cNvPr id="24" name="Shape 22"/>
          <p:cNvSpPr/>
          <p:nvPr/>
        </p:nvSpPr>
        <p:spPr>
          <a:xfrm>
            <a:off x="8220456" y="6355080"/>
            <a:ext cx="3675888" cy="2084832"/>
          </a:xfrm>
          <a:prstGeom prst="roundRect">
            <a:avLst>
              <a:gd name="adj" fmla="val 4386"/>
            </a:avLst>
          </a:prstGeom>
          <a:solidFill>
            <a:srgbClr val="FFF7ED"/>
          </a:solidFill>
          <a:ln w="12700">
            <a:solidFill>
              <a:srgbClr val="EA580C">
                <a:alpha val="50000"/>
              </a:srgbClr>
            </a:solidFill>
            <a:prstDash val="solid"/>
          </a:ln>
          <a:effectLst>
            <a:outerShdw sx="100000" sy="100000" kx="0" ky="0" algn="bl" rotWithShape="0" blurRad="101600" dist="38100" dir="5400000">
              <a:srgbClr val="000000">
                <a:alpha val="13000"/>
              </a:srgbClr>
            </a:outerShdw>
          </a:effectLst>
        </p:spPr>
      </p:sp>
      <p:sp>
        <p:nvSpPr>
          <p:cNvPr id="25" name="Text 23"/>
          <p:cNvSpPr/>
          <p:nvPr/>
        </p:nvSpPr>
        <p:spPr>
          <a:xfrm>
            <a:off x="8385048" y="6492240"/>
            <a:ext cx="3364992" cy="438912"/>
          </a:xfrm>
          <a:prstGeom prst="rect">
            <a:avLst/>
          </a:prstGeom>
          <a:noFill/>
          <a:ln/>
        </p:spPr>
        <p:txBody>
          <a:bodyPr wrap="square" lIns="0" tIns="0" rIns="0" bIns="0" rtlCol="0" anchor="ctr"/>
          <a:lstStyle/>
          <a:p>
            <a:pPr indent="0" marL="0">
              <a:lnSpc>
                <a:spcPct val="110000"/>
              </a:lnSpc>
              <a:buNone/>
            </a:pPr>
            <a:r>
              <a:rPr lang="en-US" sz="1400" b="1" dirty="0">
                <a:solidFill>
                  <a:srgbClr val="EA580C"/>
                </a:solidFill>
                <a:latin typeface="Calibri" pitchFamily="34" charset="0"/>
                <a:ea typeface="Calibri" pitchFamily="34" charset="-122"/>
                <a:cs typeface="Calibri" pitchFamily="34" charset="-120"/>
              </a:rPr>
              <a:t>💰 Cost per voice command</a:t>
            </a:r>
            <a:endParaRPr lang="en-US" sz="1400" dirty="0"/>
          </a:p>
        </p:txBody>
      </p:sp>
      <p:sp>
        <p:nvSpPr>
          <p:cNvPr id="26" name="Shape 24"/>
          <p:cNvSpPr/>
          <p:nvPr/>
        </p:nvSpPr>
        <p:spPr>
          <a:xfrm>
            <a:off x="8385048" y="6976872"/>
            <a:ext cx="3364992" cy="0"/>
          </a:xfrm>
          <a:prstGeom prst="line">
            <a:avLst/>
          </a:prstGeom>
          <a:noFill/>
          <a:ln w="9525">
            <a:solidFill>
              <a:srgbClr val="EA580C">
                <a:alpha val="45000"/>
              </a:srgbClr>
            </a:solidFill>
            <a:prstDash val="solid"/>
          </a:ln>
        </p:spPr>
      </p:sp>
      <p:sp>
        <p:nvSpPr>
          <p:cNvPr id="27" name="Text 25"/>
          <p:cNvSpPr/>
          <p:nvPr/>
        </p:nvSpPr>
        <p:spPr>
          <a:xfrm>
            <a:off x="8385048" y="7068312"/>
            <a:ext cx="3364992" cy="1261872"/>
          </a:xfrm>
          <a:prstGeom prst="rect">
            <a:avLst/>
          </a:prstGeom>
          <a:noFill/>
          <a:ln/>
        </p:spPr>
        <p:txBody>
          <a:bodyPr wrap="square" lIns="0" tIns="0" rIns="0" bIns="0" rtlCol="0" anchor="ctr"/>
          <a:lstStyle/>
          <a:p>
            <a:pPr indent="0" marL="0">
              <a:lnSpc>
                <a:spcPct val="128000"/>
              </a:lnSpc>
              <a:buNone/>
            </a:pPr>
            <a:r>
              <a:rPr lang="en-US" sz="1200" dirty="0">
                <a:solidFill>
                  <a:srgbClr val="475569"/>
                </a:solidFill>
                <a:latin typeface="Calibri" pitchFamily="34" charset="0"/>
                <a:ea typeface="Calibri" pitchFamily="34" charset="-122"/>
                <a:cs typeface="Calibri" pitchFamily="34" charset="-120"/>
              </a:rPr>
              <a:t>Typical 5-second command: Whisper $0.0005 + GPT-4o-mini $0.00015 + TTS $0.001 = ~$0.002 per command. At 1,000 commands/day: $2/day = $60/month. Very affordable.</a:t>
            </a:r>
            <a:endParaRPr lang="en-US" sz="1200" dirty="0"/>
          </a:p>
        </p:txBody>
      </p:sp>
      <p:sp>
        <p:nvSpPr>
          <p:cNvPr id="29" name="Shape 26"/>
          <p:cNvSpPr/>
          <p:nvPr/>
        </p:nvSpPr>
        <p:spPr>
          <a:xfrm>
            <a:off x="0" y="6583680"/>
            <a:ext cx="12191695" cy="274320"/>
          </a:xfrm>
          <a:prstGeom prst="rect">
            <a:avLst/>
          </a:prstGeom>
          <a:solidFill>
            <a:srgbClr val="EA580C">
              <a:alpha val="12000"/>
            </a:srgbClr>
          </a:solidFill>
          <a:ln w="12700">
            <a:solidFill>
              <a:srgbClr val="EA580C">
                <a:alpha val="35000"/>
              </a:srgbClr>
            </a:solidFill>
            <a:prstDash val="solid"/>
          </a:ln>
        </p:spPr>
      </p:sp>
      <p:sp>
        <p:nvSpPr>
          <p:cNvPr id="30" name="Text 27"/>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31" name="Text 28"/>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20 / 31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F1A"/>
        </a:solidFill>
      </p:bgPr>
    </p:bg>
    <p:spTree>
      <p:nvGrpSpPr>
        <p:cNvPr id="1" name=""/>
        <p:cNvGrpSpPr/>
        <p:nvPr/>
      </p:nvGrpSpPr>
      <p:grpSpPr>
        <a:xfrm>
          <a:off x="0" y="0"/>
          <a:ext cx="0" cy="0"/>
          <a:chOff x="0" y="0"/>
          <a:chExt cx="0" cy="0"/>
        </a:xfrm>
      </p:grpSpPr>
      <p:sp>
        <p:nvSpPr>
          <p:cNvPr id="2" name="Text 0"/>
          <p:cNvSpPr/>
          <p:nvPr/>
        </p:nvSpPr>
        <p:spPr>
          <a:xfrm>
            <a:off x="685800" y="411480"/>
            <a:ext cx="10972800" cy="274320"/>
          </a:xfrm>
          <a:prstGeom prst="rect">
            <a:avLst/>
          </a:prstGeom>
          <a:noFill/>
          <a:ln/>
        </p:spPr>
        <p:txBody>
          <a:bodyPr wrap="square" lIns="0" tIns="0" rIns="0" bIns="0" rtlCol="0" anchor="ctr"/>
          <a:lstStyle/>
          <a:p>
            <a:pPr indent="0" marL="0">
              <a:buNone/>
            </a:pPr>
            <a:r>
              <a:rPr lang="en-US" sz="1200" b="1" spc="400" kern="0" dirty="0">
                <a:solidFill>
                  <a:srgbClr val="E11D48"/>
                </a:solidFill>
                <a:latin typeface="Calibri" pitchFamily="34" charset="0"/>
                <a:ea typeface="Calibri" pitchFamily="34" charset="-122"/>
                <a:cs typeface="Calibri" pitchFamily="34" charset="-120"/>
              </a:rPr>
              <a:t>YOUR TURN — 30 MINUTE FINAL LAB</a:t>
            </a:r>
            <a:endParaRPr lang="en-US" sz="1200" dirty="0"/>
          </a:p>
        </p:txBody>
      </p:sp>
      <p:sp>
        <p:nvSpPr>
          <p:cNvPr id="3" name="Text 1"/>
          <p:cNvSpPr/>
          <p:nvPr/>
        </p:nvSpPr>
        <p:spPr>
          <a:xfrm>
            <a:off x="685800" y="749808"/>
            <a:ext cx="10789920" cy="1572768"/>
          </a:xfrm>
          <a:prstGeom prst="rect">
            <a:avLst/>
          </a:prstGeom>
          <a:noFill/>
          <a:ln/>
        </p:spPr>
        <p:txBody>
          <a:bodyPr wrap="square" lIns="0" tIns="0" rIns="0" bIns="0" rtlCol="0" anchor="ctr"/>
          <a:lstStyle/>
          <a:p>
            <a:pPr indent="0" marL="0">
              <a:lnSpc>
                <a:spcPct val="105000"/>
              </a:lnSpc>
              <a:buNone/>
            </a:pPr>
            <a:r>
              <a:rPr lang="en-US" sz="4200" b="1" dirty="0">
                <a:solidFill>
                  <a:srgbClr val="E8ECFF"/>
                </a:solidFill>
                <a:latin typeface="Calibri" pitchFamily="34" charset="0"/>
                <a:ea typeface="Calibri" pitchFamily="34" charset="-122"/>
                <a:cs typeface="Calibri" pitchFamily="34" charset="-120"/>
              </a:rPr>
              <a:t>Build. Test. Demo.</a:t>
            </a:r>
            <a:endParaRPr lang="en-US" sz="4200" dirty="0"/>
          </a:p>
          <a:p>
            <a:pPr indent="0" marL="0">
              <a:lnSpc>
                <a:spcPct val="105000"/>
              </a:lnSpc>
              <a:buNone/>
            </a:pPr>
            <a:r>
              <a:rPr lang="en-US" sz="4200" b="1" dirty="0">
                <a:solidFill>
                  <a:srgbClr val="E8ECFF"/>
                </a:solidFill>
                <a:latin typeface="Calibri" pitchFamily="34" charset="0"/>
                <a:ea typeface="Calibri" pitchFamily="34" charset="-122"/>
                <a:cs typeface="Calibri" pitchFamily="34" charset="-120"/>
              </a:rPr>
              <a:t>Your Voice Task Manager.</a:t>
            </a:r>
            <a:endParaRPr lang="en-US" sz="4200" dirty="0"/>
          </a:p>
        </p:txBody>
      </p:sp>
      <p:sp>
        <p:nvSpPr>
          <p:cNvPr id="4" name="Shape 2"/>
          <p:cNvSpPr/>
          <p:nvPr/>
        </p:nvSpPr>
        <p:spPr>
          <a:xfrm>
            <a:off x="502920" y="2788920"/>
            <a:ext cx="5596128" cy="1572768"/>
          </a:xfrm>
          <a:prstGeom prst="roundRect">
            <a:avLst>
              <a:gd name="adj" fmla="val 5233"/>
            </a:avLst>
          </a:prstGeom>
          <a:solidFill>
            <a:srgbClr val="1C2236"/>
          </a:solidFill>
          <a:ln w="12700">
            <a:solidFill>
              <a:srgbClr val="E11D48">
                <a:alpha val="55000"/>
              </a:srgbClr>
            </a:solidFill>
            <a:prstDash val="solid"/>
          </a:ln>
        </p:spPr>
      </p:sp>
      <p:sp>
        <p:nvSpPr>
          <p:cNvPr id="5" name="Shape 3"/>
          <p:cNvSpPr/>
          <p:nvPr/>
        </p:nvSpPr>
        <p:spPr>
          <a:xfrm>
            <a:off x="704088" y="3319272"/>
            <a:ext cx="457200" cy="457200"/>
          </a:xfrm>
          <a:prstGeom prst="ellipse">
            <a:avLst/>
          </a:prstGeom>
          <a:solidFill>
            <a:srgbClr val="E11D48"/>
          </a:solidFill>
          <a:ln/>
        </p:spPr>
      </p:sp>
      <p:sp>
        <p:nvSpPr>
          <p:cNvPr id="6" name="Text 4"/>
          <p:cNvSpPr/>
          <p:nvPr/>
        </p:nvSpPr>
        <p:spPr>
          <a:xfrm>
            <a:off x="704088" y="3319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7" name="Text 5"/>
          <p:cNvSpPr/>
          <p:nvPr/>
        </p:nvSpPr>
        <p:spPr>
          <a:xfrm>
            <a:off x="1307592" y="2953512"/>
            <a:ext cx="4681728" cy="411480"/>
          </a:xfrm>
          <a:prstGeom prst="rect">
            <a:avLst/>
          </a:prstGeom>
          <a:noFill/>
          <a:ln/>
        </p:spPr>
        <p:txBody>
          <a:bodyPr wrap="square" lIns="0" tIns="0" rIns="0" bIns="0" rtlCol="0" anchor="ctr"/>
          <a:lstStyle/>
          <a:p>
            <a:pPr indent="0" marL="0">
              <a:buNone/>
            </a:pPr>
            <a:r>
              <a:rPr lang="en-US" sz="1500" b="1" dirty="0">
                <a:solidFill>
                  <a:srgbClr val="E11D48"/>
                </a:solidFill>
                <a:latin typeface="Calibri" pitchFamily="34" charset="0"/>
                <a:ea typeface="Calibri" pitchFamily="34" charset="-122"/>
                <a:cs typeface="Calibri" pitchFamily="34" charset="-120"/>
              </a:rPr>
              <a:t>Core Voice Task Manager</a:t>
            </a:r>
            <a:endParaRPr lang="en-US" sz="1500" dirty="0"/>
          </a:p>
        </p:txBody>
      </p:sp>
      <p:sp>
        <p:nvSpPr>
          <p:cNvPr id="8" name="Text 6"/>
          <p:cNvSpPr/>
          <p:nvPr/>
        </p:nvSpPr>
        <p:spPr>
          <a:xfrm>
            <a:off x="1307592" y="3383280"/>
            <a:ext cx="4681728" cy="841248"/>
          </a:xfrm>
          <a:prstGeom prst="rect">
            <a:avLst/>
          </a:prstGeom>
          <a:noFill/>
          <a:ln/>
        </p:spPr>
        <p:txBody>
          <a:bodyPr wrap="square" lIns="0" tIns="0" rIns="0" bIns="0" rtlCol="0" anchor="ctr"/>
          <a:lstStyle/>
          <a:p>
            <a:pPr indent="0" marL="0">
              <a:lnSpc>
                <a:spcPct val="130000"/>
              </a:lnSpc>
              <a:buNone/>
            </a:pPr>
            <a:r>
              <a:rPr lang="en-US" sz="1300" dirty="0">
                <a:solidFill>
                  <a:srgbClr val="8B92B8"/>
                </a:solidFill>
                <a:latin typeface="Calibri" pitchFamily="34" charset="0"/>
                <a:ea typeface="Calibri" pitchFamily="34" charset="-122"/>
                <a:cs typeface="Calibri" pitchFamily="34" charset="-120"/>
              </a:rPr>
              <a:t>Record 5 different voice commands. All 4 tools must work: add, delete, list, done. Speak + hear confirmation.</a:t>
            </a:r>
            <a:endParaRPr lang="en-US" sz="1300" dirty="0"/>
          </a:p>
        </p:txBody>
      </p:sp>
      <p:sp>
        <p:nvSpPr>
          <p:cNvPr id="9" name="Shape 7"/>
          <p:cNvSpPr/>
          <p:nvPr/>
        </p:nvSpPr>
        <p:spPr>
          <a:xfrm>
            <a:off x="6309360" y="2788920"/>
            <a:ext cx="5596128" cy="1572768"/>
          </a:xfrm>
          <a:prstGeom prst="roundRect">
            <a:avLst>
              <a:gd name="adj" fmla="val 5233"/>
            </a:avLst>
          </a:prstGeom>
          <a:solidFill>
            <a:srgbClr val="1C2236"/>
          </a:solidFill>
          <a:ln w="12700">
            <a:solidFill>
              <a:srgbClr val="7C3AED">
                <a:alpha val="55000"/>
              </a:srgbClr>
            </a:solidFill>
            <a:prstDash val="solid"/>
          </a:ln>
        </p:spPr>
      </p:sp>
      <p:sp>
        <p:nvSpPr>
          <p:cNvPr id="10" name="Shape 8"/>
          <p:cNvSpPr/>
          <p:nvPr/>
        </p:nvSpPr>
        <p:spPr>
          <a:xfrm>
            <a:off x="6510528" y="3319272"/>
            <a:ext cx="457200" cy="457200"/>
          </a:xfrm>
          <a:prstGeom prst="ellipse">
            <a:avLst/>
          </a:prstGeom>
          <a:solidFill>
            <a:srgbClr val="7C3AED"/>
          </a:solidFill>
          <a:ln/>
        </p:spPr>
      </p:sp>
      <p:sp>
        <p:nvSpPr>
          <p:cNvPr id="11" name="Text 9"/>
          <p:cNvSpPr/>
          <p:nvPr/>
        </p:nvSpPr>
        <p:spPr>
          <a:xfrm>
            <a:off x="6510528" y="3319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7114032" y="2953512"/>
            <a:ext cx="4681728" cy="411480"/>
          </a:xfrm>
          <a:prstGeom prst="rect">
            <a:avLst/>
          </a:prstGeom>
          <a:noFill/>
          <a:ln/>
        </p:spPr>
        <p:txBody>
          <a:bodyPr wrap="square" lIns="0" tIns="0" rIns="0" bIns="0" rtlCol="0" anchor="ctr"/>
          <a:lstStyle/>
          <a:p>
            <a:pPr indent="0" marL="0">
              <a:buNone/>
            </a:pPr>
            <a:r>
              <a:rPr lang="en-US" sz="1500" b="1" dirty="0">
                <a:solidFill>
                  <a:srgbClr val="7C3AED"/>
                </a:solidFill>
                <a:latin typeface="Calibri" pitchFamily="34" charset="0"/>
                <a:ea typeface="Calibri" pitchFamily="34" charset="-122"/>
                <a:cs typeface="Calibri" pitchFamily="34" charset="-120"/>
              </a:rPr>
              <a:t>Add a 5th tool: prioritise</a:t>
            </a:r>
            <a:endParaRPr lang="en-US" sz="1500" dirty="0"/>
          </a:p>
        </p:txBody>
      </p:sp>
      <p:sp>
        <p:nvSpPr>
          <p:cNvPr id="13" name="Text 11"/>
          <p:cNvSpPr/>
          <p:nvPr/>
        </p:nvSpPr>
        <p:spPr>
          <a:xfrm>
            <a:off x="7114032" y="3383280"/>
            <a:ext cx="4681728" cy="841248"/>
          </a:xfrm>
          <a:prstGeom prst="rect">
            <a:avLst/>
          </a:prstGeom>
          <a:noFill/>
          <a:ln/>
        </p:spPr>
        <p:txBody>
          <a:bodyPr wrap="square" lIns="0" tIns="0" rIns="0" bIns="0" rtlCol="0" anchor="ctr"/>
          <a:lstStyle/>
          <a:p>
            <a:pPr indent="0" marL="0">
              <a:lnSpc>
                <a:spcPct val="130000"/>
              </a:lnSpc>
              <a:buNone/>
            </a:pPr>
            <a:r>
              <a:rPr lang="en-US" sz="1300" dirty="0">
                <a:solidFill>
                  <a:srgbClr val="8B92B8"/>
                </a:solidFill>
                <a:latin typeface="Calibri" pitchFamily="34" charset="0"/>
                <a:ea typeface="Calibri" pitchFamily="34" charset="-122"/>
                <a:cs typeface="Calibri" pitchFamily="34" charset="-120"/>
              </a:rPr>
              <a:t>markPriority(id, level) → sets HIGH/MEDIUM/LOW priority. Test: 'Mark the deployment task as high priority'.</a:t>
            </a:r>
            <a:endParaRPr lang="en-US" sz="1300" dirty="0"/>
          </a:p>
        </p:txBody>
      </p:sp>
      <p:sp>
        <p:nvSpPr>
          <p:cNvPr id="14" name="Shape 12"/>
          <p:cNvSpPr/>
          <p:nvPr/>
        </p:nvSpPr>
        <p:spPr>
          <a:xfrm>
            <a:off x="502920" y="4507992"/>
            <a:ext cx="5596128" cy="1572768"/>
          </a:xfrm>
          <a:prstGeom prst="roundRect">
            <a:avLst>
              <a:gd name="adj" fmla="val 5233"/>
            </a:avLst>
          </a:prstGeom>
          <a:solidFill>
            <a:srgbClr val="1C2236"/>
          </a:solidFill>
          <a:ln w="12700">
            <a:solidFill>
              <a:srgbClr val="0891B2">
                <a:alpha val="55000"/>
              </a:srgbClr>
            </a:solidFill>
            <a:prstDash val="solid"/>
          </a:ln>
        </p:spPr>
      </p:sp>
      <p:sp>
        <p:nvSpPr>
          <p:cNvPr id="15" name="Shape 13"/>
          <p:cNvSpPr/>
          <p:nvPr/>
        </p:nvSpPr>
        <p:spPr>
          <a:xfrm>
            <a:off x="704088" y="5038344"/>
            <a:ext cx="457200" cy="457200"/>
          </a:xfrm>
          <a:prstGeom prst="ellipse">
            <a:avLst/>
          </a:prstGeom>
          <a:solidFill>
            <a:srgbClr val="0891B2"/>
          </a:solidFill>
          <a:ln/>
        </p:spPr>
      </p:sp>
      <p:sp>
        <p:nvSpPr>
          <p:cNvPr id="16" name="Text 14"/>
          <p:cNvSpPr/>
          <p:nvPr/>
        </p:nvSpPr>
        <p:spPr>
          <a:xfrm>
            <a:off x="704088" y="503834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7" name="Text 15"/>
          <p:cNvSpPr/>
          <p:nvPr/>
        </p:nvSpPr>
        <p:spPr>
          <a:xfrm>
            <a:off x="1307592" y="4672584"/>
            <a:ext cx="4681728" cy="411480"/>
          </a:xfrm>
          <a:prstGeom prst="rect">
            <a:avLst/>
          </a:prstGeom>
          <a:noFill/>
          <a:ln/>
        </p:spPr>
        <p:txBody>
          <a:bodyPr wrap="square" lIns="0" tIns="0" rIns="0" bIns="0" rtlCol="0" anchor="ctr"/>
          <a:lstStyle/>
          <a:p>
            <a:pPr indent="0" marL="0">
              <a:buNone/>
            </a:pPr>
            <a:r>
              <a:rPr lang="en-US" sz="1500" b="1" dirty="0">
                <a:solidFill>
                  <a:srgbClr val="0891B2"/>
                </a:solidFill>
                <a:latin typeface="Calibri" pitchFamily="34" charset="0"/>
                <a:ea typeface="Calibri" pitchFamily="34" charset="-122"/>
                <a:cs typeface="Calibri" pitchFamily="34" charset="-120"/>
              </a:rPr>
              <a:t>DALL-E task thumbnails</a:t>
            </a:r>
            <a:endParaRPr lang="en-US" sz="1500" dirty="0"/>
          </a:p>
        </p:txBody>
      </p:sp>
      <p:sp>
        <p:nvSpPr>
          <p:cNvPr id="18" name="Text 16"/>
          <p:cNvSpPr/>
          <p:nvPr/>
        </p:nvSpPr>
        <p:spPr>
          <a:xfrm>
            <a:off x="1307592" y="5102352"/>
            <a:ext cx="4681728" cy="841248"/>
          </a:xfrm>
          <a:prstGeom prst="rect">
            <a:avLst/>
          </a:prstGeom>
          <a:noFill/>
          <a:ln/>
        </p:spPr>
        <p:txBody>
          <a:bodyPr wrap="square" lIns="0" tIns="0" rIns="0" bIns="0" rtlCol="0" anchor="ctr"/>
          <a:lstStyle/>
          <a:p>
            <a:pPr indent="0" marL="0">
              <a:lnSpc>
                <a:spcPct val="130000"/>
              </a:lnSpc>
              <a:buNone/>
            </a:pPr>
            <a:r>
              <a:rPr lang="en-US" sz="1300" dirty="0">
                <a:solidFill>
                  <a:srgbClr val="8B92B8"/>
                </a:solidFill>
                <a:latin typeface="Calibri" pitchFamily="34" charset="0"/>
                <a:ea typeface="Calibri" pitchFamily="34" charset="-122"/>
                <a:cs typeface="Calibri" pitchFamily="34" charset="-120"/>
              </a:rPr>
              <a:t>When a task is added, call DALL-E to generate a thumbnail image for it. Log the URL. Stretch: save to disk.</a:t>
            </a:r>
            <a:endParaRPr lang="en-US" sz="1300" dirty="0"/>
          </a:p>
        </p:txBody>
      </p:sp>
      <p:sp>
        <p:nvSpPr>
          <p:cNvPr id="19" name="Shape 17"/>
          <p:cNvSpPr/>
          <p:nvPr/>
        </p:nvSpPr>
        <p:spPr>
          <a:xfrm>
            <a:off x="6309360" y="4507992"/>
            <a:ext cx="5596128" cy="1572768"/>
          </a:xfrm>
          <a:prstGeom prst="roundRect">
            <a:avLst>
              <a:gd name="adj" fmla="val 5233"/>
            </a:avLst>
          </a:prstGeom>
          <a:solidFill>
            <a:srgbClr val="1C2236"/>
          </a:solidFill>
          <a:ln w="12700">
            <a:solidFill>
              <a:srgbClr val="16A34A">
                <a:alpha val="55000"/>
              </a:srgbClr>
            </a:solidFill>
            <a:prstDash val="solid"/>
          </a:ln>
        </p:spPr>
      </p:sp>
      <p:sp>
        <p:nvSpPr>
          <p:cNvPr id="20" name="Shape 18"/>
          <p:cNvSpPr/>
          <p:nvPr/>
        </p:nvSpPr>
        <p:spPr>
          <a:xfrm>
            <a:off x="6510528" y="5038344"/>
            <a:ext cx="457200" cy="457200"/>
          </a:xfrm>
          <a:prstGeom prst="ellipse">
            <a:avLst/>
          </a:prstGeom>
          <a:solidFill>
            <a:srgbClr val="16A34A"/>
          </a:solidFill>
          <a:ln/>
        </p:spPr>
      </p:sp>
      <p:sp>
        <p:nvSpPr>
          <p:cNvPr id="21" name="Text 19"/>
          <p:cNvSpPr/>
          <p:nvPr/>
        </p:nvSpPr>
        <p:spPr>
          <a:xfrm>
            <a:off x="6510528" y="503834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2" name="Text 20"/>
          <p:cNvSpPr/>
          <p:nvPr/>
        </p:nvSpPr>
        <p:spPr>
          <a:xfrm>
            <a:off x="7114032" y="4672584"/>
            <a:ext cx="4681728" cy="411480"/>
          </a:xfrm>
          <a:prstGeom prst="rect">
            <a:avLst/>
          </a:prstGeom>
          <a:noFill/>
          <a:ln/>
        </p:spPr>
        <p:txBody>
          <a:bodyPr wrap="square" lIns="0" tIns="0" rIns="0" bIns="0" rtlCol="0" anchor="ctr"/>
          <a:lstStyle/>
          <a:p>
            <a:pPr indent="0" marL="0">
              <a:buNone/>
            </a:pPr>
            <a:r>
              <a:rPr lang="en-US" sz="1500" b="1" dirty="0">
                <a:solidFill>
                  <a:srgbClr val="16A34A"/>
                </a:solidFill>
                <a:latin typeface="Calibri" pitchFamily="34" charset="0"/>
                <a:ea typeface="Calibri" pitchFamily="34" charset="-122"/>
                <a:cs typeface="Calibri" pitchFamily="34" charset="-120"/>
              </a:rPr>
              <a:t>Multi-turn voice conversation</a:t>
            </a:r>
            <a:endParaRPr lang="en-US" sz="1500" dirty="0"/>
          </a:p>
        </p:txBody>
      </p:sp>
      <p:sp>
        <p:nvSpPr>
          <p:cNvPr id="23" name="Text 21"/>
          <p:cNvSpPr/>
          <p:nvPr/>
        </p:nvSpPr>
        <p:spPr>
          <a:xfrm>
            <a:off x="7114032" y="5102352"/>
            <a:ext cx="4681728" cy="841248"/>
          </a:xfrm>
          <a:prstGeom prst="rect">
            <a:avLst/>
          </a:prstGeom>
          <a:noFill/>
          <a:ln/>
        </p:spPr>
        <p:txBody>
          <a:bodyPr wrap="square" lIns="0" tIns="0" rIns="0" bIns="0" rtlCol="0" anchor="ctr"/>
          <a:lstStyle/>
          <a:p>
            <a:pPr indent="0" marL="0">
              <a:lnSpc>
                <a:spcPct val="130000"/>
              </a:lnSpc>
              <a:buNone/>
            </a:pPr>
            <a:r>
              <a:rPr lang="en-US" sz="1300" dirty="0">
                <a:solidFill>
                  <a:srgbClr val="8B92B8"/>
                </a:solidFill>
                <a:latin typeface="Calibri" pitchFamily="34" charset="0"/>
                <a:ea typeface="Calibri" pitchFamily="34" charset="-122"/>
                <a:cs typeface="Calibri" pitchFamily="34" charset="-120"/>
              </a:rPr>
              <a:t>Add session history so the voice agent remembers context: 'Add task: fix login bug' → 'Actually change that to fix auth bug'.</a:t>
            </a:r>
            <a:endParaRPr lang="en-US" sz="1300" dirty="0"/>
          </a:p>
        </p:txBody>
      </p:sp>
      <p:sp>
        <p:nvSpPr>
          <p:cNvPr id="25" name="Shape 22"/>
          <p:cNvSpPr/>
          <p:nvPr/>
        </p:nvSpPr>
        <p:spPr>
          <a:xfrm>
            <a:off x="0" y="6583680"/>
            <a:ext cx="12191695" cy="274320"/>
          </a:xfrm>
          <a:prstGeom prst="rect">
            <a:avLst/>
          </a:prstGeom>
          <a:solidFill>
            <a:srgbClr val="E11D48">
              <a:alpha val="12000"/>
            </a:srgbClr>
          </a:solidFill>
          <a:ln w="12700">
            <a:solidFill>
              <a:srgbClr val="E11D48">
                <a:alpha val="35000"/>
              </a:srgbClr>
            </a:solidFill>
            <a:prstDash val="solid"/>
          </a:ln>
        </p:spPr>
      </p:sp>
      <p:sp>
        <p:nvSpPr>
          <p:cNvPr id="26" name="Text 23"/>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27" name="Text 24"/>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21 / 31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F1A"/>
        </a:solidFill>
      </p:bgPr>
    </p:bg>
    <p:spTree>
      <p:nvGrpSpPr>
        <p:cNvPr id="1" name=""/>
        <p:cNvGrpSpPr/>
        <p:nvPr/>
      </p:nvGrpSpPr>
      <p:grpSpPr>
        <a:xfrm>
          <a:off x="0" y="0"/>
          <a:ext cx="0" cy="0"/>
          <a:chOff x="0" y="0"/>
          <a:chExt cx="0" cy="0"/>
        </a:xfrm>
      </p:grpSpPr>
      <p:sp>
        <p:nvSpPr>
          <p:cNvPr id="2" name="Shape 0"/>
          <p:cNvSpPr/>
          <p:nvPr/>
        </p:nvSpPr>
        <p:spPr>
          <a:xfrm>
            <a:off x="7498080" y="-1097280"/>
            <a:ext cx="6400800" cy="6400800"/>
          </a:xfrm>
          <a:prstGeom prst="ellipse">
            <a:avLst/>
          </a:prstGeom>
          <a:solidFill>
            <a:srgbClr val="DB2777">
              <a:alpha val="9000"/>
            </a:srgbClr>
          </a:solidFill>
          <a:ln/>
        </p:spPr>
      </p:sp>
      <p:sp>
        <p:nvSpPr>
          <p:cNvPr id="3" name="Text 1"/>
          <p:cNvSpPr/>
          <p:nvPr/>
        </p:nvSpPr>
        <p:spPr>
          <a:xfrm>
            <a:off x="685800" y="1371600"/>
            <a:ext cx="7315200" cy="347472"/>
          </a:xfrm>
          <a:prstGeom prst="rect">
            <a:avLst/>
          </a:prstGeom>
          <a:noFill/>
          <a:ln/>
        </p:spPr>
        <p:txBody>
          <a:bodyPr wrap="square" lIns="0" tIns="0" rIns="0" bIns="0" rtlCol="0" anchor="ctr"/>
          <a:lstStyle/>
          <a:p>
            <a:pPr indent="0" marL="0">
              <a:buNone/>
            </a:pPr>
            <a:r>
              <a:rPr lang="en-US" sz="1400" b="1" spc="600" kern="0" dirty="0">
                <a:solidFill>
                  <a:srgbClr val="F9A8D4"/>
                </a:solidFill>
                <a:latin typeface="Calibri" pitchFamily="34" charset="0"/>
                <a:ea typeface="Calibri" pitchFamily="34" charset="-122"/>
                <a:cs typeface="Calibri" pitchFamily="34" charset="-120"/>
              </a:rPr>
              <a:t>STUDENT Q&amp;A</a:t>
            </a:r>
            <a:endParaRPr lang="en-US" sz="1400" dirty="0"/>
          </a:p>
        </p:txBody>
      </p:sp>
      <p:sp>
        <p:nvSpPr>
          <p:cNvPr id="4" name="Text 2"/>
          <p:cNvSpPr/>
          <p:nvPr/>
        </p:nvSpPr>
        <p:spPr>
          <a:xfrm>
            <a:off x="658368" y="1828800"/>
            <a:ext cx="8229600" cy="2560320"/>
          </a:xfrm>
          <a:prstGeom prst="rect">
            <a:avLst/>
          </a:prstGeom>
          <a:noFill/>
          <a:ln/>
        </p:spPr>
        <p:txBody>
          <a:bodyPr wrap="square" lIns="0" tIns="0" rIns="0" bIns="0" rtlCol="0" anchor="ctr"/>
          <a:lstStyle/>
          <a:p>
            <a:pPr indent="0" marL="0">
              <a:lnSpc>
                <a:spcPct val="106000"/>
              </a:lnSpc>
              <a:buNone/>
            </a:pPr>
            <a:r>
              <a:rPr lang="en-US" sz="5800" b="1" dirty="0">
                <a:solidFill>
                  <a:srgbClr val="FFFFFF"/>
                </a:solidFill>
                <a:latin typeface="Calibri" pitchFamily="34" charset="0"/>
                <a:ea typeface="Calibri" pitchFamily="34" charset="-122"/>
                <a:cs typeface="Calibri" pitchFamily="34" charset="-120"/>
              </a:rPr>
              <a:t>Questions</a:t>
            </a:r>
            <a:endParaRPr lang="en-US" sz="5800" dirty="0"/>
          </a:p>
          <a:p>
            <a:pPr indent="0" marL="0">
              <a:lnSpc>
                <a:spcPct val="106000"/>
              </a:lnSpc>
              <a:buNone/>
            </a:pPr>
            <a:r>
              <a:rPr lang="en-US" sz="5800" b="1" dirty="0">
                <a:solidFill>
                  <a:srgbClr val="FFFFFF"/>
                </a:solidFill>
                <a:latin typeface="Calibri" pitchFamily="34" charset="0"/>
                <a:ea typeface="Calibri" pitchFamily="34" charset="-122"/>
                <a:cs typeface="Calibri" pitchFamily="34" charset="-120"/>
              </a:rPr>
              <a:t>you will get.</a:t>
            </a:r>
            <a:endParaRPr lang="en-US" sz="5800" dirty="0"/>
          </a:p>
        </p:txBody>
      </p:sp>
      <p:sp>
        <p:nvSpPr>
          <p:cNvPr id="5" name="Text 3"/>
          <p:cNvSpPr/>
          <p:nvPr/>
        </p:nvSpPr>
        <p:spPr>
          <a:xfrm>
            <a:off x="685800" y="4572000"/>
            <a:ext cx="8229600" cy="502920"/>
          </a:xfrm>
          <a:prstGeom prst="rect">
            <a:avLst/>
          </a:prstGeom>
          <a:noFill/>
          <a:ln/>
        </p:spPr>
        <p:txBody>
          <a:bodyPr wrap="square" lIns="0" tIns="0" rIns="0" bIns="0" rtlCol="0" anchor="ctr"/>
          <a:lstStyle/>
          <a:p>
            <a:pPr indent="0" marL="0">
              <a:buNone/>
            </a:pPr>
            <a:r>
              <a:rPr lang="en-US" sz="2000" dirty="0">
                <a:solidFill>
                  <a:srgbClr val="8B92B8"/>
                </a:solidFill>
                <a:latin typeface="Calibri" pitchFamily="34" charset="0"/>
                <a:ea typeface="Calibri" pitchFamily="34" charset="-122"/>
                <a:cs typeface="Calibri" pitchFamily="34" charset="-120"/>
              </a:rPr>
              <a:t>6 of the most common — with full answers and deeper insights.</a:t>
            </a:r>
            <a:endParaRPr lang="en-US" sz="2000" dirty="0"/>
          </a:p>
        </p:txBody>
      </p:sp>
      <p:sp>
        <p:nvSpPr>
          <p:cNvPr id="6" name="Shape 4"/>
          <p:cNvSpPr/>
          <p:nvPr/>
        </p:nvSpPr>
        <p:spPr>
          <a:xfrm>
            <a:off x="0" y="6583680"/>
            <a:ext cx="12191695" cy="274320"/>
          </a:xfrm>
          <a:prstGeom prst="rect">
            <a:avLst/>
          </a:prstGeom>
          <a:solidFill>
            <a:srgbClr val="DB2777">
              <a:alpha val="12000"/>
            </a:srgbClr>
          </a:solidFill>
          <a:ln w="12700">
            <a:solidFill>
              <a:srgbClr val="DB2777">
                <a:alpha val="35000"/>
              </a:srgbClr>
            </a:solidFill>
            <a:prstDash val="solid"/>
          </a:ln>
        </p:spPr>
      </p:sp>
      <p:sp>
        <p:nvSpPr>
          <p:cNvPr id="7" name="Text 5"/>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8" name="Text 6"/>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22 / 31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658368" cy="658368"/>
          </a:xfrm>
          <a:prstGeom prst="roundRect">
            <a:avLst>
              <a:gd name="adj" fmla="val 11111"/>
            </a:avLst>
          </a:prstGeom>
          <a:solidFill>
            <a:srgbClr val="0891B2"/>
          </a:solidFill>
          <a:ln w="12700">
            <a:solidFill>
              <a:srgbClr val="0891B2"/>
            </a:solidFill>
            <a:prstDash val="solid"/>
          </a:ln>
        </p:spPr>
      </p:sp>
      <p:sp>
        <p:nvSpPr>
          <p:cNvPr id="3" name="Text 1"/>
          <p:cNvSpPr/>
          <p:nvPr/>
        </p:nvSpPr>
        <p:spPr>
          <a:xfrm>
            <a:off x="502920" y="41148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Q1</a:t>
            </a:r>
            <a:endParaRPr lang="en-US" sz="1800" dirty="0"/>
          </a:p>
        </p:txBody>
      </p:sp>
      <p:sp>
        <p:nvSpPr>
          <p:cNvPr id="4" name="Text 2"/>
          <p:cNvSpPr/>
          <p:nvPr/>
        </p:nvSpPr>
        <p:spPr>
          <a:xfrm>
            <a:off x="1298448" y="475488"/>
            <a:ext cx="548640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STUDENT QUESTION</a:t>
            </a:r>
            <a:endParaRPr lang="en-US" sz="1100" dirty="0"/>
          </a:p>
        </p:txBody>
      </p:sp>
      <p:sp>
        <p:nvSpPr>
          <p:cNvPr id="5" name="Shape 3"/>
          <p:cNvSpPr/>
          <p:nvPr/>
        </p:nvSpPr>
        <p:spPr>
          <a:xfrm>
            <a:off x="502920" y="1207008"/>
            <a:ext cx="10789920" cy="1024128"/>
          </a:xfrm>
          <a:prstGeom prst="roundRect">
            <a:avLst>
              <a:gd name="adj" fmla="val 10714"/>
            </a:avLst>
          </a:prstGeom>
          <a:solidFill>
            <a:srgbClr val="ECFEFF"/>
          </a:solidFill>
          <a:ln w="12700">
            <a:solidFill>
              <a:srgbClr val="0891B2">
                <a:alpha val="50000"/>
              </a:srgbClr>
            </a:solidFill>
            <a:prstDash val="solid"/>
          </a:ln>
        </p:spPr>
      </p:sp>
      <p:sp>
        <p:nvSpPr>
          <p:cNvPr id="6" name="Text 4"/>
          <p:cNvSpPr/>
          <p:nvPr/>
        </p:nvSpPr>
        <p:spPr>
          <a:xfrm>
            <a:off x="777240" y="1298448"/>
            <a:ext cx="10241280" cy="841248"/>
          </a:xfrm>
          <a:prstGeom prst="rect">
            <a:avLst/>
          </a:prstGeom>
          <a:noFill/>
          <a:ln/>
        </p:spPr>
        <p:txBody>
          <a:bodyPr wrap="square" lIns="0" tIns="0" rIns="0" bIns="0" rtlCol="0" anchor="ctr"/>
          <a:lstStyle/>
          <a:p>
            <a:pPr indent="0" marL="0">
              <a:lnSpc>
                <a:spcPct val="110000"/>
              </a:lnSpc>
              <a:buNone/>
            </a:pPr>
            <a:r>
              <a:rPr lang="en-US" sz="2100" b="1" dirty="0">
                <a:solidFill>
                  <a:srgbClr val="0891B2"/>
                </a:solidFill>
                <a:latin typeface="Calibri" pitchFamily="34" charset="0"/>
                <a:ea typeface="Calibri" pitchFamily="34" charset="-122"/>
                <a:cs typeface="Calibri" pitchFamily="34" charset="-120"/>
              </a:rPr>
              <a:t>Can Whisper transcribe any language, including Hindi and regional Indian languages?</a:t>
            </a:r>
            <a:endParaRPr lang="en-US" sz="2100" dirty="0"/>
          </a:p>
        </p:txBody>
      </p:sp>
      <p:sp>
        <p:nvSpPr>
          <p:cNvPr id="7" name="Text 5"/>
          <p:cNvSpPr/>
          <p:nvPr/>
        </p:nvSpPr>
        <p:spPr>
          <a:xfrm>
            <a:off x="502920" y="2395728"/>
            <a:ext cx="2743200" cy="256032"/>
          </a:xfrm>
          <a:prstGeom prst="rect">
            <a:avLst/>
          </a:prstGeom>
          <a:noFill/>
          <a:ln/>
        </p:spPr>
        <p:txBody>
          <a:bodyPr wrap="square" lIns="0" tIns="0" rIns="0" bIns="0" rtlCol="0" anchor="ctr"/>
          <a:lstStyle/>
          <a:p>
            <a:pPr indent="0" marL="0">
              <a:buNone/>
            </a:pPr>
            <a:r>
              <a:rPr lang="en-US" sz="1100" b="1" spc="300" kern="0" dirty="0">
                <a:solidFill>
                  <a:srgbClr val="16A34A"/>
                </a:solidFill>
                <a:latin typeface="Calibri" pitchFamily="34" charset="0"/>
                <a:ea typeface="Calibri" pitchFamily="34" charset="-122"/>
                <a:cs typeface="Calibri" pitchFamily="34" charset="-120"/>
              </a:rPr>
              <a:t>ANSWER</a:t>
            </a:r>
            <a:endParaRPr lang="en-US" sz="1100" dirty="0"/>
          </a:p>
        </p:txBody>
      </p:sp>
      <p:sp>
        <p:nvSpPr>
          <p:cNvPr id="8" name="Shape 6"/>
          <p:cNvSpPr/>
          <p:nvPr/>
        </p:nvSpPr>
        <p:spPr>
          <a:xfrm>
            <a:off x="502920" y="2688336"/>
            <a:ext cx="10789920" cy="1719072"/>
          </a:xfrm>
          <a:prstGeom prst="roundRect">
            <a:avLst>
              <a:gd name="adj" fmla="val 5319"/>
            </a:avLst>
          </a:prstGeom>
          <a:solidFill>
            <a:srgbClr val="F0FDF4"/>
          </a:solidFill>
          <a:ln w="12700">
            <a:solidFill>
              <a:srgbClr val="16A34A">
                <a:alpha val="45000"/>
              </a:srgbClr>
            </a:solidFill>
            <a:prstDash val="solid"/>
          </a:ln>
        </p:spPr>
      </p:sp>
      <p:sp>
        <p:nvSpPr>
          <p:cNvPr id="9" name="Text 7"/>
          <p:cNvSpPr/>
          <p:nvPr/>
        </p:nvSpPr>
        <p:spPr>
          <a:xfrm>
            <a:off x="749808" y="2779776"/>
            <a:ext cx="10287000" cy="1536192"/>
          </a:xfrm>
          <a:prstGeom prst="rect">
            <a:avLst/>
          </a:prstGeom>
          <a:noFill/>
          <a:ln/>
        </p:spPr>
        <p:txBody>
          <a:bodyPr wrap="square" lIns="0" tIns="0" rIns="0" bIns="0" rtlCol="0" anchor="ctr"/>
          <a:lstStyle/>
          <a:p>
            <a:pPr indent="0" marL="0">
              <a:lnSpc>
                <a:spcPct val="138000"/>
              </a:lnSpc>
              <a:buNone/>
            </a:pPr>
            <a:r>
              <a:rPr lang="en-US" sz="1400" dirty="0">
                <a:solidFill>
                  <a:srgbClr val="475569"/>
                </a:solidFill>
                <a:latin typeface="Calibri" pitchFamily="34" charset="0"/>
                <a:ea typeface="Calibri" pitchFamily="34" charset="-122"/>
                <a:cs typeface="Calibri" pitchFamily="34" charset="-120"/>
              </a:rPr>
              <a:t>Yes — Whisper supports 99 languages including Hindi (hi), Tamil (ta), Telugu (te), Bengali (bn), Marathi (mr), Gujarati (gu), Kannada (kn), and more. Specify the language code explicitly in your API call for 20-30% better accuracy and faster processing. If you omit the language, Whisper auto-detects it from the audio — this works well but adds a small overhead. For mixed-language audio (code-switching between Hindi and English, common in India), Whisper handles it reasonably but accuracy drops on heavily mixed segments.</a:t>
            </a:r>
            <a:endParaRPr lang="en-US" sz="1400" dirty="0"/>
          </a:p>
        </p:txBody>
      </p:sp>
      <p:sp>
        <p:nvSpPr>
          <p:cNvPr id="10" name="Text 8"/>
          <p:cNvSpPr/>
          <p:nvPr/>
        </p:nvSpPr>
        <p:spPr>
          <a:xfrm>
            <a:off x="502920" y="4553712"/>
            <a:ext cx="4572000" cy="256032"/>
          </a:xfrm>
          <a:prstGeom prst="rect">
            <a:avLst/>
          </a:prstGeom>
          <a:noFill/>
          <a:ln/>
        </p:spPr>
        <p:txBody>
          <a:bodyPr wrap="square" lIns="0" tIns="0" rIns="0" bIns="0" rtlCol="0" anchor="ctr"/>
          <a:lstStyle/>
          <a:p>
            <a:pPr indent="0" marL="0">
              <a:buNone/>
            </a:pPr>
            <a:r>
              <a:rPr lang="en-US" sz="1000" b="1" spc="200" kern="0" dirty="0">
                <a:solidFill>
                  <a:srgbClr val="D97706"/>
                </a:solidFill>
                <a:latin typeface="Calibri" pitchFamily="34" charset="0"/>
                <a:ea typeface="Calibri" pitchFamily="34" charset="-122"/>
                <a:cs typeface="Calibri" pitchFamily="34" charset="-120"/>
              </a:rPr>
              <a:t>DEEPER INSIGHT</a:t>
            </a:r>
            <a:endParaRPr lang="en-US" sz="1000" dirty="0"/>
          </a:p>
        </p:txBody>
      </p:sp>
      <p:sp>
        <p:nvSpPr>
          <p:cNvPr id="11" name="Shape 9"/>
          <p:cNvSpPr/>
          <p:nvPr/>
        </p:nvSpPr>
        <p:spPr>
          <a:xfrm>
            <a:off x="502920" y="4828032"/>
            <a:ext cx="10789920" cy="1481328"/>
          </a:xfrm>
          <a:prstGeom prst="roundRect">
            <a:avLst>
              <a:gd name="adj" fmla="val 6173"/>
            </a:avLst>
          </a:prstGeom>
          <a:solidFill>
            <a:srgbClr val="FFFBEB"/>
          </a:solidFill>
          <a:ln w="12700">
            <a:solidFill>
              <a:srgbClr val="D97706">
                <a:alpha val="45000"/>
              </a:srgbClr>
            </a:solidFill>
            <a:prstDash val="solid"/>
          </a:ln>
        </p:spPr>
      </p:sp>
      <p:sp>
        <p:nvSpPr>
          <p:cNvPr id="12" name="Text 10"/>
          <p:cNvSpPr/>
          <p:nvPr/>
        </p:nvSpPr>
        <p:spPr>
          <a:xfrm>
            <a:off x="749808" y="4901184"/>
            <a:ext cx="10287000" cy="1335024"/>
          </a:xfrm>
          <a:prstGeom prst="rect">
            <a:avLst/>
          </a:prstGeom>
          <a:noFill/>
          <a:ln/>
        </p:spPr>
        <p:txBody>
          <a:bodyPr wrap="square" lIns="0" tIns="0" rIns="0" bIns="0" rtlCol="0" anchor="ctr"/>
          <a:lstStyle/>
          <a:p>
            <a:pPr indent="0" marL="0">
              <a:lnSpc>
                <a:spcPct val="138000"/>
              </a:lnSpc>
              <a:buNone/>
            </a:pPr>
            <a:r>
              <a:rPr lang="en-US" sz="1300" dirty="0">
                <a:solidFill>
                  <a:srgbClr val="633806"/>
                </a:solidFill>
                <a:latin typeface="Calibri" pitchFamily="34" charset="0"/>
                <a:ea typeface="Calibri" pitchFamily="34" charset="-122"/>
                <a:cs typeface="Calibri" pitchFamily="34" charset="-120"/>
              </a:rPr>
              <a:t>For Indian language voice apps: always specify the language. Use whisper-1 (the only available model). For Hinglish (Hindi-English mixed), the model tends to output English for English words and Hindi for Hindi words, which is usually what you want. If your app serves multiple language speakers, detect the spoken language in a first pass (language=null), then re-transcribe with the detected language for better accuracy. The translation endpoint always outputs English regardless of input language.</a:t>
            </a:r>
            <a:endParaRPr lang="en-US" sz="1300" dirty="0"/>
          </a:p>
        </p:txBody>
      </p:sp>
      <p:sp>
        <p:nvSpPr>
          <p:cNvPr id="13" name="Shape 11"/>
          <p:cNvSpPr/>
          <p:nvPr/>
        </p:nvSpPr>
        <p:spPr>
          <a:xfrm>
            <a:off x="0" y="6583680"/>
            <a:ext cx="12191695" cy="274320"/>
          </a:xfrm>
          <a:prstGeom prst="rect">
            <a:avLst/>
          </a:prstGeom>
          <a:solidFill>
            <a:srgbClr val="0891B2">
              <a:alpha val="12000"/>
            </a:srgbClr>
          </a:solidFill>
          <a:ln w="12700">
            <a:solidFill>
              <a:srgbClr val="0891B2">
                <a:alpha val="35000"/>
              </a:srgbClr>
            </a:solidFill>
            <a:prstDash val="solid"/>
          </a:ln>
        </p:spPr>
      </p:sp>
      <p:sp>
        <p:nvSpPr>
          <p:cNvPr id="14" name="Text 12"/>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5" name="Text 13"/>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23 / 31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658368" cy="658368"/>
          </a:xfrm>
          <a:prstGeom prst="roundRect">
            <a:avLst>
              <a:gd name="adj" fmla="val 11111"/>
            </a:avLst>
          </a:prstGeom>
          <a:solidFill>
            <a:srgbClr val="16A34A"/>
          </a:solidFill>
          <a:ln w="12700">
            <a:solidFill>
              <a:srgbClr val="16A34A"/>
            </a:solidFill>
            <a:prstDash val="solid"/>
          </a:ln>
        </p:spPr>
      </p:sp>
      <p:sp>
        <p:nvSpPr>
          <p:cNvPr id="3" name="Text 1"/>
          <p:cNvSpPr/>
          <p:nvPr/>
        </p:nvSpPr>
        <p:spPr>
          <a:xfrm>
            <a:off x="502920" y="41148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Q2</a:t>
            </a:r>
            <a:endParaRPr lang="en-US" sz="1800" dirty="0"/>
          </a:p>
        </p:txBody>
      </p:sp>
      <p:sp>
        <p:nvSpPr>
          <p:cNvPr id="4" name="Text 2"/>
          <p:cNvSpPr/>
          <p:nvPr/>
        </p:nvSpPr>
        <p:spPr>
          <a:xfrm>
            <a:off x="1298448" y="475488"/>
            <a:ext cx="5486400" cy="274320"/>
          </a:xfrm>
          <a:prstGeom prst="rect">
            <a:avLst/>
          </a:prstGeom>
          <a:noFill/>
          <a:ln/>
        </p:spPr>
        <p:txBody>
          <a:bodyPr wrap="square" lIns="0" tIns="0" rIns="0" bIns="0" rtlCol="0" anchor="ctr"/>
          <a:lstStyle/>
          <a:p>
            <a:pPr indent="0" marL="0">
              <a:buNone/>
            </a:pPr>
            <a:r>
              <a:rPr lang="en-US" sz="1100" b="1" spc="300" kern="0" dirty="0">
                <a:solidFill>
                  <a:srgbClr val="16A34A"/>
                </a:solidFill>
                <a:latin typeface="Calibri" pitchFamily="34" charset="0"/>
                <a:ea typeface="Calibri" pitchFamily="34" charset="-122"/>
                <a:cs typeface="Calibri" pitchFamily="34" charset="-120"/>
              </a:rPr>
              <a:t>STUDENT QUESTION</a:t>
            </a:r>
            <a:endParaRPr lang="en-US" sz="1100" dirty="0"/>
          </a:p>
        </p:txBody>
      </p:sp>
      <p:sp>
        <p:nvSpPr>
          <p:cNvPr id="5" name="Shape 3"/>
          <p:cNvSpPr/>
          <p:nvPr/>
        </p:nvSpPr>
        <p:spPr>
          <a:xfrm>
            <a:off x="502920" y="1207008"/>
            <a:ext cx="10789920" cy="1024128"/>
          </a:xfrm>
          <a:prstGeom prst="roundRect">
            <a:avLst>
              <a:gd name="adj" fmla="val 10714"/>
            </a:avLst>
          </a:prstGeom>
          <a:solidFill>
            <a:srgbClr val="F0FDF4"/>
          </a:solidFill>
          <a:ln w="12700">
            <a:solidFill>
              <a:srgbClr val="16A34A">
                <a:alpha val="50000"/>
              </a:srgbClr>
            </a:solidFill>
            <a:prstDash val="solid"/>
          </a:ln>
        </p:spPr>
      </p:sp>
      <p:sp>
        <p:nvSpPr>
          <p:cNvPr id="6" name="Text 4"/>
          <p:cNvSpPr/>
          <p:nvPr/>
        </p:nvSpPr>
        <p:spPr>
          <a:xfrm>
            <a:off x="777240" y="1298448"/>
            <a:ext cx="10241280" cy="841248"/>
          </a:xfrm>
          <a:prstGeom prst="rect">
            <a:avLst/>
          </a:prstGeom>
          <a:noFill/>
          <a:ln/>
        </p:spPr>
        <p:txBody>
          <a:bodyPr wrap="square" lIns="0" tIns="0" rIns="0" bIns="0" rtlCol="0" anchor="ctr"/>
          <a:lstStyle/>
          <a:p>
            <a:pPr indent="0" marL="0">
              <a:lnSpc>
                <a:spcPct val="110000"/>
              </a:lnSpc>
              <a:buNone/>
            </a:pPr>
            <a:r>
              <a:rPr lang="en-US" sz="2100" b="1" dirty="0">
                <a:solidFill>
                  <a:srgbClr val="16A34A"/>
                </a:solidFill>
                <a:latin typeface="Calibri" pitchFamily="34" charset="0"/>
                <a:ea typeface="Calibri" pitchFamily="34" charset="-122"/>
                <a:cs typeface="Calibri" pitchFamily="34" charset="-120"/>
              </a:rPr>
              <a:t>How do I record audio from a microphone in Java? There is no file to pass to Whisper.</a:t>
            </a:r>
            <a:endParaRPr lang="en-US" sz="2100" dirty="0"/>
          </a:p>
        </p:txBody>
      </p:sp>
      <p:sp>
        <p:nvSpPr>
          <p:cNvPr id="7" name="Text 5"/>
          <p:cNvSpPr/>
          <p:nvPr/>
        </p:nvSpPr>
        <p:spPr>
          <a:xfrm>
            <a:off x="502920" y="2395728"/>
            <a:ext cx="2743200" cy="256032"/>
          </a:xfrm>
          <a:prstGeom prst="rect">
            <a:avLst/>
          </a:prstGeom>
          <a:noFill/>
          <a:ln/>
        </p:spPr>
        <p:txBody>
          <a:bodyPr wrap="square" lIns="0" tIns="0" rIns="0" bIns="0" rtlCol="0" anchor="ctr"/>
          <a:lstStyle/>
          <a:p>
            <a:pPr indent="0" marL="0">
              <a:buNone/>
            </a:pPr>
            <a:r>
              <a:rPr lang="en-US" sz="1100" b="1" spc="300" kern="0" dirty="0">
                <a:solidFill>
                  <a:srgbClr val="16A34A"/>
                </a:solidFill>
                <a:latin typeface="Calibri" pitchFamily="34" charset="0"/>
                <a:ea typeface="Calibri" pitchFamily="34" charset="-122"/>
                <a:cs typeface="Calibri" pitchFamily="34" charset="-120"/>
              </a:rPr>
              <a:t>ANSWER</a:t>
            </a:r>
            <a:endParaRPr lang="en-US" sz="1100" dirty="0"/>
          </a:p>
        </p:txBody>
      </p:sp>
      <p:sp>
        <p:nvSpPr>
          <p:cNvPr id="8" name="Shape 6"/>
          <p:cNvSpPr/>
          <p:nvPr/>
        </p:nvSpPr>
        <p:spPr>
          <a:xfrm>
            <a:off x="502920" y="2688336"/>
            <a:ext cx="10789920" cy="1719072"/>
          </a:xfrm>
          <a:prstGeom prst="roundRect">
            <a:avLst>
              <a:gd name="adj" fmla="val 5319"/>
            </a:avLst>
          </a:prstGeom>
          <a:solidFill>
            <a:srgbClr val="F0FDF4"/>
          </a:solidFill>
          <a:ln w="12700">
            <a:solidFill>
              <a:srgbClr val="16A34A">
                <a:alpha val="45000"/>
              </a:srgbClr>
            </a:solidFill>
            <a:prstDash val="solid"/>
          </a:ln>
        </p:spPr>
      </p:sp>
      <p:sp>
        <p:nvSpPr>
          <p:cNvPr id="9" name="Text 7"/>
          <p:cNvSpPr/>
          <p:nvPr/>
        </p:nvSpPr>
        <p:spPr>
          <a:xfrm>
            <a:off x="749808" y="2779776"/>
            <a:ext cx="10287000" cy="1536192"/>
          </a:xfrm>
          <a:prstGeom prst="rect">
            <a:avLst/>
          </a:prstGeom>
          <a:noFill/>
          <a:ln/>
        </p:spPr>
        <p:txBody>
          <a:bodyPr wrap="square" lIns="0" tIns="0" rIns="0" bIns="0" rtlCol="0" anchor="ctr"/>
          <a:lstStyle/>
          <a:p>
            <a:pPr indent="0" marL="0">
              <a:lnSpc>
                <a:spcPct val="138000"/>
              </a:lnSpc>
              <a:buNone/>
            </a:pPr>
            <a:r>
              <a:rPr lang="en-US" sz="1400" dirty="0">
                <a:solidFill>
                  <a:srgbClr val="475569"/>
                </a:solidFill>
                <a:latin typeface="Calibri" pitchFamily="34" charset="0"/>
                <a:ea typeface="Calibri" pitchFamily="34" charset="-122"/>
                <a:cs typeface="Calibri" pitchFamily="34" charset="-120"/>
              </a:rPr>
              <a:t>Java's javax.sound.sampled package provides microphone access. Record to a WAV file, then pass to Whisper. For a Spring Boot web app, record in the browser using the MediaRecorder Web API and send the audio blob to your backend. The browser approach is more practical: JavaScript handles the microphone, sends the audio as a multipart upload, your Java controller saves it to a temp file, passes it to Whisper, and returns the transcript. For pure Java desktop apps, use javax.sound.sampled.AudioSystem to capture from the TargetDataLine.</a:t>
            </a:r>
            <a:endParaRPr lang="en-US" sz="1400" dirty="0"/>
          </a:p>
        </p:txBody>
      </p:sp>
      <p:sp>
        <p:nvSpPr>
          <p:cNvPr id="10" name="Text 8"/>
          <p:cNvSpPr/>
          <p:nvPr/>
        </p:nvSpPr>
        <p:spPr>
          <a:xfrm>
            <a:off x="502920" y="4553712"/>
            <a:ext cx="4572000" cy="256032"/>
          </a:xfrm>
          <a:prstGeom prst="rect">
            <a:avLst/>
          </a:prstGeom>
          <a:noFill/>
          <a:ln/>
        </p:spPr>
        <p:txBody>
          <a:bodyPr wrap="square" lIns="0" tIns="0" rIns="0" bIns="0" rtlCol="0" anchor="ctr"/>
          <a:lstStyle/>
          <a:p>
            <a:pPr indent="0" marL="0">
              <a:buNone/>
            </a:pPr>
            <a:r>
              <a:rPr lang="en-US" sz="1000" b="1" spc="200" kern="0" dirty="0">
                <a:solidFill>
                  <a:srgbClr val="D97706"/>
                </a:solidFill>
                <a:latin typeface="Calibri" pitchFamily="34" charset="0"/>
                <a:ea typeface="Calibri" pitchFamily="34" charset="-122"/>
                <a:cs typeface="Calibri" pitchFamily="34" charset="-120"/>
              </a:rPr>
              <a:t>DEEPER INSIGHT</a:t>
            </a:r>
            <a:endParaRPr lang="en-US" sz="1000" dirty="0"/>
          </a:p>
        </p:txBody>
      </p:sp>
      <p:sp>
        <p:nvSpPr>
          <p:cNvPr id="11" name="Shape 9"/>
          <p:cNvSpPr/>
          <p:nvPr/>
        </p:nvSpPr>
        <p:spPr>
          <a:xfrm>
            <a:off x="502920" y="4828032"/>
            <a:ext cx="10789920" cy="1481328"/>
          </a:xfrm>
          <a:prstGeom prst="roundRect">
            <a:avLst>
              <a:gd name="adj" fmla="val 6173"/>
            </a:avLst>
          </a:prstGeom>
          <a:solidFill>
            <a:srgbClr val="FFFBEB"/>
          </a:solidFill>
          <a:ln w="12700">
            <a:solidFill>
              <a:srgbClr val="D97706">
                <a:alpha val="45000"/>
              </a:srgbClr>
            </a:solidFill>
            <a:prstDash val="solid"/>
          </a:ln>
        </p:spPr>
      </p:sp>
      <p:sp>
        <p:nvSpPr>
          <p:cNvPr id="12" name="Text 10"/>
          <p:cNvSpPr/>
          <p:nvPr/>
        </p:nvSpPr>
        <p:spPr>
          <a:xfrm>
            <a:off x="749808" y="4901184"/>
            <a:ext cx="10287000" cy="1335024"/>
          </a:xfrm>
          <a:prstGeom prst="rect">
            <a:avLst/>
          </a:prstGeom>
          <a:noFill/>
          <a:ln/>
        </p:spPr>
        <p:txBody>
          <a:bodyPr wrap="square" lIns="0" tIns="0" rIns="0" bIns="0" rtlCol="0" anchor="ctr"/>
          <a:lstStyle/>
          <a:p>
            <a:pPr indent="0" marL="0">
              <a:lnSpc>
                <a:spcPct val="138000"/>
              </a:lnSpc>
              <a:buNone/>
            </a:pPr>
            <a:r>
              <a:rPr lang="en-US" sz="1300" dirty="0">
                <a:solidFill>
                  <a:srgbClr val="633806"/>
                </a:solidFill>
                <a:latin typeface="Calibri" pitchFamily="34" charset="0"/>
                <a:ea typeface="Calibri" pitchFamily="34" charset="-122"/>
                <a:cs typeface="Calibri" pitchFamily="34" charset="-120"/>
              </a:rPr>
              <a:t>The browser + multipart approach is what you will use in the capstone. JavaScript's MediaRecorder API is widely supported and handles WAV/WebM recording natively. Send via fetch() as FormData with the audio blob. On the Spring Boot side: @RequestParam MultipartFile audio in the controller, audioFile.transferTo(tempPath), pass tempPath to Whisper. This is 20 lines of JS + 5 lines of Java and it works on every device with a microphone.</a:t>
            </a:r>
            <a:endParaRPr lang="en-US" sz="1300" dirty="0"/>
          </a:p>
        </p:txBody>
      </p:sp>
      <p:sp>
        <p:nvSpPr>
          <p:cNvPr id="13" name="Shape 11"/>
          <p:cNvSpPr/>
          <p:nvPr/>
        </p:nvSpPr>
        <p:spPr>
          <a:xfrm>
            <a:off x="0" y="6583680"/>
            <a:ext cx="12191695" cy="274320"/>
          </a:xfrm>
          <a:prstGeom prst="rect">
            <a:avLst/>
          </a:prstGeom>
          <a:solidFill>
            <a:srgbClr val="16A34A">
              <a:alpha val="12000"/>
            </a:srgbClr>
          </a:solidFill>
          <a:ln w="12700">
            <a:solidFill>
              <a:srgbClr val="16A34A">
                <a:alpha val="35000"/>
              </a:srgbClr>
            </a:solidFill>
            <a:prstDash val="solid"/>
          </a:ln>
        </p:spPr>
      </p:sp>
      <p:sp>
        <p:nvSpPr>
          <p:cNvPr id="14" name="Text 12"/>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5" name="Text 13"/>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24 / 31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658368" cy="658368"/>
          </a:xfrm>
          <a:prstGeom prst="roundRect">
            <a:avLst>
              <a:gd name="adj" fmla="val 11111"/>
            </a:avLst>
          </a:prstGeom>
          <a:solidFill>
            <a:srgbClr val="7C3AED"/>
          </a:solidFill>
          <a:ln w="12700">
            <a:solidFill>
              <a:srgbClr val="7C3AED"/>
            </a:solidFill>
            <a:prstDash val="solid"/>
          </a:ln>
        </p:spPr>
      </p:sp>
      <p:sp>
        <p:nvSpPr>
          <p:cNvPr id="3" name="Text 1"/>
          <p:cNvSpPr/>
          <p:nvPr/>
        </p:nvSpPr>
        <p:spPr>
          <a:xfrm>
            <a:off x="502920" y="41148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Q3</a:t>
            </a:r>
            <a:endParaRPr lang="en-US" sz="1800" dirty="0"/>
          </a:p>
        </p:txBody>
      </p:sp>
      <p:sp>
        <p:nvSpPr>
          <p:cNvPr id="4" name="Text 2"/>
          <p:cNvSpPr/>
          <p:nvPr/>
        </p:nvSpPr>
        <p:spPr>
          <a:xfrm>
            <a:off x="1298448" y="475488"/>
            <a:ext cx="5486400" cy="274320"/>
          </a:xfrm>
          <a:prstGeom prst="rect">
            <a:avLst/>
          </a:prstGeom>
          <a:noFill/>
          <a:ln/>
        </p:spPr>
        <p:txBody>
          <a:bodyPr wrap="square" lIns="0" tIns="0" rIns="0" bIns="0" rtlCol="0" anchor="ctr"/>
          <a:lstStyle/>
          <a:p>
            <a:pPr indent="0" marL="0">
              <a:buNone/>
            </a:pPr>
            <a:r>
              <a:rPr lang="en-US" sz="1100" b="1" spc="300" kern="0" dirty="0">
                <a:solidFill>
                  <a:srgbClr val="7C3AED"/>
                </a:solidFill>
                <a:latin typeface="Calibri" pitchFamily="34" charset="0"/>
                <a:ea typeface="Calibri" pitchFamily="34" charset="-122"/>
                <a:cs typeface="Calibri" pitchFamily="34" charset="-120"/>
              </a:rPr>
              <a:t>STUDENT QUESTION</a:t>
            </a:r>
            <a:endParaRPr lang="en-US" sz="1100" dirty="0"/>
          </a:p>
        </p:txBody>
      </p:sp>
      <p:sp>
        <p:nvSpPr>
          <p:cNvPr id="5" name="Shape 3"/>
          <p:cNvSpPr/>
          <p:nvPr/>
        </p:nvSpPr>
        <p:spPr>
          <a:xfrm>
            <a:off x="502920" y="1207008"/>
            <a:ext cx="10789920" cy="1024128"/>
          </a:xfrm>
          <a:prstGeom prst="roundRect">
            <a:avLst>
              <a:gd name="adj" fmla="val 10714"/>
            </a:avLst>
          </a:prstGeom>
          <a:solidFill>
            <a:srgbClr val="EDE9FE"/>
          </a:solidFill>
          <a:ln w="12700">
            <a:solidFill>
              <a:srgbClr val="7C3AED">
                <a:alpha val="50000"/>
              </a:srgbClr>
            </a:solidFill>
            <a:prstDash val="solid"/>
          </a:ln>
        </p:spPr>
      </p:sp>
      <p:sp>
        <p:nvSpPr>
          <p:cNvPr id="6" name="Text 4"/>
          <p:cNvSpPr/>
          <p:nvPr/>
        </p:nvSpPr>
        <p:spPr>
          <a:xfrm>
            <a:off x="777240" y="1298448"/>
            <a:ext cx="10241280" cy="841248"/>
          </a:xfrm>
          <a:prstGeom prst="rect">
            <a:avLst/>
          </a:prstGeom>
          <a:noFill/>
          <a:ln/>
        </p:spPr>
        <p:txBody>
          <a:bodyPr wrap="square" lIns="0" tIns="0" rIns="0" bIns="0" rtlCol="0" anchor="ctr"/>
          <a:lstStyle/>
          <a:p>
            <a:pPr indent="0" marL="0">
              <a:lnSpc>
                <a:spcPct val="110000"/>
              </a:lnSpc>
              <a:buNone/>
            </a:pPr>
            <a:r>
              <a:rPr lang="en-US" sz="2100" b="1" dirty="0">
                <a:solidFill>
                  <a:srgbClr val="7C3AED"/>
                </a:solidFill>
                <a:latin typeface="Calibri" pitchFamily="34" charset="0"/>
                <a:ea typeface="Calibri" pitchFamily="34" charset="-122"/>
                <a:cs typeface="Calibri" pitchFamily="34" charset="-120"/>
              </a:rPr>
              <a:t>DALL-E is terrible at generating text inside images. Why? Can I work around it?</a:t>
            </a:r>
            <a:endParaRPr lang="en-US" sz="2100" dirty="0"/>
          </a:p>
        </p:txBody>
      </p:sp>
      <p:sp>
        <p:nvSpPr>
          <p:cNvPr id="7" name="Text 5"/>
          <p:cNvSpPr/>
          <p:nvPr/>
        </p:nvSpPr>
        <p:spPr>
          <a:xfrm>
            <a:off x="502920" y="2395728"/>
            <a:ext cx="2743200" cy="256032"/>
          </a:xfrm>
          <a:prstGeom prst="rect">
            <a:avLst/>
          </a:prstGeom>
          <a:noFill/>
          <a:ln/>
        </p:spPr>
        <p:txBody>
          <a:bodyPr wrap="square" lIns="0" tIns="0" rIns="0" bIns="0" rtlCol="0" anchor="ctr"/>
          <a:lstStyle/>
          <a:p>
            <a:pPr indent="0" marL="0">
              <a:buNone/>
            </a:pPr>
            <a:r>
              <a:rPr lang="en-US" sz="1100" b="1" spc="300" kern="0" dirty="0">
                <a:solidFill>
                  <a:srgbClr val="16A34A"/>
                </a:solidFill>
                <a:latin typeface="Calibri" pitchFamily="34" charset="0"/>
                <a:ea typeface="Calibri" pitchFamily="34" charset="-122"/>
                <a:cs typeface="Calibri" pitchFamily="34" charset="-120"/>
              </a:rPr>
              <a:t>ANSWER</a:t>
            </a:r>
            <a:endParaRPr lang="en-US" sz="1100" dirty="0"/>
          </a:p>
        </p:txBody>
      </p:sp>
      <p:sp>
        <p:nvSpPr>
          <p:cNvPr id="8" name="Shape 6"/>
          <p:cNvSpPr/>
          <p:nvPr/>
        </p:nvSpPr>
        <p:spPr>
          <a:xfrm>
            <a:off x="502920" y="2688336"/>
            <a:ext cx="10789920" cy="1719072"/>
          </a:xfrm>
          <a:prstGeom prst="roundRect">
            <a:avLst>
              <a:gd name="adj" fmla="val 5319"/>
            </a:avLst>
          </a:prstGeom>
          <a:solidFill>
            <a:srgbClr val="F0FDF4"/>
          </a:solidFill>
          <a:ln w="12700">
            <a:solidFill>
              <a:srgbClr val="16A34A">
                <a:alpha val="45000"/>
              </a:srgbClr>
            </a:solidFill>
            <a:prstDash val="solid"/>
          </a:ln>
        </p:spPr>
      </p:sp>
      <p:sp>
        <p:nvSpPr>
          <p:cNvPr id="9" name="Text 7"/>
          <p:cNvSpPr/>
          <p:nvPr/>
        </p:nvSpPr>
        <p:spPr>
          <a:xfrm>
            <a:off x="749808" y="2779776"/>
            <a:ext cx="10287000" cy="1536192"/>
          </a:xfrm>
          <a:prstGeom prst="rect">
            <a:avLst/>
          </a:prstGeom>
          <a:noFill/>
          <a:ln/>
        </p:spPr>
        <p:txBody>
          <a:bodyPr wrap="square" lIns="0" tIns="0" rIns="0" bIns="0" rtlCol="0" anchor="ctr"/>
          <a:lstStyle/>
          <a:p>
            <a:pPr indent="0" marL="0">
              <a:lnSpc>
                <a:spcPct val="138000"/>
              </a:lnSpc>
              <a:buNone/>
            </a:pPr>
            <a:r>
              <a:rPr lang="en-US" sz="1400" dirty="0">
                <a:solidFill>
                  <a:srgbClr val="475569"/>
                </a:solidFill>
                <a:latin typeface="Calibri" pitchFamily="34" charset="0"/>
                <a:ea typeface="Calibri" pitchFamily="34" charset="-122"/>
                <a:cs typeface="Calibri" pitchFamily="34" charset="-120"/>
              </a:rPr>
              <a:t>Diffusion models generate images pixel by pixel based on visual patterns in training data, not by understanding the structure of letters. Text in an image is just another visual pattern — but unlike natural scenes, text has critical precise constraints (exact letter shapes, exact spacing, exact sequence) that diffusion cannot reliably reproduce. DALL-E 3 improved significantly over DALL-E 2 but still struggles with more than a few characters. Workaround: generate the image without text, then composite text programmatically using Java's Graphics2D or a library like PDFBox/ImageIO.</a:t>
            </a:r>
            <a:endParaRPr lang="en-US" sz="1400" dirty="0"/>
          </a:p>
        </p:txBody>
      </p:sp>
      <p:sp>
        <p:nvSpPr>
          <p:cNvPr id="10" name="Text 8"/>
          <p:cNvSpPr/>
          <p:nvPr/>
        </p:nvSpPr>
        <p:spPr>
          <a:xfrm>
            <a:off x="502920" y="4553712"/>
            <a:ext cx="4572000" cy="256032"/>
          </a:xfrm>
          <a:prstGeom prst="rect">
            <a:avLst/>
          </a:prstGeom>
          <a:noFill/>
          <a:ln/>
        </p:spPr>
        <p:txBody>
          <a:bodyPr wrap="square" lIns="0" tIns="0" rIns="0" bIns="0" rtlCol="0" anchor="ctr"/>
          <a:lstStyle/>
          <a:p>
            <a:pPr indent="0" marL="0">
              <a:buNone/>
            </a:pPr>
            <a:r>
              <a:rPr lang="en-US" sz="1000" b="1" spc="200" kern="0" dirty="0">
                <a:solidFill>
                  <a:srgbClr val="D97706"/>
                </a:solidFill>
                <a:latin typeface="Calibri" pitchFamily="34" charset="0"/>
                <a:ea typeface="Calibri" pitchFamily="34" charset="-122"/>
                <a:cs typeface="Calibri" pitchFamily="34" charset="-120"/>
              </a:rPr>
              <a:t>DEEPER INSIGHT</a:t>
            </a:r>
            <a:endParaRPr lang="en-US" sz="1000" dirty="0"/>
          </a:p>
        </p:txBody>
      </p:sp>
      <p:sp>
        <p:nvSpPr>
          <p:cNvPr id="11" name="Shape 9"/>
          <p:cNvSpPr/>
          <p:nvPr/>
        </p:nvSpPr>
        <p:spPr>
          <a:xfrm>
            <a:off x="502920" y="4828032"/>
            <a:ext cx="10789920" cy="1481328"/>
          </a:xfrm>
          <a:prstGeom prst="roundRect">
            <a:avLst>
              <a:gd name="adj" fmla="val 6173"/>
            </a:avLst>
          </a:prstGeom>
          <a:solidFill>
            <a:srgbClr val="FFFBEB"/>
          </a:solidFill>
          <a:ln w="12700">
            <a:solidFill>
              <a:srgbClr val="D97706">
                <a:alpha val="45000"/>
              </a:srgbClr>
            </a:solidFill>
            <a:prstDash val="solid"/>
          </a:ln>
        </p:spPr>
      </p:sp>
      <p:sp>
        <p:nvSpPr>
          <p:cNvPr id="12" name="Text 10"/>
          <p:cNvSpPr/>
          <p:nvPr/>
        </p:nvSpPr>
        <p:spPr>
          <a:xfrm>
            <a:off x="749808" y="4901184"/>
            <a:ext cx="10287000" cy="1335024"/>
          </a:xfrm>
          <a:prstGeom prst="rect">
            <a:avLst/>
          </a:prstGeom>
          <a:noFill/>
          <a:ln/>
        </p:spPr>
        <p:txBody>
          <a:bodyPr wrap="square" lIns="0" tIns="0" rIns="0" bIns="0" rtlCol="0" anchor="ctr"/>
          <a:lstStyle/>
          <a:p>
            <a:pPr indent="0" marL="0">
              <a:lnSpc>
                <a:spcPct val="138000"/>
              </a:lnSpc>
              <a:buNone/>
            </a:pPr>
            <a:r>
              <a:rPr lang="en-US" sz="1300" dirty="0">
                <a:solidFill>
                  <a:srgbClr val="633806"/>
                </a:solidFill>
                <a:latin typeface="Calibri" pitchFamily="34" charset="0"/>
                <a:ea typeface="Calibri" pitchFamily="34" charset="-122"/>
                <a:cs typeface="Calibri" pitchFamily="34" charset="-120"/>
              </a:rPr>
              <a:t>For production apps needing text in images: generate the background and visual elements with DALL-E, then add text in Java. This separation of concerns is better engineering anyway — your text stays editable, brand-compliant, and dynamically data-driven. Another approach: describe the desired image composition precisely ('clean space in the upper left corner for text overlay') and fill that space programmatically. For logos, generate the icon only, add the brand name with your chosen font in Java code.</a:t>
            </a:r>
            <a:endParaRPr lang="en-US" sz="1300" dirty="0"/>
          </a:p>
        </p:txBody>
      </p:sp>
      <p:sp>
        <p:nvSpPr>
          <p:cNvPr id="13" name="Shape 11"/>
          <p:cNvSpPr/>
          <p:nvPr/>
        </p:nvSpPr>
        <p:spPr>
          <a:xfrm>
            <a:off x="0" y="6583680"/>
            <a:ext cx="12191695" cy="274320"/>
          </a:xfrm>
          <a:prstGeom prst="rect">
            <a:avLst/>
          </a:prstGeom>
          <a:solidFill>
            <a:srgbClr val="7C3AED">
              <a:alpha val="12000"/>
            </a:srgbClr>
          </a:solidFill>
          <a:ln w="12700">
            <a:solidFill>
              <a:srgbClr val="7C3AED">
                <a:alpha val="35000"/>
              </a:srgbClr>
            </a:solidFill>
            <a:prstDash val="solid"/>
          </a:ln>
        </p:spPr>
      </p:sp>
      <p:sp>
        <p:nvSpPr>
          <p:cNvPr id="14" name="Text 12"/>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5" name="Text 13"/>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25 / 31</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658368" cy="658368"/>
          </a:xfrm>
          <a:prstGeom prst="roundRect">
            <a:avLst>
              <a:gd name="adj" fmla="val 11111"/>
            </a:avLst>
          </a:prstGeom>
          <a:solidFill>
            <a:srgbClr val="D97706"/>
          </a:solidFill>
          <a:ln w="12700">
            <a:solidFill>
              <a:srgbClr val="D97706"/>
            </a:solidFill>
            <a:prstDash val="solid"/>
          </a:ln>
        </p:spPr>
      </p:sp>
      <p:sp>
        <p:nvSpPr>
          <p:cNvPr id="3" name="Text 1"/>
          <p:cNvSpPr/>
          <p:nvPr/>
        </p:nvSpPr>
        <p:spPr>
          <a:xfrm>
            <a:off x="502920" y="41148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Q4</a:t>
            </a:r>
            <a:endParaRPr lang="en-US" sz="1800" dirty="0"/>
          </a:p>
        </p:txBody>
      </p:sp>
      <p:sp>
        <p:nvSpPr>
          <p:cNvPr id="4" name="Text 2"/>
          <p:cNvSpPr/>
          <p:nvPr/>
        </p:nvSpPr>
        <p:spPr>
          <a:xfrm>
            <a:off x="1298448" y="475488"/>
            <a:ext cx="54864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STUDENT QUESTION</a:t>
            </a:r>
            <a:endParaRPr lang="en-US" sz="1100" dirty="0"/>
          </a:p>
        </p:txBody>
      </p:sp>
      <p:sp>
        <p:nvSpPr>
          <p:cNvPr id="5" name="Shape 3"/>
          <p:cNvSpPr/>
          <p:nvPr/>
        </p:nvSpPr>
        <p:spPr>
          <a:xfrm>
            <a:off x="502920" y="1207008"/>
            <a:ext cx="10789920" cy="1024128"/>
          </a:xfrm>
          <a:prstGeom prst="roundRect">
            <a:avLst>
              <a:gd name="adj" fmla="val 10714"/>
            </a:avLst>
          </a:prstGeom>
          <a:solidFill>
            <a:srgbClr val="FFFBEB"/>
          </a:solidFill>
          <a:ln w="12700">
            <a:solidFill>
              <a:srgbClr val="D97706">
                <a:alpha val="50000"/>
              </a:srgbClr>
            </a:solidFill>
            <a:prstDash val="solid"/>
          </a:ln>
        </p:spPr>
      </p:sp>
      <p:sp>
        <p:nvSpPr>
          <p:cNvPr id="6" name="Text 4"/>
          <p:cNvSpPr/>
          <p:nvPr/>
        </p:nvSpPr>
        <p:spPr>
          <a:xfrm>
            <a:off x="777240" y="1298448"/>
            <a:ext cx="10241280" cy="841248"/>
          </a:xfrm>
          <a:prstGeom prst="rect">
            <a:avLst/>
          </a:prstGeom>
          <a:noFill/>
          <a:ln/>
        </p:spPr>
        <p:txBody>
          <a:bodyPr wrap="square" lIns="0" tIns="0" rIns="0" bIns="0" rtlCol="0" anchor="ctr"/>
          <a:lstStyle/>
          <a:p>
            <a:pPr indent="0" marL="0">
              <a:lnSpc>
                <a:spcPct val="110000"/>
              </a:lnSpc>
              <a:buNone/>
            </a:pPr>
            <a:r>
              <a:rPr lang="en-US" sz="2100" b="1" dirty="0">
                <a:solidFill>
                  <a:srgbClr val="D97706"/>
                </a:solidFill>
                <a:latin typeface="Calibri" pitchFamily="34" charset="0"/>
                <a:ea typeface="Calibri" pitchFamily="34" charset="-122"/>
                <a:cs typeface="Calibri" pitchFamily="34" charset="-120"/>
              </a:rPr>
              <a:t>Can I use a local version of Whisper instead of paying the API? What about local TTS?</a:t>
            </a:r>
            <a:endParaRPr lang="en-US" sz="2100" dirty="0"/>
          </a:p>
        </p:txBody>
      </p:sp>
      <p:sp>
        <p:nvSpPr>
          <p:cNvPr id="7" name="Text 5"/>
          <p:cNvSpPr/>
          <p:nvPr/>
        </p:nvSpPr>
        <p:spPr>
          <a:xfrm>
            <a:off x="502920" y="2395728"/>
            <a:ext cx="2743200" cy="256032"/>
          </a:xfrm>
          <a:prstGeom prst="rect">
            <a:avLst/>
          </a:prstGeom>
          <a:noFill/>
          <a:ln/>
        </p:spPr>
        <p:txBody>
          <a:bodyPr wrap="square" lIns="0" tIns="0" rIns="0" bIns="0" rtlCol="0" anchor="ctr"/>
          <a:lstStyle/>
          <a:p>
            <a:pPr indent="0" marL="0">
              <a:buNone/>
            </a:pPr>
            <a:r>
              <a:rPr lang="en-US" sz="1100" b="1" spc="300" kern="0" dirty="0">
                <a:solidFill>
                  <a:srgbClr val="16A34A"/>
                </a:solidFill>
                <a:latin typeface="Calibri" pitchFamily="34" charset="0"/>
                <a:ea typeface="Calibri" pitchFamily="34" charset="-122"/>
                <a:cs typeface="Calibri" pitchFamily="34" charset="-120"/>
              </a:rPr>
              <a:t>ANSWER</a:t>
            </a:r>
            <a:endParaRPr lang="en-US" sz="1100" dirty="0"/>
          </a:p>
        </p:txBody>
      </p:sp>
      <p:sp>
        <p:nvSpPr>
          <p:cNvPr id="8" name="Shape 6"/>
          <p:cNvSpPr/>
          <p:nvPr/>
        </p:nvSpPr>
        <p:spPr>
          <a:xfrm>
            <a:off x="502920" y="2688336"/>
            <a:ext cx="10789920" cy="1719072"/>
          </a:xfrm>
          <a:prstGeom prst="roundRect">
            <a:avLst>
              <a:gd name="adj" fmla="val 5319"/>
            </a:avLst>
          </a:prstGeom>
          <a:solidFill>
            <a:srgbClr val="F0FDF4"/>
          </a:solidFill>
          <a:ln w="12700">
            <a:solidFill>
              <a:srgbClr val="16A34A">
                <a:alpha val="45000"/>
              </a:srgbClr>
            </a:solidFill>
            <a:prstDash val="solid"/>
          </a:ln>
        </p:spPr>
      </p:sp>
      <p:sp>
        <p:nvSpPr>
          <p:cNvPr id="9" name="Text 7"/>
          <p:cNvSpPr/>
          <p:nvPr/>
        </p:nvSpPr>
        <p:spPr>
          <a:xfrm>
            <a:off x="749808" y="2779776"/>
            <a:ext cx="10287000" cy="1536192"/>
          </a:xfrm>
          <a:prstGeom prst="rect">
            <a:avLst/>
          </a:prstGeom>
          <a:noFill/>
          <a:ln/>
        </p:spPr>
        <p:txBody>
          <a:bodyPr wrap="square" lIns="0" tIns="0" rIns="0" bIns="0" rtlCol="0" anchor="ctr"/>
          <a:lstStyle/>
          <a:p>
            <a:pPr indent="0" marL="0">
              <a:lnSpc>
                <a:spcPct val="138000"/>
              </a:lnSpc>
              <a:buNone/>
            </a:pPr>
            <a:r>
              <a:rPr lang="en-US" sz="1400" dirty="0">
                <a:solidFill>
                  <a:srgbClr val="475569"/>
                </a:solidFill>
                <a:latin typeface="Calibri" pitchFamily="34" charset="0"/>
                <a:ea typeface="Calibri" pitchFamily="34" charset="-122"/>
                <a:cs typeface="Calibri" pitchFamily="34" charset="-120"/>
              </a:rPr>
              <a:t>Yes — Whisper is open source (Apache 2.0 license) and runs locally. OpenAI released the model weights. The Python library faster-whisper runs it efficiently on CPU. For Java integration: run faster-whisper as a subprocess via Runtime.exec() or use JNI bindings. On a modern laptop, faster-whisper transcribes a 1-minute audio file in 5-10 seconds on CPU, 1-2 seconds on GPU. For local TTS, options include: Coqui TTS (open source, many voices, Python), MaryTTS (Java-native, older but solid), and Bark (open source, very expressive, slower). The trade-off: zero API cost and full privacy, but setup complexity, hardware dependency, and lower quality than OpenAI's commercial models.</a:t>
            </a:r>
            <a:endParaRPr lang="en-US" sz="1400" dirty="0"/>
          </a:p>
        </p:txBody>
      </p:sp>
      <p:sp>
        <p:nvSpPr>
          <p:cNvPr id="10" name="Text 8"/>
          <p:cNvSpPr/>
          <p:nvPr/>
        </p:nvSpPr>
        <p:spPr>
          <a:xfrm>
            <a:off x="502920" y="4553712"/>
            <a:ext cx="4572000" cy="256032"/>
          </a:xfrm>
          <a:prstGeom prst="rect">
            <a:avLst/>
          </a:prstGeom>
          <a:noFill/>
          <a:ln/>
        </p:spPr>
        <p:txBody>
          <a:bodyPr wrap="square" lIns="0" tIns="0" rIns="0" bIns="0" rtlCol="0" anchor="ctr"/>
          <a:lstStyle/>
          <a:p>
            <a:pPr indent="0" marL="0">
              <a:buNone/>
            </a:pPr>
            <a:r>
              <a:rPr lang="en-US" sz="1000" b="1" spc="200" kern="0" dirty="0">
                <a:solidFill>
                  <a:srgbClr val="D97706"/>
                </a:solidFill>
                <a:latin typeface="Calibri" pitchFamily="34" charset="0"/>
                <a:ea typeface="Calibri" pitchFamily="34" charset="-122"/>
                <a:cs typeface="Calibri" pitchFamily="34" charset="-120"/>
              </a:rPr>
              <a:t>DEEPER INSIGHT</a:t>
            </a:r>
            <a:endParaRPr lang="en-US" sz="1000" dirty="0"/>
          </a:p>
        </p:txBody>
      </p:sp>
      <p:sp>
        <p:nvSpPr>
          <p:cNvPr id="11" name="Shape 9"/>
          <p:cNvSpPr/>
          <p:nvPr/>
        </p:nvSpPr>
        <p:spPr>
          <a:xfrm>
            <a:off x="502920" y="4828032"/>
            <a:ext cx="10789920" cy="1481328"/>
          </a:xfrm>
          <a:prstGeom prst="roundRect">
            <a:avLst>
              <a:gd name="adj" fmla="val 6173"/>
            </a:avLst>
          </a:prstGeom>
          <a:solidFill>
            <a:srgbClr val="FFFBEB"/>
          </a:solidFill>
          <a:ln w="12700">
            <a:solidFill>
              <a:srgbClr val="D97706">
                <a:alpha val="45000"/>
              </a:srgbClr>
            </a:solidFill>
            <a:prstDash val="solid"/>
          </a:ln>
        </p:spPr>
      </p:sp>
      <p:sp>
        <p:nvSpPr>
          <p:cNvPr id="12" name="Text 10"/>
          <p:cNvSpPr/>
          <p:nvPr/>
        </p:nvSpPr>
        <p:spPr>
          <a:xfrm>
            <a:off x="749808" y="4901184"/>
            <a:ext cx="10287000" cy="1335024"/>
          </a:xfrm>
          <a:prstGeom prst="rect">
            <a:avLst/>
          </a:prstGeom>
          <a:noFill/>
          <a:ln/>
        </p:spPr>
        <p:txBody>
          <a:bodyPr wrap="square" lIns="0" tIns="0" rIns="0" bIns="0" rtlCol="0" anchor="ctr"/>
          <a:lstStyle/>
          <a:p>
            <a:pPr indent="0" marL="0">
              <a:lnSpc>
                <a:spcPct val="138000"/>
              </a:lnSpc>
              <a:buNone/>
            </a:pPr>
            <a:r>
              <a:rPr lang="en-US" sz="1300" dirty="0">
                <a:solidFill>
                  <a:srgbClr val="633806"/>
                </a:solidFill>
                <a:latin typeface="Calibri" pitchFamily="34" charset="0"/>
                <a:ea typeface="Calibri" pitchFamily="34" charset="-122"/>
                <a:cs typeface="Calibri" pitchFamily="34" charset="-120"/>
              </a:rPr>
              <a:t>When to go local: regulated industries (healthcare, finance, government) where data cannot leave your infrastructure; high-volume applications where API costs become significant; offline or edge deployments. Ollama (covered in Week 3) follows the same pattern for LLMs — the philosophy is the same. The Week 3 local models session will show you how to run Whisper-equivalent audio processing locally. For the capstone Study Buddy, the OpenAI API is fine — go local only when a specific requirement demands it.</a:t>
            </a:r>
            <a:endParaRPr lang="en-US" sz="1300" dirty="0"/>
          </a:p>
        </p:txBody>
      </p:sp>
      <p:sp>
        <p:nvSpPr>
          <p:cNvPr id="13" name="Shape 11"/>
          <p:cNvSpPr/>
          <p:nvPr/>
        </p:nvSpPr>
        <p:spPr>
          <a:xfrm>
            <a:off x="0" y="6583680"/>
            <a:ext cx="12191695" cy="274320"/>
          </a:xfrm>
          <a:prstGeom prst="rect">
            <a:avLst/>
          </a:prstGeom>
          <a:solidFill>
            <a:srgbClr val="D97706">
              <a:alpha val="12000"/>
            </a:srgbClr>
          </a:solidFill>
          <a:ln w="12700">
            <a:solidFill>
              <a:srgbClr val="D97706">
                <a:alpha val="35000"/>
              </a:srgbClr>
            </a:solidFill>
            <a:prstDash val="solid"/>
          </a:ln>
        </p:spPr>
      </p:sp>
      <p:sp>
        <p:nvSpPr>
          <p:cNvPr id="14" name="Text 12"/>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5" name="Text 13"/>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26 / 31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658368" cy="658368"/>
          </a:xfrm>
          <a:prstGeom prst="roundRect">
            <a:avLst>
              <a:gd name="adj" fmla="val 11111"/>
            </a:avLst>
          </a:prstGeom>
          <a:solidFill>
            <a:srgbClr val="E11D48"/>
          </a:solidFill>
          <a:ln w="12700">
            <a:solidFill>
              <a:srgbClr val="E11D48"/>
            </a:solidFill>
            <a:prstDash val="solid"/>
          </a:ln>
        </p:spPr>
      </p:sp>
      <p:sp>
        <p:nvSpPr>
          <p:cNvPr id="3" name="Text 1"/>
          <p:cNvSpPr/>
          <p:nvPr/>
        </p:nvSpPr>
        <p:spPr>
          <a:xfrm>
            <a:off x="502920" y="41148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Q5</a:t>
            </a:r>
            <a:endParaRPr lang="en-US" sz="1800" dirty="0"/>
          </a:p>
        </p:txBody>
      </p:sp>
      <p:sp>
        <p:nvSpPr>
          <p:cNvPr id="4" name="Text 2"/>
          <p:cNvSpPr/>
          <p:nvPr/>
        </p:nvSpPr>
        <p:spPr>
          <a:xfrm>
            <a:off x="1298448" y="475488"/>
            <a:ext cx="5486400" cy="274320"/>
          </a:xfrm>
          <a:prstGeom prst="rect">
            <a:avLst/>
          </a:prstGeom>
          <a:noFill/>
          <a:ln/>
        </p:spPr>
        <p:txBody>
          <a:bodyPr wrap="square" lIns="0" tIns="0" rIns="0" bIns="0" rtlCol="0" anchor="ctr"/>
          <a:lstStyle/>
          <a:p>
            <a:pPr indent="0" marL="0">
              <a:buNone/>
            </a:pPr>
            <a:r>
              <a:rPr lang="en-US" sz="1100" b="1" spc="300" kern="0" dirty="0">
                <a:solidFill>
                  <a:srgbClr val="E11D48"/>
                </a:solidFill>
                <a:latin typeface="Calibri" pitchFamily="34" charset="0"/>
                <a:ea typeface="Calibri" pitchFamily="34" charset="-122"/>
                <a:cs typeface="Calibri" pitchFamily="34" charset="-120"/>
              </a:rPr>
              <a:t>STUDENT QUESTION</a:t>
            </a:r>
            <a:endParaRPr lang="en-US" sz="1100" dirty="0"/>
          </a:p>
        </p:txBody>
      </p:sp>
      <p:sp>
        <p:nvSpPr>
          <p:cNvPr id="5" name="Shape 3"/>
          <p:cNvSpPr/>
          <p:nvPr/>
        </p:nvSpPr>
        <p:spPr>
          <a:xfrm>
            <a:off x="502920" y="1207008"/>
            <a:ext cx="10789920" cy="1024128"/>
          </a:xfrm>
          <a:prstGeom prst="roundRect">
            <a:avLst>
              <a:gd name="adj" fmla="val 10714"/>
            </a:avLst>
          </a:prstGeom>
          <a:solidFill>
            <a:srgbClr val="FFF1F2"/>
          </a:solidFill>
          <a:ln w="12700">
            <a:solidFill>
              <a:srgbClr val="E11D48">
                <a:alpha val="50000"/>
              </a:srgbClr>
            </a:solidFill>
            <a:prstDash val="solid"/>
          </a:ln>
        </p:spPr>
      </p:sp>
      <p:sp>
        <p:nvSpPr>
          <p:cNvPr id="6" name="Text 4"/>
          <p:cNvSpPr/>
          <p:nvPr/>
        </p:nvSpPr>
        <p:spPr>
          <a:xfrm>
            <a:off x="777240" y="1298448"/>
            <a:ext cx="10241280" cy="841248"/>
          </a:xfrm>
          <a:prstGeom prst="rect">
            <a:avLst/>
          </a:prstGeom>
          <a:noFill/>
          <a:ln/>
        </p:spPr>
        <p:txBody>
          <a:bodyPr wrap="square" lIns="0" tIns="0" rIns="0" bIns="0" rtlCol="0" anchor="ctr"/>
          <a:lstStyle/>
          <a:p>
            <a:pPr indent="0" marL="0">
              <a:lnSpc>
                <a:spcPct val="110000"/>
              </a:lnSpc>
              <a:buNone/>
            </a:pPr>
            <a:r>
              <a:rPr lang="en-US" sz="2100" b="1" dirty="0">
                <a:solidFill>
                  <a:srgbClr val="E11D48"/>
                </a:solidFill>
                <a:latin typeface="Calibri" pitchFamily="34" charset="0"/>
                <a:ea typeface="Calibri" pitchFamily="34" charset="-122"/>
                <a:cs typeface="Calibri" pitchFamily="34" charset="-120"/>
              </a:rPr>
              <a:t>What is the difference between TTS model tts-1 and tts-1-hd? When do I use each?</a:t>
            </a:r>
            <a:endParaRPr lang="en-US" sz="2100" dirty="0"/>
          </a:p>
        </p:txBody>
      </p:sp>
      <p:sp>
        <p:nvSpPr>
          <p:cNvPr id="7" name="Text 5"/>
          <p:cNvSpPr/>
          <p:nvPr/>
        </p:nvSpPr>
        <p:spPr>
          <a:xfrm>
            <a:off x="502920" y="2395728"/>
            <a:ext cx="2743200" cy="256032"/>
          </a:xfrm>
          <a:prstGeom prst="rect">
            <a:avLst/>
          </a:prstGeom>
          <a:noFill/>
          <a:ln/>
        </p:spPr>
        <p:txBody>
          <a:bodyPr wrap="square" lIns="0" tIns="0" rIns="0" bIns="0" rtlCol="0" anchor="ctr"/>
          <a:lstStyle/>
          <a:p>
            <a:pPr indent="0" marL="0">
              <a:buNone/>
            </a:pPr>
            <a:r>
              <a:rPr lang="en-US" sz="1100" b="1" spc="300" kern="0" dirty="0">
                <a:solidFill>
                  <a:srgbClr val="16A34A"/>
                </a:solidFill>
                <a:latin typeface="Calibri" pitchFamily="34" charset="0"/>
                <a:ea typeface="Calibri" pitchFamily="34" charset="-122"/>
                <a:cs typeface="Calibri" pitchFamily="34" charset="-120"/>
              </a:rPr>
              <a:t>ANSWER</a:t>
            </a:r>
            <a:endParaRPr lang="en-US" sz="1100" dirty="0"/>
          </a:p>
        </p:txBody>
      </p:sp>
      <p:sp>
        <p:nvSpPr>
          <p:cNvPr id="8" name="Shape 6"/>
          <p:cNvSpPr/>
          <p:nvPr/>
        </p:nvSpPr>
        <p:spPr>
          <a:xfrm>
            <a:off x="502920" y="2688336"/>
            <a:ext cx="10789920" cy="1719072"/>
          </a:xfrm>
          <a:prstGeom prst="roundRect">
            <a:avLst>
              <a:gd name="adj" fmla="val 5319"/>
            </a:avLst>
          </a:prstGeom>
          <a:solidFill>
            <a:srgbClr val="F0FDF4"/>
          </a:solidFill>
          <a:ln w="12700">
            <a:solidFill>
              <a:srgbClr val="16A34A">
                <a:alpha val="45000"/>
              </a:srgbClr>
            </a:solidFill>
            <a:prstDash val="solid"/>
          </a:ln>
        </p:spPr>
      </p:sp>
      <p:sp>
        <p:nvSpPr>
          <p:cNvPr id="9" name="Text 7"/>
          <p:cNvSpPr/>
          <p:nvPr/>
        </p:nvSpPr>
        <p:spPr>
          <a:xfrm>
            <a:off x="749808" y="2779776"/>
            <a:ext cx="10287000" cy="1536192"/>
          </a:xfrm>
          <a:prstGeom prst="rect">
            <a:avLst/>
          </a:prstGeom>
          <a:noFill/>
          <a:ln/>
        </p:spPr>
        <p:txBody>
          <a:bodyPr wrap="square" lIns="0" tIns="0" rIns="0" bIns="0" rtlCol="0" anchor="ctr"/>
          <a:lstStyle/>
          <a:p>
            <a:pPr indent="0" marL="0">
              <a:lnSpc>
                <a:spcPct val="138000"/>
              </a:lnSpc>
              <a:buNone/>
            </a:pPr>
            <a:r>
              <a:rPr lang="en-US" sz="1400" dirty="0">
                <a:solidFill>
                  <a:srgbClr val="475569"/>
                </a:solidFill>
                <a:latin typeface="Calibri" pitchFamily="34" charset="0"/>
                <a:ea typeface="Calibri" pitchFamily="34" charset="-122"/>
                <a:cs typeface="Calibri" pitchFamily="34" charset="-120"/>
              </a:rPr>
              <a:t>tts-1 is optimised for low latency — it generates audio faster, first byte arrives in ~100ms, at slightly lower audio quality. tts-1-hd produces noticeably higher quality audio with less artificial sound and better prosody, but takes about 2x longer and costs 2x as much ($0.030/1k chars vs $0.015). For real-time voice applications (voice assistants, chatbots where users are waiting), use tts-1 — the latency improvement is more valuable than the quality difference. For pre-generated content (voiceovers, podcasts, audio books, marketing content) where quality matters and latency does not, use tts-1-hd.</a:t>
            </a:r>
            <a:endParaRPr lang="en-US" sz="1400" dirty="0"/>
          </a:p>
        </p:txBody>
      </p:sp>
      <p:sp>
        <p:nvSpPr>
          <p:cNvPr id="10" name="Text 8"/>
          <p:cNvSpPr/>
          <p:nvPr/>
        </p:nvSpPr>
        <p:spPr>
          <a:xfrm>
            <a:off x="502920" y="4553712"/>
            <a:ext cx="4572000" cy="256032"/>
          </a:xfrm>
          <a:prstGeom prst="rect">
            <a:avLst/>
          </a:prstGeom>
          <a:noFill/>
          <a:ln/>
        </p:spPr>
        <p:txBody>
          <a:bodyPr wrap="square" lIns="0" tIns="0" rIns="0" bIns="0" rtlCol="0" anchor="ctr"/>
          <a:lstStyle/>
          <a:p>
            <a:pPr indent="0" marL="0">
              <a:buNone/>
            </a:pPr>
            <a:r>
              <a:rPr lang="en-US" sz="1000" b="1" spc="200" kern="0" dirty="0">
                <a:solidFill>
                  <a:srgbClr val="D97706"/>
                </a:solidFill>
                <a:latin typeface="Calibri" pitchFamily="34" charset="0"/>
                <a:ea typeface="Calibri" pitchFamily="34" charset="-122"/>
                <a:cs typeface="Calibri" pitchFamily="34" charset="-120"/>
              </a:rPr>
              <a:t>DEEPER INSIGHT</a:t>
            </a:r>
            <a:endParaRPr lang="en-US" sz="1000" dirty="0"/>
          </a:p>
        </p:txBody>
      </p:sp>
      <p:sp>
        <p:nvSpPr>
          <p:cNvPr id="11" name="Shape 9"/>
          <p:cNvSpPr/>
          <p:nvPr/>
        </p:nvSpPr>
        <p:spPr>
          <a:xfrm>
            <a:off x="502920" y="4828032"/>
            <a:ext cx="10789920" cy="1481328"/>
          </a:xfrm>
          <a:prstGeom prst="roundRect">
            <a:avLst>
              <a:gd name="adj" fmla="val 6173"/>
            </a:avLst>
          </a:prstGeom>
          <a:solidFill>
            <a:srgbClr val="FFFBEB"/>
          </a:solidFill>
          <a:ln w="12700">
            <a:solidFill>
              <a:srgbClr val="D97706">
                <a:alpha val="45000"/>
              </a:srgbClr>
            </a:solidFill>
            <a:prstDash val="solid"/>
          </a:ln>
        </p:spPr>
      </p:sp>
      <p:sp>
        <p:nvSpPr>
          <p:cNvPr id="12" name="Text 10"/>
          <p:cNvSpPr/>
          <p:nvPr/>
        </p:nvSpPr>
        <p:spPr>
          <a:xfrm>
            <a:off x="749808" y="4901184"/>
            <a:ext cx="10287000" cy="1335024"/>
          </a:xfrm>
          <a:prstGeom prst="rect">
            <a:avLst/>
          </a:prstGeom>
          <a:noFill/>
          <a:ln/>
        </p:spPr>
        <p:txBody>
          <a:bodyPr wrap="square" lIns="0" tIns="0" rIns="0" bIns="0" rtlCol="0" anchor="ctr"/>
          <a:lstStyle/>
          <a:p>
            <a:pPr indent="0" marL="0">
              <a:lnSpc>
                <a:spcPct val="138000"/>
              </a:lnSpc>
              <a:buNone/>
            </a:pPr>
            <a:r>
              <a:rPr lang="en-US" sz="1300" dirty="0">
                <a:solidFill>
                  <a:srgbClr val="633806"/>
                </a:solidFill>
                <a:latin typeface="Calibri" pitchFamily="34" charset="0"/>
                <a:ea typeface="Calibri" pitchFamily="34" charset="-122"/>
                <a:cs typeface="Calibri" pitchFamily="34" charset="-120"/>
              </a:rPr>
              <a:t>A hybrid approach works well in many apps: use tts-1 for live conversational responses (the user is waiting in real time) and tts-1-hd for pre-generated audio content (tutorial narration, onboarding flows, content that is generated offline and cached). You can also cache frequent TTS responses: if your assistant frequently says 'I have added the task', generate that audio once with tts-1-hd, save it, and play the cached file instead of calling the API each time. This is a significant cost and latency saving.</a:t>
            </a:r>
            <a:endParaRPr lang="en-US" sz="1300" dirty="0"/>
          </a:p>
        </p:txBody>
      </p:sp>
      <p:sp>
        <p:nvSpPr>
          <p:cNvPr id="13" name="Shape 11"/>
          <p:cNvSpPr/>
          <p:nvPr/>
        </p:nvSpPr>
        <p:spPr>
          <a:xfrm>
            <a:off x="0" y="6583680"/>
            <a:ext cx="12191695" cy="274320"/>
          </a:xfrm>
          <a:prstGeom prst="rect">
            <a:avLst/>
          </a:prstGeom>
          <a:solidFill>
            <a:srgbClr val="E11D48">
              <a:alpha val="12000"/>
            </a:srgbClr>
          </a:solidFill>
          <a:ln w="12700">
            <a:solidFill>
              <a:srgbClr val="E11D48">
                <a:alpha val="35000"/>
              </a:srgbClr>
            </a:solidFill>
            <a:prstDash val="solid"/>
          </a:ln>
        </p:spPr>
      </p:sp>
      <p:sp>
        <p:nvSpPr>
          <p:cNvPr id="14" name="Text 12"/>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5" name="Text 13"/>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27 / 31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658368" cy="658368"/>
          </a:xfrm>
          <a:prstGeom prst="roundRect">
            <a:avLst>
              <a:gd name="adj" fmla="val 11111"/>
            </a:avLst>
          </a:prstGeom>
          <a:solidFill>
            <a:srgbClr val="7C3AED"/>
          </a:solidFill>
          <a:ln w="12700">
            <a:solidFill>
              <a:srgbClr val="7C3AED"/>
            </a:solidFill>
            <a:prstDash val="solid"/>
          </a:ln>
        </p:spPr>
      </p:sp>
      <p:sp>
        <p:nvSpPr>
          <p:cNvPr id="3" name="Text 1"/>
          <p:cNvSpPr/>
          <p:nvPr/>
        </p:nvSpPr>
        <p:spPr>
          <a:xfrm>
            <a:off x="502920" y="41148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Q6</a:t>
            </a:r>
            <a:endParaRPr lang="en-US" sz="1800" dirty="0"/>
          </a:p>
        </p:txBody>
      </p:sp>
      <p:sp>
        <p:nvSpPr>
          <p:cNvPr id="4" name="Text 2"/>
          <p:cNvSpPr/>
          <p:nvPr/>
        </p:nvSpPr>
        <p:spPr>
          <a:xfrm>
            <a:off x="1298448" y="475488"/>
            <a:ext cx="5486400" cy="274320"/>
          </a:xfrm>
          <a:prstGeom prst="rect">
            <a:avLst/>
          </a:prstGeom>
          <a:noFill/>
          <a:ln/>
        </p:spPr>
        <p:txBody>
          <a:bodyPr wrap="square" lIns="0" tIns="0" rIns="0" bIns="0" rtlCol="0" anchor="ctr"/>
          <a:lstStyle/>
          <a:p>
            <a:pPr indent="0" marL="0">
              <a:buNone/>
            </a:pPr>
            <a:r>
              <a:rPr lang="en-US" sz="1100" b="1" spc="300" kern="0" dirty="0">
                <a:solidFill>
                  <a:srgbClr val="7C3AED"/>
                </a:solidFill>
                <a:latin typeface="Calibri" pitchFamily="34" charset="0"/>
                <a:ea typeface="Calibri" pitchFamily="34" charset="-122"/>
                <a:cs typeface="Calibri" pitchFamily="34" charset="-120"/>
              </a:rPr>
              <a:t>STUDENT QUESTION</a:t>
            </a:r>
            <a:endParaRPr lang="en-US" sz="1100" dirty="0"/>
          </a:p>
        </p:txBody>
      </p:sp>
      <p:sp>
        <p:nvSpPr>
          <p:cNvPr id="5" name="Shape 3"/>
          <p:cNvSpPr/>
          <p:nvPr/>
        </p:nvSpPr>
        <p:spPr>
          <a:xfrm>
            <a:off x="502920" y="1207008"/>
            <a:ext cx="10789920" cy="1024128"/>
          </a:xfrm>
          <a:prstGeom prst="roundRect">
            <a:avLst>
              <a:gd name="adj" fmla="val 10714"/>
            </a:avLst>
          </a:prstGeom>
          <a:solidFill>
            <a:srgbClr val="EDE9FE"/>
          </a:solidFill>
          <a:ln w="12700">
            <a:solidFill>
              <a:srgbClr val="7C3AED">
                <a:alpha val="50000"/>
              </a:srgbClr>
            </a:solidFill>
            <a:prstDash val="solid"/>
          </a:ln>
        </p:spPr>
      </p:sp>
      <p:sp>
        <p:nvSpPr>
          <p:cNvPr id="6" name="Text 4"/>
          <p:cNvSpPr/>
          <p:nvPr/>
        </p:nvSpPr>
        <p:spPr>
          <a:xfrm>
            <a:off x="777240" y="1298448"/>
            <a:ext cx="10241280" cy="841248"/>
          </a:xfrm>
          <a:prstGeom prst="rect">
            <a:avLst/>
          </a:prstGeom>
          <a:noFill/>
          <a:ln/>
        </p:spPr>
        <p:txBody>
          <a:bodyPr wrap="square" lIns="0" tIns="0" rIns="0" bIns="0" rtlCol="0" anchor="ctr"/>
          <a:lstStyle/>
          <a:p>
            <a:pPr indent="0" marL="0">
              <a:lnSpc>
                <a:spcPct val="110000"/>
              </a:lnSpc>
              <a:buNone/>
            </a:pPr>
            <a:r>
              <a:rPr lang="en-US" sz="2100" b="1" dirty="0">
                <a:solidFill>
                  <a:srgbClr val="7C3AED"/>
                </a:solidFill>
                <a:latin typeface="Calibri" pitchFamily="34" charset="0"/>
                <a:ea typeface="Calibri" pitchFamily="34" charset="-122"/>
                <a:cs typeface="Calibri" pitchFamily="34" charset="-120"/>
              </a:rPr>
              <a:t>How do I stream TTS audio in real time instead of waiting for the full file?</a:t>
            </a:r>
            <a:endParaRPr lang="en-US" sz="2100" dirty="0"/>
          </a:p>
        </p:txBody>
      </p:sp>
      <p:sp>
        <p:nvSpPr>
          <p:cNvPr id="7" name="Text 5"/>
          <p:cNvSpPr/>
          <p:nvPr/>
        </p:nvSpPr>
        <p:spPr>
          <a:xfrm>
            <a:off x="502920" y="2395728"/>
            <a:ext cx="2743200" cy="256032"/>
          </a:xfrm>
          <a:prstGeom prst="rect">
            <a:avLst/>
          </a:prstGeom>
          <a:noFill/>
          <a:ln/>
        </p:spPr>
        <p:txBody>
          <a:bodyPr wrap="square" lIns="0" tIns="0" rIns="0" bIns="0" rtlCol="0" anchor="ctr"/>
          <a:lstStyle/>
          <a:p>
            <a:pPr indent="0" marL="0">
              <a:buNone/>
            </a:pPr>
            <a:r>
              <a:rPr lang="en-US" sz="1100" b="1" spc="300" kern="0" dirty="0">
                <a:solidFill>
                  <a:srgbClr val="16A34A"/>
                </a:solidFill>
                <a:latin typeface="Calibri" pitchFamily="34" charset="0"/>
                <a:ea typeface="Calibri" pitchFamily="34" charset="-122"/>
                <a:cs typeface="Calibri" pitchFamily="34" charset="-120"/>
              </a:rPr>
              <a:t>ANSWER</a:t>
            </a:r>
            <a:endParaRPr lang="en-US" sz="1100" dirty="0"/>
          </a:p>
        </p:txBody>
      </p:sp>
      <p:sp>
        <p:nvSpPr>
          <p:cNvPr id="8" name="Shape 6"/>
          <p:cNvSpPr/>
          <p:nvPr/>
        </p:nvSpPr>
        <p:spPr>
          <a:xfrm>
            <a:off x="502920" y="2688336"/>
            <a:ext cx="10789920" cy="1719072"/>
          </a:xfrm>
          <a:prstGeom prst="roundRect">
            <a:avLst>
              <a:gd name="adj" fmla="val 5319"/>
            </a:avLst>
          </a:prstGeom>
          <a:solidFill>
            <a:srgbClr val="F0FDF4"/>
          </a:solidFill>
          <a:ln w="12700">
            <a:solidFill>
              <a:srgbClr val="16A34A">
                <a:alpha val="45000"/>
              </a:srgbClr>
            </a:solidFill>
            <a:prstDash val="solid"/>
          </a:ln>
        </p:spPr>
      </p:sp>
      <p:sp>
        <p:nvSpPr>
          <p:cNvPr id="9" name="Text 7"/>
          <p:cNvSpPr/>
          <p:nvPr/>
        </p:nvSpPr>
        <p:spPr>
          <a:xfrm>
            <a:off x="749808" y="2779776"/>
            <a:ext cx="10287000" cy="1536192"/>
          </a:xfrm>
          <a:prstGeom prst="rect">
            <a:avLst/>
          </a:prstGeom>
          <a:noFill/>
          <a:ln/>
        </p:spPr>
        <p:txBody>
          <a:bodyPr wrap="square" lIns="0" tIns="0" rIns="0" bIns="0" rtlCol="0" anchor="ctr"/>
          <a:lstStyle/>
          <a:p>
            <a:pPr indent="0" marL="0">
              <a:lnSpc>
                <a:spcPct val="138000"/>
              </a:lnSpc>
              <a:buNone/>
            </a:pPr>
            <a:r>
              <a:rPr lang="en-US" sz="1400" dirty="0">
                <a:solidFill>
                  <a:srgbClr val="475569"/>
                </a:solidFill>
                <a:latin typeface="Calibri" pitchFamily="34" charset="0"/>
                <a:ea typeface="Calibri" pitchFamily="34" charset="-122"/>
                <a:cs typeface="Calibri" pitchFamily="34" charset="-120"/>
              </a:rPr>
              <a:t>The TTS API supports streaming: instead of receiving the complete audio file at once, you receive the audio bytes as they are generated and can play them incrementally. In Java, use the streaming endpoint and pipe the response stream to an audio player. The response format should be 'opus' or 'pcm' for streaming (MP3 requires complete file for decoding). With Spring WebFlux, wrap the stream as a Flux&lt;DataBuffer&gt; and push chunks to the client. On the client side, use the Web Audio API in the browser to decode and play PCM chunks as they arrive — this reduces perceived latency from 'wait for full audio' to 'hear first words immediately'.</a:t>
            </a:r>
            <a:endParaRPr lang="en-US" sz="1400" dirty="0"/>
          </a:p>
        </p:txBody>
      </p:sp>
      <p:sp>
        <p:nvSpPr>
          <p:cNvPr id="10" name="Text 8"/>
          <p:cNvSpPr/>
          <p:nvPr/>
        </p:nvSpPr>
        <p:spPr>
          <a:xfrm>
            <a:off x="502920" y="4553712"/>
            <a:ext cx="4572000" cy="256032"/>
          </a:xfrm>
          <a:prstGeom prst="rect">
            <a:avLst/>
          </a:prstGeom>
          <a:noFill/>
          <a:ln/>
        </p:spPr>
        <p:txBody>
          <a:bodyPr wrap="square" lIns="0" tIns="0" rIns="0" bIns="0" rtlCol="0" anchor="ctr"/>
          <a:lstStyle/>
          <a:p>
            <a:pPr indent="0" marL="0">
              <a:buNone/>
            </a:pPr>
            <a:r>
              <a:rPr lang="en-US" sz="1000" b="1" spc="200" kern="0" dirty="0">
                <a:solidFill>
                  <a:srgbClr val="D97706"/>
                </a:solidFill>
                <a:latin typeface="Calibri" pitchFamily="34" charset="0"/>
                <a:ea typeface="Calibri" pitchFamily="34" charset="-122"/>
                <a:cs typeface="Calibri" pitchFamily="34" charset="-120"/>
              </a:rPr>
              <a:t>DEEPER INSIGHT</a:t>
            </a:r>
            <a:endParaRPr lang="en-US" sz="1000" dirty="0"/>
          </a:p>
        </p:txBody>
      </p:sp>
      <p:sp>
        <p:nvSpPr>
          <p:cNvPr id="11" name="Shape 9"/>
          <p:cNvSpPr/>
          <p:nvPr/>
        </p:nvSpPr>
        <p:spPr>
          <a:xfrm>
            <a:off x="502920" y="4828032"/>
            <a:ext cx="10789920" cy="1481328"/>
          </a:xfrm>
          <a:prstGeom prst="roundRect">
            <a:avLst>
              <a:gd name="adj" fmla="val 6173"/>
            </a:avLst>
          </a:prstGeom>
          <a:solidFill>
            <a:srgbClr val="FFFBEB"/>
          </a:solidFill>
          <a:ln w="12700">
            <a:solidFill>
              <a:srgbClr val="D97706">
                <a:alpha val="45000"/>
              </a:srgbClr>
            </a:solidFill>
            <a:prstDash val="solid"/>
          </a:ln>
        </p:spPr>
      </p:sp>
      <p:sp>
        <p:nvSpPr>
          <p:cNvPr id="12" name="Text 10"/>
          <p:cNvSpPr/>
          <p:nvPr/>
        </p:nvSpPr>
        <p:spPr>
          <a:xfrm>
            <a:off x="749808" y="4901184"/>
            <a:ext cx="10287000" cy="1335024"/>
          </a:xfrm>
          <a:prstGeom prst="rect">
            <a:avLst/>
          </a:prstGeom>
          <a:noFill/>
          <a:ln/>
        </p:spPr>
        <p:txBody>
          <a:bodyPr wrap="square" lIns="0" tIns="0" rIns="0" bIns="0" rtlCol="0" anchor="ctr"/>
          <a:lstStyle/>
          <a:p>
            <a:pPr indent="0" marL="0">
              <a:lnSpc>
                <a:spcPct val="138000"/>
              </a:lnSpc>
              <a:buNone/>
            </a:pPr>
            <a:r>
              <a:rPr lang="en-US" sz="1300" dirty="0">
                <a:solidFill>
                  <a:srgbClr val="633806"/>
                </a:solidFill>
                <a:latin typeface="Calibri" pitchFamily="34" charset="0"/>
                <a:ea typeface="Calibri" pitchFamily="34" charset="-122"/>
                <a:cs typeface="Calibri" pitchFamily="34" charset="-120"/>
              </a:rPr>
              <a:t>Streaming TTS is the key to a natural voice UX. Instead of silence while TTS generates, the user hears the assistant beginning to speak within 200-300ms of the GPT response being generated. The implementation: stream the GPT response, split it into sentence-length chunks at sentence boundaries (periods, question marks), call TTS on each chunk as it arrives, play chunks in sequence. This pipeline starts speaking before GPT has finished generating — very close to human conversational latency. This advanced pattern is worth implementing in the capstone for a polished demo.</a:t>
            </a:r>
            <a:endParaRPr lang="en-US" sz="1300" dirty="0"/>
          </a:p>
        </p:txBody>
      </p:sp>
      <p:sp>
        <p:nvSpPr>
          <p:cNvPr id="13" name="Shape 11"/>
          <p:cNvSpPr/>
          <p:nvPr/>
        </p:nvSpPr>
        <p:spPr>
          <a:xfrm>
            <a:off x="0" y="6583680"/>
            <a:ext cx="12191695" cy="274320"/>
          </a:xfrm>
          <a:prstGeom prst="rect">
            <a:avLst/>
          </a:prstGeom>
          <a:solidFill>
            <a:srgbClr val="7C3AED">
              <a:alpha val="12000"/>
            </a:srgbClr>
          </a:solidFill>
          <a:ln w="12700">
            <a:solidFill>
              <a:srgbClr val="7C3AED">
                <a:alpha val="35000"/>
              </a:srgbClr>
            </a:solidFill>
            <a:prstDash val="solid"/>
          </a:ln>
        </p:spPr>
      </p:sp>
      <p:sp>
        <p:nvSpPr>
          <p:cNvPr id="14" name="Text 12"/>
          <p:cNvSpPr/>
          <p:nvPr/>
        </p:nvSpPr>
        <p:spPr>
          <a:xfrm>
            <a:off x="502920" y="6601968"/>
            <a:ext cx="8229600" cy="219456"/>
          </a:xfrm>
          <a:prstGeom prst="rect">
            <a:avLst/>
          </a:prstGeom>
          <a:noFill/>
          <a:ln/>
        </p:spPr>
        <p:txBody>
          <a:bodyPr wrap="square" lIns="0" tIns="0" rIns="0" bIns="0" rtlCol="0" anchor="ctr"/>
          <a:lstStyle/>
          <a:p>
            <a:pPr indent="0" marL="0">
              <a:buNone/>
            </a:pPr>
            <a:r>
              <a:rPr lang="en-US" sz="900" dirty="0">
                <a:solidFill>
                  <a:srgbClr val="8B92B8"/>
                </a:solidFill>
                <a:latin typeface="Calibri" pitchFamily="34" charset="0"/>
                <a:ea typeface="Calibri" pitchFamily="34" charset="-122"/>
                <a:cs typeface="Calibri" pitchFamily="34" charset="-120"/>
              </a:rPr>
              <a:t>Session 5  ·  DALL-E · Whisper · TTS</a:t>
            </a:r>
            <a:endParaRPr lang="en-US" sz="900" dirty="0"/>
          </a:p>
        </p:txBody>
      </p:sp>
      <p:sp>
        <p:nvSpPr>
          <p:cNvPr id="15" name="Text 13"/>
          <p:cNvSpPr/>
          <p:nvPr/>
        </p:nvSpPr>
        <p:spPr>
          <a:xfrm>
            <a:off x="11155680" y="6601968"/>
            <a:ext cx="777240" cy="219456"/>
          </a:xfrm>
          <a:prstGeom prst="rect">
            <a:avLst/>
          </a:prstGeom>
          <a:noFill/>
          <a:ln/>
        </p:spPr>
        <p:txBody>
          <a:bodyPr wrap="square" lIns="0" tIns="0" rIns="0" bIns="0" rtlCol="0" anchor="ctr"/>
          <a:lstStyle/>
          <a:p>
            <a:pPr algn="r" indent="0" marL="0">
              <a:buNone/>
            </a:pPr>
            <a:r>
              <a:rPr lang="en-US" sz="900" dirty="0">
                <a:solidFill>
                  <a:srgbClr val="8B92B8"/>
                </a:solidFill>
                <a:latin typeface="Calibri" pitchFamily="34" charset="0"/>
                <a:ea typeface="Calibri" pitchFamily="34" charset="-122"/>
                <a:cs typeface="Calibri" pitchFamily="34" charset="-120"/>
              </a:rPr>
              <a:t>28 / 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DALL-E Whisper TTS — Session 5</dc:title>
  <dc:subject>PptxGenJS Presentation</dc:subject>
  <dc:creator>Sumit</dc:creator>
  <cp:lastModifiedBy>Sumit</cp:lastModifiedBy>
  <cp:revision>1</cp:revision>
  <dcterms:created xsi:type="dcterms:W3CDTF">2026-06-20T19:52:31Z</dcterms:created>
  <dcterms:modified xsi:type="dcterms:W3CDTF">2026-06-20T19:52:31Z</dcterms:modified>
</cp:coreProperties>
</file>