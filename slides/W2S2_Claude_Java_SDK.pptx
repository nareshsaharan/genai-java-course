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Session 2! We now pivot from OpenAI to Anthropic's Java SDK — anthropic-java. Today we cover the full API surface: Messages, streaming, tool use, extended thinking, and prompt caching. Cap with building a Customer-Support Agent in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agenda. Highlight that by end of session students will have a working Customer Support Agent that uses tools, maintains conversation history, and handles errors gracefully. 90 min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code this. Walk through: 1) pom.xml dependency, 2) env variable setup, 3) the builder pattern for MessageCreateParams. Emphasize the typed response — message.content() returns a list of ContentBlock, must cast to TextBlock. Run it! Students should see Claude's response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CONCEPT: The API is stateless — Claude has NO memory between calls. You MUST send the full conversation history each time. This is different from OpenAI's Threads API. Demo: show what happens when you forget to append assistant's reply to history — Claude acts confused on turn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The try-with-resources closes the SSE connection automatically. textStream() is a Java Stream&lt;String&gt; of text deltas. finalMessage() blocks until done and gives you the complete message + usage stats. Demo: run it in a terminal, students see the typing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use is how you build AGENTS. Claude can't actually call your code — it returns a ToolUseBlock with the function name + arguments, and you execute the code and return the result. Think of it as Claude ASKING you to run a function. The agentic loop = call → tool → result → call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thinking adds latency and cost — only use when the task genuinely needs it. The budgetTokens is a soft limit; Claude uses it as-needed. Important: max_tokens must be greater than budgetTokens. Show students the ThinkingBlock output — it's fascinating to read Claude reasoning through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rule: if your system prompt is &gt; 1024 tokens AND used repeatedly (multi-turn or many users), always cache it. Customer-support agents with large policy docs are the perfect use case. Show students how to read usage.cacheReadInputTokens to verify caching is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AGENTIC LOOP pattern. Claude keeps running until it hits END_TURN — meaning no more tool calls needed. The while(true) loop handles tool call → execute → feed result → generate again. Unlimited iterations possible but add a max_iterations safety limit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 tools cover 80% of customer support use cases. Notice the escalate_to_human tool — this is a critical safety net. Claude WILL use it when it cannot resolve the issue, preventing the bot from hallucinating solutions it can't actually deliver. Always include an escalation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FAQs cover the most common confusion points. The stateless question is #1 source of bugs. The tool use question is #1 misconception — students think Claude runs code, it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Homework — implement the Customer Support Agent, add a 5th tool of your choice (e.g. create_ticket), and test it with 5 realistic customer scenarios. Next session: Tool Use advanced patterns + MCP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338C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1920240" cy="347472"/>
          </a:xfrm>
          <a:prstGeom prst="ROUNDED_RECTANGLE">
            <a:avLst>
              <a:gd name="adj" fmla="val 26316"/>
            </a:avLst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2  ·  SESSION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&amp;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Java SDK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anthropic-java SDK  ·  Messages &amp; Tool Use  ·  Streaming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Extended Thinking  ·  Prompt Caching  ·  Customer-Support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67328"/>
            <a:ext cx="1572768" cy="329184"/>
          </a:xfrm>
          <a:prstGeom prst="ROUNDED_RECTANGLE">
            <a:avLst>
              <a:gd name="adj" fmla="val 27778"/>
            </a:avLst>
          </a:prstGeom>
          <a:solidFill>
            <a:srgbClr val="4338C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673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🛠 SDK 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3767328"/>
            <a:ext cx="1572768" cy="329184"/>
          </a:xfrm>
          <a:prstGeom prst="ROUNDED_RECTANGLE">
            <a:avLst>
              <a:gd name="adj" fmla="val 2777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37673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💬 Messages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95344" y="3767328"/>
            <a:ext cx="1572768" cy="329184"/>
          </a:xfrm>
          <a:prstGeom prst="ROUNDED_RECTANGLE">
            <a:avLst>
              <a:gd name="adj" fmla="val 27778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37673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Streaming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14416" y="3767328"/>
            <a:ext cx="1572768" cy="329184"/>
          </a:xfrm>
          <a:prstGeom prst="ROUNDED_RECTANGLE">
            <a:avLst>
              <a:gd name="adj" fmla="val 27778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37673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🧠 Extended Thinking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33488" y="3767328"/>
            <a:ext cx="1572768" cy="329184"/>
          </a:xfrm>
          <a:prstGeom prst="ROUNDED_RECTANGLE">
            <a:avLst>
              <a:gd name="adj" fmla="val 27778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37673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💾 Caching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From SDK setup to a production-ready customer support agent in Java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4338C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2011680" cy="182880"/>
          </a:xfrm>
          <a:prstGeom prst="RECTANGLE">
            <a:avLst/>
          </a:prstGeom>
          <a:solidFill>
            <a:srgbClr val="4338C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1480" y="16002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SDK Setup &amp; Authentication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Add dependency, configure API key, first API call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05156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2542032" y="1371600"/>
            <a:ext cx="2011680" cy="182880"/>
          </a:xfrm>
          <a:prstGeom prst="RECTANGLE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1430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17520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633472" y="16002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Messages API Deep Dive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633472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System, user, assistant roles — multi-turn design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73168" y="105156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73168" y="105156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0EA5E9"/>
          </a:solidFill>
          <a:ln/>
        </p:spPr>
      </p:sp>
      <p:sp>
        <p:nvSpPr>
          <p:cNvPr id="20" name="Shape 16"/>
          <p:cNvSpPr/>
          <p:nvPr/>
        </p:nvSpPr>
        <p:spPr>
          <a:xfrm>
            <a:off x="4773168" y="1371600"/>
            <a:ext cx="2011680" cy="182880"/>
          </a:xfrm>
          <a:prstGeom prst="RECTANGLE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14300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48656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03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64608" y="16002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Streaming Responses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864608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SSE streaming in Java — real-time UX patterns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95160" y="105156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95160" y="105156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F97316"/>
          </a:solidFill>
          <a:ln/>
        </p:spPr>
      </p:sp>
      <p:sp>
        <p:nvSpPr>
          <p:cNvPr id="27" name="Shape 22"/>
          <p:cNvSpPr/>
          <p:nvPr/>
        </p:nvSpPr>
        <p:spPr>
          <a:xfrm>
            <a:off x="6995160" y="1371600"/>
            <a:ext cx="2011680" cy="182880"/>
          </a:xfrm>
          <a:prstGeom prst="RECTANGLE">
            <a:avLst/>
          </a:prstGeom>
          <a:solidFill>
            <a:srgbClr val="F9731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143000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0648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04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086600" y="16002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Tool Use (Function Calling)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086600" y="1965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Define tools, handle calls, return results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188720" y="274320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188720" y="274320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7C3AED"/>
          </a:solidFill>
          <a:ln/>
        </p:spPr>
      </p:sp>
      <p:sp>
        <p:nvSpPr>
          <p:cNvPr id="34" name="Shape 28"/>
          <p:cNvSpPr/>
          <p:nvPr/>
        </p:nvSpPr>
        <p:spPr>
          <a:xfrm>
            <a:off x="1188720" y="3063240"/>
            <a:ext cx="2011680" cy="182880"/>
          </a:xfrm>
          <a:prstGeom prst="RECTANGLE">
            <a:avLst/>
          </a:prstGeom>
          <a:solidFill>
            <a:srgbClr val="7C3AE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834640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64208" y="2788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05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280160" y="3291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Extended Thinking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280160" y="3657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 3.7 reasoning mode — when &amp; how to use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657600" y="274320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57600" y="274320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10B981"/>
          </a:solidFill>
          <a:ln/>
        </p:spPr>
      </p:sp>
      <p:sp>
        <p:nvSpPr>
          <p:cNvPr id="41" name="Shape 34"/>
          <p:cNvSpPr/>
          <p:nvPr/>
        </p:nvSpPr>
        <p:spPr>
          <a:xfrm>
            <a:off x="3657600" y="3063240"/>
            <a:ext cx="2011680" cy="182880"/>
          </a:xfrm>
          <a:prstGeom prst="RECTANGLE">
            <a:avLst/>
          </a:prstGeom>
          <a:solidFill>
            <a:srgbClr val="10B981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834640"/>
            <a:ext cx="310896" cy="31089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133088" y="2788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06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3749040" y="3291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Prompt Caching in Practice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3749040" y="3657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Cache large system prompts, measure savings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126480" y="2743200"/>
            <a:ext cx="2011680" cy="1508760"/>
          </a:xfrm>
          <a:prstGeom prst="ROUNDED_RECTANGLE">
            <a:avLst>
              <a:gd name="adj" fmla="val 8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126480" y="2743200"/>
            <a:ext cx="2011680" cy="502920"/>
          </a:xfrm>
          <a:prstGeom prst="ROUNDED_RECTANGLE">
            <a:avLst>
              <a:gd name="adj" fmla="val 25455"/>
            </a:avLst>
          </a:prstGeom>
          <a:solidFill>
            <a:srgbClr val="F97316"/>
          </a:solidFill>
          <a:ln/>
        </p:spPr>
      </p:sp>
      <p:sp>
        <p:nvSpPr>
          <p:cNvPr id="48" name="Shape 40"/>
          <p:cNvSpPr/>
          <p:nvPr/>
        </p:nvSpPr>
        <p:spPr>
          <a:xfrm>
            <a:off x="6126480" y="3063240"/>
            <a:ext cx="2011680" cy="182880"/>
          </a:xfrm>
          <a:prstGeom prst="RECTANGLE">
            <a:avLst/>
          </a:prstGeom>
          <a:solidFill>
            <a:srgbClr val="F97316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834640"/>
            <a:ext cx="310896" cy="31089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601968" y="2788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07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6217920" y="3291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Customer-Support Agent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6217920" y="3657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Java agent: tools + memory + safety guardrails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 Setup &amp; Your First API Call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anthropic-java — official Java SDK, typed, async-ready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3977640"/>
          </a:xfrm>
          <a:prstGeom prst="ROUNDED_RECTANGLE">
            <a:avLst>
              <a:gd name="adj" fmla="val 2759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Add Dependency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Maven pom.xml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&lt;groupId&gt;com.anthropic&lt;/groupId&gt;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&lt;artifactId&gt;anthropic-java&lt;/artifactId&gt;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&lt;version&gt;0.9.0&lt;/version&gt;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Gradle build.gradle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'com.anthropic:anthropic-java:0.9.0'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2. Configure 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/ environment variable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ANTHROPIC_API_KEY=sk-ant-api03-...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SDK auto-reads ANTHROPIC_API_KEY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pass explicitly: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AnthropicOkHttpClient.builder()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.apiKey(System.getenv(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"ANTHROPIC_API_KEY"))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51960" cy="3977640"/>
          </a:xfrm>
          <a:prstGeom prst="ROUNDED_RECTANGLE">
            <a:avLst>
              <a:gd name="adj" fmla="val 2759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First API 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444752"/>
            <a:ext cx="40690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com.anthropic.client.*;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com.anthropic.models.*;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HelloClaude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throws 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client = AnthropicOkHttpClient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.fromEnv();  // reads env var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message = client.messages()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MessageCreateParams.builder()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.model("claude-sonnet-4-5")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.maxTokens(1024)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.addUserMessage("Hello Claude!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Explain APIs in 1 line.")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.build()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Extract text from response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message.content().stream()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 -&gt; b instanceof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TextBlock)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.map(b -&gt; ((TextBlock)b).text())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.forEach(System.out::println);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API — The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Every conversation is stateless — YOU own the history, YOU send it every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920240"/>
          </a:xfrm>
          <a:prstGeom prst="ROUNDED_RECTANGLE">
            <a:avLst>
              <a:gd name="adj" fmla="val 6667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" y="1152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9768" y="1591056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Defines personality,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behavior, constraints.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Static context.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4408" y="1097280"/>
            <a:ext cx="2743200" cy="1920240"/>
          </a:xfrm>
          <a:prstGeom prst="ROUNDED_RECTANGLE">
            <a:avLst>
              <a:gd name="adj" fmla="val 6667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704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31336" y="1152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374136" y="1591056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Input from human.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Can include 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images, tool results.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08776" y="1097280"/>
            <a:ext cx="2743200" cy="1920240"/>
          </a:xfrm>
          <a:prstGeom prst="ROUNDED_RECTANGLE">
            <a:avLst>
              <a:gd name="adj" fmla="val 666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1704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75704" y="1152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18504" y="1591056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Claude's response.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Can include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or tool use calls.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035808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98932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320040" y="3200400"/>
            <a:ext cx="8503920" cy="1783080"/>
          </a:xfrm>
          <a:prstGeom prst="ROUNDED_RECTANGLE">
            <a:avLst>
              <a:gd name="adj" fmla="val 6154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Multi-Turn Conversation Pattern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3639312"/>
            <a:ext cx="8229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List&lt;MessageParam&gt; history = new ArrayList&lt;&gt;();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Turn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history.add(MessageParam.builder().role(Role.USER)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.content("What is Spring Boot?").build());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r1 = client.messages().create(params(history));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history.add(MessageParam.builder().role(Role.ASSISTANT)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.content(extractText(r1)).build());   // ← ADD reply to 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Turn 2  (history now has Turn 1 context!)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history.add(MessageParam.builder().role(Role.USER)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.content("Now explain dependency injection.").build());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Responses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Real-time token-by-token output — transforms user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325880"/>
          </a:xfrm>
          <a:prstGeom prst="ROUNDED_RECTANGLE">
            <a:avLst>
              <a:gd name="adj" fmla="val 827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60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Perceived Speed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User sees output after ~0.3s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vs waiting 8-15s for full 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05840"/>
            <a:ext cx="2743200" cy="1325880"/>
          </a:xfrm>
          <a:prstGeom prst="ROUNDED_RECTANGLE">
            <a:avLst>
              <a:gd name="adj" fmla="val 827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4488" y="1060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Long Outputs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4136" y="146304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Essential for 2K+ token responses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— don't block the thread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1005840"/>
            <a:ext cx="2743200" cy="1325880"/>
          </a:xfrm>
          <a:prstGeom prst="ROUNDED_RECTANGLE">
            <a:avLst>
              <a:gd name="adj" fmla="val 827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48856" y="1060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Better UX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146304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ChatGPT-style typing effect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makes AI feel alive &amp; responsive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8503920" cy="2487168"/>
          </a:xfrm>
          <a:prstGeom prst="ROUNDED_RECTANGLE">
            <a:avLst>
              <a:gd name="adj" fmla="val 4412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Java Streaming — anthropic-java SDK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8229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createStreaming() returns a StreamResponse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(var stream = client.messages().stream(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MessageCreateParams.builder()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.model("claude-sonnet-4-5")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.maxTokens(2048)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.addUserMessage("Write a Spring Boot REST controller for user CRUD.")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.build()))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Option A: iterate text deltas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stream.textStream().forEach(chunk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System.out.print(chunk);   // prints token-by-token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System.out.flush();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Option B: get final accumulated 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finalMsg = stream.finalMessage();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usage = finalMsg.usage();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System.out.printf("Tokens: in=%d out=%d%n",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usage.inputTokens(), usage.outputTokens());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— Function Calling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Give Claude the ability to call YOUR Java methods — like giving it hands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011680" cy="1417320"/>
          </a:xfrm>
          <a:prstGeom prst="ROUNDED_RECTANGLE">
            <a:avLst>
              <a:gd name="adj" fmla="val 7742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143000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Describe function name,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params, what it does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86584" y="15544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32888" y="1078992"/>
            <a:ext cx="2011680" cy="1417320"/>
          </a:xfrm>
          <a:prstGeom prst="ROUNDED_RECTANGLE">
            <a:avLst>
              <a:gd name="adj" fmla="val 774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143000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24328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Decides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24328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 picks which tool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 call and what args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9432" y="15544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45736" y="1078992"/>
            <a:ext cx="2011680" cy="1417320"/>
          </a:xfrm>
          <a:prstGeom prst="ROUNDED_RECTANGLE">
            <a:avLst>
              <a:gd name="adj" fmla="val 7742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95544" y="1143000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95544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37176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 Execute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7176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Your Java code runs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actual function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12280" y="155448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58584" y="1078992"/>
            <a:ext cx="2011680" cy="1417320"/>
          </a:xfrm>
          <a:prstGeom prst="ROUNDED_RECTANGLE">
            <a:avLst>
              <a:gd name="adj" fmla="val 7742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08392" y="1143000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08392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5002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 Returned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0024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Return output to Claude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 final response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697480"/>
            <a:ext cx="8503920" cy="2286000"/>
          </a:xfrm>
          <a:prstGeom prst="ROUNDED_RECTANGLE">
            <a:avLst>
              <a:gd name="adj" fmla="val 48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Define + Use a Tool in Java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090672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Define the tool schema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tool = Tool.builder()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.name("get_order_status")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.description("Fetch customer order status by order ID")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.inputSchema(Tool.InputSchema.builder()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.putProperty("order_id", JsonValue.from(Map.of(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"type", "string",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"description", "The order ID to look up")))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.addRequired("order_id").build())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Include in request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response = client.messages().create(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MessageCreateParams.builder()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.model("claude-sonnet-4-5").maxTokens(1024)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.addUserMessage("Where is order ORD-1234?")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.addTool(tool).build());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Handle tool call in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response.content().forEach(block -&gt;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(block instanceof ToolUseBlock tb)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orderId = tb.input().get("order_id").asText();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status  = orderService.lookup(orderId);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Step 4: send result back → next API 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Thinking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Claude 3.7 Sonnet — internal chain-of-thought reasoning before answering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1828800"/>
          </a:xfrm>
          <a:prstGeom prst="ROUNDED_RECTANGLE">
            <a:avLst>
              <a:gd name="adj" fmla="val 60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What it does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Claude thinks step-by-step in a private &lt;thinking&gt; block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You see the reasoning — or just the final answer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Dramatically better at math, logic, complex reasoning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Uses claude-3-7-sonnet-20250219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Min budget_tokens: 1024 — max: 10,000+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51960" cy="1828800"/>
          </a:xfrm>
          <a:prstGeom prst="ROUNDED_RECTANGLE">
            <a:avLst>
              <a:gd name="adj" fmla="val 60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When to use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Use it for: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Multi-step math / algorithms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911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Code debugging with tricky bugs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130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Legal / contract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350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Complex data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624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❌ Skip it for: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8986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Simple Q&amp;A or chat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1181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Factual lookups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Fast real-time responses (higher latency)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557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Cost-sensitive high-volume calls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8503920" cy="1993392"/>
          </a:xfrm>
          <a:prstGeom prst="ROUNDED_RECTANGLE">
            <a:avLst>
              <a:gd name="adj" fmla="val 5505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Enabling Extended Thinking in Java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8229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response = client.messages().create(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MessageCreateParams.builder()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.model("claude-3-7-sonnet-20250219")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.maxTokens(16000)    // must be &gt; budget_tokens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.thinking(ThinkingConfigParam.builder()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.type("enabled")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.budgetTokens(8000)  // thinking token budget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.build())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.addUserMessage("Solve: if 3 workers take 8 days, how many days for 6 workers?")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has ThinkingBlock + TextBlock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response.content().forEach(block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(block instanceof ThinkingBlock tb)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System.out.println("THINKING: " + tb.thinking());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(block instanceof TextBlock txt)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System.out.println("ANSWER: " + txt.text());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Cache your large system prompts — up to 90% cost reduction on repeated calls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143000"/>
          </a:xfrm>
          <a:prstGeom prst="ROUNDED_RECTANGLE">
            <a:avLst>
              <a:gd name="adj" fmla="val 96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90%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Cost saving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(Anthropic cache hit)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143000"/>
          </a:xfrm>
          <a:prstGeom prst="ROUNDED_RECTANGLE">
            <a:avLst>
              <a:gd name="adj" fmla="val 96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</a:rPr>
              <a:t>1024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Min tokens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be cache-eligible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143000"/>
          </a:xfrm>
          <a:prstGeom prst="ROUNDED_RECTANGLE">
            <a:avLst>
              <a:gd name="adj" fmla="val 96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5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Cache TTL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(auto-refreshed on use)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1143000"/>
          </a:xfrm>
          <a:prstGeom prst="ROUNDED_RECTANGLE">
            <a:avLst>
              <a:gd name="adj" fmla="val 96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~0ms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Extra latency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for cache hits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2743200"/>
          </a:xfrm>
          <a:prstGeom prst="ROUNDED_RECTANGLE">
            <a:avLst>
              <a:gd name="adj" fmla="val 4000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Using cache_control in Java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8229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Cache a large system prompt (docs, policies, persona)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SYSTEM_PROMPT = loadLargePrompt(); // e.g. 5000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response = client.messages().create(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MessageCreateParams.builder()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.model("claude-sonnet-4-5")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.maxTokens(1024)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.system(List.of(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TextBlockParam.builder()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.text(SYSTEM_PROMPT)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.cacheControl(   // ← THIS enables caching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CacheControlEphemeral.builder().build())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.addUserMessage("What is your return policy?")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cache hit in usage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usage = response.usage();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cached = usage.cacheReadInputTokens().orElse(0L);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created= usage.cacheCreationInputTokens().orElse(0L);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System.out.printf("Cache read=%d, created=%d%n", cached, created);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Customer-Support Agent —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Putting it all together: streaming + tools + caching + safety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234440"/>
          </a:xfrm>
          <a:prstGeom prst="ROUNDED_RECTANGLE">
            <a:avLst>
              <a:gd name="adj" fmla="val 8889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Boot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Controller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/api/chat POST endpoint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receives user message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2011680" cy="1234440"/>
          </a:xfrm>
          <a:prstGeom prst="ROUNDED_RECTANGLE">
            <a:avLst>
              <a:gd name="adj" fmla="val 888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Manages history list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trims context window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2011680" cy="1234440"/>
          </a:xfrm>
          <a:prstGeom prst="ROUNDED_RECTANGLE">
            <a:avLst>
              <a:gd name="adj" fmla="val 8889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(Streaming)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claude-sonnet-4-5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SSE streaming response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2011680" cy="1234440"/>
          </a:xfrm>
          <a:prstGeom prst="ROUNDED_RECTANGLE">
            <a:avLst>
              <a:gd name="adj" fmla="val 8889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Executor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Order lookup, FAQ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refund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22576" y="1463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71416" y="1463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0256" y="1463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8503920" cy="2560320"/>
          </a:xfrm>
          <a:prstGeom prst="ROUNDED_RECTANGLE">
            <a:avLst>
              <a:gd name="adj" fmla="val 428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CustomerSupportAgent.java — Core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862072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chat(String userId, String userMsg)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Load / maintain conversation history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history = sessionStore.getOrCreate(userId);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history.add(userMsg(userMsg));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Agentic loop (handles tool calls automatically)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response = client.messages().create(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MessageCreateParams.builder()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.model("claude-sonnet-4-5").maxTokens(2048)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.system(cachedSystemPrompt())  // cache_control applied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.messages(history)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.addTool(orderStatusTool)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.addTool(refundTool)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(response.stopReason() == StopReason.END_TURN)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reply = extractText(response);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history.add(assistantMsg(reply));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reply;          // done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Handle tool calls → execute → add result →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history.addAll(processToolCalls(response));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Tools — What Claude Can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60520" cy="1874520"/>
          </a:xfrm>
          <a:prstGeom prst="ROUNDED_RECTANGLE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24712"/>
            <a:ext cx="475488" cy="475488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22529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get_order_status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435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Look up real-time order status by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801368"/>
            <a:ext cx="3886200" cy="896112"/>
          </a:xfrm>
          <a:prstGeom prst="ROUNDED_RECTANGLE">
            <a:avLst>
              <a:gd name="adj" fmla="val 7143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Params: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1208" y="20299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order_id: string (required)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1208" y="225856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Returns: Shipping status, ETA, carrier info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160520" cy="1874520"/>
          </a:xfrm>
          <a:prstGeom prst="ROUNDED_RECTANGLE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12471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22529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process_refund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40680" y="1435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Initiate refund for eligible orders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92040" y="1801368"/>
            <a:ext cx="3886200" cy="896112"/>
          </a:xfrm>
          <a:prstGeom prst="ROUNDED_RECTANGLE">
            <a:avLst>
              <a:gd name="adj" fmla="val 7143"/>
            </a:avLst>
          </a:prstGeom>
          <a:solidFill>
            <a:srgbClr val="F1F5F9"/>
          </a:solidFill>
          <a:ln/>
        </p:spPr>
      </p:sp>
      <p:sp>
        <p:nvSpPr>
          <p:cNvPr id="18" name="Text 14"/>
          <p:cNvSpPr/>
          <p:nvPr/>
        </p:nvSpPr>
        <p:spPr>
          <a:xfrm>
            <a:off x="4956048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Params: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956048" y="20299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order_id: string  |  reason: string (required)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956048" y="225856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Returns: Refund confirmation ID + timeline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017520"/>
            <a:ext cx="4160520" cy="1874520"/>
          </a:xfrm>
          <a:prstGeom prst="ROUNDED_RECTANGLE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3182112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28269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search_faq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" y="3493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Search knowledge base for policy answers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" y="3858768"/>
            <a:ext cx="3886200" cy="896112"/>
          </a:xfrm>
          <a:prstGeom prst="ROUNDED_RECTANGLE">
            <a:avLst>
              <a:gd name="adj" fmla="val 7143"/>
            </a:avLst>
          </a:prstGeom>
          <a:solidFill>
            <a:srgbClr val="F1F5F9"/>
          </a:solidFill>
          <a:ln/>
        </p:spPr>
      </p:sp>
      <p:sp>
        <p:nvSpPr>
          <p:cNvPr id="27" name="Text 22"/>
          <p:cNvSpPr/>
          <p:nvPr/>
        </p:nvSpPr>
        <p:spPr>
          <a:xfrm>
            <a:off x="521208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Params: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21208" y="40873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query: string (required)  |  category: string (optional)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21208" y="431596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Returns: Top 3 matching FAQ entries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754880" y="3017520"/>
            <a:ext cx="4160520" cy="1874520"/>
          </a:xfrm>
          <a:prstGeom prst="ROUNDED_RECTANGLE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892040" y="3182112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282696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4068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escalate_to_human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440680" y="3493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Flag ticket for human agent review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892040" y="3858768"/>
            <a:ext cx="3886200" cy="896112"/>
          </a:xfrm>
          <a:prstGeom prst="ROUNDED_RECTANGLE">
            <a:avLst>
              <a:gd name="adj" fmla="val 7143"/>
            </a:avLst>
          </a:prstGeom>
          <a:solidFill>
            <a:srgbClr val="F1F5F9"/>
          </a:solidFill>
          <a:ln/>
        </p:spPr>
      </p:sp>
      <p:sp>
        <p:nvSpPr>
          <p:cNvPr id="36" name="Text 30"/>
          <p:cNvSpPr/>
          <p:nvPr/>
        </p:nvSpPr>
        <p:spPr>
          <a:xfrm>
            <a:off x="4956048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Params: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956048" y="40873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reason: string  |  priority: low|medium|high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956048" y="431596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Returns: Ticket ID + estimated wait time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20040" y="4919472"/>
            <a:ext cx="8503920" cy="475488"/>
          </a:xfrm>
          <a:prstGeom prst="ROUNDED_RECTANGLE">
            <a:avLst>
              <a:gd name="adj" fmla="val 1923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457200" y="494690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🛡 Safety: Always validate tool inputs, check user authorization, and limit tool call depth to prevent infinite loops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87552"/>
            <a:ext cx="347472" cy="3474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969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</a:rPr>
              <a:t>Why doesn't Claude remember previous sessions?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4081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The API is fully stateless. Each call is independent. Memory = your code persisting the history list to a DB between sessions.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8755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969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Can Claude call my database directly?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4081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No — Claude returns a ToolUseBlock with params, YOUR code calls the DB. This keeps sensitive logic on your side.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0487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What model for production chat?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28254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Start with claude-sonnet-4-5 — great speed/quality balance. Use claude-haiku for high-volume simple tasks.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1343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40487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When does extended thinking fail?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8254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It's a reasoning booster, not magic. It still fails on tasks needing real-world tools/data. And it's slower + costlier.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3075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2219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" y="3803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Is streaming required for good UX?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424281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For responses &gt; ~200 tokens: yes. For classification/short answers: sync is fine. Streaming adds complexity — justify 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30752"/>
            <a:ext cx="4160520" cy="1261872"/>
          </a:xfrm>
          <a:prstGeom prst="ROUNDED_RECTANGLE">
            <a:avLst>
              <a:gd name="adj" fmla="val 8696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8221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3803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How do I handle long conversations?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24281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Trim oldest turns when approaching context limit. Keep system + last N turns. Or use summarization: periodically ask Claude to summarize history.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ANGL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685800"/>
          </a:xfrm>
          <a:prstGeom prst="ROUNDED_RECTANGLE">
            <a:avLst>
              <a:gd name="adj" fmla="val 13333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658368" cy="685800"/>
          </a:xfrm>
          <a:prstGeom prst="ROUNDED_RECTANGLE">
            <a:avLst>
              <a:gd name="adj" fmla="val 13889"/>
            </a:avLst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0424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API is stateless — own your history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3350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Claude never remembers. You maintain the messages list. Design your SessionStore carefully for multi-user production.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85800"/>
          </a:xfrm>
          <a:prstGeom prst="ROUNDED_RECTANGLE">
            <a:avLst>
              <a:gd name="adj" fmla="val 13333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92224"/>
            <a:ext cx="658368" cy="685800"/>
          </a:xfrm>
          <a:prstGeom prst="ROUNDED_RECTANGLE">
            <a:avLst>
              <a:gd name="adj" fmla="val 13889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92224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18470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Stream everything user-facing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1396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Sync API = frustrating wait. SSE streaming = ChatGPT-like experience. Use finalMessage() to get usage stats.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685800"/>
          </a:xfrm>
          <a:prstGeom prst="ROUNDED_RECTANGLE">
            <a:avLst>
              <a:gd name="adj" fmla="val 13333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96896"/>
            <a:ext cx="658368" cy="685800"/>
          </a:xfrm>
          <a:prstGeom prst="ROUNDED_RECTANGLE">
            <a:avLst>
              <a:gd name="adj" fmla="val 13889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96896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26517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Tool use = the agent superpower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944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Tools give Claude hands. The agentic loop runs until END_TURN. Always add max iterations + escalation fallback.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8412480" cy="685800"/>
          </a:xfrm>
          <a:prstGeom prst="ROUNDED_RECTANGLE">
            <a:avLst>
              <a:gd name="adj" fmla="val 13333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01568"/>
            <a:ext cx="658368" cy="685800"/>
          </a:xfrm>
          <a:prstGeom prst="ROUNDED_RECTANGLE">
            <a:avLst>
              <a:gd name="adj" fmla="val 13889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01568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34564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Extended thinking for hard problems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749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Use claude-3-7-sonnet for complex reasoning. budgetTokens controls depth. Not for real-time, cost-sensitive 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85800"/>
          </a:xfrm>
          <a:prstGeom prst="ROUNDED_RECTANGLE">
            <a:avLst>
              <a:gd name="adj" fmla="val 13333"/>
            </a:avLst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658368" cy="685800"/>
          </a:xfrm>
          <a:prstGeom prst="ROUNDED_RECTANGLE">
            <a:avLst>
              <a:gd name="adj" fmla="val 13889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06240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5568" y="42611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Cache your system prompt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5537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Large policy doc + repeated calls = cache it. CacheControlEphemeral costs nothing extra; saves 90% on cache hits.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– Session 2: Claude API + Anthropic Java SDK</dc:title>
  <dc:subject>PptxGenJS Presentation</dc:subject>
  <dc:creator>PptxGenJS</dc:creator>
  <cp:lastModifiedBy>PptxGenJS</cp:lastModifiedBy>
  <cp:revision>1</cp:revision>
  <dcterms:created xsi:type="dcterms:W3CDTF">2026-06-27T11:23:37Z</dcterms:created>
  <dcterms:modified xsi:type="dcterms:W3CDTF">2026-06-27T11:23:37Z</dcterms:modified>
</cp:coreProperties>
</file>