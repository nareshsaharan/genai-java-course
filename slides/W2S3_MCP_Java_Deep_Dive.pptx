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image" Target="../media/image-24-1.png"/><Relationship Id="rId5" Type="http://schemas.openxmlformats.org/officeDocument/2006/relationships/image" Target="../media/image-24-1.png"/><Relationship Id="rId6" Type="http://schemas.openxmlformats.org/officeDocument/2006/relationships/image" Target="../media/image-24-1.png"/><Relationship Id="rId7" Type="http://schemas.openxmlformats.org/officeDocument/2006/relationships/image" Target="../media/image-24-1.png"/><Relationship Id="rId8" Type="http://schemas.openxmlformats.org/officeDocument/2006/relationships/image" Target="../media/image-24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image" Target="../media/image-26-2.png"/><Relationship Id="rId5" Type="http://schemas.openxmlformats.org/officeDocument/2006/relationships/image" Target="../media/image-26-2.png"/><Relationship Id="rId6" Type="http://schemas.openxmlformats.org/officeDocument/2006/relationships/image" Target="../media/image-26-2.png"/><Relationship Id="rId7" Type="http://schemas.openxmlformats.org/officeDocument/2006/relationships/image" Target="../media/image-26-2.png"/><Relationship Id="rId8" Type="http://schemas.openxmlformats.org/officeDocument/2006/relationships/image" Target="../media/image-26-2.png"/><Relationship Id="rId9" Type="http://schemas.openxmlformats.org/officeDocument/2006/relationships/image" Target="../media/image-26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406E"/>
          </a:solidFill>
          <a:ln/>
        </p:spPr>
      </p:sp>
      <p:pic>
        <p:nvPicPr>
          <p:cNvPr id="4" name="Image 0" descr="icon_mugho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FOR DEVELOPERS  ·  DEEP DIVE EDITION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own MCP server in Java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"what is an LLM tool?" to a live server Claude Desktop can call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4297680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97680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basics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253996" y="429768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sp>
        <p:nvSpPr>
          <p:cNvPr id="11" name="Text 8"/>
          <p:cNvSpPr/>
          <p:nvPr/>
        </p:nvSpPr>
        <p:spPr>
          <a:xfrm>
            <a:off x="2253996" y="429768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28516" y="429768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sp>
        <p:nvSpPr>
          <p:cNvPr id="13" name="Text 10"/>
          <p:cNvSpPr/>
          <p:nvPr/>
        </p:nvSpPr>
        <p:spPr>
          <a:xfrm>
            <a:off x="4128516" y="429768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03036" y="4297680"/>
            <a:ext cx="1623060" cy="38404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sp>
        <p:nvSpPr>
          <p:cNvPr id="15" name="Text 12"/>
          <p:cNvSpPr/>
          <p:nvPr/>
        </p:nvSpPr>
        <p:spPr>
          <a:xfrm>
            <a:off x="6003036" y="4297680"/>
            <a:ext cx="16230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build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90688" y="4297680"/>
            <a:ext cx="1101852" cy="38404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sp>
        <p:nvSpPr>
          <p:cNvPr id="17" name="Text 14"/>
          <p:cNvSpPr/>
          <p:nvPr/>
        </p:nvSpPr>
        <p:spPr>
          <a:xfrm>
            <a:off x="7790688" y="4297680"/>
            <a:ext cx="11018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57132" y="4297680"/>
            <a:ext cx="580644" cy="38404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sp>
        <p:nvSpPr>
          <p:cNvPr id="19" name="Text 16"/>
          <p:cNvSpPr/>
          <p:nvPr/>
        </p:nvSpPr>
        <p:spPr>
          <a:xfrm>
            <a:off x="9057132" y="4297680"/>
            <a:ext cx="58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 ·   Spring AI   ·   22 slides   ·   Live demo with Claude Desktop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 — theory first, then we build, then we break it on purpose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17904" y="24688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64261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4290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foundations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42062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work, and why they need tools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182880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E9EEF5"/>
          </a:solidFill>
          <a:ln/>
        </p:spPr>
      </p:sp>
      <p:sp>
        <p:nvSpPr>
          <p:cNvPr id="11" name="Text 8"/>
          <p:cNvSpPr/>
          <p:nvPr/>
        </p:nvSpPr>
        <p:spPr>
          <a:xfrm>
            <a:off x="3621024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4688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13" name="Image 1" descr="icon_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6426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1024" y="34290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protocol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21024" y="42062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transports, and the three primitives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182880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0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077456" y="24688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19" name="Image 2" descr="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264261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4290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Java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0" y="42062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AI, @Tool, packaging, and wiring it up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9408" y="1828800"/>
            <a:ext cx="2487168" cy="3977640"/>
          </a:xfrm>
          <a:prstGeom prst="roundRect">
            <a:avLst>
              <a:gd name="adj" fmla="val 3676"/>
            </a:avLst>
          </a:prstGeom>
          <a:solidFill>
            <a:srgbClr val="E9EEF5"/>
          </a:solidFill>
          <a:ln/>
        </p:spPr>
      </p:sp>
      <p:sp>
        <p:nvSpPr>
          <p:cNvPr id="23" name="Text 18"/>
          <p:cNvSpPr/>
          <p:nvPr/>
        </p:nvSpPr>
        <p:spPr>
          <a:xfrm>
            <a:off x="9180576" y="20574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857232" y="24688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25" name="Image 3" descr="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264261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0576" y="34290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 + gotchas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80576" y="4206240"/>
            <a:ext cx="20848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demo and the mistakes to avoid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AI foundations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every tool-builder needs before touching code</a:t>
            </a:r>
            <a:endParaRPr lang="en-US" sz="1600" dirty="0"/>
          </a:p>
        </p:txBody>
      </p:sp>
      <p:pic>
        <p:nvPicPr>
          <p:cNvPr id="7" name="Image 0" descr="icon_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33172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AI, in one minute?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grounding before we talk about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5F7FB"/>
          </a:solidFill>
          <a:ln/>
        </p:spPr>
      </p:sp>
      <p:pic>
        <p:nvPicPr>
          <p:cNvPr id="5" name="Image 0" descr="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93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(LLM)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model trained on huge amounts of text to predict, one piece at a time, what word is most likely to come next. Claude, GPT, and Gemini are all LLMs.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3657600"/>
            <a:ext cx="45262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"Generative" just means: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114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new content — text, code, images — rather than just classifying or retrieving existing content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generated fresh, token by token, each time you ask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today's session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219456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E9EEF5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23042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knows patterns from training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09360" y="2697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live facts, not your codebase, not today's date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338328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E9EEF5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49300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by predicting, not looking things up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309360" y="3886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can't "check" anything unless we give it a way to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80760" y="4572000"/>
            <a:ext cx="5440680" cy="1005840"/>
          </a:xfrm>
          <a:prstGeom prst="roundRect">
            <a:avLst>
              <a:gd name="adj" fmla="val 9091"/>
            </a:avLst>
          </a:prstGeom>
          <a:solidFill>
            <a:srgbClr val="FBEAE5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46817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missing capability is exactly what a tool fills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09360" y="50749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where MCP and our Java server come 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an LLM actually answer you?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at a time — there's no lookup happening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786384" cy="502920"/>
          </a:xfrm>
          <a:prstGeom prst="roundRect">
            <a:avLst>
              <a:gd name="adj" fmla="val 14545"/>
            </a:avLst>
          </a:prstGeom>
          <a:solidFill>
            <a:srgbClr val="E9EE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19072" y="2103120"/>
            <a:ext cx="1225296" cy="502920"/>
          </a:xfrm>
          <a:prstGeom prst="roundRect">
            <a:avLst>
              <a:gd name="adj" fmla="val 14545"/>
            </a:avLst>
          </a:prstGeom>
          <a:solidFill>
            <a:srgbClr val="E9EEF5"/>
          </a:solidFill>
          <a:ln/>
        </p:spPr>
      </p:sp>
      <p:sp>
        <p:nvSpPr>
          <p:cNvPr id="7" name="Text 5"/>
          <p:cNvSpPr/>
          <p:nvPr/>
        </p:nvSpPr>
        <p:spPr>
          <a:xfrm>
            <a:off x="1719072" y="210312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54096" y="2103120"/>
            <a:ext cx="676656" cy="502920"/>
          </a:xfrm>
          <a:prstGeom prst="roundRect">
            <a:avLst>
              <a:gd name="adj" fmla="val 14545"/>
            </a:avLst>
          </a:prstGeom>
          <a:solidFill>
            <a:srgbClr val="E9EEF5"/>
          </a:solidFill>
          <a:ln/>
        </p:spPr>
      </p:sp>
      <p:sp>
        <p:nvSpPr>
          <p:cNvPr id="9" name="Text 7"/>
          <p:cNvSpPr/>
          <p:nvPr/>
        </p:nvSpPr>
        <p:spPr>
          <a:xfrm>
            <a:off x="3054096" y="210312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103120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E9EE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1031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65776" y="2103120"/>
            <a:ext cx="676656" cy="502920"/>
          </a:xfrm>
          <a:prstGeom prst="roundRect">
            <a:avLst>
              <a:gd name="adj" fmla="val 14545"/>
            </a:avLst>
          </a:prstGeom>
          <a:solidFill>
            <a:srgbClr val="E9EEF5"/>
          </a:solidFill>
          <a:ln/>
        </p:spPr>
      </p:sp>
      <p:sp>
        <p:nvSpPr>
          <p:cNvPr id="13" name="Text 11"/>
          <p:cNvSpPr/>
          <p:nvPr/>
        </p:nvSpPr>
        <p:spPr>
          <a:xfrm>
            <a:off x="5065776" y="210312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210312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BEAE5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103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3C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word is chosen based on everything before it — including your question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is broken into tokens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chunks of text — words or word-pieces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9856" y="3246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3602736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02736" y="39319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the next token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02736" y="47548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patterns learned from training 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3246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82512" y="39319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token is added, and it repeats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2512" y="47548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next one, and the next, until done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79408" y="3246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30" name="Text 28"/>
          <p:cNvSpPr/>
          <p:nvPr/>
        </p:nvSpPr>
        <p:spPr>
          <a:xfrm>
            <a:off x="9162288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62288" y="39319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sequence is your answer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62288" y="475488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never a database lookup involved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plain LLM falls short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gaps that a model alone can never close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9EEF5"/>
          </a:solidFill>
          <a:ln/>
        </p:spPr>
      </p:sp>
      <p:sp>
        <p:nvSpPr>
          <p:cNvPr id="5" name="Shape 3"/>
          <p:cNvSpPr/>
          <p:nvPr/>
        </p:nvSpPr>
        <p:spPr>
          <a:xfrm>
            <a:off x="1563624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24612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check today's weather, stock prices, or your database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9856" y="18288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9EEF5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_key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834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324612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send an email, create a ticket, or save a file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8288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9EE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123176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203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834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knowledge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64224" y="324612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has a cutoff date — nothing after that is known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9408" y="1828800"/>
            <a:ext cx="2487168" cy="2377440"/>
          </a:xfrm>
          <a:prstGeom prst="roundRect">
            <a:avLst>
              <a:gd name="adj" fmla="val 3846"/>
            </a:avLst>
          </a:prstGeom>
          <a:solidFill>
            <a:srgbClr val="E9EEF5"/>
          </a:solidFill>
          <a:ln/>
        </p:spPr>
      </p:sp>
      <p:sp>
        <p:nvSpPr>
          <p:cNvPr id="20" name="Shape 15"/>
          <p:cNvSpPr/>
          <p:nvPr/>
        </p:nvSpPr>
        <p:spPr>
          <a:xfrm>
            <a:off x="9902952" y="20574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56" y="22037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28346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context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0" y="324612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your company's internal systems or docs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4805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AE5"/>
          </a:solidFill>
          <a:ln/>
        </p:spPr>
      </p:sp>
      <p:pic>
        <p:nvPicPr>
          <p:cNvPr id="25" name="Image 4" descr="icon_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27448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48056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gaps is closed the same way: give the model a tool it can call.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tool use (a.k.a. function calling)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behind everything we build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 function with a name, a description, and a list of parameters that you register with the model ahead of time.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conversation, the model can decide: 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should call getWeather(city) here"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application (not the model itself) actually runs that function and returns the result.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5120640" cy="329184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720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WHAT to call — your code decides HOW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9659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"getWeather"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current weather"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"city":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"string"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80760" y="54406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shape of a tool definition in every major function-calling API — OpenAI, Gemini, and Claude all use a version of this.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tool-call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between your question and the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371600" cy="457200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194560"/>
            <a:ext cx="0" cy="4206240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11880" y="1737360"/>
            <a:ext cx="1371600" cy="457200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0" cy="4206240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086600" y="1737360"/>
            <a:ext cx="1371600" cy="457200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2194560"/>
            <a:ext cx="0" cy="4206240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921240" y="1737360"/>
            <a:ext cx="1371600" cy="457200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14" name="Text 12"/>
          <p:cNvSpPr/>
          <p:nvPr/>
        </p:nvSpPr>
        <p:spPr>
          <a:xfrm>
            <a:off x="99212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07040" y="2194560"/>
            <a:ext cx="0" cy="4206240"/>
          </a:xfrm>
          <a:prstGeom prst="line">
            <a:avLst/>
          </a:prstGeom>
          <a:noFill/>
          <a:ln w="12700">
            <a:solidFill>
              <a:srgbClr val="D8DEE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88720" y="2468880"/>
            <a:ext cx="310896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188720" y="2176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"What's the weather in Delhi?"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0" y="3108960"/>
            <a:ext cx="347472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97680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getWeather("Delhi")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794760"/>
            <a:ext cx="347472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29768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"temp": 34, "condition": "sunny" 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88720" y="4480560"/>
            <a:ext cx="310896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18872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the result, writes a reply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88720" y="5166360"/>
            <a:ext cx="310896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188720" y="4873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34°C and sunny in Delhi"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 are the part MCP standardizes: how "your tool" is described to, and called by, the model's host application.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MCP protocol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 descriptions and calls are standardized across apps</a:t>
            </a:r>
            <a:endParaRPr lang="en-US" sz="1600" dirty="0"/>
          </a:p>
        </p:txBody>
      </p:sp>
      <p:pic>
        <p:nvPicPr>
          <p:cNvPr id="7" name="Image 0" descr="icon_sitema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33172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a common language for "here are my tools"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5F7FB"/>
          </a:solidFill>
          <a:ln/>
        </p:spPr>
      </p:sp>
      <p:pic>
        <p:nvPicPr>
          <p:cNvPr id="5" name="Image 0" descr="icon_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USB-C for AI apps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USB-C, every device needed its own custom cable. MCP does the same job for AI: one standard "plug" so any AI app can talk to any tool server, without a custom integration for each pair.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4160520"/>
            <a:ext cx="45262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2976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 Anthropic in late 2024, now an open standard with growing adoption across the industry.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63640" y="17373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 vs. with MCP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214884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FBEAE5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286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2651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apps × M tools = N×M custom integrations, each with its own format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388620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EAF3DE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4023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43891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apps + M tools = build each tool once, every MCP-aware app can use it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architecture: three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client, and server — who does what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app you interact with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Desktop, an IDE, a chat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E9EEF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host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connection to one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BEAE5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58200" y="24871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you write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5820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tools, resources, and prompts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606040"/>
            <a:ext cx="50292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26680" y="2606040"/>
            <a:ext cx="502920" cy="0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726680" y="1719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1508760"/>
            <a:ext cx="736092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DEE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02920" y="155448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 process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demo: Claude Desktop is the host, it creates a client for our server, and our Java process is the server — launched over STDIO and speaking MCP.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 can talk to many servers at once: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F5F7F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46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77440" y="5234940"/>
            <a:ext cx="2743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484632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E9EEF5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4846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tools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77440" y="5234940"/>
            <a:ext cx="237744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484632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E9EEF5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4846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77440" y="5234940"/>
            <a:ext cx="44805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0" y="484632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BEAE5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846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Java server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377440" y="5234940"/>
            <a:ext cx="6583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484632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E9EEF5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0" y="4846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system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host and server talk: transports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defines the message format — transport is how bytes actually move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5F7FB"/>
          </a:solidFill>
          <a:ln/>
        </p:spPr>
      </p:sp>
      <p:pic>
        <p:nvPicPr>
          <p:cNvPr id="5" name="Image 0" descr="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same machine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launches your server as a subprocess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flow over standard input/output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no network setup, no ports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 today with Claude Desktop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E9EEF5"/>
          </a:solidFill>
          <a:ln/>
        </p:spPr>
      </p:sp>
      <p:pic>
        <p:nvPicPr>
          <p:cNvPr id="10" name="Image 1" descr="icon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SSE / Streamable HTTP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3232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over a network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independently, reachable by URL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shared or cloud-hosted tool servers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auth, since it's network-exposed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@Tool code, different starter config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a server can expose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aren't the only primitive — know the other two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BEAE5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20848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22494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the model can invoke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05840" y="3749040"/>
            <a:ext cx="26974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 side effects or computation — getWeather(), sendEmail(), runQuery()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Model-controlled: the model decides when to call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E9EEF5"/>
          </a:solidFill>
          <a:ln/>
        </p:spPr>
      </p:sp>
      <p:sp>
        <p:nvSpPr>
          <p:cNvPr id="13" name="Shape 10"/>
          <p:cNvSpPr/>
          <p:nvPr/>
        </p:nvSpPr>
        <p:spPr>
          <a:xfrm>
            <a:off x="5760720" y="20848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24942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7200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model can read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54880" y="3749040"/>
            <a:ext cx="26974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contents, database rows, docs — read-only context, not actions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17720" y="4983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App-controlled: your app decides what to attach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182880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sp>
        <p:nvSpPr>
          <p:cNvPr id="21" name="Shape 17"/>
          <p:cNvSpPr/>
          <p:nvPr/>
        </p:nvSpPr>
        <p:spPr>
          <a:xfrm>
            <a:off x="9509760" y="208483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icon_commentd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0" y="224942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2104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2104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templates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503920" y="3749040"/>
            <a:ext cx="26974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366760" y="38862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prompt patterns the server offers, like a "summarize this" template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66760" y="49834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User-controlled: a person picks it explicitly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in Java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project to a running MCP server with Spring AI</a:t>
            </a:r>
            <a:endParaRPr lang="en-US" sz="1600" dirty="0"/>
          </a:p>
        </p:txBody>
      </p:sp>
      <p:pic>
        <p:nvPicPr>
          <p:cNvPr id="7" name="Image 0" descr="icon_boo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33172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Java + Spring AI for this?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the language — Spring AI adds the MCP wiring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717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write Spring services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@Tool method is just a method on a @Service you already know how to test and deploy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/>
        </p:spPr>
      </p:sp>
      <p:pic>
        <p:nvPicPr>
          <p:cNvPr id="9" name="Image 1" descr="icon_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717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938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 does the protocol work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9516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Handshake, message parsing, and schema generation are handled by the starter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1546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/>
        </p:spPr>
      </p:sp>
      <p:pic>
        <p:nvPicPr>
          <p:cNvPr id="13" name="Image 2" descr="icon_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975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64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normal jar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1732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runtime — package it like any Spring Boot app and run it with java -jar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31546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/>
        </p:spPr>
      </p:sp>
      <p:pic>
        <p:nvPicPr>
          <p:cNvPr id="17" name="Image 3" descr="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975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3264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existing enterprise stacks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99516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existing data access, security, and logging setup inside a tool method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build,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pieces, in order — we'll open each one on the next slides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7" name="Image 0" descr="icon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 + the MCP server starter dependency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E9EEF5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17720" y="2057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13" name="Image 1" descr="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annotate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method, marked with @Tool and a description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/>
        </p:spPr>
      </p:sp>
      <p:sp>
        <p:nvSpPr>
          <p:cNvPr id="17" name="Text 13"/>
          <p:cNvSpPr/>
          <p:nvPr/>
        </p:nvSpPr>
        <p:spPr>
          <a:xfrm>
            <a:off x="110642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19" name="Image 2" descr="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Auto-registration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66760" y="31089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scans and registers every @Tool on startup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0233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E9EEF5"/>
          </a:solidFill>
          <a:ln/>
        </p:spPr>
      </p:sp>
      <p:sp>
        <p:nvSpPr>
          <p:cNvPr id="23" name="Text 18"/>
          <p:cNvSpPr/>
          <p:nvPr/>
        </p:nvSpPr>
        <p:spPr>
          <a:xfrm>
            <a:off x="356616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25" name="Image 3" descr="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&amp; run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68680" y="5303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jar, run it, confirm it starts cleanly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0" y="40233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5F7FB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4617720" y="42519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31" name="Image 4" descr="icon_pl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8912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1772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into the host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617720" y="5303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claude_desktop_config.json at your jar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38160" y="40233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E9EEF5"/>
          </a:solidFill>
          <a:ln/>
        </p:spPr>
      </p:sp>
      <p:sp>
        <p:nvSpPr>
          <p:cNvPr id="35" name="Text 28"/>
          <p:cNvSpPr/>
          <p:nvPr/>
        </p:nvSpPr>
        <p:spPr>
          <a:xfrm>
            <a:off x="110642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8366760" y="42519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pic>
        <p:nvPicPr>
          <p:cNvPr id="37" name="Image 5" descr="icon_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38912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6676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live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366760" y="5303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something that needs your tool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setup: add the starter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Maven dependency gives your Spring Boot app everything it needs to speak MCP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760720" cy="3063240"/>
          </a:xfrm>
          <a:prstGeom prst="roundRect">
            <a:avLst>
              <a:gd name="adj" fmla="val 2388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&lt;groupId&gt;org.springframework.ai&lt;/groupId&gt;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spring-ai-starter-mcp-server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&lt;/artifactId&gt;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Spring Boot parent already manages the version --&gt;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start: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start.spring.io — generate a project, tick "Model Context Protocol Server"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Spring Boot app — just add the dependency above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3611880"/>
            <a:ext cx="48463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application.properties: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41148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5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42245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spring.ai.mcp.server.name=weather-tools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spring.ai.mcp.server.version=1.0.0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@Tool annotation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of this method tells the model something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6309360" cy="3931920"/>
          </a:xfrm>
          <a:prstGeom prst="roundRect">
            <a:avLst>
              <a:gd name="adj" fmla="val 186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4028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2CC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WeatherTools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@Tool(description =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current weather for a city"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WeatherReport getWeather(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@ToolParam(description =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 name"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city)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weatherClient.fetch(city);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pic>
        <p:nvPicPr>
          <p:cNvPr id="8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0391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07808" y="201168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description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07808" y="232257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string — it's how the model decides when to call this</a:t>
            </a:r>
            <a:endParaRPr lang="en-US" sz="1150" dirty="0"/>
          </a:p>
        </p:txBody>
      </p:sp>
      <p:pic>
        <p:nvPicPr>
          <p:cNvPr id="11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9992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7808" y="297180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@ToolParam description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07808" y="328269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model on what value to pass for each argument</a:t>
            </a:r>
            <a:endParaRPr lang="en-US" sz="1150" dirty="0"/>
          </a:p>
        </p:txBody>
      </p:sp>
      <p:pic>
        <p:nvPicPr>
          <p:cNvPr id="14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9593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7808" y="39319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07808" y="424281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 objects are fine — Spring AI serializes them to the model automatically</a:t>
            </a:r>
            <a:endParaRPr lang="en-US" sz="1150" dirty="0"/>
          </a:p>
        </p:txBody>
      </p:sp>
      <p:pic>
        <p:nvPicPr>
          <p:cNvPr id="17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91947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07808" y="489204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just a method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607808" y="5202936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it, inject dependencies, log it — nothing about it is special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at startup, under the hood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call this code — the starter's auto-configuration does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Spring's component scan finds every @Service / @Component bean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63824" y="3429000"/>
            <a:ext cx="219456" cy="0"/>
          </a:xfrm>
          <a:prstGeom prst="line">
            <a:avLst/>
          </a:prstGeom>
          <a:noFill/>
          <a:ln w="19050">
            <a:solidFill>
              <a:srgbClr val="5C6B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19856" y="2103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02736" y="28163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320040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finds methods annotated with @Tool on those beans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3429000"/>
            <a:ext cx="219456" cy="0"/>
          </a:xfrm>
          <a:prstGeom prst="line">
            <a:avLst/>
          </a:prstGeom>
          <a:noFill/>
          <a:ln w="19050">
            <a:solidFill>
              <a:srgbClr val="5C6B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2103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8163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schema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82512" y="320040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types + @ToolParam text become a JSON schema per 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23376" y="3429000"/>
            <a:ext cx="219456" cy="0"/>
          </a:xfrm>
          <a:prstGeom prst="line">
            <a:avLst/>
          </a:prstGeom>
          <a:noFill/>
          <a:ln w="19050">
            <a:solidFill>
              <a:srgbClr val="5C6B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79408" y="2103120"/>
            <a:ext cx="2487168" cy="2651760"/>
          </a:xfrm>
          <a:prstGeom prst="roundRect">
            <a:avLst>
              <a:gd name="adj" fmla="val 3676"/>
            </a:avLst>
          </a:prstGeom>
          <a:solidFill>
            <a:srgbClr val="F5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9162288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62288" y="281635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62288" y="3200400"/>
            <a:ext cx="21214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added to the MCP server's tool registry, ready to expose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9EEF5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pattern as @RestController or @EventListener — Spring finds annotations and wires behavior, you just write the method.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it, then point Claude Desktop at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and one config file stand between you and a live tool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the jar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clean package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Config: claude_desktop_config.json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9312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"weather-tools":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[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"-jar",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"weather-tools.jar"]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Restart Claude Desktop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is only read on startup — restart the app after editing it.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Confirm the tool is visible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3291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tools/plug icon in Claude Desktop and check your server is listed and connected.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4023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Ask a question that needs it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4389120"/>
            <a:ext cx="5212080" cy="64008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389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weather in Bengaluru right now?"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5257800"/>
            <a:ext cx="5212080" cy="731520"/>
          </a:xfrm>
          <a:prstGeom prst="roundRect">
            <a:avLst>
              <a:gd name="adj" fmla="val 12500"/>
            </a:avLst>
          </a:prstGeom>
          <a:solidFill>
            <a:srgbClr val="EAF3DE"/>
          </a:solidFill>
          <a:ln/>
        </p:spPr>
      </p:sp>
      <p:pic>
        <p:nvPicPr>
          <p:cNvPr id="20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22392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95160" y="525780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asks permission to run the tool, that's it working correctly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live + gotchas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it work, and the mistakes every beginner makes once</a:t>
            </a:r>
            <a:endParaRPr lang="en-US" sz="1600" dirty="0"/>
          </a:p>
        </p:txBody>
      </p:sp>
      <p:pic>
        <p:nvPicPr>
          <p:cNvPr id="7" name="Image 0" descr="icon_shiel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233172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7406E"/>
          </a:solidFill>
          <a:ln/>
        </p:spPr>
      </p:sp>
      <p:pic>
        <p:nvPicPr>
          <p:cNvPr id="3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Gotcha #1: the STDIO stdout trap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hits this once. Now you'll know why, before you do.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27406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and your server exchange MCP messages over the exact same channel your code uses for System.out.println — standard input and output.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stray print statement — a debug log, a library banner on startup — lands in the middle of a protocol message and corrupts the whole conversation.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Walkie-talkie analogy: STDIO is a single shared channel. Shout anything else into it and the connection dissolves into static.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27406E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1031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avoid 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24688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System.out.println for logging in an MCP server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logs to a file, or route them to stderr instead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startup banners from libraries — some print to stdout by default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connection silently fails, this is the first thing to check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 #2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Gotcha #2: silent failures and slow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527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mistakes worth catching before they hit students in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pic>
        <p:nvPicPr>
          <p:cNvPr id="7" name="Image 0" descr="icon_exchange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exceptions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exception thrown inside a @Tool method can crash the call with no useful message back to the model.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343400"/>
            <a:ext cx="2971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480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it, and return a clear error string the model can read and explain to the user.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pic>
        <p:nvPicPr>
          <p:cNvPr id="13" name="Image 1" descr="icon_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tool descriptions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1772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description is too broad, the model may call the wrong tool, or call it at the wrong time.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17720" y="4343400"/>
            <a:ext cx="2971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17720" y="4480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state exactly what the tool does and does not do, and when to use it.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5F7FB"/>
          </a:solidFill>
          <a:ln/>
        </p:spPr>
      </p:sp>
      <p:pic>
        <p:nvPicPr>
          <p:cNvPr id="19" name="Image 2" descr="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574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calls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6676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blocks for a long time (a slow API, a big query) can make the whole conversation feel stuck.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66760" y="4343400"/>
            <a:ext cx="2971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366760" y="4480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sensible timeouts and fail fast — a fast "couldn't fetch this" beats a frozen chat.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before you ship a tool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this before you call your @Tool method "done"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5681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2880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clearly states what the tool does and when to use 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828800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8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5681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82880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has its own @ToolParam description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523744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11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52374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System.out.println anywhere in the server process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7920" y="2523744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14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517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252374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are caught and turned into readable error messages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40080" y="3218688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17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46704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21868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calls have a timeout, so the model doesn't hang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217920" y="3218688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20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46704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321868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unit tested like any other Java method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40080" y="3913632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23" name="Image 6" descr="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04164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391363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actions (writes, deletes, payments) require explicit confirmation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6217920" y="3913632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F5F7FB"/>
          </a:solidFill>
          <a:ln/>
        </p:spPr>
      </p:sp>
      <p:pic>
        <p:nvPicPr>
          <p:cNvPr id="26" name="Image 7" descr="icon_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04164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12280" y="391363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starts cleanly and shows up connected in the host app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29" name="Text 19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mental model to keep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from theory, four from the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predicts, it doesn't look up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it needs tools for live data or actions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 function the model can request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decides how it actually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shared plug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8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protocol, works across Claude Desktop, IDEs, and more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expose tools, resources, and prompts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5212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aren't the only primitive available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87452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is the whole integration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2084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registration, no protocol code to write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88036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scans, builds schemas, and registers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application startup, automatically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88620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is the wire, and a trap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2084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stdout clean or the connection breaks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892040"/>
            <a:ext cx="310896" cy="310896"/>
          </a:xfrm>
          <a:prstGeom prst="ellipse">
            <a:avLst/>
          </a:prstGeom>
          <a:solidFill>
            <a:srgbClr val="E9EEF5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beats a vibe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20840" y="5212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eight-point list before calling a tool done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fork the starter repo and add your first @Tool before next session.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in Java — deep dive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274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27406E"/>
          </a:solidFill>
          <a:ln/>
        </p:spPr>
      </p:sp>
      <p:pic>
        <p:nvPicPr>
          <p:cNvPr id="4" name="Image 0" descr="icon_comment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40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MCP, Java, Spring AI, or gen AI in general — nothing is too basic.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9" name="Image 1" descr="icon_questio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900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8346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MCP only work with Claude, or other AI apps too?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080760" y="2834640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12" name="Image 2" descr="icon_questi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9900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1112" y="28346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tool call another tool, or call itself?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3538728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15" name="Image 3" descr="icon_questio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6941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decide which tool to use?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080760" y="3538728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18" name="Image 4" descr="icon_questio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36941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11112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a tool call fails or times out?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40080" y="4242816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21" name="Image 5" descr="icon_question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39826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70432" y="42428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secure a tool so not everyone can call it?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080760" y="4242816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24" name="Image 6" descr="icon_questio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439826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11112" y="42428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same idea as function calling in the OpenAI API?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40080" y="4946904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27" name="Image 7" descr="icon_question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5102352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70432" y="494690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a resource different from just passing text in the prompt?</a:t>
            </a:r>
            <a:endParaRPr lang="en-US" sz="1150" dirty="0"/>
          </a:p>
        </p:txBody>
      </p:sp>
      <p:sp>
        <p:nvSpPr>
          <p:cNvPr id="29" name="Shape 19"/>
          <p:cNvSpPr/>
          <p:nvPr/>
        </p:nvSpPr>
        <p:spPr>
          <a:xfrm>
            <a:off x="6080760" y="4946904"/>
            <a:ext cx="5074920" cy="566928"/>
          </a:xfrm>
          <a:prstGeom prst="roundRect">
            <a:avLst>
              <a:gd name="adj" fmla="val 50000"/>
            </a:avLst>
          </a:prstGeom>
          <a:solidFill>
            <a:srgbClr val="27406E"/>
          </a:solidFill>
          <a:ln/>
        </p:spPr>
      </p:sp>
      <p:pic>
        <p:nvPicPr>
          <p:cNvPr id="30" name="Image 8" descr="icon_question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5102352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611112" y="494690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server expose tools written in a language other than Java?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just starters — your own questions are exactly what this time is for.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Own MCP Server in Java — Deep Dive</dc:title>
  <dc:subject>PptxGenJS Presentation</dc:subject>
  <dc:creator>Gen AI Bootcamp</dc:creator>
  <cp:lastModifiedBy>Gen AI Bootcamp</cp:lastModifiedBy>
  <cp:revision>1</cp:revision>
  <dcterms:created xsi:type="dcterms:W3CDTF">2026-07-04T09:15:19Z</dcterms:created>
  <dcterms:modified xsi:type="dcterms:W3CDTF">2026-07-04T09:15:19Z</dcterms:modified>
</cp:coreProperties>
</file>