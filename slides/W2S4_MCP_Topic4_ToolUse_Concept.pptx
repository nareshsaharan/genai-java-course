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This module covers MCP — a brand-new standard that makes AI integration clean and scalable.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N×M problem: every AI model needs its own custom code to talk to every tool. It's chaos. MCP fixes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is like USB-C: one standard port for everything. Any AI connects to any tool via 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primitives: Tools = things AI can DO. Resources = data AI can READ. Prompts = reusable templates.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are functions AI can call. You define name + schema. AI figures out WHEN to call it. No manual trigger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Resources = read-only data. The app decides when to attach them as context for the AI. URI identifies each resource.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Prompts are reusable workflows triggered by the user — think of them as saved 'recipes' that pre-load context +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Host app (Claude) contains MCP Clients. Each client talks to one MCP Server. Servers connect to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STDIO = local, simple, one-to-one. HTTP/SSE = remote, scalable, multi-client. Choose based on your deployment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selling point: MCP is self-describing. REST requires manual wiring. MCP = plug and play for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flow: user → Claude picks tools → calls via MCP → server executes → returns data → Claude responds. Magic is in step 2-5.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 Tools/Resources/Prompts = 3 primitives. STDIO/SSE = 2 transports. MCP = solution to N×M chaos.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685800" cy="685800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320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+ MCP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 + Capstone  ·  4-Week Programme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1148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565C0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114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EBF2"/>
                </a:solidFill>
              </a:rPr>
              <a:t>Tools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41148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565C0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148840" y="4114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EBF2"/>
                </a:solidFill>
              </a:rPr>
              <a:t>Resources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41148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565C0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0" y="4114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EBF2"/>
                </a:solidFill>
              </a:rPr>
              <a:t>Prompts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532120" y="41148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565C0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4114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EBF2"/>
                </a:solidFill>
              </a:rPr>
              <a:t>JSON-RPC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0" y="411480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565C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0" y="41148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2EBF2"/>
                </a:solidFill>
              </a:rPr>
              <a:t>STDIO/SSE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😩  The Problem Before MCP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 × M Integration Problem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Claude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3317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ChatGPT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3832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Gemini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949440" y="109728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F57C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49440" y="10972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Slack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196596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F57C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19659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283464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F57C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49440" y="28346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3703320"/>
            <a:ext cx="1737360" cy="685800"/>
          </a:xfrm>
          <a:prstGeom prst="roundRect">
            <a:avLst>
              <a:gd name="adj" fmla="val 13333"/>
            </a:avLst>
          </a:prstGeom>
          <a:solidFill>
            <a:srgbClr val="F57C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3703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Calendar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280160" y="1645920"/>
            <a:ext cx="6537960" cy="-205740"/>
          </a:xfrm>
          <a:prstGeom prst="line">
            <a:avLst/>
          </a:prstGeom>
          <a:noFill/>
          <a:ln w="10160">
            <a:solidFill>
              <a:srgbClr val="FF525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1280160" y="1645920"/>
            <a:ext cx="6537960" cy="662940"/>
          </a:xfrm>
          <a:prstGeom prst="line">
            <a:avLst/>
          </a:prstGeom>
          <a:noFill/>
          <a:ln w="10160">
            <a:solidFill>
              <a:srgbClr val="FF525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280160" y="1645920"/>
            <a:ext cx="6537960" cy="1531620"/>
          </a:xfrm>
          <a:prstGeom prst="line">
            <a:avLst/>
          </a:prstGeom>
          <a:noFill/>
          <a:ln w="10160">
            <a:solidFill>
              <a:srgbClr val="FF525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280160" y="1645920"/>
            <a:ext cx="6537960" cy="2400300"/>
          </a:xfrm>
          <a:prstGeom prst="line">
            <a:avLst/>
          </a:prstGeom>
          <a:noFill/>
          <a:ln w="10160">
            <a:solidFill>
              <a:srgbClr val="FF525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280160" y="2697480"/>
            <a:ext cx="6537960" cy="-1257300"/>
          </a:xfrm>
          <a:prstGeom prst="line">
            <a:avLst/>
          </a:prstGeom>
          <a:noFill/>
          <a:ln w="10160">
            <a:solidFill>
              <a:srgbClr val="FF525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280160" y="2697480"/>
            <a:ext cx="6537960" cy="-388620"/>
          </a:xfrm>
          <a:prstGeom prst="line">
            <a:avLst/>
          </a:prstGeom>
          <a:noFill/>
          <a:ln w="10160">
            <a:solidFill>
              <a:srgbClr val="FF525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280160" y="2697480"/>
            <a:ext cx="6537960" cy="480060"/>
          </a:xfrm>
          <a:prstGeom prst="line">
            <a:avLst/>
          </a:prstGeom>
          <a:noFill/>
          <a:ln w="10160">
            <a:solidFill>
              <a:srgbClr val="FF525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280160" y="2697480"/>
            <a:ext cx="6537960" cy="1348740"/>
          </a:xfrm>
          <a:prstGeom prst="line">
            <a:avLst/>
          </a:prstGeom>
          <a:noFill/>
          <a:ln w="10160">
            <a:solidFill>
              <a:srgbClr val="FF525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1280160" y="3749040"/>
            <a:ext cx="6537960" cy="-2308860"/>
          </a:xfrm>
          <a:prstGeom prst="line">
            <a:avLst/>
          </a:prstGeom>
          <a:noFill/>
          <a:ln w="10160">
            <a:solidFill>
              <a:srgbClr val="FF525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1280160" y="3749040"/>
            <a:ext cx="6537960" cy="-1440180"/>
          </a:xfrm>
          <a:prstGeom prst="line">
            <a:avLst/>
          </a:prstGeom>
          <a:noFill/>
          <a:ln w="10160">
            <a:solidFill>
              <a:srgbClr val="FF525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1280160" y="3749040"/>
            <a:ext cx="6537960" cy="-571500"/>
          </a:xfrm>
          <a:prstGeom prst="line">
            <a:avLst/>
          </a:prstGeom>
          <a:noFill/>
          <a:ln w="10160">
            <a:solidFill>
              <a:srgbClr val="FF525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280160" y="3749040"/>
            <a:ext cx="6537960" cy="297180"/>
          </a:xfrm>
          <a:prstGeom prst="line">
            <a:avLst/>
          </a:prstGeom>
          <a:noFill/>
          <a:ln w="10160">
            <a:solidFill>
              <a:srgbClr val="FF5252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65760" y="868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5A64"/>
                </a:solidFill>
              </a:rPr>
              <a:t>N AI Models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49440" y="7315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5A64"/>
                </a:solidFill>
              </a:rPr>
              <a:t>M Tools / Services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0" y="2011680"/>
            <a:ext cx="3657600" cy="1280160"/>
          </a:xfrm>
          <a:prstGeom prst="roundRect">
            <a:avLst>
              <a:gd name="adj" fmla="val 8571"/>
            </a:avLst>
          </a:prstGeom>
          <a:solidFill>
            <a:srgbClr val="FFF3E0"/>
          </a:solidFill>
          <a:ln w="19050">
            <a:solidFill>
              <a:srgbClr val="F57C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834640" y="210312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7C00"/>
                </a:solidFill>
              </a:rPr>
              <a:t>N × M custom integrations
</a:t>
            </a:r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3 models × 4 tools = 12 custom connectors!
</a:t>
            </a:r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Every new tool = write connectors for ALL models.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MCP Solves It — Like USB-C for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0584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00584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Claude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20240" y="1371600"/>
            <a:ext cx="1371600" cy="0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210312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210312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ChatGPT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20240" y="2468880"/>
            <a:ext cx="1371600" cy="0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2004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2004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Gemini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20240" y="3566160"/>
            <a:ext cx="1371600" cy="0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371600"/>
            <a:ext cx="2560320" cy="2286000"/>
          </a:xfrm>
          <a:prstGeom prst="roundRect">
            <a:avLst>
              <a:gd name="adj" fmla="val 8000"/>
            </a:avLst>
          </a:prstGeom>
          <a:solidFill>
            <a:srgbClr val="00ACC1">
              <a:alpha val="90000"/>
            </a:srgbClr>
          </a:solidFill>
          <a:ln w="25400">
            <a:solidFill>
              <a:srgbClr val="00AC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37160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MCP
</a:t>
            </a:r>
            <a:pPr algn="ctr" indent="0" marL="0">
              <a:buNone/>
            </a:pPr>
            <a:r>
              <a:rPr lang="en-US" sz="1300" dirty="0">
                <a:solidFill>
                  <a:srgbClr val="0A1628"/>
                </a:solidFill>
              </a:rPr>
              <a:t>Standard Protocol
</a:t>
            </a:r>
            <a:pPr algn="ctr" indent="0" marL="0">
              <a:buNone/>
            </a:pP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JSON-RPC 2.0</a:t>
            </a:r>
            <a:endParaRPr lang="en-US" sz="2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55A64"/>
                </a:solidFill>
              </a:rPr>
              <a:t>One connection = everything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7223760" y="118872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F57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223760" y="118872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Slack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852160" y="1508760"/>
            <a:ext cx="1371600" cy="0"/>
          </a:xfrm>
          <a:prstGeom prst="line">
            <a:avLst/>
          </a:prstGeom>
          <a:noFill/>
          <a:ln w="25400">
            <a:solidFill>
              <a:srgbClr val="F57C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219456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F57C00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219456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GitHub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52160" y="2514600"/>
            <a:ext cx="1371600" cy="0"/>
          </a:xfrm>
          <a:prstGeom prst="line">
            <a:avLst/>
          </a:prstGeom>
          <a:noFill/>
          <a:ln w="25400">
            <a:solidFill>
              <a:srgbClr val="F57C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3200400"/>
            <a:ext cx="1645920" cy="685800"/>
          </a:xfrm>
          <a:prstGeom prst="roundRect">
            <a:avLst>
              <a:gd name="adj" fmla="val 13333"/>
            </a:avLst>
          </a:prstGeom>
          <a:solidFill>
            <a:srgbClr val="F57C00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32004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Database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3520440"/>
            <a:ext cx="1371600" cy="0"/>
          </a:xfrm>
          <a:prstGeom prst="line">
            <a:avLst/>
          </a:prstGeom>
          <a:noFill/>
          <a:ln w="25400">
            <a:solidFill>
              <a:srgbClr val="F57C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02336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1565C0">
              <a:alpha val="8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023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CC1"/>
                </a:solidFill>
              </a:rPr>
              <a:t>N + M connections instead of N × M  —  build once, connect everywhere!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 MCP's 3 Core Primitives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</a:rPr>
              <a:t>Every MCP server exposes one or more of these: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508760"/>
            <a:ext cx="2743200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1155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🔧  Tools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</a:rPr>
              <a:t>Actions the AI can execute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</a:rPr>
              <a:t>Who controls it: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487168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1565C0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Model-controlled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880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</a:rPr>
              <a:t>Example: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E2A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54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search_web("MCP tutorial")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0" y="1097280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00897B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1508760"/>
            <a:ext cx="2743200" cy="59436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1155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📄  Resources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291840" y="15727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</a:rPr>
              <a:t>Data the AI can read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240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</a:rPr>
              <a:t>Who controls it: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487168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00897B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97B"/>
                </a:solidFill>
              </a:rPr>
              <a:t>App-controlled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880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</a:rPr>
              <a:t>Example: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31089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E2A3A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154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file://notes.txt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db://users/42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097280"/>
            <a:ext cx="27432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097280"/>
            <a:ext cx="2743200" cy="1005840"/>
          </a:xfrm>
          <a:prstGeom prst="roundRect">
            <a:avLst>
              <a:gd name="adj" fmla="val 13636"/>
            </a:avLst>
          </a:prstGeom>
          <a:solidFill>
            <a:srgbClr val="7B1FA2"/>
          </a:solidFill>
          <a:ln/>
        </p:spPr>
      </p:sp>
      <p:sp>
        <p:nvSpPr>
          <p:cNvPr id="28" name="Shape 26"/>
          <p:cNvSpPr/>
          <p:nvPr/>
        </p:nvSpPr>
        <p:spPr>
          <a:xfrm>
            <a:off x="6126480" y="1508760"/>
            <a:ext cx="2743200" cy="59436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1155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💬  Prompts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217920" y="15727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</a:rPr>
              <a:t>Reusable prompt templates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2240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</a:rPr>
              <a:t>Who controls it: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2487168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7B1FA2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1FA2"/>
                </a:solidFill>
              </a:rPr>
              <a:t>User-controlled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28803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55A64"/>
                </a:solidFill>
              </a:rPr>
              <a:t>Example: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310896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1E2A3A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315468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git-commit(changes=...)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0CB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explain-code(code=...)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🔧  Tools — Actions the AI Executes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731520"/>
            <a:ext cx="4114800" cy="1188720"/>
          </a:xfrm>
          <a:prstGeom prst="roundRect">
            <a:avLst>
              <a:gd name="adj" fmla="val 9231"/>
            </a:avLst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7724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🤔  Think of it like...
</a:t>
            </a:r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A remote API the AI calls automatically.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You define the tool → AI decides when to use 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2029968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A64"/>
                </a:solidFill>
              </a:rPr>
              <a:t>Real-world examples: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331720"/>
            <a:ext cx="4114800" cy="457200"/>
          </a:xfrm>
          <a:prstGeom prst="roundRect">
            <a:avLst>
              <a:gd name="adj" fmla="val 14000"/>
            </a:avLst>
          </a:prstGeom>
          <a:solidFill>
            <a:srgbClr val="F0F7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331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🔍  search_web(query)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907792"/>
            <a:ext cx="4114800" cy="457200"/>
          </a:xfrm>
          <a:prstGeom prst="roundRect">
            <a:avLst>
              <a:gd name="adj" fmla="val 14000"/>
            </a:avLst>
          </a:prstGeom>
          <a:solidFill>
            <a:srgbClr val="F0F7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9077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📧  send_email(to, subject, body)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483864"/>
            <a:ext cx="4114800" cy="457200"/>
          </a:xfrm>
          <a:prstGeom prst="roundRect">
            <a:avLst>
              <a:gd name="adj" fmla="val 14000"/>
            </a:avLst>
          </a:prstGeom>
          <a:solidFill>
            <a:srgbClr val="F0F7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4838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🗄️  query_db(sql)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059936"/>
            <a:ext cx="4114800" cy="457200"/>
          </a:xfrm>
          <a:prstGeom prst="roundRect">
            <a:avLst>
              <a:gd name="adj" fmla="val 14000"/>
            </a:avLst>
          </a:prstGeom>
          <a:solidFill>
            <a:srgbClr val="F0F7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405993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🌤️  get_weather(city)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73152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(Official MCP SDK)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1097280"/>
            <a:ext cx="41605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 import Server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mcp.server.stdio import stdio_server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mcp.types as types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Server("weather-server")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@app.list_tools()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list_tools():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[types.Tool(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name="get_weather",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description="Get weather for a city",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inputSchema={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"type": "object",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"properties":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"city": {"type":"string"}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},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"required": ["city"]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@app.call_tool()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call_tool(name, arguments):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name == "get_weather":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city = arguments["city"]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[types.TextContent(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type="text",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text=f"Weather in {city}: 25°C"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)]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📄  Resources — Data the AI Can Read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749808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E8F5E9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9552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</a:rPr>
              <a:t>🤔  Think of it like...
</a:t>
            </a:r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A file system the AI can browse.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URIs identify every resource.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874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A64"/>
                </a:solidFill>
              </a:rPr>
              <a:t>Resource URIs follow this pattern: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212848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0F7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21284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file:///home/notes.txt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54680" y="22128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Local file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807208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0F7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80720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db://users/42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54680" y="280720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Database row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401568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0F7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40156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screen://localhost/display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4680" y="340156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Screen capture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995928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0F7FF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9959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8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logs://recent?timeframe=1h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39959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5A64"/>
                </a:solidFill>
              </a:rPr>
              <a:t>Recent logs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0" y="749808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4663440" y="795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(Official MCP SDK)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17720" y="1069848"/>
            <a:ext cx="41605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 import Server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mcp.types as types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Server("file-server")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@app.list_resources()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list_resources():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[types.Resource(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uri="file:///notes.txt",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name="My Notes",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mimeType="text/plain"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@app.read_resource()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read_resource(uri: str):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uri == "file:///notes.txt":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 open("/notes.txt") as f: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content = f.read()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types.ReadResourceResult(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contents=[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types.TextResourceContents(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uri=uri,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text=content,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mimeType="text/plain"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💬  Prompts — Reusable Templates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749808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F3E5F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95528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1FA2"/>
                </a:solidFill>
              </a:rPr>
              <a:t>🤔  Think of it like...
</a:t>
            </a:r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A macro/shortcut that bundles context + instructions.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User picks prompt → AI gets pre-loaded with the right setup.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874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A64"/>
                </a:solidFill>
              </a:rPr>
              <a:t>Useful prompt examples: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2212848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0F7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2128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1F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git-commit(changes=&lt;diff&gt;)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807208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0F7FF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80720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1F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explain-code(code=&lt;snippet&gt;)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401568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0F7FF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40156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1F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debug-error(error=&lt;stacktrace&gt;)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995928"/>
            <a:ext cx="4114800" cy="475488"/>
          </a:xfrm>
          <a:prstGeom prst="roundRect">
            <a:avLst>
              <a:gd name="adj" fmla="val 15385"/>
            </a:avLst>
          </a:prstGeom>
          <a:solidFill>
            <a:srgbClr val="F0F7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399592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1F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review-pr(pr_url=...)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749808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795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(Official MCP SDK)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1069848"/>
            <a:ext cx="41605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mcp.server import Server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mcp.types as types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Server("prompts-server")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 =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"git-commit": types.Prompt(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name="git-commit",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description="Write a Git commit message",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arguments=[types.PromptArgument(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name="changes",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description="Git diff or description",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required=True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@app.list_prompts()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list_prompts():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list(PROMPTS.values())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@app.get_prompt()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def get_prompt(name, arguments=None):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name == "git-commit":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changes = arguments.get("changes","")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types.GetPromptResult(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messages=[types.PromptMessage(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role="user",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content=types.TextContent(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type="text",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text=f"Write commit for:\n{changes}"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)]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🔌  JSON-RPC Client–Server Architecture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2560320" cy="3977640"/>
          </a:xfrm>
          <a:prstGeom prst="roundRect">
            <a:avLst>
              <a:gd name="adj" fmla="val 5357"/>
            </a:avLst>
          </a:prstGeom>
          <a:solidFill>
            <a:srgbClr val="132038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77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CC1"/>
                </a:solidFill>
              </a:rPr>
              <a:t>HOST APP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ACC1"/>
                </a:solidFill>
              </a:rPr>
              <a:t>(e.g. Claude)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1C305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EBF2"/>
                </a:solidFill>
              </a:rPr>
              <a:t>MCP Client 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176272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1C305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17627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EBF2"/>
                </a:solidFill>
              </a:rPr>
              <a:t>MCP Client 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926080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1C305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260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2EBF2"/>
                </a:solidFill>
              </a:rPr>
              <a:t>MCP Client 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675888"/>
            <a:ext cx="2103120" cy="594360"/>
          </a:xfrm>
          <a:prstGeom prst="roundRect">
            <a:avLst>
              <a:gd name="adj" fmla="val 15385"/>
            </a:avLst>
          </a:prstGeom>
          <a:solidFill>
            <a:srgbClr val="132038"/>
          </a:solidFill>
          <a:ln w="10160">
            <a:solidFill>
              <a:srgbClr val="3A50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67588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LLM (Claude 3.5)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06040" y="1714500"/>
            <a:ext cx="1554480" cy="0"/>
          </a:xfrm>
          <a:prstGeom prst="line">
            <a:avLst/>
          </a:prstGeom>
          <a:noFill/>
          <a:ln w="19050">
            <a:solidFill>
              <a:srgbClr val="00AC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48590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←→ STDIO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606040" y="2468880"/>
            <a:ext cx="1554480" cy="0"/>
          </a:xfrm>
          <a:prstGeom prst="line">
            <a:avLst/>
          </a:prstGeom>
          <a:noFill/>
          <a:ln w="1905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24028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←→ HTTP/SSE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06040" y="3223260"/>
            <a:ext cx="1554480" cy="0"/>
          </a:xfrm>
          <a:prstGeom prst="line">
            <a:avLst/>
          </a:prstGeom>
          <a:noFill/>
          <a:ln w="19050">
            <a:solidFill>
              <a:srgbClr val="00A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99466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0A4AE"/>
                </a:solidFill>
              </a:rPr>
              <a:t>←→ STDIO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60520" y="141732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4160520" y="141732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MCP Server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(GitHub)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60520" y="2176272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00897B"/>
          </a:solidFill>
          <a:ln/>
        </p:spPr>
      </p:sp>
      <p:sp>
        <p:nvSpPr>
          <p:cNvPr id="22" name="Text 20"/>
          <p:cNvSpPr/>
          <p:nvPr/>
        </p:nvSpPr>
        <p:spPr>
          <a:xfrm>
            <a:off x="4160520" y="2176272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MCP Server 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(Database)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60520" y="292608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F57C00"/>
          </a:solidFill>
          <a:ln/>
        </p:spPr>
      </p:sp>
      <p:sp>
        <p:nvSpPr>
          <p:cNvPr id="24" name="Text 22"/>
          <p:cNvSpPr/>
          <p:nvPr/>
        </p:nvSpPr>
        <p:spPr>
          <a:xfrm>
            <a:off x="4160520" y="29260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MCP Server 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(Web Search)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60520" y="777240"/>
            <a:ext cx="2103120" cy="411480"/>
          </a:xfrm>
          <a:prstGeom prst="roundRect">
            <a:avLst>
              <a:gd name="adj" fmla="val 17778"/>
            </a:avLst>
          </a:prstGeom>
          <a:solidFill>
            <a:srgbClr val="132038"/>
          </a:solidFill>
          <a:ln w="10160">
            <a:solidFill>
              <a:srgbClr val="3344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60520" y="777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CC1"/>
                </a:solidFill>
              </a:rPr>
              <a:t>MCP SERVERS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777240"/>
            <a:ext cx="2377440" cy="3977640"/>
          </a:xfrm>
          <a:prstGeom prst="roundRect">
            <a:avLst>
              <a:gd name="adj" fmla="val 5769"/>
            </a:avLst>
          </a:prstGeom>
          <a:solidFill>
            <a:srgbClr val="0A1222"/>
          </a:solidFill>
          <a:ln w="12700">
            <a:solidFill>
              <a:srgbClr val="2233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7772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0A4AE"/>
                </a:solidFill>
              </a:rPr>
              <a:t>DATA &amp; SERVICES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137160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62030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1371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Local Files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63640" y="1645920"/>
            <a:ext cx="411480" cy="0"/>
          </a:xfrm>
          <a:prstGeom prst="line">
            <a:avLst/>
          </a:prstGeom>
          <a:noFill/>
          <a:ln w="12700">
            <a:solidFill>
              <a:srgbClr val="3344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214884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62030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0" y="2148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Database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63640" y="2423160"/>
            <a:ext cx="411480" cy="0"/>
          </a:xfrm>
          <a:prstGeom prst="line">
            <a:avLst/>
          </a:prstGeom>
          <a:noFill/>
          <a:ln w="12700">
            <a:solidFill>
              <a:srgbClr val="3344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75120" y="292608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62030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29260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REST APIs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3200400"/>
            <a:ext cx="411480" cy="0"/>
          </a:xfrm>
          <a:prstGeom prst="line">
            <a:avLst/>
          </a:prstGeom>
          <a:noFill/>
          <a:ln w="12700">
            <a:solidFill>
              <a:srgbClr val="3344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5120" y="3703320"/>
            <a:ext cx="1920240" cy="548640"/>
          </a:xfrm>
          <a:prstGeom prst="roundRect">
            <a:avLst>
              <a:gd name="adj" fmla="val 13333"/>
            </a:avLst>
          </a:prstGeom>
          <a:solidFill>
            <a:srgbClr val="162030"/>
          </a:solidFill>
          <a:ln/>
        </p:spPr>
      </p:sp>
      <p:sp>
        <p:nvSpPr>
          <p:cNvPr id="39" name="Text 37"/>
          <p:cNvSpPr/>
          <p:nvPr/>
        </p:nvSpPr>
        <p:spPr>
          <a:xfrm>
            <a:off x="6675120" y="3703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D8DC"/>
                </a:solidFill>
              </a:rPr>
              <a:t>Internet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3977640"/>
            <a:ext cx="411480" cy="0"/>
          </a:xfrm>
          <a:prstGeom prst="line">
            <a:avLst/>
          </a:prstGeom>
          <a:noFill/>
          <a:ln w="12700">
            <a:solidFill>
              <a:srgbClr val="33445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🚌  Transports: STDIO vs HTTP/SSE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55A64"/>
                </a:solidFill>
              </a:rPr>
              <a:t>How client and server actually talk to each other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794760"/>
          </a:xfrm>
          <a:prstGeom prst="roundRect">
            <a:avLst>
              <a:gd name="adj" fmla="val 361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594360"/>
          </a:xfrm>
          <a:prstGeom prst="roundRect">
            <a:avLst>
              <a:gd name="adj" fmla="val 23077"/>
            </a:avLst>
          </a:prstGeom>
          <a:solidFill>
            <a:srgbClr val="1565C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325880"/>
            <a:ext cx="4114800" cy="2743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2412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📟  STDIO  (Standard I/O)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A64"/>
                </a:solidFill>
              </a:rPr>
              <a:t>✅  Best for local processes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✅  Simple setup — no server needed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✅  1 client : 1 server only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❌  Can't serve multiple clients
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7180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0D111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01752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Server reads from stdin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Writes JSON-RPC to stdout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process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spawns server process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stdin/stdout = JSON-RPC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responses come back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14800" cy="3794760"/>
          </a:xfrm>
          <a:prstGeom prst="roundRect">
            <a:avLst>
              <a:gd name="adj" fmla="val 3614"/>
            </a:avLst>
          </a:prstGeom>
          <a:solidFill>
            <a:srgbClr val="F0F7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05840"/>
            <a:ext cx="4114800" cy="594360"/>
          </a:xfrm>
          <a:prstGeom prst="roundRect">
            <a:avLst>
              <a:gd name="adj" fmla="val 23077"/>
            </a:avLst>
          </a:prstGeom>
          <a:solidFill>
            <a:srgbClr val="00897B"/>
          </a:solidFill>
          <a:ln/>
        </p:spPr>
      </p:sp>
      <p:sp>
        <p:nvSpPr>
          <p:cNvPr id="13" name="Shape 11"/>
          <p:cNvSpPr/>
          <p:nvPr/>
        </p:nvSpPr>
        <p:spPr>
          <a:xfrm>
            <a:off x="4663440" y="1325880"/>
            <a:ext cx="4114800" cy="27432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02412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🌐  HTTP + SSE  (Remote)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1719072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55A64"/>
                </a:solidFill>
              </a:rPr>
              <a:t>✅  Multiple concurrent clients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✅  Works over the internet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✅  Client POSTs; server streams SSE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</a:rPr>
              <a:t>❌  More setup (auth, TLS, infra)
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0D1117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17520"/>
            <a:ext cx="37490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Client → POST /messages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Server → streams via SSE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/messages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"method": "tools/call", ... 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text/event-stream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{ "result": ... }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</a:rPr>
              <a:t>🖊️  Whiteboard: MCP vs Raw REST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0A162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7772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926080" y="777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Raw REST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0" y="777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CC1"/>
                </a:solidFill>
              </a:rPr>
              <a:t>MCP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85953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371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5A64"/>
                </a:solidFill>
              </a:rPr>
              <a:t>Discovery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1435608"/>
            <a:ext cx="2834640" cy="411480"/>
          </a:xfrm>
          <a:prstGeom prst="roundRect">
            <a:avLst>
              <a:gd name="adj" fmla="val 13333"/>
            </a:avLst>
          </a:prstGeom>
          <a:solidFill>
            <a:srgbClr val="FFEBEE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14356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</a:rPr>
              <a:t>❌  You hardcode every endpoint URL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435608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143560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✅  Client calls tools/list automatically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47672"/>
            <a:ext cx="8595360" cy="54864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9476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5A64"/>
                </a:solidFill>
              </a:rPr>
              <a:t>Schema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2011680"/>
            <a:ext cx="2834640" cy="411480"/>
          </a:xfrm>
          <a:prstGeom prst="roundRect">
            <a:avLst>
              <a:gd name="adj" fmla="val 13333"/>
            </a:avLst>
          </a:prstGeom>
          <a:solidFill>
            <a:srgbClr val="FFEBEE"/>
          </a:solidFill>
          <a:ln/>
        </p:spPr>
      </p:sp>
      <p:sp>
        <p:nvSpPr>
          <p:cNvPr id="16" name="Text 14"/>
          <p:cNvSpPr/>
          <p:nvPr/>
        </p:nvSpPr>
        <p:spPr>
          <a:xfrm>
            <a:off x="2880360" y="2011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</a:rPr>
              <a:t>❌  Read docs, figure out params manually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52160" y="2011680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5897880" y="20116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✅  JSON Schema returned by server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23744"/>
            <a:ext cx="85953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2523744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5A64"/>
                </a:solidFill>
              </a:rPr>
              <a:t>Multi-tool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34640" y="2587752"/>
            <a:ext cx="2834640" cy="411480"/>
          </a:xfrm>
          <a:prstGeom prst="roundRect">
            <a:avLst>
              <a:gd name="adj" fmla="val 13333"/>
            </a:avLst>
          </a:prstGeom>
          <a:solidFill>
            <a:srgbClr val="FFEBEE"/>
          </a:solidFill>
          <a:ln/>
        </p:spPr>
      </p:sp>
      <p:sp>
        <p:nvSpPr>
          <p:cNvPr id="22" name="Text 20"/>
          <p:cNvSpPr/>
          <p:nvPr/>
        </p:nvSpPr>
        <p:spPr>
          <a:xfrm>
            <a:off x="2880360" y="258775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</a:rPr>
              <a:t>❌  Build N custom HTTP clients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2587752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5897880" y="25877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✅  One MCP client, N servers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099816"/>
            <a:ext cx="8595360" cy="54864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099816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5A64"/>
                </a:solidFill>
              </a:rPr>
              <a:t>Streaming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834640" y="3163824"/>
            <a:ext cx="2834640" cy="411480"/>
          </a:xfrm>
          <a:prstGeom prst="roundRect">
            <a:avLst>
              <a:gd name="adj" fmla="val 13333"/>
            </a:avLst>
          </a:prstGeom>
          <a:solidFill>
            <a:srgbClr val="FFEBEE"/>
          </a:solidFill>
          <a:ln/>
        </p:spPr>
      </p:sp>
      <p:sp>
        <p:nvSpPr>
          <p:cNvPr id="28" name="Text 26"/>
          <p:cNvSpPr/>
          <p:nvPr/>
        </p:nvSpPr>
        <p:spPr>
          <a:xfrm>
            <a:off x="2880360" y="316382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</a:rPr>
              <a:t>❌  Manual SSE/WebSocket per API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852160" y="3163824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316382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✅  Built-in SSE via HTTP transport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675888"/>
            <a:ext cx="85953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6758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5A64"/>
                </a:solidFill>
              </a:rPr>
              <a:t>AI-native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834640" y="3739896"/>
            <a:ext cx="2834640" cy="411480"/>
          </a:xfrm>
          <a:prstGeom prst="roundRect">
            <a:avLst>
              <a:gd name="adj" fmla="val 13333"/>
            </a:avLst>
          </a:prstGeom>
          <a:solidFill>
            <a:srgbClr val="FFEBEE"/>
          </a:solidFill>
          <a:ln/>
        </p:spPr>
      </p:sp>
      <p:sp>
        <p:nvSpPr>
          <p:cNvPr id="34" name="Text 32"/>
          <p:cNvSpPr/>
          <p:nvPr/>
        </p:nvSpPr>
        <p:spPr>
          <a:xfrm>
            <a:off x="2880360" y="37398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</a:rPr>
              <a:t>❌  AI can't explore or call APIs easily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52160" y="3739896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36" name="Text 34"/>
          <p:cNvSpPr/>
          <p:nvPr/>
        </p:nvSpPr>
        <p:spPr>
          <a:xfrm>
            <a:off x="5897880" y="373989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✅  AI discovers &amp; calls tools natively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251960"/>
            <a:ext cx="8595360" cy="548640"/>
          </a:xfrm>
          <a:prstGeom prst="rect">
            <a:avLst/>
          </a:prstGeom>
          <a:solidFill>
            <a:srgbClr val="F0F7FF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2519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5A64"/>
                </a:solidFill>
              </a:rPr>
              <a:t>New tool added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834640" y="4315968"/>
            <a:ext cx="2834640" cy="411480"/>
          </a:xfrm>
          <a:prstGeom prst="roundRect">
            <a:avLst>
              <a:gd name="adj" fmla="val 13333"/>
            </a:avLst>
          </a:prstGeom>
          <a:solidFill>
            <a:srgbClr val="FFEBEE"/>
          </a:solidFill>
          <a:ln/>
        </p:spPr>
      </p:sp>
      <p:sp>
        <p:nvSpPr>
          <p:cNvPr id="40" name="Text 38"/>
          <p:cNvSpPr/>
          <p:nvPr/>
        </p:nvSpPr>
        <p:spPr>
          <a:xfrm>
            <a:off x="2880360" y="43159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</a:rPr>
              <a:t>❌  Update every client integration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852160" y="4315968"/>
            <a:ext cx="2926080" cy="411480"/>
          </a:xfrm>
          <a:prstGeom prst="roundRect">
            <a:avLst>
              <a:gd name="adj" fmla="val 13333"/>
            </a:avLst>
          </a:prstGeom>
          <a:solidFill>
            <a:srgbClr val="E8F5E9"/>
          </a:solidFill>
          <a:ln/>
        </p:spPr>
      </p:sp>
      <p:sp>
        <p:nvSpPr>
          <p:cNvPr id="42" name="Text 40"/>
          <p:cNvSpPr/>
          <p:nvPr/>
        </p:nvSpPr>
        <p:spPr>
          <a:xfrm>
            <a:off x="5897880" y="431596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5E20"/>
                </a:solidFill>
              </a:rPr>
              <a:t>✅  AI auto-discovers new tools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74320" y="4736592"/>
            <a:ext cx="8595360" cy="320040"/>
          </a:xfrm>
          <a:prstGeom prst="roundRect">
            <a:avLst>
              <a:gd name="adj" fmla="val 22857"/>
            </a:avLst>
          </a:prstGeom>
          <a:solidFill>
            <a:srgbClr val="00ACC1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MCP = self-describing, auto-discoverable, AI-native. Raw REST = manual wiring every time.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🔄  Full MCP Flow: End to End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CC1"/>
                </a:solidFill>
              </a:rPr>
              <a:t>Example: User asks "What did I commit today on GitHub?"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E1E30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3444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asks a 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Claude receives the prompt in the chat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274320" cy="0"/>
          </a:xfrm>
          <a:prstGeom prst="line">
            <a:avLst/>
          </a:prstGeom>
          <a:noFill/>
          <a:ln w="19050">
            <a:solidFill>
              <a:srgbClr val="1565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8600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E1E30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468880"/>
            <a:ext cx="502920" cy="502920"/>
          </a:xfrm>
          <a:prstGeom prst="ellipse">
            <a:avLst/>
          </a:prstGeom>
          <a:solidFill>
            <a:srgbClr val="00897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377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 calls tools/list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156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Discovers available tools from MCP Server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2788920"/>
            <a:ext cx="274320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52044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E1E30"/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703320"/>
            <a:ext cx="502920" cy="502920"/>
          </a:xfrm>
          <a:prstGeom prst="ellipse">
            <a:avLst/>
          </a:prstGeom>
          <a:solidFill>
            <a:srgbClr val="7B1FA2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3611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picks the right tool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156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Decides: use list_commits(repo, date=today)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E1E30"/>
          </a:solidFill>
          <a:ln w="19050">
            <a:solidFill>
              <a:srgbClr val="F57C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234440"/>
            <a:ext cx="502920" cy="502920"/>
          </a:xfrm>
          <a:prstGeom prst="ellipse">
            <a:avLst/>
          </a:prstGeom>
          <a:solidFill>
            <a:srgbClr val="F57C00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1234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40680" y="11430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 calls tools/call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40680" y="15087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Sends the tool call to GitHub MCP Server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28600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E1E30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2468880"/>
            <a:ext cx="502920" cy="502920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40680" y="23774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Server executes + returns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Calls GitHub API, returns commit list as JSON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52044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0E1E30"/>
          </a:solidFill>
          <a:ln w="19050">
            <a:solidFill>
              <a:srgbClr val="1565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703320"/>
            <a:ext cx="502920" cy="502920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3611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reads result + responds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</a:rPr>
              <a:t>Summarizes commits in plain English for user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331720" y="3520440"/>
            <a:ext cx="0" cy="365760"/>
          </a:xfrm>
          <a:prstGeom prst="line">
            <a:avLst/>
          </a:prstGeom>
          <a:noFill/>
          <a:ln w="19050">
            <a:solidFill>
              <a:srgbClr val="CFD8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31720" y="3886200"/>
            <a:ext cx="2286000" cy="0"/>
          </a:xfrm>
          <a:prstGeom prst="line">
            <a:avLst/>
          </a:prstGeom>
          <a:noFill/>
          <a:ln w="19050">
            <a:solidFill>
              <a:srgbClr val="CFD8D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17720" y="3886200"/>
            <a:ext cx="0" cy="-868680"/>
          </a:xfrm>
          <a:prstGeom prst="line">
            <a:avLst/>
          </a:prstGeom>
          <a:noFill/>
          <a:ln w="19050">
            <a:solidFill>
              <a:srgbClr val="CFD8D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🎯  Quick Recap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0E1E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97280" y="978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</a:rPr>
              <a:t>Tools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298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</a:rPr>
              <a:t>Actions AI executes  →  model-controlled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0E1E3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</a:rPr>
              <a:t>Resources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042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</a:rPr>
              <a:t>Data AI reads  →  application-controlled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2608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0E1E3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2608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2990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</a:rPr>
              <a:t>Prompts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3101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</a:rPr>
              <a:t>Reusable templates  →  user-controlled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93192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0E1E3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3192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97280" y="39959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</a:rPr>
              <a:t>JSON-RPC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31596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</a:rPr>
              <a:t>Wire protocol — all messages are JSON-RPC 2.0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91440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0E1E32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91440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394960" y="9784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</a:rPr>
              <a:t>STDIO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12984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</a:rPr>
              <a:t>Local transport — simple, one-to-one, best for dev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92024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0E1E32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192024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39496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</a:rPr>
              <a:t>HTTP/SSE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94960" y="230428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</a:rPr>
              <a:t>Remote transport — multi-client, production-ready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926080"/>
            <a:ext cx="4023360" cy="804672"/>
          </a:xfrm>
          <a:prstGeom prst="roundRect">
            <a:avLst>
              <a:gd name="adj" fmla="val 11364"/>
            </a:avLst>
          </a:prstGeom>
          <a:solidFill>
            <a:srgbClr val="0E1E32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2926080"/>
            <a:ext cx="594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❌→✅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94960" y="29900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</a:rPr>
              <a:t>N×M Problem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331012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8DC"/>
                </a:solidFill>
              </a:rPr>
              <a:t>MCP solves it — N+M integrations instead of N×M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 Use + MCP — The Concept</dc:title>
  <dc:subject>PptxGenJS Presentation</dc:subject>
  <dc:creator>PptxGenJS</dc:creator>
  <cp:lastModifiedBy>PptxGenJS</cp:lastModifiedBy>
  <cp:revision>1</cp:revision>
  <dcterms:created xsi:type="dcterms:W3CDTF">2026-07-02T14:23:13Z</dcterms:created>
  <dcterms:modified xsi:type="dcterms:W3CDTF">2026-07-02T14:23:13Z</dcterms:modified>
</cp:coreProperties>
</file>